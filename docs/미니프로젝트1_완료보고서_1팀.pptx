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3" r:id="rId9"/>
    <p:sldId id="264" r:id="rId10"/>
    <p:sldId id="266" r:id="rId11"/>
    <p:sldId id="267" r:id="rId12"/>
    <p:sldId id="265" r:id="rId13"/>
    <p:sldId id="286" r:id="rId14"/>
    <p:sldId id="287" r:id="rId15"/>
    <p:sldId id="268" r:id="rId16"/>
    <p:sldId id="288" r:id="rId17"/>
    <p:sldId id="270" r:id="rId18"/>
    <p:sldId id="289" r:id="rId19"/>
    <p:sldId id="271" r:id="rId20"/>
    <p:sldId id="297" r:id="rId21"/>
    <p:sldId id="273" r:id="rId22"/>
    <p:sldId id="290" r:id="rId23"/>
    <p:sldId id="291" r:id="rId24"/>
    <p:sldId id="275" r:id="rId25"/>
    <p:sldId id="276" r:id="rId26"/>
    <p:sldId id="278" r:id="rId27"/>
    <p:sldId id="279" r:id="rId28"/>
    <p:sldId id="292" r:id="rId29"/>
    <p:sldId id="294" r:id="rId30"/>
    <p:sldId id="295" r:id="rId31"/>
    <p:sldId id="281" r:id="rId32"/>
    <p:sldId id="282" r:id="rId33"/>
    <p:sldId id="283" r:id="rId34"/>
    <p:sldId id="284" r:id="rId35"/>
  </p:sldIdLst>
  <p:sldSz cx="14630400" cy="8229600"/>
  <p:notesSz cx="8229600" cy="14630400"/>
  <p:embeddedFontLst>
    <p:embeddedFont>
      <p:font typeface="맑은 고딕" panose="020B0503020000020004" pitchFamily="50" charset="-127"/>
      <p:regular r:id="rId37"/>
      <p:bold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rimson Pro Bold" panose="020B0600000101010101" charset="0"/>
      <p:bold r:id="rId43"/>
    </p:embeddedFont>
    <p:embeddedFont>
      <p:font typeface="HY헤드라인M" panose="02030600000101010101" pitchFamily="18" charset="-127"/>
      <p:regular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80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0" y="103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2:41:02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1 342 24575,'8'25'0,"1"-1"0,1 0 0,1-1 0,19 30 0,0 1 0,-29-53 0,2 6 0,0-1 0,0 0 0,1-1 0,0 1 0,5 5 0,-8-11 0,-1 1 0,1-1 0,-1 1 0,1-1 0,-1 0 0,1 1 0,0-1 0,-1 0 0,1 0 0,0 0 0,-1 1 0,1-1 0,0 0 0,-1 0 0,1 0 0,-1 0 0,1 0 0,0 0 0,-1 0 0,1 0 0,0 0 0,-1-1 0,1 1 0,0 0 0,-1 0 0,1 0 0,-1-1 0,1 1 0,0 0 0,-1-1 0,1 0 0,18-18 0,68-108 0,-43 60 0,-1 2-114,161-224-1137,-189 270-5575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2:41:2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24575,'12'21'0,"1"-1"0,25 31 0,-7-10 0,-18-23 0,-7-8 0,0-1 0,1 0 0,0 0 0,0-1 0,1 0 0,0 0 0,0-1 0,11 7 0,-17-12 0,0-1 0,1 0 0,-1 0 0,1-1 0,0 1 0,-1 0 0,1-1 0,-1 0 0,1 0 0,0 1 0,-1-1 0,1-1 0,0 1 0,-1 0 0,1-1 0,-1 1 0,1-1 0,-1 0 0,1 0 0,-1 0 0,1 0 0,-1 0 0,0-1 0,1 1 0,-1-1 0,0 1 0,2-3 0,6-6 0,0 1 0,-1-2 0,0 1 0,7-13 0,-8 12 0,179-255 0,-187 265-31,7-10-191,-1 1-1,2 0 1,-1 1 0,1 0-1,12-11 1,-4 9-6604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2T02:01:03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1 342 24575,'8'25'0,"1"-1"0,1 0 0,1-1 0,19 30 0,0 1 0,-29-53 0,2 6 0,0-1 0,0 0 0,1-1 0,0 1 0,5 5 0,-8-11 0,-1 1 0,1-1 0,-1 1 0,1-1 0,-1 0 0,1 1 0,0-1 0,-1 0 0,1 0 0,0 0 0,-1 1 0,1-1 0,0 0 0,-1 0 0,1 0 0,-1 0 0,1 0 0,0 0 0,-1 0 0,1 0 0,0 0 0,-1-1 0,1 1 0,0 0 0,-1 0 0,1 0 0,-1-1 0,1 1 0,0 0 0,-1-1 0,1 0 0,18-18 0,68-108 0,-43 60 0,-1 2-114,161-224-1137,-189 270-5575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6:02:37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2071 2859 24575,'-2'1'0,"0"-1"0,0 1 0,0-1 0,0 1 0,0 0 0,0 0 0,0 0 0,-1 1 0,-10 4 0,-160 39 0,107-33 0,-135 8 0,-69-19 0,156-2 0,-78-7 0,140 3 0,-86-21 0,59 4 0,2-4 0,1-3 0,1-4 0,1-3 0,-130-86 0,183 108 0,1-2 0,0 0 0,1-2 0,-21-23 0,29 26 0,0 1 0,1-2 0,1 1 0,0-1 0,1 0 0,-9-29 0,5 6 0,2-1 0,2 0 0,-3-43 0,0-124 0,17-244-600,2 345 556,5 0 0,37-146 1,-13 116 48,73-174 0,-81 243-5,40-70 0,-50 106 0,1 0 0,1 1 0,2 1 0,28-28 0,-23 31 28,0 0-1,2 3 1,0 0-1,2 2 1,0 1-1,64-28 1,-64 35 38,1 2 0,0 1 0,1 2 0,0 1 0,0 1 0,1 2 0,59 1 0,153 24-66,-189-11 0,-1 2 0,70 25 0,-40-3 0,-2 3 0,-2 4 0,-1 4 0,113 83 0,-151-94 0,-1 1 0,-2 2 0,-2 2 0,42 53 0,-55-58 0,-1 2 0,-1 0 0,-3 1 0,0 2 0,27 77 0,-39-88 0,-2 1 0,-1 0 0,-2 0 0,2 31 0,-6 119 0,-1-122 0,-2 10 0,-4-1 0,-2 0 0,-19 67 0,-66 190 0,76-266 0,-2 7 0,-103 284 0,99-300 0,-43 64 0,41-71 0,-76 111-1365,88-133-5461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1T06:02:40.0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1261 136 24575,'-169'153'0,"-232"263"0,288-295 0,-77 93 0,72-79 0,-12 24 0,17-20 0,107-132 0,-10 11 0,15-17 0,1 0 0,-1-1 0,1 1 0,0 0 0,-1-1 0,1 1 0,-1 0 0,1 0 0,0-1 0,0 1 0,-1 0 0,1 0 0,0 0 0,0-1 0,0 1 0,0 0 0,0 0 0,0 0 0,0 0 0,0-1 0,1 2 0,-1-1 0,1-1 0,-1 1 0,1 0 0,0-1 0,-1 1 0,1-1 0,0 1 0,-1-1 0,1 0 0,0 1 0,0-1 0,-1 0 0,1 1 0,0-1 0,0 0 0,0 0 0,0 0 0,-1 0 0,1 0 0,1 0 0,10 0 0,1 0 0,-1-1 0,-1 0 0,1-1 0,0-1 0,16-5 0,-1 1 0,319-75-670,-19 5 70,-107 19 600,317-70 0,-506 124 0,-24 3 0,0 1 0,0-1 0,0-1 0,-1 1 0,1-1 0,12-5 0,-19 6 0,0 1 0,1 0 0,-1 0 0,0 0 0,1 0 0,-1-1 0,0 1 0,0 0 0,1 0 0,-1-1 0,0 1 0,0 0 0,0 0 0,1-1 0,-1 1 0,0 0 0,0 0 0,0-1 0,0 1 0,0 0 0,0-1 0,0 1 0,1 0 0,-1-1 0,0 1 0,0 0 0,0-1 0,0 1 0,0 0 0,0-1 0,-1 1 0,1 0 0,0-1 0,0 1 0,0 0 0,0-1 0,0 1 0,0 0 0,0-1 0,-1 1 0,1 0 0,0 0 0,0-1 0,0 1 0,-1 0 0,1 0 0,0-1 0,0 1 0,-1 0 0,1 0 0,-18-13 0,16 12 0,-159-87 824,51 29-378,-109-69-428,-15-8-251,196 114-72,-520-271-992,466 255 1192,87 36 105,0 1 0,-1-1 0,1 1 0,0 0 0,0 1 0,-1-1 0,1 1 0,-8 1 0,11-1 0,-1 1 0,1 0 0,1-1 0,-1 1 0,0 0 0,0 0 0,0 0 0,0 0 0,0 0 0,1 0 0,-1 0 0,1 1 0,-1-1 0,1 1 0,-1-1 0,1 1 0,0 0 0,0-1 0,-1 1 0,1 0 0,1 0 0,-2 3 0,-1 1-6,1 1 1,1 0-1,-1 0 0,1 0 0,0 0 1,1 0-1,0 1 0,1 8 0,10 62 219,-10-72-166,87 333 1070,29-6-1144,175 303 37,-281-615-10,5 10 0,1-1 0,30 41 0,-45-68 13,0-1 0,0 1 0,0-1 0,0 0-1,0 0 1,1 0 0,-1 0 0,1-1-1,-1 1 1,1-1 0,-1 1 0,1-1 0,3 1-1,-4-1 4,0-1 0,0 0 0,0 0 0,0 0 0,0 0-1,0 0 1,0 0 0,0-1 0,0 1 0,0-1 0,0 1-1,0-1 1,0 0 0,0 1 0,-1-1 0,1 0 0,0 0-1,-1-1 1,1 1 0,1-2 0,4-3 0,0-1 0,-1 1 0,0-2 0,0 1 0,0-1 0,7-14 0,21-55-31,-31 68 20,23-64 0,-3-2-1,19-118 0,5-159-987,-16-17 207,-17-389 0,-15 726-4893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64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1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85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75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6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83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78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84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849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8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466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3" Type="http://schemas.openxmlformats.org/officeDocument/2006/relationships/image" Target="../media/image28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4.xml"/><Relationship Id="rId11" Type="http://schemas.openxmlformats.org/officeDocument/2006/relationships/image" Target="../media/image38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903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793790" y="308002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투자자 성향에 따른 주식 시장 패턴 분석 대시보드</a:t>
            </a:r>
            <a:r>
              <a:rPr lang="en-US" altLang="ko-KR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 </a:t>
            </a: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 프로젝트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336715" y="556343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065252" y="556343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4"/>
          <p:cNvSpPr/>
          <p:nvPr/>
        </p:nvSpPr>
        <p:spPr>
          <a:xfrm>
            <a:off x="793790" y="556343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4F1597-667D-9364-C47A-01E6DAAAB855}"/>
              </a:ext>
            </a:extLst>
          </p:cNvPr>
          <p:cNvSpPr txBox="1"/>
          <p:nvPr/>
        </p:nvSpPr>
        <p:spPr>
          <a:xfrm>
            <a:off x="679269" y="6087291"/>
            <a:ext cx="2592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Crimson Pro Bold" pitchFamily="2" charset="0"/>
              </a:rPr>
              <a:t>1 </a:t>
            </a:r>
            <a:r>
              <a:rPr lang="ko-KR" altLang="en-US" sz="2400" dirty="0">
                <a:latin typeface="Crimson Pro Bold" pitchFamily="2" charset="0"/>
              </a:rPr>
              <a:t>팀 </a:t>
            </a:r>
            <a:r>
              <a:rPr lang="en-US" altLang="ko-KR" sz="2400" dirty="0">
                <a:latin typeface="Crimson Pro Bold" pitchFamily="2" charset="0"/>
              </a:rPr>
              <a:t>: </a:t>
            </a:r>
            <a:r>
              <a:rPr lang="ko-KR" altLang="en-US" sz="2400" b="1" dirty="0" err="1">
                <a:latin typeface="Crimson Pro Bold" pitchFamily="2" charset="0"/>
              </a:rPr>
              <a:t>초보주식러</a:t>
            </a:r>
            <a:endParaRPr lang="en-US" altLang="ko-KR" sz="2400" dirty="0">
              <a:latin typeface="Crimson Pro Bol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C1555-23DF-415F-90DC-150A12054728}"/>
              </a:ext>
            </a:extLst>
          </p:cNvPr>
          <p:cNvSpPr txBox="1"/>
          <p:nvPr/>
        </p:nvSpPr>
        <p:spPr>
          <a:xfrm>
            <a:off x="3537857" y="6087290"/>
            <a:ext cx="3309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Crimson Pro Bold" pitchFamily="2" charset="0"/>
              </a:rPr>
              <a:t>팀장 </a:t>
            </a:r>
            <a:r>
              <a:rPr lang="en-US" altLang="ko-KR" sz="2400" b="1" dirty="0">
                <a:latin typeface="Crimson Pro Bold" pitchFamily="2" charset="0"/>
              </a:rPr>
              <a:t>: </a:t>
            </a:r>
            <a:r>
              <a:rPr lang="ko-KR" altLang="en-US" sz="2400" b="1" dirty="0">
                <a:latin typeface="Crimson Pro Bold" pitchFamily="2" charset="0"/>
              </a:rPr>
              <a:t>김준우</a:t>
            </a:r>
            <a:endParaRPr lang="en-US" altLang="ko-KR" sz="2400" b="1" dirty="0">
              <a:latin typeface="Crimson Pro Bold" pitchFamily="2" charset="0"/>
            </a:endParaRPr>
          </a:p>
          <a:p>
            <a:r>
              <a:rPr lang="ko-KR" altLang="en-US" sz="2400" b="1" dirty="0">
                <a:latin typeface="Crimson Pro Bold" pitchFamily="2" charset="0"/>
              </a:rPr>
              <a:t>팀원 </a:t>
            </a:r>
            <a:r>
              <a:rPr lang="en-US" altLang="ko-KR" sz="2400" b="1" dirty="0">
                <a:latin typeface="Crimson Pro Bold" pitchFamily="2" charset="0"/>
              </a:rPr>
              <a:t>: </a:t>
            </a:r>
            <a:r>
              <a:rPr lang="ko-KR" altLang="en-US" sz="2400" b="1" dirty="0">
                <a:latin typeface="Crimson Pro Bold" pitchFamily="2" charset="0"/>
              </a:rPr>
              <a:t>김유진</a:t>
            </a:r>
            <a:endParaRPr lang="en-US" altLang="ko-KR" sz="2400" b="1" dirty="0">
              <a:latin typeface="Crimson Pro Bold" pitchFamily="2" charset="0"/>
            </a:endParaRPr>
          </a:p>
          <a:p>
            <a:r>
              <a:rPr lang="en-US" altLang="ko-KR" sz="2400" b="1" dirty="0">
                <a:latin typeface="Crimson Pro Bold" pitchFamily="2" charset="0"/>
              </a:rPr>
              <a:t>              </a:t>
            </a:r>
            <a:r>
              <a:rPr lang="ko-KR" altLang="en-US" sz="2400" b="1" dirty="0" err="1">
                <a:latin typeface="Crimson Pro Bold" pitchFamily="2" charset="0"/>
              </a:rPr>
              <a:t>박이담</a:t>
            </a:r>
            <a:endParaRPr lang="ko-KR" altLang="en-US" sz="2400" b="1" dirty="0">
              <a:latin typeface="Crimson Pro Bo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910DA0-004B-7320-6D4C-30CCB0AD09EF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787259" y="11131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</a:rPr>
              <a:t>목차</a:t>
            </a:r>
            <a:endParaRPr lang="en-US" sz="335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2010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417439" y="2720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1 .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개요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17439" y="3210520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프로젝트 배경</a:t>
            </a:r>
            <a:endParaRPr lang="en-US" sz="175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7439" y="3652718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프로젝트 목표</a:t>
            </a:r>
            <a:endParaRPr lang="en-US" sz="175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08990" y="272010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732639" y="2720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2. </a:t>
            </a: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팀 구성 및 개발 일정</a:t>
            </a:r>
            <a:endParaRPr lang="en-US" sz="220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32639" y="3210520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팀 </a:t>
            </a: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구성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32639" y="3653585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타임라인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497586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17439" y="44975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3 . </a:t>
            </a: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개발 환경</a:t>
            </a:r>
            <a:endParaRPr lang="en-US" altLang="ko-KR" sz="2200" b="1">
              <a:solidFill>
                <a:srgbClr val="443728"/>
              </a:solidFill>
              <a:latin typeface="+mj-ea"/>
              <a:ea typeface="+mj-ea"/>
              <a:cs typeface="Crimson Pro Bold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439" y="4988004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개발 환경 소개</a:t>
            </a:r>
            <a:endParaRPr lang="en-US" sz="175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8990" y="4497586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32639" y="44975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4. </a:t>
            </a:r>
            <a:r>
              <a:rPr lang="ko-KR" altLang="en-US" sz="2200" b="1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전처리</a:t>
            </a: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및 시각화</a:t>
            </a:r>
            <a:endParaRPr lang="en-US" sz="220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32638" y="4980861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데이터</a:t>
            </a:r>
            <a:r>
              <a:rPr 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전처리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32639" y="5430203"/>
            <a:ext cx="57844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인사이트</a:t>
            </a:r>
            <a:r>
              <a:rPr 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시각화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3790" y="6275070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17439" y="6275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5. </a:t>
            </a: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결과</a:t>
            </a:r>
            <a:endParaRPr lang="en-US" sz="220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08990" y="6275070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732639" y="6275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6. </a:t>
            </a: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한계점 및 향후 계획</a:t>
            </a:r>
            <a:endParaRPr lang="en-US" altLang="ko-KR" sz="2200" b="1">
              <a:solidFill>
                <a:srgbClr val="443728"/>
              </a:solidFill>
              <a:latin typeface="+mj-ea"/>
              <a:ea typeface="+mj-ea"/>
              <a:cs typeface="Crimson Pro Bold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6D7EBC3-C501-FABF-6447-83286B92AA30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793790" y="1110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배경</a:t>
            </a:r>
            <a:endParaRPr lang="en-US" sz="33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7337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ko-KR" altLang="en-US" sz="25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투자 시장에 뛰어드는 개인 투자자 수 증가</a:t>
            </a: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altLang="ko-KR" sz="175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altLang="ko-KR" sz="25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=&gt; </a:t>
            </a:r>
            <a:r>
              <a:rPr lang="ko-KR" altLang="en-US" sz="25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지식이 부족한 </a:t>
            </a:r>
            <a:r>
              <a:rPr lang="ko-KR" altLang="en-US" sz="2500" b="1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초보 투자자</a:t>
            </a:r>
            <a:r>
              <a:rPr lang="ko-KR" altLang="en-US" sz="25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의 비율 증가</a:t>
            </a:r>
            <a:endParaRPr lang="en-US" altLang="ko-KR" sz="25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67556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10" name="그림 9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DDFA72EB-1923-E82F-656E-5F630760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240" y="1842995"/>
            <a:ext cx="6715174" cy="56912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D25A76-EDB8-A97A-7896-167775820D16}"/>
              </a:ext>
            </a:extLst>
          </p:cNvPr>
          <p:cNvSpPr txBox="1"/>
          <p:nvPr/>
        </p:nvSpPr>
        <p:spPr>
          <a:xfrm>
            <a:off x="8087212" y="1996380"/>
            <a:ext cx="53252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/>
              <a:t>국내 개인 투자자 수 증가 추이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B7C8BE-C49A-2EC0-8092-6729F8583569}"/>
              </a:ext>
            </a:extLst>
          </p:cNvPr>
          <p:cNvSpPr txBox="1"/>
          <p:nvPr/>
        </p:nvSpPr>
        <p:spPr>
          <a:xfrm>
            <a:off x="7954990" y="2889543"/>
            <a:ext cx="1484244" cy="37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투자자 수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명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FFA7BF-463B-F096-6893-1D20D660F2F3}"/>
              </a:ext>
            </a:extLst>
          </p:cNvPr>
          <p:cNvCxnSpPr>
            <a:cxnSpLocks/>
          </p:cNvCxnSpPr>
          <p:nvPr/>
        </p:nvCxnSpPr>
        <p:spPr>
          <a:xfrm flipV="1">
            <a:off x="7909367" y="2650435"/>
            <a:ext cx="0" cy="357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AD130C-B928-9999-3DCB-D241396BF931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 1"/>
          <p:cNvSpPr/>
          <p:nvPr/>
        </p:nvSpPr>
        <p:spPr>
          <a:xfrm>
            <a:off x="536713" y="3889512"/>
            <a:ext cx="6269035" cy="244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3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미숙한</a:t>
            </a:r>
            <a:r>
              <a:rPr 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초보 </a:t>
            </a:r>
            <a:r>
              <a:rPr lang="en-US" sz="230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투자자</a:t>
            </a:r>
            <a:r>
              <a:rPr lang="en-US" sz="23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가</a:t>
            </a:r>
            <a:r>
              <a:rPr 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3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겪는</a:t>
            </a:r>
            <a:r>
              <a:rPr 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많은</a:t>
            </a:r>
            <a:r>
              <a:rPr 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실패경험</a:t>
            </a:r>
            <a:endParaRPr lang="en-US" altLang="ko-KR" sz="23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sz="23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ko-KR" altLang="en-US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리스크 관리 및 </a:t>
            </a:r>
            <a:r>
              <a:rPr lang="en-US" altLang="ko-KR" sz="230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올바른</a:t>
            </a:r>
            <a:r>
              <a:rPr lang="en-US" altLang="ko-KR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230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투자</a:t>
            </a:r>
            <a:r>
              <a:rPr lang="en-US" altLang="ko-KR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230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방향의</a:t>
            </a:r>
            <a:r>
              <a:rPr lang="en-US" altLang="ko-KR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230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필요성</a:t>
            </a:r>
            <a:r>
              <a:rPr lang="en-US" altLang="ko-KR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23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인지</a:t>
            </a:r>
            <a:endParaRPr lang="en-US" altLang="ko-KR" sz="23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endParaRPr lang="en-US" sz="23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ko-KR" alt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안정적이고 계획적인 </a:t>
            </a:r>
            <a:r>
              <a:rPr lang="ko-KR" altLang="en-US" sz="2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투자 전략 </a:t>
            </a:r>
            <a:r>
              <a:rPr lang="ko-KR" altLang="en-US" sz="2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제시</a:t>
            </a:r>
            <a:endParaRPr lang="en-US" sz="23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algn="l">
              <a:lnSpc>
                <a:spcPts val="2850"/>
              </a:lnSpc>
              <a:buSzPct val="100000"/>
            </a:pPr>
            <a:r>
              <a:rPr lang="en-US" sz="2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endParaRPr lang="en-US" sz="2500" dirty="0"/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921CB697-9C1F-D68C-1763-BD606C60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365" y="1894808"/>
            <a:ext cx="6751565" cy="5276889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86650CD-BEA4-05C7-56AD-1C30650574DB}"/>
              </a:ext>
            </a:extLst>
          </p:cNvPr>
          <p:cNvCxnSpPr>
            <a:cxnSpLocks/>
          </p:cNvCxnSpPr>
          <p:nvPr/>
        </p:nvCxnSpPr>
        <p:spPr>
          <a:xfrm>
            <a:off x="11051177" y="6261652"/>
            <a:ext cx="31058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AC2CD62-A834-6453-2E3F-798D02FCBC06}"/>
              </a:ext>
            </a:extLst>
          </p:cNvPr>
          <p:cNvCxnSpPr>
            <a:cxnSpLocks/>
          </p:cNvCxnSpPr>
          <p:nvPr/>
        </p:nvCxnSpPr>
        <p:spPr>
          <a:xfrm>
            <a:off x="7770012" y="6489154"/>
            <a:ext cx="15046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99B511F-3E92-404D-EDD6-0BF5C0498057}"/>
              </a:ext>
            </a:extLst>
          </p:cNvPr>
          <p:cNvCxnSpPr>
            <a:cxnSpLocks/>
          </p:cNvCxnSpPr>
          <p:nvPr/>
        </p:nvCxnSpPr>
        <p:spPr>
          <a:xfrm>
            <a:off x="12233366" y="6734487"/>
            <a:ext cx="204483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01BC28C-0B9F-D280-A3FB-287A2A1049F4}"/>
              </a:ext>
            </a:extLst>
          </p:cNvPr>
          <p:cNvCxnSpPr>
            <a:cxnSpLocks/>
          </p:cNvCxnSpPr>
          <p:nvPr/>
        </p:nvCxnSpPr>
        <p:spPr>
          <a:xfrm>
            <a:off x="7770012" y="7008021"/>
            <a:ext cx="20401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D39D70-A764-E113-6F98-EBC10457D1DB}"/>
              </a:ext>
            </a:extLst>
          </p:cNvPr>
          <p:cNvCxnSpPr>
            <a:cxnSpLocks/>
          </p:cNvCxnSpPr>
          <p:nvPr/>
        </p:nvCxnSpPr>
        <p:spPr>
          <a:xfrm>
            <a:off x="11743509" y="5456668"/>
            <a:ext cx="24917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9E95AEBB-681E-51B3-C521-81632F1D9AC4}"/>
              </a:ext>
            </a:extLst>
          </p:cNvPr>
          <p:cNvCxnSpPr>
            <a:cxnSpLocks/>
          </p:cNvCxnSpPr>
          <p:nvPr/>
        </p:nvCxnSpPr>
        <p:spPr>
          <a:xfrm>
            <a:off x="7770012" y="5714576"/>
            <a:ext cx="19552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619954B2-C685-0569-8BF8-DB3E3C5A700C}"/>
                  </a:ext>
                </a:extLst>
              </p14:cNvPr>
              <p14:cNvContentPartPr/>
              <p14:nvPr/>
            </p14:nvContentPartPr>
            <p14:xfrm>
              <a:off x="11012347" y="5833594"/>
              <a:ext cx="200880" cy="21276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619954B2-C685-0569-8BF8-DB3E3C5A70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03347" y="5824594"/>
                <a:ext cx="2185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3A4E5CE1-EE35-87F0-E708-EAAFAD8E5F63}"/>
                  </a:ext>
                </a:extLst>
              </p14:cNvPr>
              <p14:cNvContentPartPr/>
              <p14:nvPr/>
            </p14:nvContentPartPr>
            <p14:xfrm>
              <a:off x="11632366" y="5140594"/>
              <a:ext cx="207360" cy="15840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3A4E5CE1-EE35-87F0-E708-EAAFAD8E5F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23366" y="5131594"/>
                <a:ext cx="225000" cy="17604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 0">
            <a:extLst>
              <a:ext uri="{FF2B5EF4-FFF2-40B4-BE49-F238E27FC236}">
                <a16:creationId xmlns:a16="http://schemas.microsoft.com/office/drawing/2014/main" id="{0EB97472-BE75-6458-4FF4-66D10B03E362}"/>
              </a:ext>
            </a:extLst>
          </p:cNvPr>
          <p:cNvSpPr/>
          <p:nvPr/>
        </p:nvSpPr>
        <p:spPr>
          <a:xfrm>
            <a:off x="793790" y="1110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배경</a:t>
            </a:r>
            <a:endParaRPr lang="en-US" sz="3350" dirty="0">
              <a:latin typeface="+mj-ea"/>
              <a:ea typeface="+mj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0BE2731D-4E25-5868-0A49-2BF19A3FC122}"/>
                  </a:ext>
                </a:extLst>
              </p14:cNvPr>
              <p14:cNvContentPartPr/>
              <p14:nvPr/>
            </p14:nvContentPartPr>
            <p14:xfrm>
              <a:off x="12177115" y="6325625"/>
              <a:ext cx="200880" cy="2127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0BE2731D-4E25-5868-0A49-2BF19A3FC1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68115" y="6316625"/>
                <a:ext cx="218520" cy="23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2F3E85-C47C-97A9-AD86-367921C0A0A9}"/>
              </a:ext>
            </a:extLst>
          </p:cNvPr>
          <p:cNvSpPr/>
          <p:nvPr/>
        </p:nvSpPr>
        <p:spPr>
          <a:xfrm>
            <a:off x="0" y="22282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744383" y="34183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26539" y="3503330"/>
            <a:ext cx="1458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893748" y="3495545"/>
            <a:ext cx="43214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업종별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종목별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위험도와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수익률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비교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16171" y="4902842"/>
            <a:ext cx="4704517" cy="1148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수익률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상위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100개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종목의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
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위험도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-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수익률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상관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관계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en-US" altLang="ko-KR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분석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</a:t>
            </a:r>
            <a:endParaRPr lang="en-US" altLang="ko-KR" sz="22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4383" y="500202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5835" y="5880738"/>
            <a:ext cx="16621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2262664" y="3960754"/>
            <a:ext cx="42074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9899571" y="3960754"/>
            <a:ext cx="356401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68CA686-DBC5-F9C4-009D-BD3AB11BFADC}"/>
              </a:ext>
            </a:extLst>
          </p:cNvPr>
          <p:cNvSpPr/>
          <p:nvPr/>
        </p:nvSpPr>
        <p:spPr>
          <a:xfrm>
            <a:off x="793790" y="1110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목표</a:t>
            </a:r>
            <a:endParaRPr lang="en-US" sz="3350" dirty="0">
              <a:latin typeface="+mj-ea"/>
              <a:ea typeface="+mj-ea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079B8F92-54B5-DF81-357F-985AE0016867}"/>
              </a:ext>
            </a:extLst>
          </p:cNvPr>
          <p:cNvSpPr/>
          <p:nvPr/>
        </p:nvSpPr>
        <p:spPr>
          <a:xfrm>
            <a:off x="6593002" y="3978715"/>
            <a:ext cx="2041784" cy="912709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4ACF4C-F1B9-A039-0E11-17B9F06F2C27}"/>
              </a:ext>
            </a:extLst>
          </p:cNvPr>
          <p:cNvSpPr txBox="1"/>
          <p:nvPr/>
        </p:nvSpPr>
        <p:spPr>
          <a:xfrm>
            <a:off x="8876210" y="3927237"/>
            <a:ext cx="5754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+mj-ea"/>
                <a:ea typeface="+mj-ea"/>
              </a:rPr>
              <a:t>최종프로젝트의 </a:t>
            </a:r>
            <a:endParaRPr lang="en-US" altLang="ko-KR" sz="3000" b="1" dirty="0">
              <a:latin typeface="+mj-ea"/>
              <a:ea typeface="+mj-ea"/>
            </a:endParaRPr>
          </a:p>
          <a:p>
            <a:r>
              <a:rPr lang="ko-KR" altLang="en-US" sz="3000" b="1" u="sng" dirty="0">
                <a:solidFill>
                  <a:srgbClr val="FF0000"/>
                </a:solidFill>
                <a:latin typeface="+mj-ea"/>
                <a:ea typeface="+mj-ea"/>
              </a:rPr>
              <a:t>업종</a:t>
            </a:r>
            <a:r>
              <a:rPr lang="en-US" altLang="ko-KR" sz="3000" b="1" u="sng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sz="3000" b="1" u="sng" dirty="0">
                <a:solidFill>
                  <a:srgbClr val="FF0000"/>
                </a:solidFill>
                <a:latin typeface="+mj-ea"/>
                <a:ea typeface="+mj-ea"/>
              </a:rPr>
              <a:t>종목 추천기능에 </a:t>
            </a:r>
            <a:r>
              <a:rPr lang="ko-KR" altLang="en-US" sz="3000" b="1" dirty="0">
                <a:latin typeface="+mj-ea"/>
                <a:ea typeface="+mj-ea"/>
              </a:rPr>
              <a:t>반영</a:t>
            </a:r>
          </a:p>
        </p:txBody>
      </p:sp>
      <p:sp>
        <p:nvSpPr>
          <p:cNvPr id="7" name="Text 5"/>
          <p:cNvSpPr/>
          <p:nvPr/>
        </p:nvSpPr>
        <p:spPr>
          <a:xfrm>
            <a:off x="928911" y="5108343"/>
            <a:ext cx="173474" cy="297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C79453-3E83-F877-35C1-9D140937D745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 1"/>
          <p:cNvSpPr/>
          <p:nvPr/>
        </p:nvSpPr>
        <p:spPr>
          <a:xfrm>
            <a:off x="793790" y="5684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</a:rPr>
              <a:t>김준우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6174819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데이터 수집 및 </a:t>
            </a:r>
            <a:r>
              <a:rPr lang="ko-KR" altLang="en-US" sz="175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전처리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7" name="Text 3"/>
          <p:cNvSpPr/>
          <p:nvPr/>
        </p:nvSpPr>
        <p:spPr>
          <a:xfrm>
            <a:off x="5254704" y="5684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김유진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54704" y="6174938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데이터 시각화 및 인사이트 도출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715738" y="56844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박이담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1" name="Text 6"/>
          <p:cNvSpPr/>
          <p:nvPr/>
        </p:nvSpPr>
        <p:spPr>
          <a:xfrm>
            <a:off x="9715738" y="6174819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프로젝트 진행</a:t>
            </a:r>
            <a:r>
              <a:rPr lang="en-US" altLang="ko-KR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, </a:t>
            </a:r>
            <a:r>
              <a:rPr lang="ko-KR" altLang="en-US" sz="175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협업 관리</a:t>
            </a:r>
            <a:endParaRPr lang="en-US" sz="1750" dirty="0">
              <a:latin typeface="+mj-ea"/>
              <a:ea typeface="+mj-ea"/>
            </a:endParaRPr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9EFE429C-3968-4A46-8B8F-367F42E5B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823" y="2841427"/>
            <a:ext cx="4120753" cy="2546747"/>
          </a:xfrm>
          <a:prstGeom prst="rect">
            <a:avLst/>
          </a:prstGeom>
        </p:spPr>
      </p:pic>
      <p:pic>
        <p:nvPicPr>
          <p:cNvPr id="15" name="Image 1">
            <a:extLst>
              <a:ext uri="{FF2B5EF4-FFF2-40B4-BE49-F238E27FC236}">
                <a16:creationId xmlns:a16="http://schemas.microsoft.com/office/drawing/2014/main" id="{3ADC61A6-FD1C-42BB-B722-30DD17CFF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49" y="2854166"/>
            <a:ext cx="4120872" cy="2546866"/>
          </a:xfrm>
          <a:prstGeom prst="rect">
            <a:avLst/>
          </a:prstGeom>
        </p:spPr>
      </p:pic>
      <p:pic>
        <p:nvPicPr>
          <p:cNvPr id="16" name="Image 2">
            <a:extLst>
              <a:ext uri="{FF2B5EF4-FFF2-40B4-BE49-F238E27FC236}">
                <a16:creationId xmlns:a16="http://schemas.microsoft.com/office/drawing/2014/main" id="{9B559CEA-9CFA-4B95-B8EC-C4AD2A39B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822751"/>
            <a:ext cx="4120753" cy="254674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18CF91-5CFE-4AA4-7196-1856C6F2C202}"/>
              </a:ext>
            </a:extLst>
          </p:cNvPr>
          <p:cNvSpPr/>
          <p:nvPr/>
        </p:nvSpPr>
        <p:spPr>
          <a:xfrm>
            <a:off x="793790" y="1110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팀구성</a:t>
            </a:r>
            <a:endParaRPr lang="en-US" sz="3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F0DBD11B-880E-710D-F1AA-4EC1528AFF51}"/>
              </a:ext>
            </a:extLst>
          </p:cNvPr>
          <p:cNvSpPr/>
          <p:nvPr/>
        </p:nvSpPr>
        <p:spPr>
          <a:xfrm>
            <a:off x="0" y="22282"/>
            <a:ext cx="146304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B47E337B-A6AD-2C38-5AFB-C208B97F3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234674"/>
              </p:ext>
            </p:extLst>
          </p:nvPr>
        </p:nvGraphicFramePr>
        <p:xfrm>
          <a:off x="979714" y="2312126"/>
          <a:ext cx="12964887" cy="5231688"/>
        </p:xfrm>
        <a:graphic>
          <a:graphicData uri="http://schemas.openxmlformats.org/drawingml/2006/table">
            <a:tbl>
              <a:tblPr/>
              <a:tblGrid>
                <a:gridCol w="287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3368820794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2499924426"/>
                    </a:ext>
                  </a:extLst>
                </a:gridCol>
                <a:gridCol w="1120663">
                  <a:extLst>
                    <a:ext uri="{9D8B030D-6E8A-4147-A177-3AD203B41FA5}">
                      <a16:colId xmlns:a16="http://schemas.microsoft.com/office/drawing/2014/main" val="3465457585"/>
                    </a:ext>
                  </a:extLst>
                </a:gridCol>
              </a:tblGrid>
              <a:tr h="893770"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1/02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1/03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1/04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1/05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1/06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 Bold"/>
                        </a:rPr>
                        <a:t>1/07</a:t>
                      </a: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latin typeface="+mj-ea"/>
                          <a:ea typeface="+mj-ea"/>
                        </a:rPr>
                        <a:t>1/08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latin typeface="+mj-ea"/>
                          <a:ea typeface="+mj-ea"/>
                        </a:rPr>
                        <a:t>1/09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33"/>
                        </a:lnSpc>
                        <a:defRPr/>
                      </a:pPr>
                      <a:r>
                        <a:rPr lang="en-US" sz="2400" b="1" dirty="0">
                          <a:latin typeface="+mj-ea"/>
                          <a:ea typeface="+mj-ea"/>
                        </a:rPr>
                        <a:t>1/10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888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주제선정</a:t>
                      </a:r>
                      <a:r>
                        <a:rPr lang="en-US" altLang="ko-KR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, </a:t>
                      </a: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데이터 수집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gridSpan="9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 h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806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데이터 </a:t>
                      </a:r>
                      <a:r>
                        <a:rPr lang="ko-KR" altLang="en-US" sz="2000" b="1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전처리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806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Telegraf"/>
                          <a:sym typeface="Telegraf"/>
                        </a:rPr>
                        <a:t>데이터 분석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806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데이터 해석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806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sym typeface="Telegraf"/>
                        </a:rPr>
                        <a:t>데이터 시각화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806">
                <a:tc>
                  <a:txBody>
                    <a:bodyPr/>
                    <a:lstStyle/>
                    <a:p>
                      <a:pPr algn="ctr">
                        <a:lnSpc>
                          <a:spcPts val="1539"/>
                        </a:lnSpc>
                        <a:defRPr/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Telegraf"/>
                          <a:sym typeface="Telegraf"/>
                        </a:rPr>
                        <a:t>프레젠테이션 작성</a:t>
                      </a:r>
                      <a:endParaRPr lang="en-US" sz="20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9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1113"/>
                        </a:lnSpc>
                        <a:defRPr/>
                      </a:pPr>
                      <a:endParaRPr lang="en-US" sz="2400" b="1" dirty="0"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6055BEE-190B-5146-AFCC-CB26E7FA400F}"/>
              </a:ext>
            </a:extLst>
          </p:cNvPr>
          <p:cNvSpPr/>
          <p:nvPr/>
        </p:nvSpPr>
        <p:spPr>
          <a:xfrm>
            <a:off x="12377057" y="6928757"/>
            <a:ext cx="1358537" cy="3331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0451FBE-6C58-70D9-EA8D-1A681B4F1F5D}"/>
              </a:ext>
            </a:extLst>
          </p:cNvPr>
          <p:cNvSpPr/>
          <p:nvPr/>
        </p:nvSpPr>
        <p:spPr>
          <a:xfrm>
            <a:off x="6760030" y="4751604"/>
            <a:ext cx="2207622" cy="37230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DC1F12F-96C9-5047-22D6-CABFBC3D41D0}"/>
              </a:ext>
            </a:extLst>
          </p:cNvPr>
          <p:cNvSpPr/>
          <p:nvPr/>
        </p:nvSpPr>
        <p:spPr>
          <a:xfrm>
            <a:off x="11314611" y="6909155"/>
            <a:ext cx="2629990" cy="372305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052A6AF-A7E5-B6D2-1CE7-A97A27DDF012}"/>
              </a:ext>
            </a:extLst>
          </p:cNvPr>
          <p:cNvSpPr/>
          <p:nvPr/>
        </p:nvSpPr>
        <p:spPr>
          <a:xfrm>
            <a:off x="3925383" y="3376748"/>
            <a:ext cx="1632863" cy="35269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AA5A2DD-DD11-DE88-94A7-1210E22A40DA}"/>
              </a:ext>
            </a:extLst>
          </p:cNvPr>
          <p:cNvSpPr/>
          <p:nvPr/>
        </p:nvSpPr>
        <p:spPr>
          <a:xfrm>
            <a:off x="4020094" y="3376748"/>
            <a:ext cx="1701438" cy="352697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80C9DD8-2E14-41E1-1433-F19AA1E7FF0F}"/>
              </a:ext>
            </a:extLst>
          </p:cNvPr>
          <p:cNvSpPr/>
          <p:nvPr/>
        </p:nvSpPr>
        <p:spPr>
          <a:xfrm>
            <a:off x="5600283" y="4049490"/>
            <a:ext cx="1159746" cy="372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8520F07-D4D0-19FA-4057-B9546AF7258C}"/>
              </a:ext>
            </a:extLst>
          </p:cNvPr>
          <p:cNvSpPr/>
          <p:nvPr/>
        </p:nvSpPr>
        <p:spPr>
          <a:xfrm>
            <a:off x="6881278" y="4751617"/>
            <a:ext cx="1113191" cy="372292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A735845-1FFB-1828-EBEE-238F67A9A3A1}"/>
              </a:ext>
            </a:extLst>
          </p:cNvPr>
          <p:cNvSpPr/>
          <p:nvPr/>
        </p:nvSpPr>
        <p:spPr>
          <a:xfrm>
            <a:off x="5721532" y="4060378"/>
            <a:ext cx="1159746" cy="372292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5741C9C-97AB-DC7D-BE02-FE1788773D82}"/>
              </a:ext>
            </a:extLst>
          </p:cNvPr>
          <p:cNvSpPr/>
          <p:nvPr/>
        </p:nvSpPr>
        <p:spPr>
          <a:xfrm>
            <a:off x="8967652" y="5423269"/>
            <a:ext cx="2220685" cy="372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755E11F-3181-8BCD-F652-CF96AB4FFF25}"/>
              </a:ext>
            </a:extLst>
          </p:cNvPr>
          <p:cNvSpPr/>
          <p:nvPr/>
        </p:nvSpPr>
        <p:spPr>
          <a:xfrm>
            <a:off x="7994469" y="5416738"/>
            <a:ext cx="2148840" cy="372292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2B326E2-9C38-378F-6ABF-4D2A2059D4A9}"/>
              </a:ext>
            </a:extLst>
          </p:cNvPr>
          <p:cNvSpPr/>
          <p:nvPr/>
        </p:nvSpPr>
        <p:spPr>
          <a:xfrm>
            <a:off x="11136086" y="6135189"/>
            <a:ext cx="1240971" cy="372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7E861F3-1623-DD31-88CD-C4F7831B4101}"/>
              </a:ext>
            </a:extLst>
          </p:cNvPr>
          <p:cNvSpPr/>
          <p:nvPr/>
        </p:nvSpPr>
        <p:spPr>
          <a:xfrm>
            <a:off x="10073640" y="6140633"/>
            <a:ext cx="1240971" cy="372292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BD0ED94-C73C-C208-5629-95A6F633EFF1}"/>
              </a:ext>
            </a:extLst>
          </p:cNvPr>
          <p:cNvSpPr/>
          <p:nvPr/>
        </p:nvSpPr>
        <p:spPr>
          <a:xfrm>
            <a:off x="12409715" y="934520"/>
            <a:ext cx="1240971" cy="372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69749AA-45CD-DF2D-BCD5-3FFF994E630E}"/>
              </a:ext>
            </a:extLst>
          </p:cNvPr>
          <p:cNvSpPr/>
          <p:nvPr/>
        </p:nvSpPr>
        <p:spPr>
          <a:xfrm>
            <a:off x="12409714" y="1561537"/>
            <a:ext cx="1240971" cy="372292"/>
          </a:xfrm>
          <a:prstGeom prst="roundRect">
            <a:avLst/>
          </a:prstGeom>
          <a:solidFill>
            <a:schemeClr val="accent6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89400B-9792-EEB1-8719-2746378981A7}"/>
              </a:ext>
            </a:extLst>
          </p:cNvPr>
          <p:cNvSpPr txBox="1"/>
          <p:nvPr/>
        </p:nvSpPr>
        <p:spPr>
          <a:xfrm>
            <a:off x="10892247" y="967740"/>
            <a:ext cx="131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계획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F14C20-511C-AE94-5AE9-9248D4C4D586}"/>
              </a:ext>
            </a:extLst>
          </p:cNvPr>
          <p:cNvSpPr txBox="1"/>
          <p:nvPr/>
        </p:nvSpPr>
        <p:spPr>
          <a:xfrm>
            <a:off x="10892246" y="1581756"/>
            <a:ext cx="131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실제</a:t>
            </a:r>
          </a:p>
        </p:txBody>
      </p:sp>
      <p:sp>
        <p:nvSpPr>
          <p:cNvPr id="43" name="Text 0">
            <a:extLst>
              <a:ext uri="{FF2B5EF4-FFF2-40B4-BE49-F238E27FC236}">
                <a16:creationId xmlns:a16="http://schemas.microsoft.com/office/drawing/2014/main" id="{4DA60314-1E3A-5F56-5E7C-D609DDBE0513}"/>
              </a:ext>
            </a:extLst>
          </p:cNvPr>
          <p:cNvSpPr/>
          <p:nvPr/>
        </p:nvSpPr>
        <p:spPr>
          <a:xfrm>
            <a:off x="793790" y="11109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</a:rPr>
              <a:t>타임라인</a:t>
            </a:r>
            <a:endParaRPr lang="en-US" sz="3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D6FFF8-3B96-A9FC-24F1-5F9FEFCC86B2}"/>
              </a:ext>
            </a:extLst>
          </p:cNvPr>
          <p:cNvSpPr/>
          <p:nvPr/>
        </p:nvSpPr>
        <p:spPr>
          <a:xfrm>
            <a:off x="0" y="0"/>
            <a:ext cx="14630400" cy="20487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793790" y="7140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3350" b="1" dirty="0">
                <a:solidFill>
                  <a:srgbClr val="443728"/>
                </a:solidFill>
                <a:latin typeface="+mj-ea"/>
                <a:ea typeface="+mj-ea"/>
              </a:rPr>
              <a:t>개발 환경</a:t>
            </a:r>
            <a:endParaRPr lang="en-US" sz="3350" b="1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7259" y="2233646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27595" y="2276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Crimson Pro Bold" pitchFamily="34" charset="0"/>
              </a:rPr>
              <a:t>개발 언어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515" y="3509188"/>
            <a:ext cx="2001000" cy="900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21" y="5315154"/>
            <a:ext cx="2001600" cy="9000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5517" y="3422865"/>
            <a:ext cx="3024307" cy="8236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0052" y="3846387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Python 3.12.7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9834" y="2769447"/>
            <a:ext cx="1080000" cy="1080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25958" y="6467640"/>
            <a:ext cx="35727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Shape 8"/>
          <p:cNvSpPr/>
          <p:nvPr/>
        </p:nvSpPr>
        <p:spPr>
          <a:xfrm>
            <a:off x="3460800" y="2235696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9787" y="3706539"/>
            <a:ext cx="2700451" cy="54000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40" y="5131778"/>
            <a:ext cx="2772251" cy="794980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858" y="6533509"/>
            <a:ext cx="2747129" cy="91571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0263783" y="5927930"/>
            <a:ext cx="35727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1CF476F0-00E8-9FDF-3261-5555B80E56A5}"/>
              </a:ext>
            </a:extLst>
          </p:cNvPr>
          <p:cNvSpPr/>
          <p:nvPr/>
        </p:nvSpPr>
        <p:spPr>
          <a:xfrm>
            <a:off x="1327596" y="43929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Crimson Pro Bold" pitchFamily="34" charset="0"/>
              </a:rPr>
              <a:t>개발 도구</a:t>
            </a:r>
            <a:endParaRPr lang="en-US" sz="2200" dirty="0"/>
          </a:p>
        </p:txBody>
      </p:sp>
      <p:pic>
        <p:nvPicPr>
          <p:cNvPr id="26" name="그림 25" descr="그래픽, 상징, 일렉트릭 블루, 라인이(가) 표시된 사진&#10;&#10;자동 생성된 설명">
            <a:extLst>
              <a:ext uri="{FF2B5EF4-FFF2-40B4-BE49-F238E27FC236}">
                <a16:creationId xmlns:a16="http://schemas.microsoft.com/office/drawing/2014/main" id="{3025F306-46D1-8334-4B61-E0355C28F8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4337" y="4886069"/>
            <a:ext cx="1080000" cy="1080000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31B9ACF0-7F10-C4C9-FA4F-8CC4F8CAFD99}"/>
              </a:ext>
            </a:extLst>
          </p:cNvPr>
          <p:cNvSpPr/>
          <p:nvPr/>
        </p:nvSpPr>
        <p:spPr>
          <a:xfrm>
            <a:off x="793790" y="4339514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A940E8C5-B6B6-357E-1D89-6F614DB6EA6F}"/>
              </a:ext>
            </a:extLst>
          </p:cNvPr>
          <p:cNvSpPr/>
          <p:nvPr/>
        </p:nvSpPr>
        <p:spPr>
          <a:xfrm>
            <a:off x="890052" y="6042441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VS Code 1.96.2</a:t>
            </a:r>
          </a:p>
        </p:txBody>
      </p:sp>
      <p:pic>
        <p:nvPicPr>
          <p:cNvPr id="34" name="그림 33" descr="그래픽, 그래픽 디자인, 폰트, 로고이(가) 표시된 사진&#10;&#10;자동 생성된 설명">
            <a:extLst>
              <a:ext uri="{FF2B5EF4-FFF2-40B4-BE49-F238E27FC236}">
                <a16:creationId xmlns:a16="http://schemas.microsoft.com/office/drawing/2014/main" id="{3DB9CAE7-04B0-5210-8D07-19C3AB1441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4337" y="6394370"/>
            <a:ext cx="1080000" cy="1080000"/>
          </a:xfrm>
          <a:prstGeom prst="rect">
            <a:avLst/>
          </a:prstGeom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03432911-3355-385E-6532-D4723DE40C6D}"/>
              </a:ext>
            </a:extLst>
          </p:cNvPr>
          <p:cNvSpPr/>
          <p:nvPr/>
        </p:nvSpPr>
        <p:spPr>
          <a:xfrm>
            <a:off x="831642" y="7515582"/>
            <a:ext cx="2076384" cy="73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PyCharm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21.0.5+8-b631.16</a:t>
            </a: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E18EF0A6-9783-F384-73FA-D8D6B0A25AC7}"/>
              </a:ext>
            </a:extLst>
          </p:cNvPr>
          <p:cNvSpPr/>
          <p:nvPr/>
        </p:nvSpPr>
        <p:spPr>
          <a:xfrm>
            <a:off x="4090981" y="22714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Crimson Pro Bold" pitchFamily="34" charset="0"/>
              </a:rPr>
              <a:t>사용 라이브러리</a:t>
            </a:r>
            <a:endParaRPr lang="en-US" sz="22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20E98C82-1887-196D-3447-9D2E2C4FCC22}"/>
              </a:ext>
            </a:extLst>
          </p:cNvPr>
          <p:cNvSpPr/>
          <p:nvPr/>
        </p:nvSpPr>
        <p:spPr>
          <a:xfrm>
            <a:off x="3864167" y="2924524"/>
            <a:ext cx="277785" cy="27778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A1AF38F3-11C7-3E2C-91B3-EFB28AC49E3E}"/>
              </a:ext>
            </a:extLst>
          </p:cNvPr>
          <p:cNvSpPr/>
          <p:nvPr/>
        </p:nvSpPr>
        <p:spPr>
          <a:xfrm>
            <a:off x="4357814" y="2903908"/>
            <a:ext cx="1984665" cy="37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b="1" dirty="0">
                <a:solidFill>
                  <a:srgbClr val="443728"/>
                </a:solidFill>
                <a:latin typeface="Crimson Pro Bold" pitchFamily="34" charset="0"/>
              </a:rPr>
              <a:t>데이터 분석</a:t>
            </a:r>
            <a:endParaRPr lang="en-US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08A53C31-0AF2-4220-10B3-35ED390A55E3}"/>
              </a:ext>
            </a:extLst>
          </p:cNvPr>
          <p:cNvSpPr/>
          <p:nvPr/>
        </p:nvSpPr>
        <p:spPr>
          <a:xfrm>
            <a:off x="4026425" y="4544468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NumPy 1.26.4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423D3ED6-0656-D618-4A65-BB791A319AD9}"/>
              </a:ext>
            </a:extLst>
          </p:cNvPr>
          <p:cNvSpPr/>
          <p:nvPr/>
        </p:nvSpPr>
        <p:spPr>
          <a:xfrm>
            <a:off x="4071515" y="6297269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Pandas 2.2.2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4F4150D4-E487-6544-C861-1F2E7898919B}"/>
              </a:ext>
            </a:extLst>
          </p:cNvPr>
          <p:cNvSpPr/>
          <p:nvPr/>
        </p:nvSpPr>
        <p:spPr>
          <a:xfrm>
            <a:off x="6220789" y="2922194"/>
            <a:ext cx="277785" cy="27778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66DB9085-B869-F190-E6FB-919C42A8D9C2}"/>
              </a:ext>
            </a:extLst>
          </p:cNvPr>
          <p:cNvSpPr/>
          <p:nvPr/>
        </p:nvSpPr>
        <p:spPr>
          <a:xfrm>
            <a:off x="6714436" y="2901578"/>
            <a:ext cx="1984665" cy="37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b="1" dirty="0">
                <a:solidFill>
                  <a:srgbClr val="443728"/>
                </a:solidFill>
                <a:latin typeface="Crimson Pro Bold" pitchFamily="34" charset="0"/>
              </a:rPr>
              <a:t>데이터 수집</a:t>
            </a:r>
            <a:endParaRPr lang="en-US" dirty="0"/>
          </a:p>
        </p:txBody>
      </p:sp>
      <p:pic>
        <p:nvPicPr>
          <p:cNvPr id="47" name="그림 46" descr="상징, 스케치, 예술, 그림이(가) 표시된 사진&#10;&#10;자동 생성된 설명">
            <a:extLst>
              <a:ext uri="{FF2B5EF4-FFF2-40B4-BE49-F238E27FC236}">
                <a16:creationId xmlns:a16="http://schemas.microsoft.com/office/drawing/2014/main" id="{CE9438B0-FCEC-0EC2-B500-A53FC7CEE78B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686151" y="3421330"/>
            <a:ext cx="1080000" cy="1080000"/>
          </a:xfrm>
          <a:prstGeom prst="rect">
            <a:avLst/>
          </a:prstGeom>
        </p:spPr>
      </p:pic>
      <p:sp>
        <p:nvSpPr>
          <p:cNvPr id="48" name="Text 3">
            <a:extLst>
              <a:ext uri="{FF2B5EF4-FFF2-40B4-BE49-F238E27FC236}">
                <a16:creationId xmlns:a16="http://schemas.microsoft.com/office/drawing/2014/main" id="{AA08E4C0-9809-4992-8283-22566D2CBCDD}"/>
              </a:ext>
            </a:extLst>
          </p:cNvPr>
          <p:cNvSpPr/>
          <p:nvPr/>
        </p:nvSpPr>
        <p:spPr>
          <a:xfrm>
            <a:off x="6250063" y="4548344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Requests 2.32.3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0" name="그림 49" descr="그래픽, 스크린샷, 폰트, 그래픽 디자인이(가) 표시된 사진&#10;&#10;자동 생성된 설명">
            <a:extLst>
              <a:ext uri="{FF2B5EF4-FFF2-40B4-BE49-F238E27FC236}">
                <a16:creationId xmlns:a16="http://schemas.microsoft.com/office/drawing/2014/main" id="{EC45F521-9169-3CFF-54E4-508F3B6E9D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6151" y="5132779"/>
            <a:ext cx="1080000" cy="1080000"/>
          </a:xfrm>
          <a:prstGeom prst="rect">
            <a:avLst/>
          </a:prstGeom>
        </p:spPr>
      </p:pic>
      <p:sp>
        <p:nvSpPr>
          <p:cNvPr id="51" name="Text 3">
            <a:extLst>
              <a:ext uri="{FF2B5EF4-FFF2-40B4-BE49-F238E27FC236}">
                <a16:creationId xmlns:a16="http://schemas.microsoft.com/office/drawing/2014/main" id="{AB24ED3E-0D3B-5442-BB22-8A53F2034451}"/>
              </a:ext>
            </a:extLst>
          </p:cNvPr>
          <p:cNvSpPr/>
          <p:nvPr/>
        </p:nvSpPr>
        <p:spPr>
          <a:xfrm>
            <a:off x="6285955" y="6297162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Selenium 4.31.1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A7B1913B-331C-1562-07ED-263ABA9209E0}"/>
              </a:ext>
            </a:extLst>
          </p:cNvPr>
          <p:cNvSpPr/>
          <p:nvPr/>
        </p:nvSpPr>
        <p:spPr>
          <a:xfrm>
            <a:off x="11375517" y="2914254"/>
            <a:ext cx="277785" cy="27778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32FFF8C7-BC13-CD74-CB26-94D208EF3210}"/>
              </a:ext>
            </a:extLst>
          </p:cNvPr>
          <p:cNvSpPr/>
          <p:nvPr/>
        </p:nvSpPr>
        <p:spPr>
          <a:xfrm>
            <a:off x="11791831" y="2914254"/>
            <a:ext cx="1984665" cy="37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b="1" dirty="0">
                <a:solidFill>
                  <a:srgbClr val="443728"/>
                </a:solidFill>
                <a:latin typeface="Crimson Pro Bold" pitchFamily="34" charset="0"/>
              </a:rPr>
              <a:t>오픈소스 라이브러리</a:t>
            </a:r>
            <a:endParaRPr lang="en-US" dirty="0"/>
          </a:p>
        </p:txBody>
      </p:sp>
      <p:sp>
        <p:nvSpPr>
          <p:cNvPr id="54" name="Shape 8">
            <a:extLst>
              <a:ext uri="{FF2B5EF4-FFF2-40B4-BE49-F238E27FC236}">
                <a16:creationId xmlns:a16="http://schemas.microsoft.com/office/drawing/2014/main" id="{196FDEF6-904C-20D4-FDAB-2ECA3B9C3BF3}"/>
              </a:ext>
            </a:extLst>
          </p:cNvPr>
          <p:cNvSpPr/>
          <p:nvPr/>
        </p:nvSpPr>
        <p:spPr>
          <a:xfrm>
            <a:off x="8421316" y="2924524"/>
            <a:ext cx="277785" cy="277785"/>
          </a:xfrm>
          <a:prstGeom prst="roundRect">
            <a:avLst>
              <a:gd name="adj" fmla="val 2400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B65BEBDC-43E5-2AFE-5722-F0AB6F657195}"/>
              </a:ext>
            </a:extLst>
          </p:cNvPr>
          <p:cNvSpPr/>
          <p:nvPr/>
        </p:nvSpPr>
        <p:spPr>
          <a:xfrm>
            <a:off x="8914963" y="2903908"/>
            <a:ext cx="1984665" cy="37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b="1" dirty="0">
                <a:solidFill>
                  <a:srgbClr val="443728"/>
                </a:solidFill>
                <a:latin typeface="Crimson Pro Bold" pitchFamily="34" charset="0"/>
              </a:rPr>
              <a:t>데이터 시각화</a:t>
            </a:r>
            <a:endParaRPr lang="en-US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ACA0DFFF-71C4-FE6B-83A1-B99F5C9E5F98}"/>
              </a:ext>
            </a:extLst>
          </p:cNvPr>
          <p:cNvSpPr/>
          <p:nvPr/>
        </p:nvSpPr>
        <p:spPr>
          <a:xfrm>
            <a:off x="8803510" y="4535113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matplotlib 3.9.2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03E571F-D7D6-327A-207A-D2961A1A258A}"/>
              </a:ext>
            </a:extLst>
          </p:cNvPr>
          <p:cNvSpPr/>
          <p:nvPr/>
        </p:nvSpPr>
        <p:spPr>
          <a:xfrm>
            <a:off x="8677641" y="6262893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/>
              <a:t>seaborn 0.13.2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EA44508E-9CC4-093F-01DC-1FDD80641EDD}"/>
              </a:ext>
            </a:extLst>
          </p:cNvPr>
          <p:cNvSpPr/>
          <p:nvPr/>
        </p:nvSpPr>
        <p:spPr>
          <a:xfrm>
            <a:off x="8750230" y="7473327"/>
            <a:ext cx="1959564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 err="1"/>
              <a:t>plotly</a:t>
            </a:r>
            <a:r>
              <a:rPr lang="en-US" sz="2000" b="1" dirty="0"/>
              <a:t> 5.24.1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86219F24-7739-632E-4F89-E92D71243FFC}"/>
              </a:ext>
            </a:extLst>
          </p:cNvPr>
          <p:cNvSpPr/>
          <p:nvPr/>
        </p:nvSpPr>
        <p:spPr>
          <a:xfrm>
            <a:off x="11514909" y="4556119"/>
            <a:ext cx="2884915" cy="3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err="1"/>
              <a:t>FinanceDataReader</a:t>
            </a:r>
            <a:r>
              <a:rPr lang="en-US" sz="2000" b="1"/>
              <a:t> 0.9.94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290"/>
            <a:ext cx="8181516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ko-KR" altLang="en-US" sz="35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전처리</a:t>
            </a:r>
            <a:r>
              <a:rPr lang="en-US" altLang="ko-KR" sz="35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 </a:t>
            </a:r>
            <a:r>
              <a:rPr lang="ko-KR" altLang="en-US" sz="35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 대시보드 설계 및 구현</a:t>
            </a:r>
            <a:endParaRPr lang="en-US" sz="3500" dirty="0">
              <a:latin typeface="+mj-ea"/>
              <a:ea typeface="+mj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1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데이터 </a:t>
            </a:r>
            <a:r>
              <a:rPr lang="ko-KR" altLang="en-US" sz="215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전처리</a:t>
            </a:r>
            <a:endParaRPr lang="en-US" sz="2150" b="1" dirty="0">
              <a:latin typeface="+mj-ea"/>
              <a:ea typeface="+mj-ea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95128" y="301835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정제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파생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변수</a:t>
            </a:r>
            <a:r>
              <a:rPr lang="en-US" sz="1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생성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1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 모델</a:t>
            </a:r>
            <a:endParaRPr lang="en-US" sz="215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95128" y="4785479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scatterplot , piechart, barchart</a:t>
            </a:r>
            <a:endParaRPr lang="en-US" sz="1700"/>
          </a:p>
        </p:txBody>
      </p:sp>
      <p:sp>
        <p:nvSpPr>
          <p:cNvPr id="10" name="Text 5"/>
          <p:cNvSpPr/>
          <p:nvPr/>
        </p:nvSpPr>
        <p:spPr>
          <a:xfrm>
            <a:off x="7695128" y="527137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95127" y="6075045"/>
            <a:ext cx="3225421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ko-KR" altLang="en-US" sz="21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시각화로 도출할 인사이트</a:t>
            </a:r>
            <a:endParaRPr lang="en-US" sz="2150" dirty="0">
              <a:latin typeface="+mj-ea"/>
              <a:ea typeface="+mj-ea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695128" y="6552605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 / 업종별로 위험도 - 수익률 사이의 상관 관계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410D2E6-93A0-3A69-CE42-C51AE374F43F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93790" y="36924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89" y="6118322"/>
            <a:ext cx="11034628" cy="1177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 데이터 수집을 위해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ko-KR" altLang="en-US" sz="1600" dirty="0"/>
              <a:t>금융 데이터 수집 오픈소스 라이브러리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FinanceDataReader를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통해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Raw-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Data를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수집</a:t>
            </a:r>
            <a:endParaRPr lang="en-US" altLang="ko-KR" sz="17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FinanceDataReader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는 한국거래소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(KRX)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에서 종목별 주가 데이터를 가져옴</a:t>
            </a:r>
            <a:endParaRPr lang="en-US" altLang="ko-KR" sz="17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표기된 열인 </a:t>
            </a:r>
            <a:r>
              <a:rPr lang="en-US" altLang="ko-KR" sz="1750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Code, Name, Volume, Amount, </a:t>
            </a:r>
            <a:r>
              <a:rPr lang="en-US" altLang="ko-KR" sz="1750" b="1" u="sng" dirty="0" err="1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Marcap</a:t>
            </a:r>
            <a:r>
              <a:rPr lang="en-US" altLang="ko-KR" sz="1750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 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열을 가져와 사용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.</a:t>
            </a:r>
            <a:endParaRPr lang="en-US" altLang="ko-KR" sz="1750" dirty="0"/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777960" y="69329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54896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12" name="그림 11" descr="텍스트, 스크린샷, 블랙, 폰트이(가) 표시된 사진&#10;&#10;자동 생성된 설명">
            <a:extLst>
              <a:ext uri="{FF2B5EF4-FFF2-40B4-BE49-F238E27FC236}">
                <a16:creationId xmlns:a16="http://schemas.microsoft.com/office/drawing/2014/main" id="{7C5CFDBA-076A-FC9A-24B0-5ED692611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1" y="2328324"/>
            <a:ext cx="11113004" cy="340543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E4A65E0A-62C8-29B7-30B7-EE51C28C8396}"/>
              </a:ext>
            </a:extLst>
          </p:cNvPr>
          <p:cNvSpPr/>
          <p:nvPr/>
        </p:nvSpPr>
        <p:spPr>
          <a:xfrm>
            <a:off x="1156067" y="2342219"/>
            <a:ext cx="620486" cy="2764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E4287A6-6DB6-12BF-CCBF-E1F3A285B3B6}"/>
              </a:ext>
            </a:extLst>
          </p:cNvPr>
          <p:cNvSpPr/>
          <p:nvPr/>
        </p:nvSpPr>
        <p:spPr>
          <a:xfrm>
            <a:off x="2425337" y="2331336"/>
            <a:ext cx="620486" cy="2764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1B8818F-ED09-A082-9BA5-ADFFB356292A}"/>
              </a:ext>
            </a:extLst>
          </p:cNvPr>
          <p:cNvSpPr/>
          <p:nvPr/>
        </p:nvSpPr>
        <p:spPr>
          <a:xfrm>
            <a:off x="8911019" y="2305215"/>
            <a:ext cx="696715" cy="333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C792636-1B43-0F75-A106-B56BD6F4B122}"/>
              </a:ext>
            </a:extLst>
          </p:cNvPr>
          <p:cNvSpPr/>
          <p:nvPr/>
        </p:nvSpPr>
        <p:spPr>
          <a:xfrm>
            <a:off x="9978966" y="2311747"/>
            <a:ext cx="696715" cy="3334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0C1763D-F2D0-AF18-CA90-B4EC67B6977C}"/>
              </a:ext>
            </a:extLst>
          </p:cNvPr>
          <p:cNvSpPr/>
          <p:nvPr/>
        </p:nvSpPr>
        <p:spPr>
          <a:xfrm>
            <a:off x="8037957" y="2298682"/>
            <a:ext cx="696715" cy="3221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29851D5-A3F8-41BA-B633-69EE6EFDE3D0}"/>
              </a:ext>
            </a:extLst>
          </p:cNvPr>
          <p:cNvSpPr/>
          <p:nvPr/>
        </p:nvSpPr>
        <p:spPr>
          <a:xfrm>
            <a:off x="12199562" y="1166261"/>
            <a:ext cx="2481760" cy="684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altLang="ko-KR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Raw-Data</a:t>
            </a:r>
            <a:r>
              <a:rPr lang="ko-KR" altLang="en-US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범례 </a:t>
            </a:r>
            <a:endParaRPr lang="en-US" altLang="ko-KR" sz="1750" b="1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500" b="1" u="sng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Code</a:t>
            </a:r>
            <a:r>
              <a:rPr lang="ko-KR" altLang="en-US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 </a:t>
            </a:r>
            <a:r>
              <a:rPr lang="en-US" altLang="ko-KR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:</a:t>
            </a:r>
            <a:r>
              <a:rPr lang="ko-KR" altLang="en-US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 종목코드 </a:t>
            </a:r>
            <a:endParaRPr lang="en-US" altLang="ko-KR" sz="1500" b="1" u="sng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500" b="1" u="sng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Name</a:t>
            </a:r>
            <a:r>
              <a:rPr lang="en-US" altLang="ko-KR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 : </a:t>
            </a:r>
            <a:r>
              <a:rPr lang="ko-KR" altLang="en-US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종목 명</a:t>
            </a:r>
            <a:endParaRPr lang="en-US" altLang="ko-KR" sz="1500" b="1" u="sng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500" b="1" u="sng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Volume</a:t>
            </a:r>
            <a:r>
              <a:rPr lang="en-US" altLang="ko-KR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 : </a:t>
            </a:r>
            <a:r>
              <a:rPr lang="ko-KR" altLang="en-US" sz="1500" b="1" u="sng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거래량</a:t>
            </a:r>
            <a:endParaRPr lang="en-US" altLang="ko-KR" sz="1500" b="1" u="sng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sz="1500" b="1" u="sng">
                <a:solidFill>
                  <a:srgbClr val="FF0000"/>
                </a:solidFill>
              </a:rPr>
              <a:t>Amount</a:t>
            </a:r>
            <a:r>
              <a:rPr lang="en-US" sz="1500" b="1" u="sng"/>
              <a:t> : </a:t>
            </a:r>
            <a:r>
              <a:rPr lang="ko-KR" altLang="en-US" sz="1500" b="1" u="sng"/>
              <a:t>거래대금</a:t>
            </a:r>
            <a:endParaRPr lang="en-US" altLang="ko-KR" sz="1500" b="1" u="sng"/>
          </a:p>
          <a:p>
            <a:pPr>
              <a:lnSpc>
                <a:spcPts val="2850"/>
              </a:lnSpc>
            </a:pPr>
            <a:r>
              <a:rPr lang="en-US" sz="1500" b="1" u="sng" err="1">
                <a:solidFill>
                  <a:srgbClr val="FF0000"/>
                </a:solidFill>
              </a:rPr>
              <a:t>Marcap</a:t>
            </a:r>
            <a:r>
              <a:rPr lang="en-US" sz="1500" b="1" u="sng"/>
              <a:t> : </a:t>
            </a:r>
            <a:r>
              <a:rPr lang="ko-KR" altLang="en-US" sz="1500" b="1" u="sng"/>
              <a:t>시가총액</a:t>
            </a:r>
            <a:endParaRPr lang="en-US" altLang="ko-KR" sz="1500" b="1" u="sng"/>
          </a:p>
          <a:p>
            <a:pPr>
              <a:lnSpc>
                <a:spcPts val="2850"/>
              </a:lnSpc>
            </a:pPr>
            <a:r>
              <a:rPr lang="en-US" altLang="ko-KR" sz="1500"/>
              <a:t>ISU_CD : </a:t>
            </a:r>
            <a:r>
              <a:rPr lang="ko-KR" altLang="en-US" sz="1500"/>
              <a:t>고유코드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Market</a:t>
            </a:r>
            <a:r>
              <a:rPr lang="ko-KR" altLang="en-US" sz="1500"/>
              <a:t> </a:t>
            </a:r>
            <a:r>
              <a:rPr lang="en-US" altLang="ko-KR" sz="1500"/>
              <a:t>:</a:t>
            </a:r>
            <a:r>
              <a:rPr lang="ko-KR" altLang="en-US" sz="1500"/>
              <a:t> 시장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Dept : </a:t>
            </a:r>
            <a:r>
              <a:rPr lang="ko-KR" altLang="en-US" sz="1500"/>
              <a:t>부서</a:t>
            </a:r>
            <a:r>
              <a:rPr lang="en-US" altLang="ko-KR" sz="1500"/>
              <a:t>(</a:t>
            </a:r>
            <a:r>
              <a:rPr lang="ko-KR" altLang="en-US" sz="1500"/>
              <a:t>한국거래소</a:t>
            </a:r>
            <a:r>
              <a:rPr lang="en-US" altLang="ko-KR" sz="1500"/>
              <a:t>)</a:t>
            </a:r>
          </a:p>
          <a:p>
            <a:pPr>
              <a:lnSpc>
                <a:spcPts val="2850"/>
              </a:lnSpc>
            </a:pPr>
            <a:r>
              <a:rPr lang="en-US" altLang="ko-KR" sz="1500"/>
              <a:t>Close : </a:t>
            </a:r>
            <a:r>
              <a:rPr lang="ko-KR" altLang="en-US" sz="1500"/>
              <a:t>종가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 err="1"/>
              <a:t>ChangeCode</a:t>
            </a:r>
            <a:r>
              <a:rPr lang="en-US" altLang="ko-KR" sz="1500"/>
              <a:t> : </a:t>
            </a:r>
            <a:r>
              <a:rPr lang="ko-KR" altLang="en-US" sz="1500"/>
              <a:t>등락기호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Changes : </a:t>
            </a:r>
            <a:r>
              <a:rPr lang="ko-KR" altLang="en-US" sz="1500"/>
              <a:t>전일대비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 err="1"/>
              <a:t>CahngesRatio</a:t>
            </a:r>
            <a:r>
              <a:rPr lang="en-US" altLang="ko-KR" sz="1500"/>
              <a:t> : </a:t>
            </a:r>
            <a:r>
              <a:rPr lang="ko-KR" altLang="en-US" sz="1500"/>
              <a:t>전일대비율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Open</a:t>
            </a:r>
            <a:r>
              <a:rPr lang="ko-KR" altLang="en-US" sz="1500"/>
              <a:t> </a:t>
            </a:r>
            <a:r>
              <a:rPr lang="en-US" altLang="ko-KR" sz="1500"/>
              <a:t>:</a:t>
            </a:r>
            <a:r>
              <a:rPr lang="ko-KR" altLang="en-US" sz="1500"/>
              <a:t> </a:t>
            </a:r>
            <a:r>
              <a:rPr lang="ko-KR" altLang="en-US" sz="1500" err="1"/>
              <a:t>시작가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High : </a:t>
            </a:r>
            <a:r>
              <a:rPr lang="ko-KR" altLang="en-US" sz="1500"/>
              <a:t>고가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Low : </a:t>
            </a:r>
            <a:r>
              <a:rPr lang="ko-KR" altLang="en-US" sz="1500"/>
              <a:t>저가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/>
              <a:t>Stocks : </a:t>
            </a:r>
            <a:r>
              <a:rPr lang="ko-KR" altLang="en-US" sz="1500" err="1"/>
              <a:t>주식발행수</a:t>
            </a:r>
            <a:endParaRPr lang="en-US" altLang="ko-KR" sz="1500"/>
          </a:p>
          <a:p>
            <a:pPr>
              <a:lnSpc>
                <a:spcPts val="2850"/>
              </a:lnSpc>
            </a:pPr>
            <a:r>
              <a:rPr lang="en-US" altLang="ko-KR" sz="1500" err="1"/>
              <a:t>MarketId</a:t>
            </a:r>
            <a:r>
              <a:rPr lang="en-US" altLang="ko-KR" sz="1500"/>
              <a:t> : </a:t>
            </a:r>
            <a:r>
              <a:rPr lang="ko-KR" altLang="en-US" sz="1500"/>
              <a:t>시장기호</a:t>
            </a:r>
            <a:endParaRPr lang="en-US" altLang="ko-KR" sz="1500"/>
          </a:p>
          <a:p>
            <a:pPr>
              <a:lnSpc>
                <a:spcPts val="2850"/>
              </a:lnSpc>
            </a:pPr>
            <a:endParaRPr lang="en-US" sz="1750"/>
          </a:p>
          <a:p>
            <a:pPr>
              <a:lnSpc>
                <a:spcPts val="2850"/>
              </a:lnSpc>
            </a:pPr>
            <a:endParaRPr lang="en-US" sz="175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79B18AE0-AEF5-FF8F-C4A7-3934C59C4595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수집</a:t>
            </a:r>
            <a:endParaRPr lang="en-US" sz="3350" b="1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D7DB828-120E-F0F2-6EF2-B59937AE91F6}"/>
              </a:ext>
            </a:extLst>
          </p:cNvPr>
          <p:cNvSpPr/>
          <p:nvPr/>
        </p:nvSpPr>
        <p:spPr>
          <a:xfrm>
            <a:off x="758530" y="1413411"/>
            <a:ext cx="5255419" cy="42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ko-KR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Raw-Data – </a:t>
            </a:r>
            <a:r>
              <a:rPr lang="ko-KR" altLang="en-US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 데이터 수집</a:t>
            </a:r>
            <a:endParaRPr lang="en-US" sz="16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3CBD7F-AFA0-2CC4-C77E-282AFF61CB34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516058" y="1058347"/>
            <a:ext cx="6570940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endParaRPr lang="en-US" sz="1200"/>
          </a:p>
        </p:txBody>
      </p:sp>
      <p:pic>
        <p:nvPicPr>
          <p:cNvPr id="22" name="그림 21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6437AEE7-EE66-582C-23AB-895705E68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43" y="1157660"/>
            <a:ext cx="3129826" cy="6536364"/>
          </a:xfrm>
          <a:prstGeom prst="rect">
            <a:avLst/>
          </a:prstGeom>
        </p:spPr>
      </p:pic>
      <p:pic>
        <p:nvPicPr>
          <p:cNvPr id="24" name="그림 2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2D2D9C9-64D6-8435-B335-FC22FA93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332" y="1157659"/>
            <a:ext cx="4453478" cy="6536364"/>
          </a:xfrm>
          <a:prstGeom prst="rect">
            <a:avLst/>
          </a:prstGeom>
        </p:spPr>
      </p:pic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20B33BB2-9A0D-EEB1-E10F-270F677CD945}"/>
              </a:ext>
            </a:extLst>
          </p:cNvPr>
          <p:cNvCxnSpPr>
            <a:cxnSpLocks/>
          </p:cNvCxnSpPr>
          <p:nvPr/>
        </p:nvCxnSpPr>
        <p:spPr>
          <a:xfrm>
            <a:off x="7360920" y="1819751"/>
            <a:ext cx="2579914" cy="492375"/>
          </a:xfrm>
          <a:prstGeom prst="curvedConnector3">
            <a:avLst>
              <a:gd name="adj1" fmla="val 5000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 2">
            <a:extLst>
              <a:ext uri="{FF2B5EF4-FFF2-40B4-BE49-F238E27FC236}">
                <a16:creationId xmlns:a16="http://schemas.microsoft.com/office/drawing/2014/main" id="{38BEC35A-6C4D-DA16-5D3E-BBFB174D4F6D}"/>
              </a:ext>
            </a:extLst>
          </p:cNvPr>
          <p:cNvSpPr/>
          <p:nvPr/>
        </p:nvSpPr>
        <p:spPr>
          <a:xfrm>
            <a:off x="348426" y="2947988"/>
            <a:ext cx="5669650" cy="387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ko-KR" altLang="en-US" sz="17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업종별 데이터 분석을 위해 종목별 </a:t>
            </a:r>
            <a:r>
              <a:rPr lang="ko-KR" altLang="en-US" sz="1700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업종분류의 필요성 </a:t>
            </a:r>
            <a:r>
              <a:rPr lang="ko-KR" altLang="en-US" sz="1700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인지</a:t>
            </a:r>
            <a:endParaRPr lang="en-US" altLang="ko-KR" sz="1700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endParaRPr lang="en-US" sz="17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WICS(WISE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국제</a:t>
            </a: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산업</a:t>
            </a: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분류</a:t>
            </a: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표준</a:t>
            </a: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)의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업종분류를</a:t>
            </a:r>
            <a:r>
              <a:rPr lang="en-US" sz="17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0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채택</a:t>
            </a:r>
            <a:endParaRPr lang="en-US" sz="1700" b="1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endParaRPr lang="en-US" altLang="ko-KR" sz="1700" dirty="0">
              <a:latin typeface="+mn-ea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ko-KR" altLang="en-US" sz="1700" dirty="0">
                <a:latin typeface="+mn-ea"/>
              </a:rPr>
              <a:t>사전에 이 업종분류 기준으로 종목 분류를 해 놓은</a:t>
            </a:r>
            <a:endParaRPr lang="en-US" altLang="ko-KR" sz="1700" dirty="0">
              <a:latin typeface="+mn-ea"/>
            </a:endParaRPr>
          </a:p>
          <a:p>
            <a:pPr marL="0" indent="0">
              <a:lnSpc>
                <a:spcPts val="1950"/>
              </a:lnSpc>
              <a:buNone/>
            </a:pPr>
            <a:endParaRPr lang="en-US" altLang="ko-KR" sz="1700" dirty="0">
              <a:latin typeface="+mn-ea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ko-KR" altLang="en-US" sz="1700" dirty="0">
                <a:latin typeface="+mn-ea"/>
              </a:rPr>
              <a:t>네이버 증권의 업종 분류 테이블을 </a:t>
            </a:r>
            <a:r>
              <a:rPr lang="en-US" altLang="ko-KR" sz="1700" u="sng" dirty="0">
                <a:latin typeface="+mn-ea"/>
              </a:rPr>
              <a:t>Requests, Selenium</a:t>
            </a:r>
          </a:p>
          <a:p>
            <a:pPr marL="0" indent="0">
              <a:lnSpc>
                <a:spcPts val="1950"/>
              </a:lnSpc>
              <a:buNone/>
            </a:pPr>
            <a:endParaRPr lang="en-US" altLang="ko-KR" sz="1700" dirty="0">
              <a:latin typeface="+mn-ea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ko-KR" altLang="en-US" sz="1700" dirty="0">
                <a:latin typeface="+mn-ea"/>
              </a:rPr>
              <a:t>을 통해 수집</a:t>
            </a:r>
            <a:endParaRPr lang="en-US" altLang="ko-KR" sz="1700" dirty="0">
              <a:latin typeface="+mn-ea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b="1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0957F8E-95E8-9644-AFC9-B6AC7B1C92C6}"/>
              </a:ext>
            </a:extLst>
          </p:cNvPr>
          <p:cNvSpPr/>
          <p:nvPr/>
        </p:nvSpPr>
        <p:spPr>
          <a:xfrm>
            <a:off x="8650878" y="631363"/>
            <a:ext cx="2883626" cy="250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네이버</a:t>
            </a:r>
            <a:r>
              <a:rPr lang="en-US" sz="12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증권</a:t>
            </a:r>
            <a:r>
              <a:rPr lang="en-US" sz="12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업종별</a:t>
            </a:r>
            <a:r>
              <a:rPr lang="en-US" sz="12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세부</a:t>
            </a:r>
            <a:r>
              <a:rPr lang="en-US" sz="12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</a:t>
            </a:r>
            <a:r>
              <a:rPr lang="en-US" sz="12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정보</a:t>
            </a:r>
            <a:endParaRPr 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9FB618-6B95-954C-D5AE-94EA78E95A0C}"/>
              </a:ext>
            </a:extLst>
          </p:cNvPr>
          <p:cNvSpPr/>
          <p:nvPr/>
        </p:nvSpPr>
        <p:spPr>
          <a:xfrm>
            <a:off x="6687733" y="1626326"/>
            <a:ext cx="666508" cy="2677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9FD885A-A94F-125D-6E68-8487EB79060C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수집</a:t>
            </a:r>
            <a:endParaRPr lang="en-US" sz="3350" b="1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E01036D-7083-C040-32BE-77A524F52569}"/>
              </a:ext>
            </a:extLst>
          </p:cNvPr>
          <p:cNvSpPr/>
          <p:nvPr/>
        </p:nvSpPr>
        <p:spPr>
          <a:xfrm>
            <a:off x="751998" y="1416260"/>
            <a:ext cx="5255419" cy="42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ko-KR" altLang="en-US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종목별 업종 데이터 수집</a:t>
            </a:r>
            <a:endParaRPr lang="en-US" sz="16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12BEEDD-FD27-BA7D-755F-C859D991C0E5}"/>
              </a:ext>
            </a:extLst>
          </p:cNvPr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793790" y="35264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85242" y="3611462"/>
            <a:ext cx="12727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/>
          </a:p>
        </p:txBody>
      </p:sp>
      <p:sp>
        <p:nvSpPr>
          <p:cNvPr id="5" name="Text 3"/>
          <p:cNvSpPr/>
          <p:nvPr/>
        </p:nvSpPr>
        <p:spPr>
          <a:xfrm>
            <a:off x="1530905" y="3611462"/>
            <a:ext cx="3739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데이터 정제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(Data Cleaning)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30906" y="4412158"/>
            <a:ext cx="56709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Raw-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Data의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분석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목적에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맞지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않는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데이터를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제거하고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결측치는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처리하나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이상치는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주식이라는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특성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상 
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이상치는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유효한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데이터로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판단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.</a:t>
            </a:r>
            <a:endParaRPr lang="en-US" sz="175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12636" y="35264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80990" y="3611462"/>
            <a:ext cx="17347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/>
          </a:p>
        </p:txBody>
      </p:sp>
      <p:sp>
        <p:nvSpPr>
          <p:cNvPr id="9" name="Text 7"/>
          <p:cNvSpPr/>
          <p:nvPr/>
        </p:nvSpPr>
        <p:spPr>
          <a:xfrm>
            <a:off x="9049752" y="3611462"/>
            <a:ext cx="3312626" cy="42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파생 변수 생성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049752" y="4412158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특정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기준을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바탕으로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파생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변수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(Sector, Risk)를 
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추가하여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데이터의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분석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가능성을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확장</a:t>
            </a:r>
            <a:endParaRPr lang="en-US" sz="1750" dirty="0">
              <a:latin typeface="+mn-ea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56CB058-908D-E830-2C9F-2AA38A89F989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B9A07D7-5B1F-3F2C-3BED-ABB744623EC2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516058" y="1058347"/>
            <a:ext cx="6570940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endParaRPr lang="en-US" sz="1200"/>
          </a:p>
        </p:txBody>
      </p:sp>
      <p:pic>
        <p:nvPicPr>
          <p:cNvPr id="3" name="그림 2" descr="텍스트, 메뉴, 스크린샷, 폰트이(가) 표시된 사진&#10;&#10;자동 생성된 설명">
            <a:extLst>
              <a:ext uri="{FF2B5EF4-FFF2-40B4-BE49-F238E27FC236}">
                <a16:creationId xmlns:a16="http://schemas.microsoft.com/office/drawing/2014/main" id="{0A210D09-8236-08F7-88ED-05CF9D10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762" y="2276433"/>
            <a:ext cx="3377645" cy="5088801"/>
          </a:xfrm>
          <a:prstGeom prst="rect">
            <a:avLst/>
          </a:prstGeom>
        </p:spPr>
      </p:pic>
      <p:pic>
        <p:nvPicPr>
          <p:cNvPr id="5" name="그림 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8A8A8F36-F6C9-2B38-A877-92F049E43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276434"/>
            <a:ext cx="2178458" cy="5088801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D7FF7DD-D3E1-97DF-ED52-70323B9B467A}"/>
              </a:ext>
            </a:extLst>
          </p:cNvPr>
          <p:cNvSpPr/>
          <p:nvPr/>
        </p:nvSpPr>
        <p:spPr>
          <a:xfrm>
            <a:off x="1961300" y="2921323"/>
            <a:ext cx="1776548" cy="32004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위로 굽음 30">
            <a:extLst>
              <a:ext uri="{FF2B5EF4-FFF2-40B4-BE49-F238E27FC236}">
                <a16:creationId xmlns:a16="http://schemas.microsoft.com/office/drawing/2014/main" id="{F63D865F-51E4-26C1-70F9-9E91A47EC9B6}"/>
              </a:ext>
            </a:extLst>
          </p:cNvPr>
          <p:cNvSpPr/>
          <p:nvPr/>
        </p:nvSpPr>
        <p:spPr>
          <a:xfrm rot="10800000" flipH="1">
            <a:off x="5014266" y="2678392"/>
            <a:ext cx="9588137" cy="492615"/>
          </a:xfrm>
          <a:prstGeom prst="bentUpArrow">
            <a:avLst>
              <a:gd name="adj1" fmla="val 29850"/>
              <a:gd name="adj2" fmla="val 40550"/>
              <a:gd name="adj3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4B0858AD-77B7-9940-1CC2-5BB8C5BB4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777" y="3145114"/>
            <a:ext cx="7373983" cy="2994942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BC2B0DE7-4388-9598-9AE2-4074AD954372}"/>
              </a:ext>
            </a:extLst>
          </p:cNvPr>
          <p:cNvGrpSpPr/>
          <p:nvPr/>
        </p:nvGrpSpPr>
        <p:grpSpPr>
          <a:xfrm>
            <a:off x="13405338" y="2920044"/>
            <a:ext cx="1363320" cy="1205640"/>
            <a:chOff x="13392771" y="2276434"/>
            <a:chExt cx="1363320" cy="12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54AADFFC-981A-FD9D-790C-8014E6CB3B3E}"/>
                    </a:ext>
                  </a:extLst>
                </p14:cNvPr>
                <p14:cNvContentPartPr/>
                <p14:nvPr/>
              </p14:nvContentPartPr>
              <p14:xfrm>
                <a:off x="13845651" y="2419354"/>
                <a:ext cx="910440" cy="106272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54AADFFC-981A-FD9D-790C-8014E6CB3B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828011" y="2401354"/>
                  <a:ext cx="946080" cy="10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93696637-642D-D8EF-6E71-35D78FEAF282}"/>
                    </a:ext>
                  </a:extLst>
                </p14:cNvPr>
                <p14:cNvContentPartPr/>
                <p14:nvPr/>
              </p14:nvContentPartPr>
              <p14:xfrm>
                <a:off x="13392771" y="2276434"/>
                <a:ext cx="601560" cy="72576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93696637-642D-D8EF-6E71-35D78FEAF2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74771" y="2258794"/>
                  <a:ext cx="637200" cy="76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0" name="Text 3">
            <a:extLst>
              <a:ext uri="{FF2B5EF4-FFF2-40B4-BE49-F238E27FC236}">
                <a16:creationId xmlns:a16="http://schemas.microsoft.com/office/drawing/2014/main" id="{FA0398B8-2DAC-E644-1A93-A7D1BB4B7924}"/>
              </a:ext>
            </a:extLst>
          </p:cNvPr>
          <p:cNvSpPr/>
          <p:nvPr/>
        </p:nvSpPr>
        <p:spPr>
          <a:xfrm>
            <a:off x="7613982" y="6459582"/>
            <a:ext cx="6686889" cy="114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기존 업종정보가 없던 </a:t>
            </a:r>
            <a:r>
              <a:rPr lang="en-US" altLang="ko-KR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Raw-Data</a:t>
            </a:r>
            <a:r>
              <a:rPr lang="ko-KR" altLang="en-US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에 </a:t>
            </a:r>
            <a:r>
              <a:rPr lang="ko-KR" altLang="en-US" b="1" u="sng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업종별 데이터 분석을 </a:t>
            </a:r>
            <a:r>
              <a:rPr lang="ko-KR" altLang="en-US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위해 </a:t>
            </a:r>
            <a:endParaRPr lang="en-US" altLang="ko-KR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endParaRPr lang="en-US" b="1" dirty="0">
              <a:solidFill>
                <a:srgbClr val="443728"/>
              </a:solidFill>
              <a:latin typeface="Open Sans" pitchFamily="34" charset="0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ko-KR" altLang="en-US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종목별로 </a:t>
            </a:r>
            <a:r>
              <a:rPr lang="ko-KR" altLang="en-US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업종 정보인 </a:t>
            </a:r>
            <a:r>
              <a:rPr lang="en-US" altLang="ko-KR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‘Sector’ </a:t>
            </a:r>
            <a:r>
              <a:rPr lang="ko-KR" altLang="en-US" b="1" u="sng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열</a:t>
            </a:r>
            <a:r>
              <a:rPr lang="ko-KR" altLang="en-US" b="1" dirty="0">
                <a:solidFill>
                  <a:srgbClr val="FF0000"/>
                </a:solidFill>
                <a:latin typeface="Open Sans" pitchFamily="34" charset="0"/>
                <a:cs typeface="Open Sans" pitchFamily="34" charset="-120"/>
              </a:rPr>
              <a:t> </a:t>
            </a:r>
            <a:r>
              <a:rPr lang="ko-KR" altLang="en-US" b="1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파생열로 추가</a:t>
            </a:r>
            <a:endParaRPr 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7640FF-1CD3-F981-ED56-F562BC6AE66B}"/>
              </a:ext>
            </a:extLst>
          </p:cNvPr>
          <p:cNvSpPr/>
          <p:nvPr/>
        </p:nvSpPr>
        <p:spPr>
          <a:xfrm>
            <a:off x="705394" y="2678392"/>
            <a:ext cx="1197709" cy="900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9D784-C0E8-3D43-325E-77FEEF35C5C6}"/>
              </a:ext>
            </a:extLst>
          </p:cNvPr>
          <p:cNvSpPr/>
          <p:nvPr/>
        </p:nvSpPr>
        <p:spPr>
          <a:xfrm>
            <a:off x="3755571" y="2514847"/>
            <a:ext cx="1240972" cy="900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E1563E9-C826-5598-82DC-1E65574A9115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3C84142-536A-AA03-E104-809E6A3F585B}"/>
              </a:ext>
            </a:extLst>
          </p:cNvPr>
          <p:cNvSpPr/>
          <p:nvPr/>
        </p:nvSpPr>
        <p:spPr>
          <a:xfrm>
            <a:off x="751999" y="1504175"/>
            <a:ext cx="5255419" cy="42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ko-KR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Raw-Data</a:t>
            </a:r>
            <a:r>
              <a:rPr lang="ko-KR" altLang="en-US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에 </a:t>
            </a:r>
            <a:r>
              <a:rPr lang="en-US" altLang="ko-KR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‘Sector’ </a:t>
            </a:r>
            <a:r>
              <a:rPr lang="ko-KR" altLang="en-US" sz="16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파생열</a:t>
            </a:r>
            <a:r>
              <a:rPr lang="ko-KR" altLang="en-US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추가</a:t>
            </a:r>
            <a:endParaRPr lang="en-US" sz="16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93541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97DA9CB-B1C4-232C-926B-1181A67E8323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51998" y="2056337"/>
            <a:ext cx="5255419" cy="42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ko-KR" altLang="en-US" sz="16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종목별 특정기간 종가 데이터 수집</a:t>
            </a:r>
            <a:endParaRPr lang="en-US" sz="165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1999" y="3725347"/>
            <a:ext cx="5452273" cy="206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1700" b="1" u="sng" dirty="0">
                <a:solidFill>
                  <a:srgbClr val="FF0000"/>
                </a:solidFill>
              </a:rPr>
              <a:t>특정 기간별 수익률 및 변동성을 계산 </a:t>
            </a:r>
            <a:r>
              <a:rPr lang="ko-KR" altLang="en-US" sz="1700" dirty="0"/>
              <a:t>하기 위해 </a:t>
            </a:r>
            <a:r>
              <a:rPr lang="en-US" altLang="ko-KR" sz="1700" dirty="0"/>
              <a:t>, </a:t>
            </a:r>
            <a:r>
              <a:rPr lang="en-US" sz="1700" dirty="0" err="1"/>
              <a:t>FinanceDataReader</a:t>
            </a:r>
            <a:r>
              <a:rPr lang="ko-KR" altLang="en-US" sz="1700" dirty="0"/>
              <a:t>의 </a:t>
            </a:r>
            <a:r>
              <a:rPr lang="en-US" altLang="ko-KR" sz="1700" dirty="0" err="1"/>
              <a:t>DataReader</a:t>
            </a:r>
            <a:r>
              <a:rPr lang="en-US" altLang="ko-KR" sz="1700" dirty="0"/>
              <a:t> </a:t>
            </a:r>
            <a:r>
              <a:rPr lang="ko-KR" altLang="en-US" sz="1700" dirty="0"/>
              <a:t>메소드를 통해 기간별 종목의 </a:t>
            </a:r>
            <a:r>
              <a:rPr lang="ko-KR" altLang="en-US" sz="1700" b="1" u="sng" dirty="0">
                <a:solidFill>
                  <a:srgbClr val="FF0000"/>
                </a:solidFill>
              </a:rPr>
              <a:t>종가</a:t>
            </a:r>
            <a:r>
              <a:rPr lang="ko-KR" altLang="en-US" sz="1700" dirty="0"/>
              <a:t>를 수집</a:t>
            </a:r>
            <a:endParaRPr lang="en-US" sz="1700" dirty="0"/>
          </a:p>
        </p:txBody>
      </p:sp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A14F1D1-A3B3-87B0-CF20-20C1DDA90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34" y="1826359"/>
            <a:ext cx="5276255" cy="5118886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D7F770C1-87E7-1E59-D770-40883BE68908}"/>
              </a:ext>
            </a:extLst>
          </p:cNvPr>
          <p:cNvSpPr/>
          <p:nvPr/>
        </p:nvSpPr>
        <p:spPr>
          <a:xfrm>
            <a:off x="6361318" y="7123868"/>
            <a:ext cx="5649686" cy="491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1500" dirty="0"/>
              <a:t>예시 </a:t>
            </a:r>
            <a:r>
              <a:rPr lang="en-US" altLang="ko-KR" sz="1500" dirty="0"/>
              <a:t>: </a:t>
            </a:r>
            <a:r>
              <a:rPr lang="ko-KR" altLang="en-US" sz="1500" dirty="0"/>
              <a:t>삼성전자 종목의 </a:t>
            </a:r>
            <a:r>
              <a:rPr lang="en-US" altLang="ko-KR" sz="1500" dirty="0"/>
              <a:t>2024-12-20</a:t>
            </a:r>
            <a:r>
              <a:rPr lang="ko-KR" altLang="en-US" sz="1500" dirty="0"/>
              <a:t>일 부터 </a:t>
            </a:r>
            <a:r>
              <a:rPr lang="en-US" altLang="ko-KR" sz="1500" dirty="0"/>
              <a:t>2025-01-10</a:t>
            </a:r>
            <a:r>
              <a:rPr lang="ko-KR" altLang="en-US" sz="1500" dirty="0"/>
              <a:t> 까지의 데이터</a:t>
            </a:r>
            <a:endParaRPr lang="en-US" sz="15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A3DDB30-47D7-EB1E-5EB3-BC3859B9BE58}"/>
              </a:ext>
            </a:extLst>
          </p:cNvPr>
          <p:cNvSpPr/>
          <p:nvPr/>
        </p:nvSpPr>
        <p:spPr>
          <a:xfrm>
            <a:off x="12168051" y="1905255"/>
            <a:ext cx="1894796" cy="496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000" b="1">
                <a:latin typeface="+mj-ea"/>
                <a:ea typeface="+mj-ea"/>
              </a:rPr>
              <a:t>Raw-Data </a:t>
            </a:r>
            <a:r>
              <a:rPr lang="ko-KR" altLang="en-US" sz="2000" b="1">
                <a:latin typeface="+mj-ea"/>
                <a:ea typeface="+mj-ea"/>
              </a:rPr>
              <a:t>범례</a:t>
            </a:r>
            <a:endParaRPr lang="en-US" altLang="ko-KR" sz="2000" b="1">
              <a:latin typeface="+mj-ea"/>
              <a:ea typeface="+mj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Date : </a:t>
            </a:r>
            <a:r>
              <a:rPr lang="ko-KR" altLang="en-US" sz="1650">
                <a:latin typeface="+mn-ea"/>
              </a:rPr>
              <a:t>날짜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Open : </a:t>
            </a:r>
            <a:r>
              <a:rPr lang="ko-KR" altLang="en-US" sz="1650">
                <a:latin typeface="+mn-ea"/>
              </a:rPr>
              <a:t>시가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High</a:t>
            </a:r>
            <a:r>
              <a:rPr lang="ko-KR" altLang="en-US" sz="1650">
                <a:latin typeface="+mn-ea"/>
              </a:rPr>
              <a:t> </a:t>
            </a:r>
            <a:r>
              <a:rPr lang="en-US" altLang="ko-KR" sz="1650">
                <a:latin typeface="+mn-ea"/>
              </a:rPr>
              <a:t>:</a:t>
            </a:r>
            <a:r>
              <a:rPr lang="ko-KR" altLang="en-US" sz="1650">
                <a:latin typeface="+mn-ea"/>
              </a:rPr>
              <a:t> 고가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Low : </a:t>
            </a:r>
            <a:r>
              <a:rPr lang="ko-KR" altLang="en-US" sz="1650">
                <a:latin typeface="+mn-ea"/>
              </a:rPr>
              <a:t>저가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b="1" u="sng">
                <a:solidFill>
                  <a:srgbClr val="FF0000"/>
                </a:solidFill>
                <a:latin typeface="+mn-ea"/>
              </a:rPr>
              <a:t>Close : </a:t>
            </a:r>
            <a:r>
              <a:rPr lang="ko-KR" altLang="en-US" sz="1650" b="1" u="sng">
                <a:solidFill>
                  <a:srgbClr val="FF0000"/>
                </a:solidFill>
                <a:latin typeface="+mn-ea"/>
              </a:rPr>
              <a:t>종가</a:t>
            </a:r>
            <a:endParaRPr lang="en-US" altLang="ko-KR" sz="1650" b="1" u="sng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Volume : </a:t>
            </a:r>
            <a:r>
              <a:rPr lang="ko-KR" altLang="en-US" sz="1650">
                <a:latin typeface="+mn-ea"/>
              </a:rPr>
              <a:t>거래량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>
                <a:latin typeface="+mn-ea"/>
              </a:rPr>
              <a:t>Change : </a:t>
            </a:r>
            <a:r>
              <a:rPr lang="ko-KR" altLang="en-US" sz="1650" err="1">
                <a:latin typeface="+mn-ea"/>
              </a:rPr>
              <a:t>전일비</a:t>
            </a:r>
            <a:endParaRPr lang="en-US" altLang="ko-KR" sz="1650">
              <a:latin typeface="+mn-ea"/>
            </a:endParaRPr>
          </a:p>
          <a:p>
            <a:pPr marL="0" indent="0">
              <a:lnSpc>
                <a:spcPts val="2700"/>
              </a:lnSpc>
              <a:buNone/>
            </a:pPr>
            <a:endParaRPr lang="en-US" altLang="ko-KR" sz="165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F843DC-4576-316C-6249-20BC95489A6A}"/>
              </a:ext>
            </a:extLst>
          </p:cNvPr>
          <p:cNvSpPr/>
          <p:nvPr/>
        </p:nvSpPr>
        <p:spPr>
          <a:xfrm>
            <a:off x="9411789" y="2377440"/>
            <a:ext cx="607423" cy="45612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8A4A074-DC45-BC97-79B2-B23290DB789A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수집</a:t>
            </a:r>
            <a:endParaRPr lang="en-US" sz="3350" b="1" dirty="0"/>
          </a:p>
        </p:txBody>
      </p:sp>
    </p:spTree>
    <p:extLst>
      <p:ext uri="{BB962C8B-B14F-4D97-AF65-F5344CB8AC3E}">
        <p14:creationId xmlns:p14="http://schemas.microsoft.com/office/powerpoint/2010/main" val="4206095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544D351-3600-68DC-8C17-61146A2A1D8A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51997" y="2095513"/>
            <a:ext cx="7105311" cy="429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ko-KR" alt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신규 데이터 프레임 생성 </a:t>
            </a:r>
            <a:r>
              <a:rPr lang="en-US" altLang="ko-KR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: </a:t>
            </a:r>
            <a:r>
              <a:rPr lang="ko-KR" alt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종목별 특정기간 총 </a:t>
            </a:r>
            <a:r>
              <a:rPr lang="en-US" sz="1750" b="1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</a:t>
            </a:r>
            <a:r>
              <a:rPr 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, </a:t>
            </a:r>
            <a:r>
              <a:rPr lang="en-US" sz="1750" b="1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변동성</a:t>
            </a:r>
            <a:r>
              <a:rPr 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계산</a:t>
            </a:r>
            <a:endParaRPr lang="en-US" sz="1750">
              <a:latin typeface="+mj-ea"/>
              <a:ea typeface="+mj-ea"/>
            </a:endParaRPr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7CBF25D-BAB6-97E3-EC7E-C1B584822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" y="2741929"/>
            <a:ext cx="5832251" cy="3739642"/>
          </a:xfrm>
          <a:prstGeom prst="rect">
            <a:avLst/>
          </a:prstGeom>
        </p:spPr>
      </p:pic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CF40F1B-61BF-65E1-B6BC-808CEB53D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031" y="2741929"/>
            <a:ext cx="4990010" cy="3739642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98C20E42-0C27-5B1D-7711-7EBE2FA27520}"/>
              </a:ext>
            </a:extLst>
          </p:cNvPr>
          <p:cNvSpPr/>
          <p:nvPr/>
        </p:nvSpPr>
        <p:spPr>
          <a:xfrm>
            <a:off x="889159" y="6506934"/>
            <a:ext cx="5452273" cy="111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endParaRPr lang="en-US" altLang="ko-KR" sz="1650" b="1"/>
          </a:p>
          <a:p>
            <a:pPr marL="0" indent="0">
              <a:lnSpc>
                <a:spcPts val="2700"/>
              </a:lnSpc>
              <a:buNone/>
            </a:pPr>
            <a:r>
              <a:rPr lang="ko-KR" altLang="en-US" sz="1650" b="1"/>
              <a:t>종목을 순회하면서 </a:t>
            </a:r>
            <a:r>
              <a:rPr lang="ko-KR" altLang="en-US" sz="1650" b="1" u="sng">
                <a:solidFill>
                  <a:srgbClr val="FF0000"/>
                </a:solidFill>
              </a:rPr>
              <a:t> </a:t>
            </a:r>
            <a:r>
              <a:rPr lang="en-US" altLang="ko-KR" sz="1650" b="1" u="sng">
                <a:solidFill>
                  <a:srgbClr val="FF0000"/>
                </a:solidFill>
              </a:rPr>
              <a:t>‘</a:t>
            </a:r>
            <a:r>
              <a:rPr lang="ko-KR" altLang="en-US" sz="1650" b="1" u="sng">
                <a:solidFill>
                  <a:srgbClr val="FF0000"/>
                </a:solidFill>
              </a:rPr>
              <a:t>기간별 종가</a:t>
            </a:r>
            <a:r>
              <a:rPr lang="en-US" altLang="ko-KR" sz="1650" b="1" u="sng">
                <a:solidFill>
                  <a:srgbClr val="FF0000"/>
                </a:solidFill>
              </a:rPr>
              <a:t>’ </a:t>
            </a:r>
            <a:r>
              <a:rPr lang="ko-KR" altLang="en-US" sz="1650" b="1" u="sng"/>
              <a:t>를 </a:t>
            </a:r>
            <a:r>
              <a:rPr lang="ko-KR" altLang="en-US" sz="1650" b="1"/>
              <a:t>기준으로 특정기간 동안 </a:t>
            </a:r>
            <a:r>
              <a:rPr lang="ko-KR" altLang="en-US" sz="1650" b="1" u="sng">
                <a:solidFill>
                  <a:srgbClr val="FF0000"/>
                </a:solidFill>
              </a:rPr>
              <a:t>수익률</a:t>
            </a:r>
            <a:r>
              <a:rPr lang="en-US" altLang="ko-KR" sz="1650" b="1" u="sng">
                <a:solidFill>
                  <a:srgbClr val="FF0000"/>
                </a:solidFill>
              </a:rPr>
              <a:t>, </a:t>
            </a:r>
            <a:r>
              <a:rPr lang="ko-KR" altLang="en-US" sz="1650" b="1" u="sng">
                <a:solidFill>
                  <a:srgbClr val="FF0000"/>
                </a:solidFill>
              </a:rPr>
              <a:t>변동성을 </a:t>
            </a:r>
            <a:r>
              <a:rPr lang="ko-KR" altLang="en-US" sz="1650" b="1"/>
              <a:t>계산한 데이터 프레임을 새로 생성 </a:t>
            </a:r>
            <a:r>
              <a:rPr lang="en-US" altLang="ko-KR" sz="1650" b="1"/>
              <a:t> </a:t>
            </a:r>
            <a:endParaRPr lang="en-US" sz="165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ED585E9D-002B-FC76-FBED-7A710DE99FD1}"/>
              </a:ext>
            </a:extLst>
          </p:cNvPr>
          <p:cNvSpPr/>
          <p:nvPr/>
        </p:nvSpPr>
        <p:spPr>
          <a:xfrm>
            <a:off x="6760031" y="6843260"/>
            <a:ext cx="5452273" cy="111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1650" b="1"/>
              <a:t>예시 </a:t>
            </a:r>
            <a:r>
              <a:rPr lang="en-US" altLang="ko-KR" sz="1650" b="1"/>
              <a:t>: KOSPI </a:t>
            </a:r>
            <a:r>
              <a:rPr lang="ko-KR" altLang="en-US" sz="1650" b="1"/>
              <a:t>시장의 종목별 </a:t>
            </a:r>
            <a:r>
              <a:rPr lang="en-US" altLang="ko-KR" sz="1650" b="1"/>
              <a:t>1</a:t>
            </a:r>
            <a:r>
              <a:rPr lang="ko-KR" altLang="en-US" sz="1650" b="1"/>
              <a:t>개월 총 수익률</a:t>
            </a:r>
            <a:r>
              <a:rPr lang="en-US" altLang="ko-KR" sz="1650" b="1"/>
              <a:t>(%) </a:t>
            </a:r>
            <a:r>
              <a:rPr lang="ko-KR" altLang="en-US" sz="1650" b="1"/>
              <a:t>및 변동성</a:t>
            </a:r>
            <a:r>
              <a:rPr lang="en-US" altLang="ko-KR" sz="1650" b="1"/>
              <a:t>(%)</a:t>
            </a:r>
            <a:r>
              <a:rPr lang="ko-KR" altLang="en-US" sz="1650" b="1"/>
              <a:t>  </a:t>
            </a:r>
            <a:endParaRPr lang="en-US" sz="1650" b="1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06395C-B1B7-23CD-CB2C-513F94B6C02E}"/>
              </a:ext>
            </a:extLst>
          </p:cNvPr>
          <p:cNvSpPr/>
          <p:nvPr/>
        </p:nvSpPr>
        <p:spPr>
          <a:xfrm>
            <a:off x="751110" y="2741929"/>
            <a:ext cx="4774474" cy="63480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3CEB20-3DAD-BB70-223A-8187DCDC6EA6}"/>
              </a:ext>
            </a:extLst>
          </p:cNvPr>
          <p:cNvSpPr/>
          <p:nvPr/>
        </p:nvSpPr>
        <p:spPr>
          <a:xfrm>
            <a:off x="779415" y="4487983"/>
            <a:ext cx="5804834" cy="8024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EBFE8B5-C81E-7F5B-BFA7-0B4357FBA431}"/>
              </a:ext>
            </a:extLst>
          </p:cNvPr>
          <p:cNvSpPr/>
          <p:nvPr/>
        </p:nvSpPr>
        <p:spPr>
          <a:xfrm>
            <a:off x="12057017" y="2753733"/>
            <a:ext cx="2266407" cy="36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000" b="1" dirty="0">
                <a:latin typeface="+mj-ea"/>
                <a:ea typeface="+mj-ea"/>
              </a:rPr>
              <a:t>범례</a:t>
            </a:r>
            <a:endParaRPr lang="en-US" altLang="ko-KR" sz="2000" b="1" dirty="0">
              <a:latin typeface="+mj-ea"/>
              <a:ea typeface="+mj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Code : </a:t>
            </a:r>
            <a:r>
              <a:rPr lang="ko-KR" altLang="en-US" sz="1650" dirty="0"/>
              <a:t>종목코드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Name : </a:t>
            </a:r>
            <a:r>
              <a:rPr lang="ko-KR" altLang="en-US" sz="1650" dirty="0" err="1"/>
              <a:t>종목명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Volatility : </a:t>
            </a:r>
            <a:r>
              <a:rPr lang="ko-KR" altLang="en-US" sz="1650" dirty="0"/>
              <a:t>변동성</a:t>
            </a:r>
            <a:r>
              <a:rPr lang="en-US" altLang="ko-KR" sz="1650" dirty="0"/>
              <a:t>(%)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 err="1"/>
              <a:t>TotalReturn</a:t>
            </a:r>
            <a:r>
              <a:rPr lang="en-US" altLang="ko-KR" sz="1650" dirty="0"/>
              <a:t> : </a:t>
            </a:r>
            <a:r>
              <a:rPr lang="ko-KR" altLang="en-US" sz="1650" dirty="0"/>
              <a:t>총수익률</a:t>
            </a:r>
            <a:r>
              <a:rPr lang="en-US" altLang="ko-KR" sz="1650" dirty="0"/>
              <a:t>(%)</a:t>
            </a:r>
            <a:r>
              <a:rPr lang="ko-KR" altLang="en-US" sz="1650" dirty="0"/>
              <a:t>  </a:t>
            </a:r>
            <a:endParaRPr lang="en-US" sz="165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EDA854B-1E46-F44B-84AB-86533C97B3D8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9F9316-CFF4-8626-F855-2672E303CC68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2C24504F-44E6-C6FC-EEF5-BEBBB0AE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565581"/>
            <a:ext cx="5270865" cy="2994942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0C04AFAD-4876-6BFD-3BDC-DBC715262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69" y="2565581"/>
            <a:ext cx="7380214" cy="299494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8D7F3B8-6A11-608C-3A3F-BC313EC23BE5}"/>
              </a:ext>
            </a:extLst>
          </p:cNvPr>
          <p:cNvSpPr/>
          <p:nvPr/>
        </p:nvSpPr>
        <p:spPr>
          <a:xfrm>
            <a:off x="738937" y="2565581"/>
            <a:ext cx="325687" cy="2994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7A9C26-17E1-A737-2070-E00956E18AF3}"/>
              </a:ext>
            </a:extLst>
          </p:cNvPr>
          <p:cNvSpPr/>
          <p:nvPr/>
        </p:nvSpPr>
        <p:spPr>
          <a:xfrm>
            <a:off x="7703596" y="2561231"/>
            <a:ext cx="325687" cy="2994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3B3440-5391-05ED-5613-1767E7D58050}"/>
              </a:ext>
            </a:extLst>
          </p:cNvPr>
          <p:cNvSpPr/>
          <p:nvPr/>
        </p:nvSpPr>
        <p:spPr>
          <a:xfrm>
            <a:off x="5202060" y="2567763"/>
            <a:ext cx="1724745" cy="2994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십자형 12">
            <a:extLst>
              <a:ext uri="{FF2B5EF4-FFF2-40B4-BE49-F238E27FC236}">
                <a16:creationId xmlns:a16="http://schemas.microsoft.com/office/drawing/2014/main" id="{A3A14AEB-608F-1B90-8CE2-9F7288325D9C}"/>
              </a:ext>
            </a:extLst>
          </p:cNvPr>
          <p:cNvSpPr/>
          <p:nvPr/>
        </p:nvSpPr>
        <p:spPr>
          <a:xfrm>
            <a:off x="8223069" y="3890168"/>
            <a:ext cx="583005" cy="568234"/>
          </a:xfrm>
          <a:prstGeom prst="plus">
            <a:avLst>
              <a:gd name="adj" fmla="val 33962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FAF0017-1031-0DE4-3EF6-881C9D2CD5F3}"/>
              </a:ext>
            </a:extLst>
          </p:cNvPr>
          <p:cNvSpPr/>
          <p:nvPr/>
        </p:nvSpPr>
        <p:spPr>
          <a:xfrm>
            <a:off x="759739" y="6079206"/>
            <a:ext cx="2317772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CEC60D3-5BA5-DB7E-D8FB-92E5F51AF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412" y="5789359"/>
            <a:ext cx="8826053" cy="1000794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E5FEFF85-0A7E-8471-7F18-68075E4B8277}"/>
              </a:ext>
            </a:extLst>
          </p:cNvPr>
          <p:cNvSpPr/>
          <p:nvPr/>
        </p:nvSpPr>
        <p:spPr>
          <a:xfrm>
            <a:off x="704436" y="7440730"/>
            <a:ext cx="13221528" cy="55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1650" b="1" dirty="0"/>
              <a:t>앞에서 </a:t>
            </a:r>
            <a:r>
              <a:rPr lang="ko-KR" altLang="en-US" sz="1650" b="1" dirty="0" err="1"/>
              <a:t>전처리</a:t>
            </a:r>
            <a:r>
              <a:rPr lang="ko-KR" altLang="en-US" sz="1650" b="1" dirty="0"/>
              <a:t> 한 두 종류의 데이터 프레임에서 업종</a:t>
            </a:r>
            <a:r>
              <a:rPr lang="en-US" altLang="ko-KR" sz="1650" b="1" dirty="0"/>
              <a:t>/</a:t>
            </a:r>
            <a:r>
              <a:rPr lang="ko-KR" altLang="en-US" sz="1650" b="1" dirty="0"/>
              <a:t>종목별 </a:t>
            </a:r>
            <a:r>
              <a:rPr lang="ko-KR" altLang="en-US" sz="1650" b="1" u="sng" dirty="0">
                <a:solidFill>
                  <a:srgbClr val="FF0000"/>
                </a:solidFill>
              </a:rPr>
              <a:t>수익률 및 변동성 데이터 분석에 </a:t>
            </a:r>
            <a:r>
              <a:rPr lang="ko-KR" altLang="en-US" sz="1650" b="1" dirty="0"/>
              <a:t>필요한 정보만 추출해</a:t>
            </a:r>
            <a:r>
              <a:rPr lang="en-US" altLang="ko-KR" sz="1650" b="1" dirty="0"/>
              <a:t>, </a:t>
            </a:r>
            <a:r>
              <a:rPr lang="ko-KR" altLang="en-US" sz="1650" b="1" dirty="0"/>
              <a:t>새로운 데이터 프레임 생성</a:t>
            </a:r>
            <a:endParaRPr lang="en-US" sz="1650" b="1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DCC38F24-07CA-AEAD-EF57-F9F2BFF14E78}"/>
              </a:ext>
            </a:extLst>
          </p:cNvPr>
          <p:cNvSpPr/>
          <p:nvPr/>
        </p:nvSpPr>
        <p:spPr>
          <a:xfrm>
            <a:off x="759739" y="1980577"/>
            <a:ext cx="787217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b="1" dirty="0">
                <a:latin typeface="+mj-ea"/>
                <a:ea typeface="+mj-ea"/>
              </a:rPr>
              <a:t>데이터 병합</a:t>
            </a:r>
            <a:endParaRPr lang="en-US" sz="1750" b="1" dirty="0">
              <a:latin typeface="+mj-ea"/>
              <a:ea typeface="+mj-ea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26F10BE-3B79-23C7-1A4E-90166CDE2801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20BB89-AEE5-3DD6-5CF8-19DF3253DD94}"/>
              </a:ext>
            </a:extLst>
          </p:cNvPr>
          <p:cNvSpPr txBox="1"/>
          <p:nvPr/>
        </p:nvSpPr>
        <p:spPr>
          <a:xfrm>
            <a:off x="3161212" y="6914670"/>
            <a:ext cx="99734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latin typeface="+mn-ea"/>
              </a:rPr>
              <a:t>시장별</a:t>
            </a:r>
            <a:r>
              <a:rPr lang="ko-KR" altLang="en-US" sz="1500" dirty="0">
                <a:latin typeface="+mn-ea"/>
              </a:rPr>
              <a:t> 특정기간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개월</a:t>
            </a:r>
            <a:r>
              <a:rPr lang="en-US" altLang="ko-KR" sz="1500" dirty="0">
                <a:latin typeface="+mn-ea"/>
              </a:rPr>
              <a:t>) </a:t>
            </a:r>
            <a:r>
              <a:rPr lang="ko-KR" altLang="en-US" sz="1500" dirty="0">
                <a:latin typeface="+mn-ea"/>
              </a:rPr>
              <a:t>동안 </a:t>
            </a:r>
            <a:r>
              <a:rPr lang="ko-KR" altLang="en-US" sz="1500" b="1" dirty="0">
                <a:latin typeface="+mn-ea"/>
              </a:rPr>
              <a:t>종목의 </a:t>
            </a:r>
            <a:r>
              <a:rPr lang="ko-KR" altLang="en-US" sz="1500" b="1" u="sng" dirty="0">
                <a:latin typeface="+mn-ea"/>
              </a:rPr>
              <a:t>총수익률</a:t>
            </a:r>
            <a:r>
              <a:rPr lang="en-US" altLang="ko-KR" sz="1500" b="1" u="sng" dirty="0">
                <a:latin typeface="+mn-ea"/>
              </a:rPr>
              <a:t>, </a:t>
            </a:r>
            <a:r>
              <a:rPr lang="ko-KR" altLang="en-US" sz="1500" b="1" u="sng" dirty="0">
                <a:latin typeface="+mn-ea"/>
              </a:rPr>
              <a:t>변동성</a:t>
            </a:r>
            <a:r>
              <a:rPr lang="en-US" altLang="ko-KR" sz="1500" b="1" u="sng" dirty="0">
                <a:latin typeface="+mn-ea"/>
              </a:rPr>
              <a:t>, </a:t>
            </a:r>
            <a:r>
              <a:rPr lang="ko-KR" altLang="en-US" sz="1500" b="1" u="sng" dirty="0">
                <a:latin typeface="+mn-ea"/>
              </a:rPr>
              <a:t>업종</a:t>
            </a:r>
            <a:r>
              <a:rPr lang="en-US" altLang="ko-KR" sz="1500" b="1" u="sng" dirty="0">
                <a:latin typeface="+mn-ea"/>
              </a:rPr>
              <a:t>, </a:t>
            </a:r>
            <a:r>
              <a:rPr lang="ko-KR" altLang="en-US" sz="1500" b="1" u="sng" dirty="0">
                <a:latin typeface="+mn-ea"/>
              </a:rPr>
              <a:t>거래량</a:t>
            </a:r>
            <a:r>
              <a:rPr lang="en-US" altLang="ko-KR" sz="1500" b="1" u="sng" dirty="0">
                <a:latin typeface="+mn-ea"/>
              </a:rPr>
              <a:t>, </a:t>
            </a:r>
            <a:r>
              <a:rPr lang="ko-KR" altLang="en-US" sz="1500" b="1" u="sng" dirty="0">
                <a:latin typeface="+mn-ea"/>
              </a:rPr>
              <a:t>거래대금</a:t>
            </a:r>
            <a:r>
              <a:rPr lang="en-US" altLang="ko-KR" sz="1500" b="1" u="sng" dirty="0">
                <a:latin typeface="+mn-ea"/>
              </a:rPr>
              <a:t>, </a:t>
            </a:r>
            <a:r>
              <a:rPr lang="ko-KR" altLang="en-US" sz="1500" b="1" u="sng" dirty="0">
                <a:latin typeface="+mn-ea"/>
              </a:rPr>
              <a:t>시가총액을 </a:t>
            </a:r>
            <a:r>
              <a:rPr lang="ko-KR" altLang="en-US" sz="1500" dirty="0">
                <a:latin typeface="+mn-ea"/>
              </a:rPr>
              <a:t>나타내는 데이터프레임</a:t>
            </a:r>
          </a:p>
        </p:txBody>
      </p:sp>
    </p:spTree>
    <p:extLst>
      <p:ext uri="{BB962C8B-B14F-4D97-AF65-F5344CB8AC3E}">
        <p14:creationId xmlns:p14="http://schemas.microsoft.com/office/powerpoint/2010/main" val="1449659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E50E7E-F23F-792D-768F-ED994DF5F71C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59739" y="2082129"/>
            <a:ext cx="787217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각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종목들에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대해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Risk 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정의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872168" y="5984222"/>
            <a:ext cx="787217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각 종목의 투자 위험도를 수치화 및 시각화 하기 위해</a:t>
            </a:r>
            <a:r>
              <a:rPr lang="en-US" altLang="ko-KR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각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종목의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변동성을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기준으로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사분위</a:t>
            </a:r>
            <a:r>
              <a:rPr lang="en-US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수를</a:t>
            </a:r>
            <a:r>
              <a:rPr lang="en-US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하고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그렇게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얻은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변동성의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분포를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다음과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같이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u="sng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Risk(</a:t>
            </a:r>
            <a:r>
              <a:rPr lang="en-US" sz="1750" b="1" u="sng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위험도</a:t>
            </a:r>
            <a:r>
              <a:rPr lang="en-US" sz="1750" b="1" u="sng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라는 범주형 변수를 정의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08" y="3021717"/>
            <a:ext cx="7838123" cy="21759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5767" y="2616660"/>
            <a:ext cx="4617125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293387" y="2624280"/>
            <a:ext cx="460188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520320" y="2767988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단계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11825013" y="2767988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변동성 범위</a:t>
            </a:r>
            <a:endParaRPr lang="en-US" sz="1750"/>
          </a:p>
        </p:txBody>
      </p:sp>
      <p:sp>
        <p:nvSpPr>
          <p:cNvPr id="10" name="Shape 7"/>
          <p:cNvSpPr/>
          <p:nvPr/>
        </p:nvSpPr>
        <p:spPr>
          <a:xfrm>
            <a:off x="9293387" y="3274599"/>
            <a:ext cx="460188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520320" y="3418308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1단계</a:t>
            </a:r>
            <a:endParaRPr lang="en-US" sz="1750"/>
          </a:p>
        </p:txBody>
      </p:sp>
      <p:sp>
        <p:nvSpPr>
          <p:cNvPr id="12" name="Text 9"/>
          <p:cNvSpPr/>
          <p:nvPr/>
        </p:nvSpPr>
        <p:spPr>
          <a:xfrm>
            <a:off x="11825013" y="3418308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 ~ Q1</a:t>
            </a:r>
            <a:endParaRPr lang="en-US" sz="1750"/>
          </a:p>
        </p:txBody>
      </p:sp>
      <p:sp>
        <p:nvSpPr>
          <p:cNvPr id="13" name="Shape 10"/>
          <p:cNvSpPr/>
          <p:nvPr/>
        </p:nvSpPr>
        <p:spPr>
          <a:xfrm>
            <a:off x="9293387" y="3924919"/>
            <a:ext cx="460188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520320" y="4068627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2단계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11825013" y="4068627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 ~ Q3</a:t>
            </a:r>
            <a:endParaRPr lang="en-US" sz="1750"/>
          </a:p>
        </p:txBody>
      </p:sp>
      <p:sp>
        <p:nvSpPr>
          <p:cNvPr id="16" name="Shape 13"/>
          <p:cNvSpPr/>
          <p:nvPr/>
        </p:nvSpPr>
        <p:spPr>
          <a:xfrm>
            <a:off x="9293387" y="4575238"/>
            <a:ext cx="460188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520320" y="4718947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3단계</a:t>
            </a:r>
            <a:endParaRPr lang="en-US" sz="1750"/>
          </a:p>
        </p:txBody>
      </p:sp>
      <p:sp>
        <p:nvSpPr>
          <p:cNvPr id="18" name="Text 15"/>
          <p:cNvSpPr/>
          <p:nvPr/>
        </p:nvSpPr>
        <p:spPr>
          <a:xfrm>
            <a:off x="11825013" y="4718947"/>
            <a:ext cx="1843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Q3 ~ max</a:t>
            </a:r>
            <a:endParaRPr lang="en-US" sz="175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A833C07-C29E-7812-6FA3-517159EC0727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60A3380-439F-8289-781D-8747B870333B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59739" y="1474702"/>
            <a:ext cx="787217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altLang="ko-KR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</a:t>
            </a:r>
            <a:r>
              <a:rPr lang="ko-KR" altLang="en-US" sz="1750" b="1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파생열</a:t>
            </a:r>
            <a:r>
              <a:rPr lang="ko-KR" altLang="en-US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추가 </a:t>
            </a:r>
            <a:endParaRPr lang="en-US" sz="1750"/>
          </a:p>
        </p:txBody>
      </p:sp>
      <p:sp>
        <p:nvSpPr>
          <p:cNvPr id="4" name="Text 2"/>
          <p:cNvSpPr/>
          <p:nvPr/>
        </p:nvSpPr>
        <p:spPr>
          <a:xfrm>
            <a:off x="854095" y="6053790"/>
            <a:ext cx="129222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ko-KR" altLang="en-US" sz="1750" dirty="0"/>
              <a:t>최종적으로 기간별 </a:t>
            </a:r>
            <a:r>
              <a:rPr lang="ko-KR" altLang="en-US" sz="1750" b="1" u="sng" dirty="0">
                <a:solidFill>
                  <a:srgbClr val="FF0000"/>
                </a:solidFill>
              </a:rPr>
              <a:t>업종</a:t>
            </a:r>
            <a:r>
              <a:rPr lang="en-US" altLang="ko-KR" sz="1750" b="1" u="sng" dirty="0">
                <a:solidFill>
                  <a:srgbClr val="FF0000"/>
                </a:solidFill>
              </a:rPr>
              <a:t>/</a:t>
            </a:r>
            <a:r>
              <a:rPr lang="ko-KR" altLang="en-US" sz="1750" b="1" u="sng" dirty="0">
                <a:solidFill>
                  <a:srgbClr val="FF0000"/>
                </a:solidFill>
              </a:rPr>
              <a:t>종목별 수익률 대비 투자 위험도를 시각화 </a:t>
            </a:r>
            <a:r>
              <a:rPr lang="ko-KR" altLang="en-US" sz="1750" dirty="0"/>
              <a:t>하기 위해서</a:t>
            </a:r>
            <a:r>
              <a:rPr lang="en-US" altLang="ko-KR" sz="1750" dirty="0"/>
              <a:t>, </a:t>
            </a:r>
            <a:r>
              <a:rPr lang="ko-KR" altLang="en-US" sz="1750" dirty="0"/>
              <a:t>앞에서 종목별로 계산한 </a:t>
            </a:r>
            <a:r>
              <a:rPr lang="ko-KR" altLang="en-US" sz="1750" b="1" u="sng" dirty="0">
                <a:solidFill>
                  <a:srgbClr val="FF0000"/>
                </a:solidFill>
              </a:rPr>
              <a:t>위험도 수치</a:t>
            </a:r>
            <a:r>
              <a:rPr lang="en-US" altLang="ko-KR" sz="1750" b="1" u="sng" dirty="0">
                <a:solidFill>
                  <a:srgbClr val="FF0000"/>
                </a:solidFill>
              </a:rPr>
              <a:t>(Risk)</a:t>
            </a:r>
            <a:r>
              <a:rPr lang="ko-KR" altLang="en-US" sz="1750" dirty="0"/>
              <a:t>를 데이터 프레임에 추가하여</a:t>
            </a:r>
            <a:r>
              <a:rPr lang="en-US" altLang="ko-KR" sz="1750" dirty="0"/>
              <a:t>, </a:t>
            </a:r>
            <a:r>
              <a:rPr lang="ko-KR" altLang="en-US" sz="1750" dirty="0"/>
              <a:t>수익률과 변동성 간 데이터 분석 및 시각화를 위한 정제된 데이터 프레임을 구성</a:t>
            </a:r>
            <a:endParaRPr lang="en-US" sz="175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F8812828-C4DD-0911-D652-DCF4852F2402}"/>
              </a:ext>
            </a:extLst>
          </p:cNvPr>
          <p:cNvSpPr/>
          <p:nvPr/>
        </p:nvSpPr>
        <p:spPr>
          <a:xfrm>
            <a:off x="751999" y="590907"/>
            <a:ext cx="4297680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50" b="1" dirty="0"/>
              <a:t>데이터 </a:t>
            </a:r>
            <a:r>
              <a:rPr lang="ko-KR" altLang="en-US" sz="3350" b="1" dirty="0" err="1"/>
              <a:t>전처리</a:t>
            </a:r>
            <a:endParaRPr lang="en-US" sz="335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108DC79-B0B4-07E2-5432-463C9766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7" y="2084474"/>
            <a:ext cx="8826053" cy="100079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2773A49-D7D8-D459-E66B-633A39F3C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34" y="3614667"/>
            <a:ext cx="9402487" cy="1000265"/>
          </a:xfrm>
          <a:prstGeom prst="rect">
            <a:avLst/>
          </a:prstGeom>
        </p:spPr>
      </p:pic>
      <p:sp>
        <p:nvSpPr>
          <p:cNvPr id="22" name="화살표: 오른쪽으로 구부러짐 21">
            <a:extLst>
              <a:ext uri="{FF2B5EF4-FFF2-40B4-BE49-F238E27FC236}">
                <a16:creationId xmlns:a16="http://schemas.microsoft.com/office/drawing/2014/main" id="{3C507BD4-D5E3-BDF9-B560-CF25FCFDE9BE}"/>
              </a:ext>
            </a:extLst>
          </p:cNvPr>
          <p:cNvSpPr/>
          <p:nvPr/>
        </p:nvSpPr>
        <p:spPr>
          <a:xfrm flipH="1">
            <a:off x="10331183" y="2578557"/>
            <a:ext cx="933994" cy="1580657"/>
          </a:xfrm>
          <a:prstGeom prst="curved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FD8794-1F08-35E7-EC28-05ED97DB4EB9}"/>
              </a:ext>
            </a:extLst>
          </p:cNvPr>
          <p:cNvSpPr/>
          <p:nvPr/>
        </p:nvSpPr>
        <p:spPr>
          <a:xfrm>
            <a:off x="9699487" y="3616925"/>
            <a:ext cx="576434" cy="10002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306A2D9-7A85-93BE-4B1D-A25CE973EDB6}"/>
              </a:ext>
            </a:extLst>
          </p:cNvPr>
          <p:cNvSpPr/>
          <p:nvPr/>
        </p:nvSpPr>
        <p:spPr>
          <a:xfrm>
            <a:off x="11898140" y="1631456"/>
            <a:ext cx="2266407" cy="367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ko-KR" altLang="en-US" sz="2000" b="1" dirty="0">
                <a:latin typeface="+mj-ea"/>
                <a:ea typeface="+mj-ea"/>
              </a:rPr>
              <a:t>범례</a:t>
            </a:r>
            <a:endParaRPr lang="en-US" altLang="ko-KR" sz="2000" b="1" dirty="0">
              <a:latin typeface="+mj-ea"/>
              <a:ea typeface="+mj-ea"/>
            </a:endParaRP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Code : </a:t>
            </a:r>
            <a:r>
              <a:rPr lang="ko-KR" altLang="en-US" sz="1650" dirty="0"/>
              <a:t>종목코드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Name : </a:t>
            </a:r>
            <a:r>
              <a:rPr lang="ko-KR" altLang="en-US" sz="1650" dirty="0" err="1"/>
              <a:t>종목명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Volatility : </a:t>
            </a:r>
            <a:r>
              <a:rPr lang="ko-KR" altLang="en-US" sz="1650" dirty="0"/>
              <a:t>변동성</a:t>
            </a:r>
            <a:r>
              <a:rPr lang="en-US" altLang="ko-KR" sz="1650" dirty="0"/>
              <a:t>(%)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 err="1"/>
              <a:t>TotalReturn</a:t>
            </a:r>
            <a:r>
              <a:rPr lang="en-US" altLang="ko-KR" sz="1650" dirty="0"/>
              <a:t> : </a:t>
            </a:r>
            <a:r>
              <a:rPr lang="ko-KR" altLang="en-US" sz="1650" dirty="0"/>
              <a:t>총수익률</a:t>
            </a:r>
            <a:r>
              <a:rPr lang="en-US" altLang="ko-KR" sz="1650" dirty="0"/>
              <a:t>(%)</a:t>
            </a:r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Sector : </a:t>
            </a:r>
            <a:r>
              <a:rPr lang="ko-KR" altLang="en-US" sz="1650" dirty="0"/>
              <a:t>해당종목의 업종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Volume : </a:t>
            </a:r>
            <a:r>
              <a:rPr lang="ko-KR" altLang="en-US" sz="1650" dirty="0"/>
              <a:t>거래량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/>
              <a:t>Amount : </a:t>
            </a:r>
            <a:r>
              <a:rPr lang="ko-KR" altLang="en-US" sz="1650" dirty="0"/>
              <a:t>거래대금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dirty="0" err="1"/>
              <a:t>Marcap</a:t>
            </a:r>
            <a:r>
              <a:rPr lang="en-US" altLang="ko-KR" sz="1650" dirty="0"/>
              <a:t> : </a:t>
            </a:r>
            <a:r>
              <a:rPr lang="ko-KR" altLang="en-US" sz="1650" dirty="0"/>
              <a:t>시가총액</a:t>
            </a:r>
            <a:endParaRPr lang="en-US" altLang="ko-KR" sz="1650" dirty="0"/>
          </a:p>
          <a:p>
            <a:pPr marL="0" indent="0">
              <a:lnSpc>
                <a:spcPts val="2700"/>
              </a:lnSpc>
              <a:buNone/>
            </a:pPr>
            <a:r>
              <a:rPr lang="en-US" altLang="ko-KR" sz="1650" b="1" dirty="0">
                <a:solidFill>
                  <a:srgbClr val="FF0000"/>
                </a:solidFill>
              </a:rPr>
              <a:t>Risk : </a:t>
            </a:r>
            <a:r>
              <a:rPr lang="ko-KR" altLang="en-US" sz="1650" b="1" dirty="0">
                <a:solidFill>
                  <a:srgbClr val="FF0000"/>
                </a:solidFill>
              </a:rPr>
              <a:t>위험도  </a:t>
            </a:r>
            <a:endParaRPr lang="en-US" sz="16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667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16476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고객 투자 성향 분류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6517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04309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4344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 dirty="0"/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BC1657EC-DD8F-4C0A-9B8E-070F8B13F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85397"/>
              </p:ext>
            </p:extLst>
          </p:nvPr>
        </p:nvGraphicFramePr>
        <p:xfrm>
          <a:off x="793730" y="3388394"/>
          <a:ext cx="13191150" cy="3212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7050">
                  <a:extLst>
                    <a:ext uri="{9D8B030D-6E8A-4147-A177-3AD203B41FA5}">
                      <a16:colId xmlns:a16="http://schemas.microsoft.com/office/drawing/2014/main" val="2340611333"/>
                    </a:ext>
                  </a:extLst>
                </a:gridCol>
                <a:gridCol w="4397050">
                  <a:extLst>
                    <a:ext uri="{9D8B030D-6E8A-4147-A177-3AD203B41FA5}">
                      <a16:colId xmlns:a16="http://schemas.microsoft.com/office/drawing/2014/main" val="22930425"/>
                    </a:ext>
                  </a:extLst>
                </a:gridCol>
                <a:gridCol w="4397050">
                  <a:extLst>
                    <a:ext uri="{9D8B030D-6E8A-4147-A177-3AD203B41FA5}">
                      <a16:colId xmlns:a16="http://schemas.microsoft.com/office/drawing/2014/main" val="1121075232"/>
                    </a:ext>
                  </a:extLst>
                </a:gridCol>
              </a:tblGrid>
              <a:tr h="10652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공격적인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성향</a:t>
                      </a:r>
                      <a:endParaRPr lang="en-US" altLang="ko-KR" sz="28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보수적인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성</a:t>
                      </a:r>
                      <a:r>
                        <a:rPr lang="ko-KR" altLang="en-US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향</a:t>
                      </a:r>
                      <a:endParaRPr lang="en-US" altLang="ko-KR" sz="28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중립적인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800" b="1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800" b="1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성향</a:t>
                      </a:r>
                      <a:endParaRPr lang="en-US" altLang="ko-KR" sz="28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577174"/>
                  </a:ext>
                </a:extLst>
              </a:tr>
              <a:tr h="21472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높은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수익을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추구하며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리스크를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감수하는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성장을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중시하고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급격한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변동성을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감수하는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endParaRPr lang="en-US" altLang="ko-KR" sz="1800" b="1" dirty="0"/>
                    </a:p>
                    <a:p>
                      <a:pPr algn="l"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안정성을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중시하며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안전한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자산에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가능한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한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리스크를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피하려는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경향이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있는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endParaRPr lang="en-US" altLang="ko-KR" sz="1800" b="1" dirty="0"/>
                    </a:p>
                    <a:p>
                      <a:pPr algn="l"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리스크와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수익을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적절히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조화시키려는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다양한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전략을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활용하여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리스크와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수익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간의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균형을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맞추려는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투자자</a:t>
                      </a:r>
                      <a:endParaRPr lang="en-US" altLang="ko-KR" sz="1800" b="1" dirty="0"/>
                    </a:p>
                    <a:p>
                      <a:pPr algn="l"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362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668"/>
            <a:ext cx="71353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</a:rPr>
              <a:t>투자 </a:t>
            </a:r>
            <a:r>
              <a:rPr lang="ko-KR" altLang="en-US" sz="4450" b="1" dirty="0" err="1">
                <a:solidFill>
                  <a:srgbClr val="443728"/>
                </a:solidFill>
                <a:latin typeface="+mj-ea"/>
                <a:ea typeface="+mj-ea"/>
              </a:rPr>
              <a:t>성향별</a:t>
            </a: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</a:rPr>
              <a:t> 주식 추천 전략</a:t>
            </a:r>
            <a:endParaRPr lang="en-US" sz="4450" dirty="0">
              <a:latin typeface="+mj-ea"/>
              <a:ea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FBC7912-6394-443E-8D38-8FAF4C336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356669"/>
              </p:ext>
            </p:extLst>
          </p:nvPr>
        </p:nvGraphicFramePr>
        <p:xfrm>
          <a:off x="793790" y="3431688"/>
          <a:ext cx="13191150" cy="3808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7050">
                  <a:extLst>
                    <a:ext uri="{9D8B030D-6E8A-4147-A177-3AD203B41FA5}">
                      <a16:colId xmlns:a16="http://schemas.microsoft.com/office/drawing/2014/main" val="660742469"/>
                    </a:ext>
                  </a:extLst>
                </a:gridCol>
                <a:gridCol w="4397050">
                  <a:extLst>
                    <a:ext uri="{9D8B030D-6E8A-4147-A177-3AD203B41FA5}">
                      <a16:colId xmlns:a16="http://schemas.microsoft.com/office/drawing/2014/main" val="850143512"/>
                    </a:ext>
                  </a:extLst>
                </a:gridCol>
                <a:gridCol w="4397050">
                  <a:extLst>
                    <a:ext uri="{9D8B030D-6E8A-4147-A177-3AD203B41FA5}">
                      <a16:colId xmlns:a16="http://schemas.microsoft.com/office/drawing/2014/main" val="1160298906"/>
                    </a:ext>
                  </a:extLst>
                </a:gridCol>
              </a:tblGrid>
              <a:tr h="1079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공격적인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(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고위험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,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고수익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)</a:t>
                      </a:r>
                      <a:endParaRPr lang="en-US" altLang="ko-KR" sz="2400" b="1" kern="1200" dirty="0">
                        <a:solidFill>
                          <a:schemeClr val="lt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보수적인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(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저위험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,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저수익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)</a:t>
                      </a:r>
                      <a:endParaRPr lang="en-US" altLang="ko-KR" sz="2400" b="1" kern="1200" dirty="0">
                        <a:solidFill>
                          <a:schemeClr val="lt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중립적인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투자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 (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중위험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, </a:t>
                      </a:r>
                      <a:r>
                        <a:rPr lang="en-US" altLang="ko-KR" sz="2400" b="1" kern="1200" dirty="0" err="1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중수익</a:t>
                      </a:r>
                      <a:r>
                        <a:rPr lang="en-US" altLang="ko-KR" sz="2400" b="1" kern="1200" dirty="0">
                          <a:solidFill>
                            <a:srgbClr val="443728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Crimson Pro Bold" pitchFamily="34" charset="-120"/>
                        </a:rPr>
                        <a:t>)</a:t>
                      </a:r>
                      <a:endParaRPr lang="en-US" altLang="ko-KR" sz="2400" b="1" kern="1200" dirty="0">
                        <a:solidFill>
                          <a:schemeClr val="lt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89561"/>
                  </a:ext>
                </a:extLst>
              </a:tr>
              <a:tr h="27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높은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수익률을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추구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하며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높은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위험을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감수하는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전략입니다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주식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옵션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선물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등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고위험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상품에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비중이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높습니다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위험도가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높더라도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높은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수익률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기대할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수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있는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업종에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집중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투자합니다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</a:t>
                      </a:r>
                      <a:endParaRPr lang="en-US" altLang="ko-KR" sz="1800" b="1" dirty="0">
                        <a:latin typeface="+mn-ea"/>
                      </a:endParaRPr>
                    </a:p>
                    <a:p>
                      <a:pPr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안정적인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수익을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우선시하며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위험을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최소화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전략입니다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예금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채권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등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저위험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상품에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비중이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높습니다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위험도가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낮고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안정적인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anose="020B0606030504020204" pitchFamily="34" charset="0"/>
                        </a:rPr>
                        <a:t>수익률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제공하는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업종에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투자합니다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anose="020B0606030504020204" pitchFamily="34" charset="0"/>
                        </a:rPr>
                        <a:t>.</a:t>
                      </a:r>
                      <a:endParaRPr lang="en-US" altLang="ko-KR" sz="1800" b="1" dirty="0">
                        <a:latin typeface="+mn-ea"/>
                        <a:cs typeface="Open Sans" panose="020B0606030504020204" pitchFamily="34" charset="0"/>
                      </a:endParaRPr>
                    </a:p>
                    <a:p>
                      <a:pPr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위험과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수익률의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균형을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추구하는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전략입니다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주식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채권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,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부동산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등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다양한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상품에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분산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투자하여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위험을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분산시킵니다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위험도와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수익률을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고려하여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포트폴리오를</a:t>
                      </a:r>
                      <a:r>
                        <a:rPr lang="en-US" altLang="ko-KR" sz="1800" b="1" dirty="0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 </a:t>
                      </a:r>
                      <a:r>
                        <a:rPr lang="en-US" altLang="ko-KR" sz="1800" b="1" dirty="0" err="1">
                          <a:solidFill>
                            <a:srgbClr val="F44444"/>
                          </a:solidFill>
                          <a:latin typeface="+mn-ea"/>
                          <a:cs typeface="Open Sans" pitchFamily="34" charset="-120"/>
                        </a:rPr>
                        <a:t>다각화</a:t>
                      </a:r>
                      <a:r>
                        <a:rPr lang="en-US" altLang="ko-KR" sz="1800" b="1" dirty="0" err="1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합니다</a:t>
                      </a:r>
                      <a:r>
                        <a:rPr lang="en-US" altLang="ko-KR" sz="1800" b="1" dirty="0">
                          <a:solidFill>
                            <a:srgbClr val="443728"/>
                          </a:solidFill>
                          <a:latin typeface="+mn-ea"/>
                          <a:cs typeface="Open Sans" pitchFamily="34" charset="-120"/>
                        </a:rPr>
                        <a:t>.</a:t>
                      </a:r>
                      <a:endParaRPr lang="en-US" altLang="ko-KR" sz="1800" b="1" dirty="0">
                        <a:latin typeface="+mn-ea"/>
                      </a:endParaRPr>
                    </a:p>
                    <a:p>
                      <a:pPr latinLnBrk="1"/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221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66912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투자 </a:t>
            </a:r>
            <a:r>
              <a:rPr lang="ko-KR" altLang="en-US" sz="445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성향별</a:t>
            </a: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주식 추천 기준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9D933"/>
          </a:solidFill>
          <a:ln w="7620">
            <a:solidFill>
              <a:srgbClr val="DFBF1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8224" y="3048953"/>
            <a:ext cx="10608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3918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보수적인 투자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(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저위험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저수익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35867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 1단계까지 업종 및 종목 대상</a:t>
            </a:r>
            <a:endParaRPr lang="en-US" sz="175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F9D93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FA44F"/>
          </a:solidFill>
          <a:ln w="7620">
            <a:solidFill>
              <a:srgbClr val="E58A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28224" y="4469249"/>
            <a:ext cx="14454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5368170" y="4269343"/>
            <a:ext cx="3912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중립적인 투자 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(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중위험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중수익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35867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 2단계까지 업종 및 종목 대상</a:t>
            </a:r>
            <a:endParaRPr lang="en-US" sz="175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FFA4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44444"/>
          </a:solidFill>
          <a:ln w="7620">
            <a:solidFill>
              <a:srgbClr val="FF5D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28224" y="5889546"/>
            <a:ext cx="1384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7542013" y="5689640"/>
            <a:ext cx="39467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공격적인 투자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 (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고위험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,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고수익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)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35867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 3단계까지 업종 및 종목 대상</a:t>
            </a:r>
            <a:endParaRPr lang="en-US" sz="175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89" y="16155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</a:t>
            </a:r>
            <a:r>
              <a:rPr lang="ko-KR" alt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전처리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시장내 </a:t>
            </a:r>
            <a:r>
              <a:rPr lang="ko-KR" altLang="en-US" sz="1750" b="1" u="sng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업종별 수익률 대비 변동성 비교를 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위한 업종별 데이터 계산</a:t>
            </a:r>
            <a:endParaRPr lang="en-US" sz="17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E0BE20-542F-568F-DF2D-41B0B049378D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1A9185A-4761-4590-7C06-EEE83B0F5421}"/>
              </a:ext>
            </a:extLst>
          </p:cNvPr>
          <p:cNvSpPr/>
          <p:nvPr/>
        </p:nvSpPr>
        <p:spPr>
          <a:xfrm>
            <a:off x="676275" y="532686"/>
            <a:ext cx="4830842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pic>
        <p:nvPicPr>
          <p:cNvPr id="11" name="그림 1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66C7DCF-F6C8-947F-822B-A5194474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328" y="2962113"/>
            <a:ext cx="6244046" cy="2305372"/>
          </a:xfrm>
          <a:prstGeom prst="rect">
            <a:avLst/>
          </a:prstGeom>
        </p:spPr>
      </p:pic>
      <p:pic>
        <p:nvPicPr>
          <p:cNvPr id="13" name="그림 12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74A26AD1-2769-9C0F-CF4E-2BD6669DB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4" y="2962114"/>
            <a:ext cx="6325800" cy="23053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2D356E-DDA3-A3B8-44CF-61DB992BB429}"/>
              </a:ext>
            </a:extLst>
          </p:cNvPr>
          <p:cNvSpPr txBox="1"/>
          <p:nvPr/>
        </p:nvSpPr>
        <p:spPr>
          <a:xfrm>
            <a:off x="10378440" y="6536246"/>
            <a:ext cx="49573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범례 </a:t>
            </a:r>
            <a:endParaRPr lang="en-US" altLang="ko-KR" sz="1600" dirty="0"/>
          </a:p>
          <a:p>
            <a:r>
              <a:rPr lang="en-US" altLang="ko-KR" sz="1600" dirty="0"/>
              <a:t>Sector : </a:t>
            </a:r>
            <a:r>
              <a:rPr lang="ko-KR" altLang="en-US" sz="1600" dirty="0"/>
              <a:t>업종</a:t>
            </a:r>
            <a:endParaRPr lang="en-US" altLang="ko-KR" sz="1600" dirty="0"/>
          </a:p>
          <a:p>
            <a:r>
              <a:rPr lang="en-US" altLang="ko-KR" sz="1600" dirty="0" err="1"/>
              <a:t>TotalReturn</a:t>
            </a:r>
            <a:r>
              <a:rPr lang="en-US" altLang="ko-KR" sz="1600" dirty="0"/>
              <a:t> : </a:t>
            </a:r>
            <a:r>
              <a:rPr lang="ko-KR" altLang="en-US" sz="1600" dirty="0"/>
              <a:t>해당업종내 종목들의 수익률 평균</a:t>
            </a:r>
            <a:endParaRPr lang="en-US" altLang="ko-KR" sz="1600" dirty="0"/>
          </a:p>
          <a:p>
            <a:r>
              <a:rPr lang="en-US" altLang="ko-KR" sz="1600" dirty="0"/>
              <a:t>Volatility : </a:t>
            </a:r>
            <a:r>
              <a:rPr lang="ko-KR" altLang="en-US" sz="1600" dirty="0"/>
              <a:t>해당업종내 종목들의 평균 변동성</a:t>
            </a:r>
            <a:endParaRPr lang="en-US" altLang="ko-KR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58BCE-3C63-78FA-7B94-AFBD07E5CCCF}"/>
              </a:ext>
            </a:extLst>
          </p:cNvPr>
          <p:cNvSpPr txBox="1"/>
          <p:nvPr/>
        </p:nvSpPr>
        <p:spPr>
          <a:xfrm>
            <a:off x="591367" y="5466806"/>
            <a:ext cx="663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정제된 데이터 프레임에서 </a:t>
            </a:r>
            <a:r>
              <a:rPr lang="ko-KR" altLang="en-US" b="1" u="sng" dirty="0">
                <a:solidFill>
                  <a:srgbClr val="FF0000"/>
                </a:solidFill>
              </a:rPr>
              <a:t>업종별 수익률</a:t>
            </a:r>
            <a:r>
              <a:rPr lang="en-US" altLang="ko-KR" b="1" u="sng" dirty="0">
                <a:solidFill>
                  <a:srgbClr val="FF0000"/>
                </a:solidFill>
              </a:rPr>
              <a:t>, </a:t>
            </a:r>
            <a:r>
              <a:rPr lang="ko-KR" altLang="en-US" b="1" u="sng" dirty="0">
                <a:solidFill>
                  <a:srgbClr val="FF0000"/>
                </a:solidFill>
              </a:rPr>
              <a:t>변동성의 평균을 </a:t>
            </a:r>
            <a:r>
              <a:rPr lang="ko-KR" altLang="en-US" dirty="0"/>
              <a:t>계산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A36C4-F465-4A66-8429-667C1E6A9A48}"/>
              </a:ext>
            </a:extLst>
          </p:cNvPr>
          <p:cNvSpPr txBox="1"/>
          <p:nvPr/>
        </p:nvSpPr>
        <p:spPr>
          <a:xfrm>
            <a:off x="7674429" y="5453743"/>
            <a:ext cx="624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업종별로 평균 수익률</a:t>
            </a:r>
            <a:r>
              <a:rPr lang="en-US" altLang="ko-KR" dirty="0"/>
              <a:t>, </a:t>
            </a:r>
            <a:r>
              <a:rPr lang="ko-KR" altLang="en-US" dirty="0"/>
              <a:t>평균 변동성이 나타난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2930051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89" y="16155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데이터 </a:t>
            </a:r>
            <a:r>
              <a:rPr lang="ko-KR" alt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전처리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회귀선을 통한 수익률 대비 변동성의 상대적 좋고 나쁨을 시각화</a:t>
            </a:r>
            <a:endParaRPr lang="en-US" sz="17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E0BE20-542F-568F-DF2D-41B0B049378D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1A9185A-4761-4590-7C06-EEE83B0F5421}"/>
              </a:ext>
            </a:extLst>
          </p:cNvPr>
          <p:cNvSpPr/>
          <p:nvPr/>
        </p:nvSpPr>
        <p:spPr>
          <a:xfrm>
            <a:off x="676275" y="532686"/>
            <a:ext cx="4830842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D356E-DDA3-A3B8-44CF-61DB992BB429}"/>
              </a:ext>
            </a:extLst>
          </p:cNvPr>
          <p:cNvSpPr txBox="1"/>
          <p:nvPr/>
        </p:nvSpPr>
        <p:spPr>
          <a:xfrm>
            <a:off x="10378440" y="6536246"/>
            <a:ext cx="4957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범례 </a:t>
            </a:r>
            <a:endParaRPr lang="en-US" altLang="ko-KR" sz="1600" dirty="0"/>
          </a:p>
          <a:p>
            <a:r>
              <a:rPr lang="en-US" altLang="ko-KR" sz="1600" dirty="0"/>
              <a:t>Sector : </a:t>
            </a:r>
            <a:r>
              <a:rPr lang="ko-KR" altLang="en-US" sz="1600" dirty="0"/>
              <a:t>업종</a:t>
            </a:r>
            <a:endParaRPr lang="en-US" altLang="ko-KR" sz="1600" dirty="0"/>
          </a:p>
          <a:p>
            <a:r>
              <a:rPr lang="en-US" altLang="ko-KR" sz="1600" dirty="0" err="1"/>
              <a:t>TotalReturn</a:t>
            </a:r>
            <a:r>
              <a:rPr lang="en-US" altLang="ko-KR" sz="1600" dirty="0"/>
              <a:t> : </a:t>
            </a:r>
            <a:r>
              <a:rPr lang="ko-KR" altLang="en-US" sz="1600" dirty="0"/>
              <a:t>해당업종내 종목들의 수익률 평균</a:t>
            </a:r>
            <a:endParaRPr lang="en-US" altLang="ko-KR" sz="1600" dirty="0"/>
          </a:p>
          <a:p>
            <a:r>
              <a:rPr lang="en-US" altLang="ko-KR" sz="1600" dirty="0"/>
              <a:t>Volatility : </a:t>
            </a:r>
            <a:r>
              <a:rPr lang="ko-KR" altLang="en-US" sz="1600" dirty="0"/>
              <a:t>해당업종내 종목들의 평균 변동성</a:t>
            </a:r>
            <a:endParaRPr lang="en-US" altLang="ko-KR" sz="1600" dirty="0"/>
          </a:p>
          <a:p>
            <a:r>
              <a:rPr lang="en-US" altLang="ko-KR" sz="1600" b="1" dirty="0">
                <a:solidFill>
                  <a:srgbClr val="FF0000"/>
                </a:solidFill>
              </a:rPr>
              <a:t>Color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시장 변동성 평균 회귀선 위</a:t>
            </a:r>
            <a:r>
              <a:rPr lang="en-US" altLang="ko-KR" sz="1600" dirty="0"/>
              <a:t>/</a:t>
            </a:r>
            <a:r>
              <a:rPr lang="ko-KR" altLang="en-US" sz="1600" dirty="0"/>
              <a:t>아래 구분</a:t>
            </a:r>
            <a:endParaRPr lang="en-US" altLang="ko-KR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58BCE-3C63-78FA-7B94-AFBD07E5CCCF}"/>
              </a:ext>
            </a:extLst>
          </p:cNvPr>
          <p:cNvSpPr txBox="1"/>
          <p:nvPr/>
        </p:nvSpPr>
        <p:spPr>
          <a:xfrm>
            <a:off x="470262" y="5825377"/>
            <a:ext cx="648571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/>
              <a:t>시장내 수익률 대비 평균 변동성 기준 </a:t>
            </a:r>
            <a:r>
              <a:rPr lang="ko-KR" altLang="en-US" sz="1700" b="1" u="sng" dirty="0">
                <a:solidFill>
                  <a:srgbClr val="FF0000"/>
                </a:solidFill>
              </a:rPr>
              <a:t>변동성의 상대적 크기 비교 시각화를 </a:t>
            </a:r>
            <a:r>
              <a:rPr lang="ko-KR" altLang="en-US" sz="1700" dirty="0"/>
              <a:t>위해 회귀선의 기울기와 절편을 기반으로 </a:t>
            </a:r>
            <a:r>
              <a:rPr lang="ko-KR" altLang="en-US" sz="1700" b="1" u="sng" dirty="0">
                <a:solidFill>
                  <a:srgbClr val="FF0000"/>
                </a:solidFill>
              </a:rPr>
              <a:t>회귀선 위와 아래를 구분</a:t>
            </a:r>
            <a:r>
              <a:rPr lang="ko-KR" altLang="en-US" sz="1700" dirty="0"/>
              <a:t>하기 위한 </a:t>
            </a:r>
            <a:r>
              <a:rPr lang="en-US" altLang="ko-KR" sz="1700" dirty="0"/>
              <a:t>Color </a:t>
            </a:r>
            <a:r>
              <a:rPr lang="ko-KR" altLang="en-US" sz="1700" dirty="0"/>
              <a:t>컬럼 생성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A36C4-F465-4A66-8429-667C1E6A9A48}"/>
              </a:ext>
            </a:extLst>
          </p:cNvPr>
          <p:cNvSpPr txBox="1"/>
          <p:nvPr/>
        </p:nvSpPr>
        <p:spPr>
          <a:xfrm>
            <a:off x="7674429" y="5825377"/>
            <a:ext cx="61621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/>
              <a:t>시장의 수익률대비 평균 변동성 회귀선 위와 아래를 구분하기 위한 </a:t>
            </a:r>
            <a:r>
              <a:rPr lang="en-US" altLang="ko-KR" sz="1700" b="1" u="sng" dirty="0">
                <a:solidFill>
                  <a:srgbClr val="FF0000"/>
                </a:solidFill>
              </a:rPr>
              <a:t>Color </a:t>
            </a:r>
            <a:r>
              <a:rPr lang="ko-KR" altLang="en-US" sz="1700" b="1" u="sng" dirty="0" err="1">
                <a:solidFill>
                  <a:srgbClr val="FF0000"/>
                </a:solidFill>
              </a:rPr>
              <a:t>파생열</a:t>
            </a:r>
            <a:r>
              <a:rPr lang="ko-KR" altLang="en-US" sz="1700" b="1" u="sng" dirty="0">
                <a:solidFill>
                  <a:srgbClr val="FF0000"/>
                </a:solidFill>
              </a:rPr>
              <a:t> 추가</a:t>
            </a: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F9F257F-C798-9BAA-F9B6-80624EA36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2" y="2432320"/>
            <a:ext cx="6648995" cy="2858137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B7CB402-2A95-77F7-5548-73796A2C2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144" y="2435155"/>
            <a:ext cx="7032545" cy="290608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C3B8451-7089-8AD0-09F8-BA266CFD6C73}"/>
              </a:ext>
            </a:extLst>
          </p:cNvPr>
          <p:cNvSpPr/>
          <p:nvPr/>
        </p:nvSpPr>
        <p:spPr>
          <a:xfrm>
            <a:off x="13533120" y="2435155"/>
            <a:ext cx="1010569" cy="29060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A30705-17B8-6AC9-0FF7-288D6C9E0DE5}"/>
              </a:ext>
            </a:extLst>
          </p:cNvPr>
          <p:cNvSpPr/>
          <p:nvPr/>
        </p:nvSpPr>
        <p:spPr>
          <a:xfrm>
            <a:off x="470262" y="3559629"/>
            <a:ext cx="5146767" cy="555171"/>
          </a:xfrm>
          <a:prstGeom prst="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D2582-F3BE-37D0-8E8A-78F84A8F756C}"/>
              </a:ext>
            </a:extLst>
          </p:cNvPr>
          <p:cNvSpPr txBox="1"/>
          <p:nvPr/>
        </p:nvSpPr>
        <p:spPr>
          <a:xfrm>
            <a:off x="4095205" y="2958757"/>
            <a:ext cx="2599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회귀선의 기울기와 </a:t>
            </a:r>
            <a:r>
              <a:rPr lang="en-US" altLang="ko-KR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y</a:t>
            </a:r>
            <a:r>
              <a:rPr lang="ko-KR" alt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절편 추출</a:t>
            </a:r>
            <a:endParaRPr lang="ko-KR" altLang="en-US" b="1" dirty="0"/>
          </a:p>
        </p:txBody>
      </p:sp>
      <p:sp>
        <p:nvSpPr>
          <p:cNvPr id="17" name="화살표: 굽음 16">
            <a:extLst>
              <a:ext uri="{FF2B5EF4-FFF2-40B4-BE49-F238E27FC236}">
                <a16:creationId xmlns:a16="http://schemas.microsoft.com/office/drawing/2014/main" id="{7EB67C4D-15B2-569C-9785-7C6282334B65}"/>
              </a:ext>
            </a:extLst>
          </p:cNvPr>
          <p:cNvSpPr/>
          <p:nvPr/>
        </p:nvSpPr>
        <p:spPr>
          <a:xfrm>
            <a:off x="3778432" y="3043646"/>
            <a:ext cx="316773" cy="411480"/>
          </a:xfrm>
          <a:prstGeom prst="ben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B56B65-F65E-8C4E-16C3-C741FA764CF3}"/>
              </a:ext>
            </a:extLst>
          </p:cNvPr>
          <p:cNvSpPr/>
          <p:nvPr/>
        </p:nvSpPr>
        <p:spPr>
          <a:xfrm>
            <a:off x="470262" y="4408714"/>
            <a:ext cx="6648995" cy="88174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2D078-B38B-35C4-56D7-F3AE583B8B7E}"/>
              </a:ext>
            </a:extLst>
          </p:cNvPr>
          <p:cNvSpPr txBox="1"/>
          <p:nvPr/>
        </p:nvSpPr>
        <p:spPr>
          <a:xfrm>
            <a:off x="4314008" y="4767237"/>
            <a:ext cx="2606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B050"/>
                </a:solidFill>
              </a:rPr>
              <a:t>회귀선의 기울기와 </a:t>
            </a:r>
            <a:r>
              <a:rPr lang="en-US" altLang="ko-KR" sz="1400" b="1" dirty="0">
                <a:solidFill>
                  <a:srgbClr val="00B050"/>
                </a:solidFill>
              </a:rPr>
              <a:t>y</a:t>
            </a:r>
            <a:r>
              <a:rPr lang="ko-KR" altLang="en-US" sz="1400" b="1" dirty="0">
                <a:solidFill>
                  <a:srgbClr val="00B050"/>
                </a:solidFill>
              </a:rPr>
              <a:t>절편을 기반으로 위</a:t>
            </a:r>
            <a:r>
              <a:rPr lang="en-US" altLang="ko-KR" sz="1400" b="1" dirty="0">
                <a:solidFill>
                  <a:srgbClr val="00B050"/>
                </a:solidFill>
              </a:rPr>
              <a:t>/</a:t>
            </a:r>
            <a:r>
              <a:rPr lang="ko-KR" altLang="en-US" sz="1400" b="1" dirty="0">
                <a:solidFill>
                  <a:srgbClr val="00B050"/>
                </a:solidFill>
              </a:rPr>
              <a:t>아래를 구분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BB9EBA2-42C0-3CF7-45DB-C18B3E800DA8}"/>
              </a:ext>
            </a:extLst>
          </p:cNvPr>
          <p:cNvSpPr/>
          <p:nvPr/>
        </p:nvSpPr>
        <p:spPr>
          <a:xfrm>
            <a:off x="3869866" y="4957355"/>
            <a:ext cx="421277" cy="22879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861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A87F14-647F-4C7B-343C-FD510C4732B8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676275" y="532686"/>
            <a:ext cx="4830842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275" y="1406190"/>
            <a:ext cx="13277850" cy="40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업종별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에 따른 변동성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비교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시각화</a:t>
            </a:r>
            <a:endParaRPr lang="en-US" sz="2200" dirty="0">
              <a:latin typeface="+mj-ea"/>
              <a:ea typeface="+mj-ea"/>
            </a:endParaRPr>
          </a:p>
        </p:txBody>
      </p:sp>
      <p:pic>
        <p:nvPicPr>
          <p:cNvPr id="8" name="그림 7" descr="라인, 그래프, 도표, 스크린샷이(가) 표시된 사진&#10;&#10;자동 생성된 설명">
            <a:extLst>
              <a:ext uri="{FF2B5EF4-FFF2-40B4-BE49-F238E27FC236}">
                <a16:creationId xmlns:a16="http://schemas.microsoft.com/office/drawing/2014/main" id="{0FC9BC58-3997-F87C-7BF5-82D4E4FD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730" y="1884925"/>
            <a:ext cx="6934388" cy="401949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B9408A6F-2260-B51A-8CF4-3083E68FC1AA}"/>
              </a:ext>
            </a:extLst>
          </p:cNvPr>
          <p:cNvSpPr/>
          <p:nvPr/>
        </p:nvSpPr>
        <p:spPr>
          <a:xfrm>
            <a:off x="7150918" y="1933304"/>
            <a:ext cx="7276012" cy="529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  <a:buSzPct val="100000"/>
            </a:pPr>
            <a:r>
              <a:rPr 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KOSDAQ</a:t>
            </a:r>
            <a:r>
              <a:rPr lang="ko-KR" alt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 업종별 </a:t>
            </a:r>
            <a:r>
              <a:rPr lang="en-US" altLang="ko-KR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1</a:t>
            </a:r>
            <a:r>
              <a:rPr lang="ko-KR" alt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개월 수익률 대비 변동성 지수</a:t>
            </a:r>
            <a:endParaRPr lang="en-US" sz="2000"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B7E9F-4759-DE5D-23E7-C3A6CA089481}"/>
              </a:ext>
            </a:extLst>
          </p:cNvPr>
          <p:cNvSpPr txBox="1"/>
          <p:nvPr/>
        </p:nvSpPr>
        <p:spPr>
          <a:xfrm>
            <a:off x="7291138" y="2331725"/>
            <a:ext cx="461665" cy="26452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b="1"/>
              <a:t>평균 변동성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AA3228-C90B-1D13-7290-155A0D602A37}"/>
              </a:ext>
            </a:extLst>
          </p:cNvPr>
          <p:cNvSpPr txBox="1"/>
          <p:nvPr/>
        </p:nvSpPr>
        <p:spPr>
          <a:xfrm>
            <a:off x="11802290" y="5378941"/>
            <a:ext cx="245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/>
              <a:t>평균 수익률</a:t>
            </a:r>
            <a:r>
              <a:rPr lang="en-US" altLang="ko-KR" b="1"/>
              <a:t>(%)</a:t>
            </a:r>
            <a:endParaRPr lang="ko-KR" altLang="en-US" b="1"/>
          </a:p>
        </p:txBody>
      </p:sp>
      <p:pic>
        <p:nvPicPr>
          <p:cNvPr id="15" name="그림 14" descr="라인, 그래프, 스크린샷, 도표이(가) 표시된 사진&#10;&#10;자동 생성된 설명">
            <a:extLst>
              <a:ext uri="{FF2B5EF4-FFF2-40B4-BE49-F238E27FC236}">
                <a16:creationId xmlns:a16="http://schemas.microsoft.com/office/drawing/2014/main" id="{51E3284D-B6EA-CFA9-E54A-0B44897AE22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0675" y="1884925"/>
            <a:ext cx="6933600" cy="402120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5F41B2E0-B785-16B4-10C4-B0C775B4F730}"/>
              </a:ext>
            </a:extLst>
          </p:cNvPr>
          <p:cNvSpPr/>
          <p:nvPr/>
        </p:nvSpPr>
        <p:spPr>
          <a:xfrm>
            <a:off x="-60531" y="1933304"/>
            <a:ext cx="7276012" cy="529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  <a:buSzPct val="100000"/>
            </a:pPr>
            <a:r>
              <a:rPr lang="en-US" sz="20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KOSPI</a:t>
            </a:r>
            <a:r>
              <a:rPr lang="ko-KR" altLang="en-US" sz="20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 업종별 </a:t>
            </a:r>
            <a:r>
              <a:rPr lang="en-US" altLang="ko-KR" sz="20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1</a:t>
            </a:r>
            <a:r>
              <a:rPr lang="ko-KR" altLang="en-US" sz="20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개월 수익률 대비 변동성 지수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962D68-9974-A350-EE6B-440E01F2F091}"/>
              </a:ext>
            </a:extLst>
          </p:cNvPr>
          <p:cNvSpPr txBox="1"/>
          <p:nvPr/>
        </p:nvSpPr>
        <p:spPr>
          <a:xfrm>
            <a:off x="110675" y="2331724"/>
            <a:ext cx="461665" cy="26452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b="1"/>
              <a:t>평균 변동성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3F6DB-8E87-47B0-823C-A235D600D4DC}"/>
              </a:ext>
            </a:extLst>
          </p:cNvPr>
          <p:cNvSpPr txBox="1"/>
          <p:nvPr/>
        </p:nvSpPr>
        <p:spPr>
          <a:xfrm>
            <a:off x="4515429" y="5387652"/>
            <a:ext cx="245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/>
              <a:t>평균 수익률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B164BD88-C27F-11C7-A728-724B162F87C8}"/>
              </a:ext>
            </a:extLst>
          </p:cNvPr>
          <p:cNvSpPr/>
          <p:nvPr/>
        </p:nvSpPr>
        <p:spPr>
          <a:xfrm>
            <a:off x="572339" y="6280342"/>
            <a:ext cx="8669899" cy="188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수익률이0보다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높은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업종이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상대적으로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많음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=&gt;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최근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1개월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동안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한국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KOSPI, KOSDAQ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시장이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b="1" u="sng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상대적으로</a:t>
            </a:r>
            <a:r>
              <a:rPr lang="en-US" sz="1700" b="1" u="sng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b="1" u="sng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긍정적인</a:t>
            </a:r>
            <a:r>
              <a:rPr lang="en-US" sz="1700" b="1" u="sng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b="1" u="sng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흐름을</a:t>
            </a:r>
            <a:r>
              <a:rPr lang="en-US" sz="1700" b="1" u="sng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보였다는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것을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의미</a:t>
            </a:r>
            <a:r>
              <a:rPr 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회귀선 아래의 종목은 시장내 평균 변동성 대비 수익률이 좋은 업종</a:t>
            </a:r>
            <a:endParaRPr lang="en-US" altLang="ko-KR" sz="1700" dirty="0">
              <a:solidFill>
                <a:srgbClr val="443728"/>
              </a:solidFill>
              <a:latin typeface="+mn-ea"/>
              <a:cs typeface="Open Sans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dirty="0">
                <a:latin typeface="+mn-ea"/>
                <a:cs typeface="Open Sans" pitchFamily="34" charset="-120"/>
              </a:rPr>
              <a:t>=&gt; </a:t>
            </a:r>
            <a:r>
              <a:rPr lang="ko-KR" altLang="en-US" sz="1700" b="1" u="sng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투자자가 투자하기에 시장내에서 상대적으로 수익률 대비 안정적인 업종임을 파악</a:t>
            </a:r>
            <a:endParaRPr lang="en-US" sz="1700" b="1" u="sng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1" name="그림 20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558FF12E-666E-AD43-1627-EB910F71D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3314" y="5878289"/>
            <a:ext cx="1371610" cy="14287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BA2F06-446C-A7CB-72A9-F953181722EA}"/>
              </a:ext>
            </a:extLst>
          </p:cNvPr>
          <p:cNvSpPr txBox="1"/>
          <p:nvPr/>
        </p:nvSpPr>
        <p:spPr>
          <a:xfrm>
            <a:off x="11475720" y="6178731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회귀선 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709072-0BC0-A314-CD68-D2D911D56210}"/>
              </a:ext>
            </a:extLst>
          </p:cNvPr>
          <p:cNvSpPr txBox="1"/>
          <p:nvPr/>
        </p:nvSpPr>
        <p:spPr>
          <a:xfrm>
            <a:off x="11475720" y="6493413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회귀선 아래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10384-A512-0580-5F68-60DF86893E50}"/>
              </a:ext>
            </a:extLst>
          </p:cNvPr>
          <p:cNvSpPr txBox="1"/>
          <p:nvPr/>
        </p:nvSpPr>
        <p:spPr>
          <a:xfrm>
            <a:off x="11475720" y="6815846"/>
            <a:ext cx="2951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회귀선</a:t>
            </a:r>
            <a:r>
              <a:rPr lang="en-US" altLang="ko-KR"/>
              <a:t>(</a:t>
            </a:r>
            <a:r>
              <a:rPr lang="ko-KR" altLang="en-US"/>
              <a:t>시장의 평균 변동성</a:t>
            </a:r>
            <a:r>
              <a:rPr lang="en-US" altLang="ko-KR"/>
              <a:t>)</a:t>
            </a: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573808-F172-AD3A-239D-7B24512C7122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395" y="2376892"/>
            <a:ext cx="4771787" cy="272188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CAEB33F-6E1E-EA22-492A-32C21B6518A7}"/>
              </a:ext>
            </a:extLst>
          </p:cNvPr>
          <p:cNvSpPr/>
          <p:nvPr/>
        </p:nvSpPr>
        <p:spPr>
          <a:xfrm>
            <a:off x="676275" y="532686"/>
            <a:ext cx="4830842" cy="603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4D92BA4-98A2-A8FA-B80D-C480E307C3FE}"/>
              </a:ext>
            </a:extLst>
          </p:cNvPr>
          <p:cNvSpPr/>
          <p:nvPr/>
        </p:nvSpPr>
        <p:spPr>
          <a:xfrm>
            <a:off x="676275" y="1563136"/>
            <a:ext cx="13277850" cy="40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특정 업종내 세부 종목의 수익률에 따른 변동성 비교 시각화</a:t>
            </a:r>
            <a:endParaRPr lang="en-US" sz="2200" dirty="0">
              <a:latin typeface="+mj-ea"/>
              <a:ea typeface="+mj-ea"/>
            </a:endParaRPr>
          </a:p>
        </p:txBody>
      </p:sp>
      <p:pic>
        <p:nvPicPr>
          <p:cNvPr id="13" name="그림 12" descr="라인, 스크린샷, 도표, 그래프이(가) 표시된 사진&#10;&#10;자동 생성된 설명">
            <a:extLst>
              <a:ext uri="{FF2B5EF4-FFF2-40B4-BE49-F238E27FC236}">
                <a16:creationId xmlns:a16="http://schemas.microsoft.com/office/drawing/2014/main" id="{81F8D299-1258-CDD3-0F99-AB4164A14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245" y="2063098"/>
            <a:ext cx="6677074" cy="4286281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3B5B1302-862C-3E30-24C7-B5646FCFC0A2}"/>
              </a:ext>
            </a:extLst>
          </p:cNvPr>
          <p:cNvSpPr/>
          <p:nvPr/>
        </p:nvSpPr>
        <p:spPr>
          <a:xfrm>
            <a:off x="6707776" y="2376892"/>
            <a:ext cx="7276012" cy="529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  <a:buSzPct val="100000"/>
            </a:pPr>
            <a:r>
              <a:rPr lang="en-US" sz="19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KOSPI</a:t>
            </a:r>
            <a:r>
              <a:rPr lang="ko-KR" altLang="en-US" sz="19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 화학 업종 종목별 </a:t>
            </a:r>
            <a:r>
              <a:rPr lang="en-US" altLang="ko-KR" sz="19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1</a:t>
            </a:r>
            <a:r>
              <a:rPr lang="ko-KR" altLang="en-US" sz="19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개월 수익률 대비 변동성 지수</a:t>
            </a:r>
            <a:endParaRPr lang="en-US" sz="190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20245-DEEF-3033-39B5-E2DA2EAA01D4}"/>
              </a:ext>
            </a:extLst>
          </p:cNvPr>
          <p:cNvSpPr txBox="1"/>
          <p:nvPr/>
        </p:nvSpPr>
        <p:spPr>
          <a:xfrm>
            <a:off x="7007245" y="3102433"/>
            <a:ext cx="461665" cy="26452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b="1"/>
              <a:t>평균 변동성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4C6504-BB4C-B087-ACF5-BB8A7EEDB8EF}"/>
              </a:ext>
            </a:extLst>
          </p:cNvPr>
          <p:cNvSpPr txBox="1"/>
          <p:nvPr/>
        </p:nvSpPr>
        <p:spPr>
          <a:xfrm>
            <a:off x="11230491" y="5748273"/>
            <a:ext cx="245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/>
              <a:t>평균 수익률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BD189F-D893-6874-A52E-D5FE97187276}"/>
              </a:ext>
            </a:extLst>
          </p:cNvPr>
          <p:cNvSpPr txBox="1"/>
          <p:nvPr/>
        </p:nvSpPr>
        <p:spPr>
          <a:xfrm>
            <a:off x="844209" y="5594384"/>
            <a:ext cx="6824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예시 </a:t>
            </a:r>
            <a:r>
              <a:rPr lang="en-US" altLang="ko-KR" sz="1400">
                <a:latin typeface="+mn-ea"/>
              </a:rPr>
              <a:t>: KOSPI </a:t>
            </a:r>
            <a:r>
              <a:rPr lang="ko-KR" altLang="en-US" sz="1400">
                <a:latin typeface="+mn-ea"/>
              </a:rPr>
              <a:t>시장내 종목수가 많고 평균적인 수익률을 보여주는 화학 종목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7E07E013-6A5B-81FE-8144-97ACADFF05ED}"/>
              </a:ext>
            </a:extLst>
          </p:cNvPr>
          <p:cNvSpPr/>
          <p:nvPr/>
        </p:nvSpPr>
        <p:spPr>
          <a:xfrm>
            <a:off x="5839097" y="3057785"/>
            <a:ext cx="1168148" cy="33855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2752CA-914D-6892-257A-C07D645A70CA}"/>
              </a:ext>
            </a:extLst>
          </p:cNvPr>
          <p:cNvSpPr txBox="1"/>
          <p:nvPr/>
        </p:nvSpPr>
        <p:spPr>
          <a:xfrm>
            <a:off x="822959" y="6263643"/>
            <a:ext cx="96730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업종 내 세부</a:t>
            </a:r>
            <a:r>
              <a:rPr lang="en-US" altLang="ko-KR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종목</a:t>
            </a:r>
            <a:r>
              <a:rPr lang="en-US" altLang="ko-KR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간에도</a:t>
            </a:r>
            <a:r>
              <a:rPr lang="en-US" altLang="ko-KR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평균적으로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변동성과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수익률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간의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양의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상관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관계가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b="1" dirty="0" err="1">
                <a:solidFill>
                  <a:srgbClr val="FF0000"/>
                </a:solidFill>
                <a:latin typeface="+mn-ea"/>
                <a:cs typeface="Open Sans" pitchFamily="34" charset="-120"/>
              </a:rPr>
              <a:t>있음을</a:t>
            </a:r>
            <a:r>
              <a:rPr lang="en-US" altLang="ko-KR" sz="1700" b="1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 </a:t>
            </a:r>
            <a:r>
              <a:rPr lang="ko-KR" altLang="en-US" sz="1700" dirty="0">
                <a:latin typeface="+mn-ea"/>
                <a:cs typeface="Open Sans" pitchFamily="34" charset="-120"/>
              </a:rPr>
              <a:t>확인</a:t>
            </a:r>
            <a:r>
              <a:rPr lang="en-US" altLang="ko-KR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.</a:t>
            </a:r>
          </a:p>
          <a:p>
            <a:endParaRPr lang="en-US" altLang="ko-KR" sz="1700" dirty="0">
              <a:solidFill>
                <a:srgbClr val="443728"/>
              </a:solidFill>
              <a:latin typeface="+mn-ea"/>
              <a:cs typeface="Open Sans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회귀선 아래의 종목은 업종내 평균 변동성 대비 수익률이 좋은 업종</a:t>
            </a:r>
            <a:endParaRPr lang="en-US" altLang="ko-KR" sz="1700" dirty="0">
              <a:solidFill>
                <a:srgbClr val="443728"/>
              </a:solidFill>
              <a:latin typeface="+mn-ea"/>
              <a:cs typeface="Open Sans" pitchFamily="34" charset="-120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ko-KR" altLang="en-US" sz="170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altLang="ko-KR" sz="1700" dirty="0">
                <a:latin typeface="+mn-ea"/>
                <a:cs typeface="Open Sans" pitchFamily="34" charset="-120"/>
              </a:rPr>
              <a:t>=&gt; </a:t>
            </a:r>
            <a:r>
              <a:rPr lang="ko-KR" altLang="en-US" sz="1700" b="1" u="sng" dirty="0">
                <a:solidFill>
                  <a:srgbClr val="FF0000"/>
                </a:solidFill>
                <a:latin typeface="+mn-ea"/>
                <a:cs typeface="Open Sans" pitchFamily="34" charset="-120"/>
              </a:rPr>
              <a:t>투자자가 투자하기에 업종내에서 상대적으로 수익률 대비 안정적인 종목임을 파악</a:t>
            </a:r>
            <a:endParaRPr lang="en-US" altLang="ko-KR" sz="1700" b="1" u="sng" dirty="0">
              <a:solidFill>
                <a:srgbClr val="FF0000"/>
              </a:solidFill>
              <a:latin typeface="+mn-ea"/>
            </a:endParaRPr>
          </a:p>
          <a:p>
            <a:endParaRPr lang="ko-KR" altLang="en-US" sz="2000" dirty="0">
              <a:latin typeface="+mn-ea"/>
            </a:endParaRPr>
          </a:p>
        </p:txBody>
      </p:sp>
      <p:pic>
        <p:nvPicPr>
          <p:cNvPr id="3" name="그림 2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2FFB3DA0-09B4-DE42-4922-90E6F1669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2080" y="6195154"/>
            <a:ext cx="1371610" cy="1428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70D269-E32E-D6DC-C819-66DB29770219}"/>
              </a:ext>
            </a:extLst>
          </p:cNvPr>
          <p:cNvSpPr txBox="1"/>
          <p:nvPr/>
        </p:nvSpPr>
        <p:spPr>
          <a:xfrm>
            <a:off x="11488786" y="6415041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회귀선 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E7516-1465-FC93-551A-D253B8EC05FC}"/>
              </a:ext>
            </a:extLst>
          </p:cNvPr>
          <p:cNvSpPr txBox="1"/>
          <p:nvPr/>
        </p:nvSpPr>
        <p:spPr>
          <a:xfrm>
            <a:off x="11488786" y="6729723"/>
            <a:ext cx="22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회귀선 아래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CF4C4-9688-541B-72D7-914E2B25ABB8}"/>
              </a:ext>
            </a:extLst>
          </p:cNvPr>
          <p:cNvSpPr txBox="1"/>
          <p:nvPr/>
        </p:nvSpPr>
        <p:spPr>
          <a:xfrm>
            <a:off x="11488786" y="7044405"/>
            <a:ext cx="2951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회귀선</a:t>
            </a:r>
            <a:r>
              <a:rPr lang="en-US" altLang="ko-KR" dirty="0"/>
              <a:t>(</a:t>
            </a:r>
            <a:r>
              <a:rPr lang="ko-KR" altLang="en-US" dirty="0"/>
              <a:t>업종의 평균 변동성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F4E3E20-49C9-D871-3C97-A3B1EDF2EB93}"/>
              </a:ext>
            </a:extLst>
          </p:cNvPr>
          <p:cNvSpPr/>
          <p:nvPr/>
        </p:nvSpPr>
        <p:spPr>
          <a:xfrm>
            <a:off x="7906215" y="3507643"/>
            <a:ext cx="379141" cy="41421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DDFFF04-A4D7-EDE8-4056-C71051D3588B}"/>
              </a:ext>
            </a:extLst>
          </p:cNvPr>
          <p:cNvSpPr/>
          <p:nvPr/>
        </p:nvSpPr>
        <p:spPr>
          <a:xfrm>
            <a:off x="10610884" y="2999685"/>
            <a:ext cx="379141" cy="414212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E77BA-FED1-5D09-ADBE-A2743B0E3CDD}"/>
              </a:ext>
            </a:extLst>
          </p:cNvPr>
          <p:cNvSpPr txBox="1"/>
          <p:nvPr/>
        </p:nvSpPr>
        <p:spPr>
          <a:xfrm>
            <a:off x="8231847" y="3526099"/>
            <a:ext cx="102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DS</a:t>
            </a:r>
            <a:r>
              <a:rPr lang="ko-KR" altLang="en-US" b="1" dirty="0" err="1"/>
              <a:t>단석</a:t>
            </a:r>
            <a:endParaRPr lang="en-US" altLang="ko-KR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DC192D-9350-BB6B-3336-61B3A2FBEE6D}"/>
              </a:ext>
            </a:extLst>
          </p:cNvPr>
          <p:cNvSpPr txBox="1"/>
          <p:nvPr/>
        </p:nvSpPr>
        <p:spPr>
          <a:xfrm>
            <a:off x="10975830" y="3018709"/>
            <a:ext cx="122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진양화학</a:t>
            </a:r>
            <a:endParaRPr lang="en-US" altLang="ko-KR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6CD9B7F-F599-15D1-E696-F791CF34E6C6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스크린샷, 라인, 직사각형, 평행이(가) 표시된 사진&#10;&#10;자동 생성된 설명">
            <a:extLst>
              <a:ext uri="{FF2B5EF4-FFF2-40B4-BE49-F238E27FC236}">
                <a16:creationId xmlns:a16="http://schemas.microsoft.com/office/drawing/2014/main" id="{0D2E7F0E-7DFB-A950-A8CB-8890D2B0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539" y="1844750"/>
            <a:ext cx="6904884" cy="601909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79899" y="531547"/>
            <a:ext cx="4996458" cy="62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6431" y="1612576"/>
            <a:ext cx="13231416" cy="31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업종별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대비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22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</a:t>
            </a: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비교 시각화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0771" y="5245659"/>
            <a:ext cx="6954461" cy="220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ts val="2500"/>
              </a:lnSpc>
              <a:buNone/>
            </a:pPr>
            <a:r>
              <a:rPr lang="ko-KR" alt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특정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구간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내에서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특정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내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수익률이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높은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</a:t>
            </a:r>
            <a:r>
              <a:rPr 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확인</a:t>
            </a:r>
            <a:endParaRPr lang="en-US" sz="1500" dirty="0">
              <a:solidFill>
                <a:srgbClr val="443728"/>
              </a:solidFill>
              <a:latin typeface="+mj-ea"/>
              <a:ea typeface="+mj-ea"/>
              <a:cs typeface="Open Sans" pitchFamily="34" charset="-120"/>
            </a:endParaRPr>
          </a:p>
          <a:p>
            <a:pPr>
              <a:lnSpc>
                <a:spcPts val="2500"/>
              </a:lnSpc>
            </a:pPr>
            <a:r>
              <a:rPr lang="en-US" altLang="ko-KR" sz="1500" b="1" u="sng" dirty="0" err="1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위험</a:t>
            </a:r>
            <a:r>
              <a:rPr lang="en-US" altLang="ko-KR" sz="1500" b="1" u="sng" dirty="0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b="1" u="sng" dirty="0" err="1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대비</a:t>
            </a:r>
            <a:r>
              <a:rPr lang="en-US" altLang="ko-KR" sz="1500" b="1" u="sng" dirty="0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b="1" u="sng" dirty="0" err="1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높은</a:t>
            </a:r>
            <a:r>
              <a:rPr lang="en-US" altLang="ko-KR" sz="1500" b="1" u="sng" dirty="0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b="1" u="sng" dirty="0" err="1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수익</a:t>
            </a:r>
            <a:r>
              <a:rPr lang="ko-KR" altLang="en-US" sz="1500" b="1" u="sng" dirty="0" err="1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률을</a:t>
            </a:r>
            <a:r>
              <a:rPr lang="ko-KR" altLang="en-US" sz="1500" b="1" u="sng" dirty="0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 가진 업종</a:t>
            </a:r>
            <a:r>
              <a:rPr lang="ko-KR" altLang="en-US" sz="1500" dirty="0">
                <a:latin typeface="+mj-ea"/>
                <a:ea typeface="+mj-ea"/>
                <a:cs typeface="Open Sans" pitchFamily="34" charset="-120"/>
              </a:rPr>
              <a:t>을 차트 상단에서 </a:t>
            </a:r>
            <a:r>
              <a:rPr lang="en-US" altLang="ko-KR" sz="1500" dirty="0" err="1">
                <a:latin typeface="+mj-ea"/>
                <a:ea typeface="+mj-ea"/>
                <a:cs typeface="Open Sans" pitchFamily="34" charset="-120"/>
              </a:rPr>
              <a:t>파악</a:t>
            </a:r>
            <a:endParaRPr lang="en-US" altLang="ko-KR" sz="1500" dirty="0">
              <a:latin typeface="+mj-ea"/>
              <a:ea typeface="+mj-ea"/>
            </a:endParaRPr>
          </a:p>
          <a:p>
            <a:pPr>
              <a:lnSpc>
                <a:spcPts val="2500"/>
              </a:lnSpc>
            </a:pP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KOSPI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시장내에선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자동차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,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통신서비스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, 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건강관리장비와용품과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같은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업종들이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2단계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내에서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다른 업종 대비 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큰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수익률을</a:t>
            </a:r>
            <a:r>
              <a:rPr lang="en-US" altLang="ko-KR" sz="1500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500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보여줌</a:t>
            </a:r>
            <a:endParaRPr lang="en-US" altLang="ko-KR" sz="1500" dirty="0">
              <a:latin typeface="+mj-ea"/>
              <a:ea typeface="+mj-ea"/>
            </a:endParaRPr>
          </a:p>
          <a:p>
            <a:pPr>
              <a:lnSpc>
                <a:spcPts val="2500"/>
              </a:lnSpc>
            </a:pPr>
            <a:r>
              <a:rPr lang="ko-KR" altLang="en-US" sz="1500" b="1" u="sng" dirty="0">
                <a:solidFill>
                  <a:srgbClr val="FF0000"/>
                </a:solidFill>
                <a:latin typeface="+mj-ea"/>
                <a:ea typeface="+mj-ea"/>
                <a:cs typeface="Open Sans" pitchFamily="34" charset="-120"/>
              </a:rPr>
              <a:t>대체적으로 수익률이 높은 업종은 위험도도 높음</a:t>
            </a:r>
            <a:endParaRPr lang="en-US" altLang="ko-KR" sz="1500" b="1" u="sng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5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5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5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4A2DB03-4789-57F6-A56E-DF58BE092EB3}"/>
              </a:ext>
            </a:extLst>
          </p:cNvPr>
          <p:cNvSpPr/>
          <p:nvPr/>
        </p:nvSpPr>
        <p:spPr>
          <a:xfrm>
            <a:off x="7583265" y="1986518"/>
            <a:ext cx="7276012" cy="529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400"/>
              </a:lnSpc>
              <a:buSzPct val="100000"/>
            </a:pPr>
            <a:r>
              <a:rPr 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KOSPI</a:t>
            </a:r>
            <a:r>
              <a:rPr lang="ko-KR" alt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시장 업종별 </a:t>
            </a:r>
            <a:r>
              <a:rPr lang="en-US" altLang="ko-KR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1</a:t>
            </a:r>
            <a:r>
              <a:rPr lang="ko-KR" alt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개월 위험도</a:t>
            </a:r>
            <a:r>
              <a:rPr lang="en-US" altLang="ko-KR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2 </a:t>
            </a:r>
            <a:r>
              <a:rPr lang="ko-KR" altLang="en-US" sz="200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이하 업종 수익률 순위</a:t>
            </a:r>
            <a:endParaRPr lang="en-US" sz="200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7D0E4-B8DE-2863-6412-2680447BFBA1}"/>
              </a:ext>
            </a:extLst>
          </p:cNvPr>
          <p:cNvSpPr txBox="1"/>
          <p:nvPr/>
        </p:nvSpPr>
        <p:spPr>
          <a:xfrm>
            <a:off x="10045337" y="2442757"/>
            <a:ext cx="32330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solidFill>
                  <a:schemeClr val="accent1"/>
                </a:solidFill>
              </a:rPr>
              <a:t>KOSPI </a:t>
            </a:r>
            <a:r>
              <a:rPr lang="ko-KR" altLang="en-US" sz="1600" b="1">
                <a:solidFill>
                  <a:schemeClr val="accent1"/>
                </a:solidFill>
              </a:rPr>
              <a:t>시장 평균 수익률 </a:t>
            </a:r>
            <a:r>
              <a:rPr lang="en-US" altLang="ko-KR" sz="1600" b="1">
                <a:solidFill>
                  <a:schemeClr val="accent1"/>
                </a:solidFill>
              </a:rPr>
              <a:t>: 5.311%</a:t>
            </a:r>
            <a:endParaRPr lang="ko-KR" altLang="en-US" sz="1600" b="1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7C03B9-40B5-6272-980A-D2F25FC64E41}"/>
              </a:ext>
            </a:extLst>
          </p:cNvPr>
          <p:cNvSpPr txBox="1"/>
          <p:nvPr/>
        </p:nvSpPr>
        <p:spPr>
          <a:xfrm>
            <a:off x="13604468" y="2426427"/>
            <a:ext cx="87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위험도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06EFCD-C446-00FF-C2FC-3CA928B2464B}"/>
              </a:ext>
            </a:extLst>
          </p:cNvPr>
          <p:cNvSpPr txBox="1"/>
          <p:nvPr/>
        </p:nvSpPr>
        <p:spPr>
          <a:xfrm>
            <a:off x="14102100" y="2759835"/>
            <a:ext cx="298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E8E702-C0A9-41E4-7676-790C64FF0A03}"/>
              </a:ext>
            </a:extLst>
          </p:cNvPr>
          <p:cNvSpPr txBox="1"/>
          <p:nvPr/>
        </p:nvSpPr>
        <p:spPr>
          <a:xfrm>
            <a:off x="14076223" y="5249176"/>
            <a:ext cx="554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1.8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327ED-0D2B-C874-4851-46D7BA8BE986}"/>
              </a:ext>
            </a:extLst>
          </p:cNvPr>
          <p:cNvSpPr txBox="1"/>
          <p:nvPr/>
        </p:nvSpPr>
        <p:spPr>
          <a:xfrm>
            <a:off x="8235152" y="2951032"/>
            <a:ext cx="2143838" cy="4698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980"/>
              </a:lnSpc>
            </a:pPr>
            <a:r>
              <a:rPr lang="ko-KR" altLang="en-US" sz="1580" dirty="0"/>
              <a:t>자동차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다각화된통신서비스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건강관리장비와용품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종이와목재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자동차부품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복합기업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항공화물운송과물류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무역회사와판매업체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교욱서비스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가정용품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건축자재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전기유틸리티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디스플레이패널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가스유틸리티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사무용전자제품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 err="1"/>
              <a:t>해운사</a:t>
            </a:r>
            <a:endParaRPr lang="en-US" altLang="ko-KR" sz="1580" dirty="0"/>
          </a:p>
          <a:p>
            <a:pPr algn="r">
              <a:lnSpc>
                <a:spcPts val="1980"/>
              </a:lnSpc>
            </a:pPr>
            <a:r>
              <a:rPr lang="ko-KR" altLang="en-US" sz="1580" dirty="0"/>
              <a:t>포장재</a:t>
            </a:r>
            <a:endParaRPr lang="en-US" altLang="ko-KR" sz="1580" dirty="0"/>
          </a:p>
          <a:p>
            <a:pPr>
              <a:lnSpc>
                <a:spcPts val="1980"/>
              </a:lnSpc>
            </a:pPr>
            <a:endParaRPr lang="ko-KR" altLang="en-US" sz="158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782F9D-0B0B-D6A8-3140-C7EC129547C3}"/>
              </a:ext>
            </a:extLst>
          </p:cNvPr>
          <p:cNvSpPr txBox="1"/>
          <p:nvPr/>
        </p:nvSpPr>
        <p:spPr>
          <a:xfrm>
            <a:off x="11869595" y="7544033"/>
            <a:ext cx="245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/>
              <a:t>평균 수익률</a:t>
            </a:r>
            <a:r>
              <a:rPr lang="en-US" altLang="ko-KR" b="1"/>
              <a:t>(%)</a:t>
            </a:r>
            <a:endParaRPr lang="ko-KR" alt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E88F46-4417-025C-907E-62D1AF3059F1}"/>
              </a:ext>
            </a:extLst>
          </p:cNvPr>
          <p:cNvSpPr txBox="1"/>
          <p:nvPr/>
        </p:nvSpPr>
        <p:spPr>
          <a:xfrm>
            <a:off x="7883207" y="2600430"/>
            <a:ext cx="461665" cy="264522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b="1" dirty="0"/>
              <a:t>업종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E052BE9-0BDE-2956-F806-64DAB9316FA8}"/>
              </a:ext>
            </a:extLst>
          </p:cNvPr>
          <p:cNvCxnSpPr/>
          <p:nvPr/>
        </p:nvCxnSpPr>
        <p:spPr>
          <a:xfrm>
            <a:off x="8327381" y="7377949"/>
            <a:ext cx="57877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A105788-85D4-6DB2-101E-7FFA970AD4B7}"/>
              </a:ext>
            </a:extLst>
          </p:cNvPr>
          <p:cNvCxnSpPr/>
          <p:nvPr/>
        </p:nvCxnSpPr>
        <p:spPr>
          <a:xfrm flipV="1">
            <a:off x="8333912" y="2600426"/>
            <a:ext cx="0" cy="4777519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9895F86-ACAC-7ED0-C969-229CFA781820}"/>
              </a:ext>
            </a:extLst>
          </p:cNvPr>
          <p:cNvSpPr/>
          <p:nvPr/>
        </p:nvSpPr>
        <p:spPr>
          <a:xfrm>
            <a:off x="8430722" y="2901507"/>
            <a:ext cx="5364399" cy="819209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9B539DA0-266D-7DAA-9973-70EDDB780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92" y="2064900"/>
            <a:ext cx="6954461" cy="18157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9DE5D10-95D3-7E28-6707-D6FB1C30A5C0}"/>
              </a:ext>
            </a:extLst>
          </p:cNvPr>
          <p:cNvSpPr txBox="1"/>
          <p:nvPr/>
        </p:nvSpPr>
        <p:spPr>
          <a:xfrm>
            <a:off x="581297" y="4114800"/>
            <a:ext cx="70726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+mn-ea"/>
              </a:rPr>
              <a:t>특정 위험도 이하 구간에서 수익률 내림차순 시각화를 하기위한 데이터 </a:t>
            </a:r>
            <a:r>
              <a:rPr lang="ko-KR" altLang="en-US" sz="1500" err="1">
                <a:latin typeface="+mn-ea"/>
              </a:rPr>
              <a:t>전처리</a:t>
            </a:r>
            <a:endParaRPr lang="en-US" altLang="ko-KR" sz="1500">
              <a:latin typeface="+mn-ea"/>
            </a:endParaRPr>
          </a:p>
          <a:p>
            <a:r>
              <a:rPr lang="en-US" altLang="ko-KR" sz="1500">
                <a:latin typeface="+mn-ea"/>
              </a:rPr>
              <a:t>: </a:t>
            </a:r>
            <a:r>
              <a:rPr lang="ko-KR" altLang="en-US" sz="1500">
                <a:latin typeface="+mn-ea"/>
              </a:rPr>
              <a:t>업종별 평균 수익률 및 평균 위험도 계산</a:t>
            </a:r>
            <a:r>
              <a:rPr lang="en-US" altLang="ko-KR" sz="1500">
                <a:latin typeface="+mn-ea"/>
              </a:rPr>
              <a:t>, </a:t>
            </a:r>
            <a:r>
              <a:rPr lang="ko-KR" altLang="en-US" sz="1500">
                <a:latin typeface="+mn-ea"/>
              </a:rPr>
              <a:t>위험도 구간 필터링</a:t>
            </a:r>
            <a:r>
              <a:rPr lang="en-US" altLang="ko-KR" sz="1500">
                <a:latin typeface="+mn-ea"/>
              </a:rPr>
              <a:t>, </a:t>
            </a:r>
            <a:r>
              <a:rPr lang="ko-KR" altLang="en-US" sz="1500">
                <a:latin typeface="+mn-ea"/>
              </a:rPr>
              <a:t>수익률 내림차순</a:t>
            </a:r>
          </a:p>
        </p:txBody>
      </p:sp>
      <p:sp>
        <p:nvSpPr>
          <p:cNvPr id="36" name="화살표: U자형 35">
            <a:extLst>
              <a:ext uri="{FF2B5EF4-FFF2-40B4-BE49-F238E27FC236}">
                <a16:creationId xmlns:a16="http://schemas.microsoft.com/office/drawing/2014/main" id="{8667046D-19FB-7F71-C191-D2DEF58E7157}"/>
              </a:ext>
            </a:extLst>
          </p:cNvPr>
          <p:cNvSpPr/>
          <p:nvPr/>
        </p:nvSpPr>
        <p:spPr>
          <a:xfrm>
            <a:off x="7418539" y="1480164"/>
            <a:ext cx="2607618" cy="589477"/>
          </a:xfrm>
          <a:prstGeom prst="utur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79C45C-DD3D-A7E5-DED4-A414056E0BC5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257521" y="19275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데이터 </a:t>
            </a:r>
            <a:r>
              <a:rPr lang="ko-KR" altLang="en-US" sz="160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전처리</a:t>
            </a:r>
            <a:r>
              <a:rPr lang="ko-KR" altLang="en-US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altLang="ko-KR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: </a:t>
            </a:r>
            <a:r>
              <a:rPr lang="ko-KR" altLang="en-US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 상위 </a:t>
            </a:r>
            <a:r>
              <a:rPr lang="en-US" altLang="ko-KR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100</a:t>
            </a:r>
            <a:r>
              <a:rPr lang="ko-KR" altLang="en-US" sz="160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개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4B07158-15EB-E4F1-A263-0636392534E3}"/>
              </a:ext>
            </a:extLst>
          </p:cNvPr>
          <p:cNvSpPr/>
          <p:nvPr/>
        </p:nvSpPr>
        <p:spPr>
          <a:xfrm>
            <a:off x="679899" y="531547"/>
            <a:ext cx="4996458" cy="62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EA5EFE4-6052-6AE2-8267-10748901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44" y="2721106"/>
            <a:ext cx="6755379" cy="620252"/>
          </a:xfrm>
          <a:prstGeom prst="rect">
            <a:avLst/>
          </a:prstGeom>
        </p:spPr>
      </p:pic>
      <p:pic>
        <p:nvPicPr>
          <p:cNvPr id="16" name="그림 15" descr="텍스트, 스크린샷, 메뉴, 폰트이(가) 표시된 사진&#10;&#10;자동 생성된 설명">
            <a:extLst>
              <a:ext uri="{FF2B5EF4-FFF2-40B4-BE49-F238E27FC236}">
                <a16:creationId xmlns:a16="http://schemas.microsoft.com/office/drawing/2014/main" id="{A6FA2F3F-BCCF-7948-B758-1B0BE4A6C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72" y="3961610"/>
            <a:ext cx="6356963" cy="3166017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43A8448F-25D7-BF67-A87D-46A7BA0B3BF7}"/>
              </a:ext>
            </a:extLst>
          </p:cNvPr>
          <p:cNvSpPr/>
          <p:nvPr/>
        </p:nvSpPr>
        <p:spPr>
          <a:xfrm>
            <a:off x="793790" y="14757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전체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평균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100개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간의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단계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비중</a:t>
            </a:r>
            <a:endParaRPr lang="en-US" sz="1750" dirty="0">
              <a:latin typeface="+mj-ea"/>
              <a:ea typeface="+mj-ea"/>
            </a:endParaRPr>
          </a:p>
        </p:txBody>
      </p:sp>
      <p:pic>
        <p:nvPicPr>
          <p:cNvPr id="19" name="그림 18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5E4FEC47-C56B-B6E3-7288-231BA2B3F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836" y="2495239"/>
            <a:ext cx="6229120" cy="939812"/>
          </a:xfrm>
          <a:prstGeom prst="rect">
            <a:avLst/>
          </a:prstGeom>
        </p:spPr>
      </p:pic>
      <p:pic>
        <p:nvPicPr>
          <p:cNvPr id="21" name="그림 20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4C30450-A032-2A8F-ACD4-EB28A8439B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734" y="4114800"/>
            <a:ext cx="3057952" cy="2276793"/>
          </a:xfrm>
          <a:prstGeom prst="rect">
            <a:avLst/>
          </a:prstGeom>
        </p:spPr>
      </p:pic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D2B9C08F-7487-C73A-D854-FDAD4746E2A0}"/>
              </a:ext>
            </a:extLst>
          </p:cNvPr>
          <p:cNvSpPr/>
          <p:nvPr/>
        </p:nvSpPr>
        <p:spPr>
          <a:xfrm>
            <a:off x="3448594" y="3411193"/>
            <a:ext cx="483326" cy="531779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355C8-D5CE-A9D5-F26C-EC5B22B0869D}"/>
              </a:ext>
            </a:extLst>
          </p:cNvPr>
          <p:cNvSpPr txBox="1"/>
          <p:nvPr/>
        </p:nvSpPr>
        <p:spPr>
          <a:xfrm>
            <a:off x="9376035" y="2036281"/>
            <a:ext cx="36019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+mj-ea"/>
                <a:ea typeface="+mj-ea"/>
              </a:rPr>
              <a:t>정렬된 종목의 </a:t>
            </a:r>
            <a:r>
              <a:rPr lang="ko-KR" altLang="en-US" sz="1500" b="1" u="sng" dirty="0">
                <a:solidFill>
                  <a:srgbClr val="FF0000"/>
                </a:solidFill>
                <a:latin typeface="+mj-ea"/>
                <a:ea typeface="+mj-ea"/>
              </a:rPr>
              <a:t>위험도 별 종목 수 </a:t>
            </a:r>
            <a:r>
              <a:rPr lang="ko-KR" altLang="en-US" sz="1500" dirty="0">
                <a:latin typeface="+mj-ea"/>
                <a:ea typeface="+mj-ea"/>
              </a:rPr>
              <a:t>집계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F234ACA7-7F9A-ACDE-0E6F-B5C9CE642276}"/>
              </a:ext>
            </a:extLst>
          </p:cNvPr>
          <p:cNvSpPr/>
          <p:nvPr/>
        </p:nvSpPr>
        <p:spPr>
          <a:xfrm rot="18384542">
            <a:off x="6742614" y="3955890"/>
            <a:ext cx="1783850" cy="47508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F690F-78C0-0087-DD58-717AF38883AD}"/>
              </a:ext>
            </a:extLst>
          </p:cNvPr>
          <p:cNvSpPr txBox="1"/>
          <p:nvPr/>
        </p:nvSpPr>
        <p:spPr>
          <a:xfrm>
            <a:off x="3933269" y="3488959"/>
            <a:ext cx="35301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+mj-ea"/>
                <a:ea typeface="+mj-ea"/>
              </a:rPr>
              <a:t>수익률 상위 </a:t>
            </a:r>
            <a:r>
              <a:rPr lang="en-US" altLang="ko-KR" sz="1500" b="1" dirty="0">
                <a:latin typeface="+mj-ea"/>
                <a:ea typeface="+mj-ea"/>
              </a:rPr>
              <a:t>100</a:t>
            </a:r>
            <a:r>
              <a:rPr lang="ko-KR" altLang="en-US" sz="1500" b="1" dirty="0">
                <a:latin typeface="+mj-ea"/>
                <a:ea typeface="+mj-ea"/>
              </a:rPr>
              <a:t>종목 내림차순 정렬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69628EE5-5E31-A992-5921-55E734637070}"/>
              </a:ext>
            </a:extLst>
          </p:cNvPr>
          <p:cNvSpPr/>
          <p:nvPr/>
        </p:nvSpPr>
        <p:spPr>
          <a:xfrm>
            <a:off x="11036496" y="3509036"/>
            <a:ext cx="483326" cy="531779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B4FAF8-CABA-ADA9-588C-E97BD1D0F926}"/>
              </a:ext>
            </a:extLst>
          </p:cNvPr>
          <p:cNvSpPr txBox="1"/>
          <p:nvPr/>
        </p:nvSpPr>
        <p:spPr>
          <a:xfrm>
            <a:off x="13004075" y="4601960"/>
            <a:ext cx="210965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범례</a:t>
            </a:r>
            <a:endParaRPr lang="en-US" altLang="ko-KR" sz="1500" dirty="0"/>
          </a:p>
          <a:p>
            <a:r>
              <a:rPr lang="en-US" altLang="ko-KR" sz="1500" b="1" dirty="0"/>
              <a:t>Risk : </a:t>
            </a:r>
            <a:r>
              <a:rPr lang="ko-KR" altLang="en-US" sz="1500" b="1" dirty="0"/>
              <a:t>위험도</a:t>
            </a:r>
            <a:endParaRPr lang="en-US" altLang="ko-KR" sz="1500" b="1" dirty="0"/>
          </a:p>
          <a:p>
            <a:r>
              <a:rPr lang="en-US" altLang="ko-KR" sz="1500" b="1" dirty="0"/>
              <a:t>Count : </a:t>
            </a:r>
            <a:r>
              <a:rPr lang="ko-KR" altLang="en-US" sz="1500" b="1" dirty="0"/>
              <a:t>종목 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79C45C-DD3D-A7E5-DED4-A414056E0BC5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4B07158-15EB-E4F1-A263-0636392534E3}"/>
              </a:ext>
            </a:extLst>
          </p:cNvPr>
          <p:cNvSpPr/>
          <p:nvPr/>
        </p:nvSpPr>
        <p:spPr>
          <a:xfrm>
            <a:off x="679899" y="531547"/>
            <a:ext cx="4996458" cy="62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pic>
        <p:nvPicPr>
          <p:cNvPr id="15" name="그림 14" descr="원, 로고, 그래픽, 도표이(가) 표시된 사진&#10;&#10;자동 생성된 설명">
            <a:extLst>
              <a:ext uri="{FF2B5EF4-FFF2-40B4-BE49-F238E27FC236}">
                <a16:creationId xmlns:a16="http://schemas.microsoft.com/office/drawing/2014/main" id="{2AB54B5C-0084-7D1F-849A-823BB6AEE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976" y="2677466"/>
            <a:ext cx="3076597" cy="3057547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5510BFE8-67C8-5745-0432-E0FFBBAF7D40}"/>
              </a:ext>
            </a:extLst>
          </p:cNvPr>
          <p:cNvSpPr/>
          <p:nvPr/>
        </p:nvSpPr>
        <p:spPr>
          <a:xfrm>
            <a:off x="754233" y="15877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시장 내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전체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평균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수익률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100개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간의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위험도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단계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비중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시각화</a:t>
            </a:r>
            <a:endParaRPr lang="en-US" sz="17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BEFB2-4E1A-0006-B7A9-4B123953F1ED}"/>
              </a:ext>
            </a:extLst>
          </p:cNvPr>
          <p:cNvSpPr txBox="1"/>
          <p:nvPr/>
        </p:nvSpPr>
        <p:spPr>
          <a:xfrm>
            <a:off x="8147957" y="2235535"/>
            <a:ext cx="605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KOSDAQ </a:t>
            </a:r>
            <a:r>
              <a:rPr lang="ko-KR" altLang="en-US" dirty="0"/>
              <a:t>시장 내 </a:t>
            </a:r>
            <a:r>
              <a:rPr lang="en-US" altLang="ko-KR" dirty="0"/>
              <a:t>1</a:t>
            </a:r>
            <a:r>
              <a:rPr lang="ko-KR" altLang="en-US" dirty="0"/>
              <a:t>개월 수익률 상위 </a:t>
            </a:r>
            <a:r>
              <a:rPr lang="en-US" altLang="ko-KR" dirty="0"/>
              <a:t>100</a:t>
            </a:r>
            <a:r>
              <a:rPr lang="ko-KR" altLang="en-US" dirty="0"/>
              <a:t>개 종목 위험도 비중</a:t>
            </a:r>
          </a:p>
        </p:txBody>
      </p:sp>
      <p:pic>
        <p:nvPicPr>
          <p:cNvPr id="19" name="그림 18" descr="원, 그래픽, 스크린샷, 로고이(가) 표시된 사진&#10;&#10;자동 생성된 설명">
            <a:extLst>
              <a:ext uri="{FF2B5EF4-FFF2-40B4-BE49-F238E27FC236}">
                <a16:creationId xmlns:a16="http://schemas.microsoft.com/office/drawing/2014/main" id="{97CEDB2B-CD4D-9305-5E96-D327F05C5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448" y="2677466"/>
            <a:ext cx="3138510" cy="30813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F9A48A-CB8E-0913-A1C4-1780888FB04F}"/>
              </a:ext>
            </a:extLst>
          </p:cNvPr>
          <p:cNvSpPr txBox="1"/>
          <p:nvPr/>
        </p:nvSpPr>
        <p:spPr>
          <a:xfrm>
            <a:off x="382089" y="2235535"/>
            <a:ext cx="605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KOSPI </a:t>
            </a:r>
            <a:r>
              <a:rPr lang="ko-KR" altLang="en-US" dirty="0"/>
              <a:t>시장 내 </a:t>
            </a:r>
            <a:r>
              <a:rPr lang="en-US" altLang="ko-KR" dirty="0"/>
              <a:t>1</a:t>
            </a:r>
            <a:r>
              <a:rPr lang="ko-KR" altLang="en-US" dirty="0"/>
              <a:t>개월 수익률 상위 </a:t>
            </a:r>
            <a:r>
              <a:rPr lang="en-US" altLang="ko-KR" dirty="0"/>
              <a:t>100</a:t>
            </a:r>
            <a:r>
              <a:rPr lang="ko-KR" altLang="en-US" dirty="0"/>
              <a:t>개 종목 위험도 비중</a:t>
            </a:r>
          </a:p>
        </p:txBody>
      </p:sp>
      <p:pic>
        <p:nvPicPr>
          <p:cNvPr id="22" name="그림 21" descr="폰트, 디자인이(가) 표시된 사진&#10;&#10;자동 생성된 설명">
            <a:extLst>
              <a:ext uri="{FF2B5EF4-FFF2-40B4-BE49-F238E27FC236}">
                <a16:creationId xmlns:a16="http://schemas.microsoft.com/office/drawing/2014/main" id="{BEAB9616-8396-DF22-2052-E725A10B7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83" y="3358525"/>
            <a:ext cx="1864967" cy="169542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42BAE0-B9B9-8113-36EA-A8498F53E966}"/>
              </a:ext>
            </a:extLst>
          </p:cNvPr>
          <p:cNvSpPr txBox="1"/>
          <p:nvPr/>
        </p:nvSpPr>
        <p:spPr>
          <a:xfrm>
            <a:off x="6836044" y="3248050"/>
            <a:ext cx="2403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위험도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84298A-DCF6-2ED1-F781-3D14EA95EF44}"/>
              </a:ext>
            </a:extLst>
          </p:cNvPr>
          <p:cNvSpPr txBox="1"/>
          <p:nvPr/>
        </p:nvSpPr>
        <p:spPr>
          <a:xfrm>
            <a:off x="5285106" y="4796726"/>
            <a:ext cx="4060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위험도 </a:t>
            </a:r>
            <a:r>
              <a:rPr lang="en-US" altLang="ko-KR" sz="16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1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시장내 </a:t>
            </a:r>
            <a:r>
              <a:rPr lang="ko-KR" altLang="en-US" sz="16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변동성 </a:t>
            </a:r>
            <a:r>
              <a:rPr lang="en-US" altLang="ko-KR" sz="16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25% </a:t>
            </a:r>
            <a:r>
              <a:rPr lang="ko-KR" altLang="en-US" sz="1600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이내</a:t>
            </a:r>
            <a:endParaRPr lang="en-US" altLang="ko-KR" sz="1600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위험도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2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시장내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변동성 </a:t>
            </a: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25%-75% </a:t>
            </a:r>
            <a:r>
              <a:rPr lang="ko-KR" altLang="en-US" sz="1600" b="1" dirty="0">
                <a:solidFill>
                  <a:srgbClr val="FF0000"/>
                </a:solidFill>
                <a:latin typeface="+mn-ea"/>
              </a:rPr>
              <a:t>구간</a:t>
            </a:r>
            <a:endParaRPr lang="en-US" altLang="ko-KR" sz="1600" b="1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위험도 </a:t>
            </a:r>
            <a:r>
              <a:rPr lang="en-US" altLang="ko-KR" sz="1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3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시장내 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변동성 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75%</a:t>
            </a:r>
            <a:r>
              <a:rPr lang="ko-KR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구간 이상</a:t>
            </a: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D210BFD8-122A-4F61-0CA4-E5FB8A193474}"/>
              </a:ext>
            </a:extLst>
          </p:cNvPr>
          <p:cNvSpPr/>
          <p:nvPr/>
        </p:nvSpPr>
        <p:spPr>
          <a:xfrm>
            <a:off x="679898" y="6129558"/>
            <a:ext cx="12970787" cy="16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상위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100개의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종목은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위험도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두 시장 모두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>
                <a:solidFill>
                  <a:schemeClr val="accent5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3단계 </a:t>
            </a:r>
            <a:r>
              <a:rPr lang="en-US" sz="1750" b="1" dirty="0" err="1">
                <a:solidFill>
                  <a:schemeClr val="accent5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대다수와</a:t>
            </a:r>
            <a:r>
              <a:rPr lang="en-US" sz="1750" b="1" dirty="0">
                <a:solidFill>
                  <a:schemeClr val="accent5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2단계 </a:t>
            </a:r>
            <a:r>
              <a:rPr lang="en-US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소수로</a:t>
            </a:r>
            <a:r>
              <a:rPr lang="en-US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구성</a:t>
            </a:r>
            <a:endParaRPr lang="en-US" sz="17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고수익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ko-KR" altLang="en-US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종목은 그에 맞는 높은 위험도에 다수 분포</a:t>
            </a:r>
            <a:endParaRPr lang="en-US" altLang="ko-KR" sz="1750" b="1" dirty="0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2단계 </a:t>
            </a: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영역의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크기가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중요한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중립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b="1" dirty="0" err="1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투자자는</a:t>
            </a:r>
            <a:r>
              <a:rPr lang="en-US" altLang="ko-KR" sz="175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KOSPI가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KOSDAQ에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비해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종목의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선택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폭이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altLang="ko-KR" sz="175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넓음</a:t>
            </a:r>
            <a:endParaRPr lang="en-US" altLang="ko-KR" sz="1750" b="1" dirty="0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상위 수익률 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100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위 안에 </a:t>
            </a:r>
            <a:r>
              <a:rPr lang="ko-KR" altLang="en-US" sz="1750" b="1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cs typeface="Open Sans" pitchFamily="34" charset="-120"/>
              </a:rPr>
              <a:t>위험도 </a:t>
            </a:r>
            <a:r>
              <a:rPr lang="en-US" altLang="ko-KR" sz="1750" b="1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cs typeface="Open Sans" pitchFamily="34" charset="-120"/>
              </a:rPr>
              <a:t>1</a:t>
            </a:r>
            <a:r>
              <a:rPr lang="ko-KR" altLang="en-US" sz="1750" b="1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cs typeface="Open Sans" pitchFamily="34" charset="-120"/>
              </a:rPr>
              <a:t>단계 구간은 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존재하지 않음 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=&gt; </a:t>
            </a:r>
            <a:r>
              <a:rPr lang="ko-KR" altLang="en-US" sz="1750" b="1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cs typeface="Open Sans" pitchFamily="34" charset="-120"/>
              </a:rPr>
              <a:t>안정성을 중시하는 보수 투자자는 </a:t>
            </a:r>
            <a:r>
              <a:rPr lang="ko-KR" altLang="en-US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높은 수익률을 기대할 수 없음</a:t>
            </a:r>
            <a:r>
              <a:rPr lang="en-US" altLang="ko-KR" sz="1750" dirty="0">
                <a:solidFill>
                  <a:srgbClr val="443728"/>
                </a:solidFill>
                <a:latin typeface="Open Sans" pitchFamily="34" charset="0"/>
                <a:cs typeface="Open Sans" pitchFamily="34" charset="-120"/>
              </a:rPr>
              <a:t> </a:t>
            </a:r>
            <a:endParaRPr lang="en-US" altLang="ko-KR" sz="1750" dirty="0"/>
          </a:p>
          <a:p>
            <a:pPr>
              <a:lnSpc>
                <a:spcPts val="2850"/>
              </a:lnSpc>
            </a:pPr>
            <a:endParaRPr lang="en-US" altLang="ko-KR" sz="1750" b="1" dirty="0">
              <a:solidFill>
                <a:srgbClr val="FF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850"/>
              </a:lnSpc>
            </a:pPr>
            <a:endParaRPr lang="en-US" altLang="ko-KR" sz="1750" dirty="0"/>
          </a:p>
          <a:p>
            <a:pPr marL="0" indent="0">
              <a:lnSpc>
                <a:spcPts val="2850"/>
              </a:lnSpc>
              <a:buNone/>
            </a:pPr>
            <a:endParaRPr lang="en-US" sz="175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36411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4F510B-B18A-7B5D-5E8C-B7EB2B8E802A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87241" y="1771174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ko-KR" altLang="en-US" sz="1750" b="1" dirty="0"/>
              <a:t>중립적인 투자자가 제공받게 되는 추천 종목</a:t>
            </a:r>
            <a:r>
              <a:rPr lang="ko-KR" altLang="en-US" sz="1750" dirty="0"/>
              <a:t>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325699" y="6966105"/>
            <a:ext cx="408753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업종별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평균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수익률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비교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risk 2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기준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0153245" y="5977843"/>
            <a:ext cx="408753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도출된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업종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내의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수익률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비교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후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추천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도출</a:t>
            </a:r>
            <a:endParaRPr lang="en-US" sz="14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4ED3FA6C-864B-8E14-C7FF-59E47F54DCF9}"/>
              </a:ext>
            </a:extLst>
          </p:cNvPr>
          <p:cNvSpPr/>
          <p:nvPr/>
        </p:nvSpPr>
        <p:spPr>
          <a:xfrm>
            <a:off x="679899" y="531547"/>
            <a:ext cx="4996458" cy="62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D1043B4-ACFE-4167-89C7-D85F6F40B62F}"/>
              </a:ext>
            </a:extLst>
          </p:cNvPr>
          <p:cNvGrpSpPr/>
          <p:nvPr/>
        </p:nvGrpSpPr>
        <p:grpSpPr>
          <a:xfrm>
            <a:off x="10316774" y="3988662"/>
            <a:ext cx="3924006" cy="1787797"/>
            <a:chOff x="7604862" y="2665501"/>
            <a:chExt cx="3924006" cy="1787797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0967" y="2675808"/>
              <a:ext cx="3377901" cy="176718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95C271-70D9-4D3B-9368-C03AFBF3BDD6}"/>
                </a:ext>
              </a:extLst>
            </p:cNvPr>
            <p:cNvSpPr txBox="1"/>
            <p:nvPr/>
          </p:nvSpPr>
          <p:spPr>
            <a:xfrm>
              <a:off x="7604862" y="2665501"/>
              <a:ext cx="1002855" cy="17877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altLang="ko-KR" sz="1500" dirty="0"/>
            </a:p>
            <a:p>
              <a:pPr algn="r">
                <a:lnSpc>
                  <a:spcPct val="150000"/>
                </a:lnSpc>
              </a:pPr>
              <a:r>
                <a:rPr lang="ko-KR" altLang="en-US" sz="1500" b="1" dirty="0" err="1"/>
                <a:t>인스코비</a:t>
              </a:r>
              <a:endParaRPr lang="en-US" altLang="ko-KR" sz="1500" b="1" dirty="0"/>
            </a:p>
            <a:p>
              <a:pPr algn="r">
                <a:lnSpc>
                  <a:spcPct val="200000"/>
                </a:lnSpc>
              </a:pPr>
              <a:endParaRPr lang="en-US" altLang="ko-KR" sz="1500" dirty="0"/>
            </a:p>
            <a:p>
              <a:pPr algn="r">
                <a:lnSpc>
                  <a:spcPct val="150000"/>
                </a:lnSpc>
              </a:pPr>
              <a:r>
                <a:rPr lang="en-US" altLang="ko-KR" sz="1500" dirty="0"/>
                <a:t>          </a:t>
              </a:r>
              <a:r>
                <a:rPr lang="en-US" altLang="ko-KR" sz="1500" b="1" dirty="0"/>
                <a:t>KT</a:t>
              </a:r>
            </a:p>
            <a:p>
              <a:pPr algn="r">
                <a:lnSpc>
                  <a:spcPct val="150000"/>
                </a:lnSpc>
              </a:pPr>
              <a:endParaRPr lang="en-US" altLang="ko-KR" sz="1500" dirty="0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75461EB-C935-4CF4-873F-65E91EE3FC11}"/>
              </a:ext>
            </a:extLst>
          </p:cNvPr>
          <p:cNvGrpSpPr/>
          <p:nvPr/>
        </p:nvGrpSpPr>
        <p:grpSpPr>
          <a:xfrm>
            <a:off x="617368" y="3226263"/>
            <a:ext cx="9582546" cy="3433118"/>
            <a:chOff x="617368" y="3226263"/>
            <a:chExt cx="9582546" cy="3433118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732DB999-8CB6-4A01-8C21-0FE9C00C6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368" y="3226263"/>
              <a:ext cx="9582546" cy="343311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D00697-3BC0-4D9C-8680-D036929FF186}"/>
                </a:ext>
              </a:extLst>
            </p:cNvPr>
            <p:cNvSpPr txBox="1"/>
            <p:nvPr/>
          </p:nvSpPr>
          <p:spPr>
            <a:xfrm>
              <a:off x="650026" y="4348982"/>
              <a:ext cx="2143838" cy="230787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>
                <a:lnSpc>
                  <a:spcPts val="2500"/>
                </a:lnSpc>
              </a:pPr>
              <a:r>
                <a:rPr lang="ko-KR" altLang="en-US" sz="1580" b="1" dirty="0" err="1"/>
                <a:t>다각화된통신서비스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 err="1"/>
                <a:t>건강관리장비와용품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/>
                <a:t>자동차부품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/>
                <a:t>섬유</a:t>
              </a:r>
              <a:r>
                <a:rPr lang="en-US" altLang="ko-KR" sz="1580" b="1" dirty="0"/>
                <a:t>,</a:t>
              </a:r>
              <a:r>
                <a:rPr lang="ko-KR" altLang="en-US" sz="1580" b="1" dirty="0"/>
                <a:t>의류</a:t>
              </a:r>
              <a:r>
                <a:rPr lang="en-US" altLang="ko-KR" sz="1580" b="1" dirty="0"/>
                <a:t>,</a:t>
              </a:r>
              <a:r>
                <a:rPr lang="ko-KR" altLang="en-US" sz="1580" b="1" dirty="0"/>
                <a:t>신발</a:t>
              </a:r>
              <a:r>
                <a:rPr lang="en-US" altLang="ko-KR" sz="1580" b="1" dirty="0"/>
                <a:t>,</a:t>
              </a:r>
              <a:r>
                <a:rPr lang="ko-KR" altLang="en-US" sz="1580" b="1" dirty="0" err="1"/>
                <a:t>호화품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 err="1"/>
                <a:t>종이와목재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 err="1"/>
                <a:t>무역회사와판매업체</a:t>
              </a:r>
              <a:endParaRPr lang="en-US" altLang="ko-KR" sz="1580" b="1" dirty="0"/>
            </a:p>
            <a:p>
              <a:pPr algn="r">
                <a:lnSpc>
                  <a:spcPts val="2500"/>
                </a:lnSpc>
              </a:pPr>
              <a:r>
                <a:rPr lang="ko-KR" altLang="en-US" sz="1580" b="1" dirty="0"/>
                <a:t>화장품</a:t>
              </a:r>
              <a:endParaRPr lang="en-US" altLang="ko-KR" sz="158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2965804-8511-4D91-8A4D-D672C299CEFA}"/>
                </a:ext>
              </a:extLst>
            </p:cNvPr>
            <p:cNvSpPr txBox="1"/>
            <p:nvPr/>
          </p:nvSpPr>
          <p:spPr>
            <a:xfrm>
              <a:off x="679899" y="3256141"/>
              <a:ext cx="3766692" cy="3979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500"/>
                </a:lnSpc>
              </a:pPr>
              <a:r>
                <a:rPr lang="en-US" altLang="ko-KR" sz="2000" b="1" dirty="0"/>
                <a:t>KOSPI </a:t>
              </a:r>
              <a:r>
                <a:rPr lang="ko-KR" altLang="en-US" sz="2000" b="1" dirty="0"/>
                <a:t>업종별 </a:t>
              </a:r>
              <a:r>
                <a:rPr lang="en-US" altLang="ko-KR" sz="2000" b="1" dirty="0"/>
                <a:t>1</a:t>
              </a:r>
              <a:r>
                <a:rPr lang="ko-KR" altLang="en-US" sz="2000" b="1" dirty="0"/>
                <a:t>개월 평균 수익률</a:t>
              </a:r>
              <a:endParaRPr lang="en-US" altLang="ko-KR" sz="2000" b="1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9E0AAB-0C04-51AD-8411-994F8BA53235}"/>
              </a:ext>
            </a:extLst>
          </p:cNvPr>
          <p:cNvSpPr/>
          <p:nvPr/>
        </p:nvSpPr>
        <p:spPr>
          <a:xfrm>
            <a:off x="787241" y="4337549"/>
            <a:ext cx="8680144" cy="43930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원형 8">
            <a:extLst>
              <a:ext uri="{FF2B5EF4-FFF2-40B4-BE49-F238E27FC236}">
                <a16:creationId xmlns:a16="http://schemas.microsoft.com/office/drawing/2014/main" id="{BD8A1D34-DD6D-DBB6-C601-F7A07BD96CE9}"/>
              </a:ext>
            </a:extLst>
          </p:cNvPr>
          <p:cNvSpPr/>
          <p:nvPr/>
        </p:nvSpPr>
        <p:spPr>
          <a:xfrm>
            <a:off x="7652340" y="2456258"/>
            <a:ext cx="3969835" cy="3379792"/>
          </a:xfrm>
          <a:prstGeom prst="circularArrow">
            <a:avLst>
              <a:gd name="adj1" fmla="val 12500"/>
              <a:gd name="adj2" fmla="val 973124"/>
              <a:gd name="adj3" fmla="val 20457681"/>
              <a:gd name="adj4" fmla="val 10647347"/>
              <a:gd name="adj5" fmla="val 156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92107F-DB1C-2E2F-1777-CB2372D89CBA}"/>
              </a:ext>
            </a:extLst>
          </p:cNvPr>
          <p:cNvSpPr/>
          <p:nvPr/>
        </p:nvSpPr>
        <p:spPr>
          <a:xfrm>
            <a:off x="10316774" y="4136009"/>
            <a:ext cx="3924006" cy="57394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743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4F510B-B18A-7B5D-5E8C-B7EB2B8E802A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87241" y="1771174"/>
            <a:ext cx="13055918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b="1" dirty="0" err="1"/>
              <a:t>추천</a:t>
            </a:r>
            <a:r>
              <a:rPr lang="en-US" b="1" dirty="0"/>
              <a:t> </a:t>
            </a:r>
            <a:r>
              <a:rPr lang="en-US" b="1" dirty="0" err="1"/>
              <a:t>받은</a:t>
            </a:r>
            <a:r>
              <a:rPr lang="en-US" b="1" dirty="0"/>
              <a:t> </a:t>
            </a:r>
            <a:r>
              <a:rPr lang="en-US" b="1" dirty="0" err="1"/>
              <a:t>종목의</a:t>
            </a:r>
            <a:r>
              <a:rPr lang="en-US" b="1" dirty="0"/>
              <a:t> </a:t>
            </a:r>
            <a:r>
              <a:rPr lang="en-US" b="1" dirty="0" err="1"/>
              <a:t>일일</a:t>
            </a:r>
            <a:r>
              <a:rPr lang="en-US" b="1" dirty="0"/>
              <a:t> </a:t>
            </a:r>
            <a:r>
              <a:rPr lang="en-US" b="1" dirty="0" err="1"/>
              <a:t>시세</a:t>
            </a:r>
            <a:r>
              <a:rPr lang="en-US" b="1" dirty="0"/>
              <a:t> </a:t>
            </a:r>
            <a:r>
              <a:rPr lang="en-US" b="1" dirty="0" err="1"/>
              <a:t>변동</a:t>
            </a:r>
            <a:r>
              <a:rPr lang="en-US" b="1" dirty="0"/>
              <a:t> </a:t>
            </a:r>
            <a:r>
              <a:rPr lang="en-US" b="1" dirty="0" err="1"/>
              <a:t>추이를</a:t>
            </a:r>
            <a:r>
              <a:rPr lang="en-US" b="1" dirty="0"/>
              <a:t> </a:t>
            </a:r>
            <a:r>
              <a:rPr lang="en-US" b="1" dirty="0" err="1"/>
              <a:t>확인</a:t>
            </a:r>
            <a:r>
              <a:rPr lang="en-US" b="1" dirty="0"/>
              <a:t> 후 </a:t>
            </a:r>
            <a:r>
              <a:rPr lang="en-US" b="1" dirty="0" err="1"/>
              <a:t>투자</a:t>
            </a:r>
            <a:r>
              <a:rPr lang="en-US" b="1" dirty="0"/>
              <a:t> </a:t>
            </a:r>
            <a:r>
              <a:rPr lang="en-US" b="1" dirty="0" err="1"/>
              <a:t>결정</a:t>
            </a:r>
            <a:endParaRPr lang="en-US" b="1" dirty="0"/>
          </a:p>
        </p:txBody>
      </p:sp>
      <p:sp>
        <p:nvSpPr>
          <p:cNvPr id="9" name="Text 4"/>
          <p:cNvSpPr/>
          <p:nvPr/>
        </p:nvSpPr>
        <p:spPr>
          <a:xfrm>
            <a:off x="3178128" y="7698053"/>
            <a:ext cx="841938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추천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종목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</a:t>
            </a:r>
            <a:r>
              <a:rPr lang="ko-KR" alt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인스코비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)의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기간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별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시세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i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추이</a:t>
            </a:r>
            <a:r>
              <a:rPr lang="en-US" sz="140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1개월 </a:t>
            </a:r>
            <a:endParaRPr lang="en-US" sz="1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5233039-9BD9-41D5-B740-6F9F88CABE0F}"/>
              </a:ext>
            </a:extLst>
          </p:cNvPr>
          <p:cNvGrpSpPr/>
          <p:nvPr/>
        </p:nvGrpSpPr>
        <p:grpSpPr>
          <a:xfrm>
            <a:off x="1844699" y="2237683"/>
            <a:ext cx="10886428" cy="5279243"/>
            <a:chOff x="1034226" y="2130981"/>
            <a:chExt cx="12185957" cy="581340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F0E8CF1-CC49-4802-A0F8-886B09C91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4226" y="2130981"/>
              <a:ext cx="12185957" cy="4143801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D3F9373-BEBB-4713-BAA6-EDA2E0178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4226" y="6274782"/>
              <a:ext cx="11287873" cy="1669602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E6204FC-BA1E-4C60-B661-022EB30F8B9A}"/>
                </a:ext>
              </a:extLst>
            </p:cNvPr>
            <p:cNvSpPr/>
            <p:nvPr/>
          </p:nvSpPr>
          <p:spPr>
            <a:xfrm>
              <a:off x="12322099" y="6274782"/>
              <a:ext cx="898084" cy="16696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21438BD7-D1B0-4ACD-BF16-30EFC7C73B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044" y="2243449"/>
            <a:ext cx="2926115" cy="2886344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0A28FB-1576-44A4-952F-FE3BD87878DD}"/>
              </a:ext>
            </a:extLst>
          </p:cNvPr>
          <p:cNvSpPr/>
          <p:nvPr/>
        </p:nvSpPr>
        <p:spPr>
          <a:xfrm>
            <a:off x="3853543" y="2634343"/>
            <a:ext cx="1404257" cy="3366391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BD88AC5-B8BA-9E71-712C-DF1415DB60FB}"/>
              </a:ext>
            </a:extLst>
          </p:cNvPr>
          <p:cNvSpPr/>
          <p:nvPr/>
        </p:nvSpPr>
        <p:spPr>
          <a:xfrm>
            <a:off x="679899" y="531547"/>
            <a:ext cx="4996458" cy="62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ko-KR" altLang="en-US" sz="38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인사이트 시각화</a:t>
            </a:r>
            <a:endParaRPr lang="en-US" sz="3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62983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22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5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프로젝트 결과</a:t>
            </a:r>
            <a:endParaRPr lang="en-US" sz="445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86" y="26972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/ </a:t>
            </a:r>
            <a:r>
              <a:rPr lang="en-US" sz="1750" b="1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종목별</a:t>
            </a:r>
            <a:r>
              <a:rPr 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ko-KR" alt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수익률과 변동성의</a:t>
            </a:r>
            <a:r>
              <a:rPr lang="en-US" sz="1750" b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상관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관계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분석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85" y="31338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>
                <a:latin typeface="+mn-ea"/>
              </a:rPr>
              <a:t>시장 흐름 파악</a:t>
            </a:r>
            <a:endParaRPr lang="en-US" sz="175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86" y="55164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특정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위험도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내에서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수익률이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높은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업종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/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종목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정보</a:t>
            </a:r>
            <a:r>
              <a:rPr lang="en-US" sz="1750" b="1" dirty="0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+mj-ea"/>
                <a:ea typeface="+mj-ea"/>
                <a:cs typeface="Open Sans" pitchFamily="34" charset="-120"/>
              </a:rPr>
              <a:t>파악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66609B7-DB15-DC2C-B4C3-0BA1101498F2}"/>
              </a:ext>
            </a:extLst>
          </p:cNvPr>
          <p:cNvSpPr/>
          <p:nvPr/>
        </p:nvSpPr>
        <p:spPr>
          <a:xfrm>
            <a:off x="6280183" y="35799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altLang="ko-KR" sz="1750">
                <a:latin typeface="+mn-ea"/>
                <a:cs typeface="Open Sans" pitchFamily="34" charset="-120"/>
              </a:rPr>
              <a:t>평균적으로 변동성과 수익률 간의 양의 상관 관계</a:t>
            </a:r>
            <a:r>
              <a:rPr lang="ko-KR" altLang="en-US" sz="1750">
                <a:latin typeface="+mn-ea"/>
                <a:cs typeface="Open Sans" pitchFamily="34" charset="-120"/>
              </a:rPr>
              <a:t>가 있음을 인지</a:t>
            </a:r>
            <a:endParaRPr lang="en-US" sz="1750" dirty="0">
              <a:latin typeface="+mn-ea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54918A70-0E96-F04D-365B-F7F8A2583847}"/>
              </a:ext>
            </a:extLst>
          </p:cNvPr>
          <p:cNvSpPr/>
          <p:nvPr/>
        </p:nvSpPr>
        <p:spPr>
          <a:xfrm>
            <a:off x="6280182" y="40067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>
                <a:latin typeface="+mn-ea"/>
              </a:rPr>
              <a:t>이상치의 식별 및 원인 분석 </a:t>
            </a:r>
            <a:r>
              <a:rPr lang="en-US" altLang="ko-KR" sz="1750">
                <a:latin typeface="+mn-ea"/>
              </a:rPr>
              <a:t>- </a:t>
            </a:r>
            <a:r>
              <a:rPr lang="ko-KR" altLang="en-US" sz="1750">
                <a:latin typeface="+mn-ea"/>
              </a:rPr>
              <a:t>외부 시장 이벤트가 관여함을 확인</a:t>
            </a:r>
            <a:endParaRPr lang="en-US" sz="1750" dirty="0">
              <a:latin typeface="+mn-ea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23E868E-1D4F-EE35-8686-4C31D81145CB}"/>
              </a:ext>
            </a:extLst>
          </p:cNvPr>
          <p:cNvSpPr/>
          <p:nvPr/>
        </p:nvSpPr>
        <p:spPr>
          <a:xfrm>
            <a:off x="6280181" y="60362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>
                <a:latin typeface="+mn-ea"/>
                <a:cs typeface="Open Sans" pitchFamily="34" charset="-120"/>
              </a:rPr>
              <a:t>특정 위험도 구간별 수익률이 높은 업종</a:t>
            </a:r>
            <a:r>
              <a:rPr lang="en-US" altLang="ko-KR" sz="1750">
                <a:latin typeface="+mn-ea"/>
                <a:cs typeface="Open Sans" pitchFamily="34" charset="-120"/>
              </a:rPr>
              <a:t>/</a:t>
            </a:r>
            <a:r>
              <a:rPr lang="ko-KR" altLang="en-US" sz="1750">
                <a:latin typeface="+mn-ea"/>
                <a:cs typeface="Open Sans" pitchFamily="34" charset="-120"/>
              </a:rPr>
              <a:t>종목의 선별</a:t>
            </a:r>
            <a:endParaRPr lang="en-US" sz="1750" dirty="0">
              <a:latin typeface="+mn-ea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4DB9DB9-9676-728D-2AC3-3F2576815DA7}"/>
              </a:ext>
            </a:extLst>
          </p:cNvPr>
          <p:cNvSpPr/>
          <p:nvPr/>
        </p:nvSpPr>
        <p:spPr>
          <a:xfrm>
            <a:off x="6280190" y="65021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>
                <a:latin typeface="+mn-ea"/>
              </a:rPr>
              <a:t>일정이상 수익률을 위해선 그에 따른 고 위험도 요구</a:t>
            </a:r>
            <a:endParaRPr lang="en-US" sz="1750" dirty="0"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DD21F5-AA0B-74BD-AFA3-7B77937B7458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790218" y="360819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한계점 및 향후 계획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0218" y="1779865"/>
            <a:ext cx="13049964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한계점</a:t>
            </a: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0218" y="2485311"/>
            <a:ext cx="13049964" cy="1676995"/>
          </a:xfrm>
          <a:prstGeom prst="roundRect">
            <a:avLst>
              <a:gd name="adj" fmla="val 5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23580" y="2718673"/>
            <a:ext cx="612833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업종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/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종목 추천을 위한 다각화 포트폴리오 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미제공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3580" y="3206711"/>
            <a:ext cx="12583239" cy="5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주식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관련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전문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지식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부족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,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제한된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데이터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소스로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인한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다각화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포트폴리오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미제공</a:t>
            </a:r>
            <a:endParaRPr lang="en-US" sz="1750" dirty="0">
              <a:solidFill>
                <a:srgbClr val="443728"/>
              </a:solidFill>
              <a:latin typeface="+mn-ea"/>
              <a:cs typeface="Open Sans" pitchFamily="34" charset="-120"/>
            </a:endParaRPr>
          </a:p>
          <a:p>
            <a:pPr marL="0" indent="0">
              <a:lnSpc>
                <a:spcPts val="2800"/>
              </a:lnSpc>
              <a:buNone/>
            </a:pPr>
            <a:endParaRPr lang="en-US" sz="175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90218" y="4388048"/>
            <a:ext cx="13049964" cy="1315879"/>
          </a:xfrm>
          <a:prstGeom prst="roundRect">
            <a:avLst>
              <a:gd name="adj" fmla="val 720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3579" y="4621411"/>
            <a:ext cx="3731301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급작스러운 시장 변화에 취약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3580" y="5109448"/>
            <a:ext cx="125832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과거의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데이터를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기반으로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고객에게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추천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서비스를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제시하기에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급격한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시장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변동에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anose="020B0606030504020204" pitchFamily="34" charset="0"/>
              </a:rPr>
              <a:t>취약</a:t>
            </a:r>
            <a:endParaRPr lang="en-US" sz="1750" dirty="0">
              <a:latin typeface="+mn-ea"/>
              <a:cs typeface="Open Sans" panose="020B0606030504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0218" y="5929670"/>
            <a:ext cx="13049964" cy="1676995"/>
          </a:xfrm>
          <a:prstGeom prst="roundRect">
            <a:avLst>
              <a:gd name="adj" fmla="val 5655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23580" y="616303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ETF 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시장의 업종 분류</a:t>
            </a:r>
            <a:endParaRPr lang="en-US" sz="22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3580" y="6651069"/>
            <a:ext cx="12583239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ETF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시장의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업종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분류는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다양한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지수와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관련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주식의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상호작용에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따라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복잡하게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변화하기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때문에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
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일관된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기준을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적용하기</a:t>
            </a:r>
            <a:r>
              <a:rPr lang="en-US" sz="1750" dirty="0">
                <a:solidFill>
                  <a:srgbClr val="443728"/>
                </a:solidFill>
                <a:latin typeface="+mn-ea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443728"/>
                </a:solidFill>
                <a:latin typeface="+mn-ea"/>
                <a:cs typeface="Open Sans" pitchFamily="34" charset="-120"/>
              </a:rPr>
              <a:t>어려움</a:t>
            </a:r>
            <a:endParaRPr lang="en-US" sz="1750" dirty="0"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12014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향후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계획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28806"/>
            <a:ext cx="13042821" cy="1329809"/>
          </a:xfrm>
          <a:prstGeom prst="roundRect">
            <a:avLst>
              <a:gd name="adj" fmla="val 7164"/>
            </a:avLst>
          </a:prstGeom>
          <a:solidFill>
            <a:srgbClr val="FFD1A7"/>
          </a:solidFill>
          <a:ln w="7620">
            <a:solidFill>
              <a:srgbClr val="E5B7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28224" y="3553658"/>
            <a:ext cx="1257395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  추천에 추가로 활용할 수 있는 지표 탐색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793790" y="4385429"/>
            <a:ext cx="13042821" cy="1329809"/>
          </a:xfrm>
          <a:prstGeom prst="roundRect">
            <a:avLst>
              <a:gd name="adj" fmla="val 7164"/>
            </a:avLst>
          </a:prstGeom>
          <a:solidFill>
            <a:srgbClr val="FFD1A7"/>
          </a:solidFill>
          <a:ln w="7620">
            <a:solidFill>
              <a:srgbClr val="E5B7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8224" y="4619863"/>
            <a:ext cx="36744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>
                <a:solidFill>
                  <a:srgbClr val="000000"/>
                </a:solidFill>
                <a:latin typeface="Crimson Pro Bold" pitchFamily="34" charset="0"/>
                <a:ea typeface="+mj-ea"/>
                <a:cs typeface="Crimson Pro Bold" pitchFamily="34" charset="-120"/>
              </a:rPr>
              <a:t>급작스러운 시장 변화에 취약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8224" y="5110282"/>
            <a:ext cx="1257395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  뉴스/커뮤니티 자연어처리, 감성 분석을 통해 이끌어낸 '긍정 점수' 를 도입해 시장 분위기 파악, 의사 결정을 도움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793790" y="5942052"/>
            <a:ext cx="13042821" cy="1329809"/>
          </a:xfrm>
          <a:prstGeom prst="roundRect">
            <a:avLst>
              <a:gd name="adj" fmla="val 7164"/>
            </a:avLst>
          </a:prstGeom>
          <a:solidFill>
            <a:srgbClr val="FFD1A7"/>
          </a:solidFill>
          <a:ln w="7620">
            <a:solidFill>
              <a:srgbClr val="E5B78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1028224" y="6176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latin typeface="+mj-ea"/>
                <a:ea typeface="+mj-ea"/>
              </a:rPr>
              <a:t>ETF </a:t>
            </a:r>
            <a:r>
              <a:rPr lang="ko-KR" altLang="en-US" sz="2200" b="1" dirty="0">
                <a:latin typeface="+mj-ea"/>
                <a:ea typeface="+mj-ea"/>
              </a:rPr>
              <a:t>시장의 업종 분류</a:t>
            </a:r>
            <a:endParaRPr lang="en-US" sz="2200" b="1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224" y="6666905"/>
            <a:ext cx="1257395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  ETF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시장에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대한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좀 더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구체적인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접근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방법</a:t>
            </a: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모색</a:t>
            </a:r>
            <a:endParaRPr lang="en-US" sz="175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A13B66-AF34-E00B-E6CC-BEECFB6C61F0}"/>
              </a:ext>
            </a:extLst>
          </p:cNvPr>
          <p:cNvSpPr/>
          <p:nvPr/>
        </p:nvSpPr>
        <p:spPr>
          <a:xfrm>
            <a:off x="0" y="0"/>
            <a:ext cx="14630400" cy="13609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C2B0F7-853F-A0D4-BA57-F65B48CCB09F}"/>
              </a:ext>
            </a:extLst>
          </p:cNvPr>
          <p:cNvSpPr/>
          <p:nvPr/>
        </p:nvSpPr>
        <p:spPr>
          <a:xfrm>
            <a:off x="790218" y="360819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ko-KR" altLang="en-US" sz="44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한계점 및 향후 계획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E92E13D-7EFB-9F11-F0D4-A294846C4BDC}"/>
              </a:ext>
            </a:extLst>
          </p:cNvPr>
          <p:cNvSpPr/>
          <p:nvPr/>
        </p:nvSpPr>
        <p:spPr>
          <a:xfrm>
            <a:off x="1028224" y="3014900"/>
            <a:ext cx="6128334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업종</a:t>
            </a:r>
            <a:r>
              <a:rPr lang="en-US" altLang="ko-KR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/</a:t>
            </a:r>
            <a:r>
              <a:rPr lang="ko-KR" altLang="en-US" sz="2200" b="1" dirty="0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종목 추천을 위한 다각화 포트폴리오 </a:t>
            </a:r>
            <a:r>
              <a:rPr lang="ko-KR" altLang="en-US" sz="2200" b="1" dirty="0" err="1">
                <a:solidFill>
                  <a:srgbClr val="443728"/>
                </a:solidFill>
                <a:latin typeface="+mj-ea"/>
                <a:ea typeface="+mj-ea"/>
                <a:cs typeface="Crimson Pro Bold" pitchFamily="34" charset="-120"/>
              </a:rPr>
              <a:t>미제공</a:t>
            </a:r>
            <a:endParaRPr lang="en-US" sz="2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5691"/>
            <a:ext cx="5727621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Q&amp;A</a:t>
            </a:r>
            <a:endParaRPr lang="en-US" sz="6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1931</Words>
  <Application>Microsoft Office PowerPoint</Application>
  <PresentationFormat>사용자 지정</PresentationFormat>
  <Paragraphs>401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HY헤드라인M</vt:lpstr>
      <vt:lpstr>맑은 고딕</vt:lpstr>
      <vt:lpstr>Open Sans</vt:lpstr>
      <vt:lpstr>Crimson Pro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June K</cp:lastModifiedBy>
  <cp:revision>56</cp:revision>
  <dcterms:created xsi:type="dcterms:W3CDTF">2025-01-10T06:00:21Z</dcterms:created>
  <dcterms:modified xsi:type="dcterms:W3CDTF">2025-01-13T07:00:21Z</dcterms:modified>
</cp:coreProperties>
</file>