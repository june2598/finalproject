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  <p:sldId id="260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095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iQytpRhiUwN/JrCvmCKnhrAk5/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2E1DA2-125A-4504-A2AF-F7ADCE5B9F7E}">
  <a:tblStyle styleId="{B12E1DA2-125A-4504-A2AF-F7ADCE5B9F7E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692" y="72"/>
      </p:cViewPr>
      <p:guideLst>
        <p:guide orient="horz" pos="2160"/>
        <p:guide pos="30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bc150f1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2bc150f1b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g32bc150f1b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2a46f86f9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2a46f86f94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g32a46f86f94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9389ef16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329389ef16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29389ef16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9389ef16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29389ef16a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329389ef16a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9389ef16a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29389ef16a_2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29389ef16a_2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9389ef16a_2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g329389ef16a_2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329389ef16a_2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9389ef16a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29389ef16a_2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329389ef16a_2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9389ef16a_2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g329389ef16a_2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329389ef16a_2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1ababc578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31ababc578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331ababc578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f270d49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32f270d49f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g32f270d49f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98219f9b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g3298219f9b9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298219f9b9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29eb335b7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329eb335b78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29eb335b78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9eb335b7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29eb335b78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329eb335b78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b56e7798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2b56e7798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g32b56e7798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2b56e7798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2b56e7798b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g32b56e7798b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2afc962a7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32afc962a7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g32afc962a7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afc962a7a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32afc962a7a_1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g32afc962a7a_1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b9b8ec7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2b9b8ec79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g32b9b8ec79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ff4e9e48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2ff4e9e48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0" name="Google Shape;310;g32ff4e9e48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2ff4e9e48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32ff4e9e48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9" name="Google Shape;319;g32ff4e9e484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2ff4e9e48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32ff4e9e484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g32ff4e9e484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2ff4e9e48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g32ff4e9e484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g32ff4e9e484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ba37954f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2ba37954f3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6" name="Google Shape;346;g32ba37954f3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altLang="ko-KR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1_Cov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30"/>
          <p:cNvCxnSpPr/>
          <p:nvPr/>
        </p:nvCxnSpPr>
        <p:spPr>
          <a:xfrm>
            <a:off x="742952" y="2133600"/>
            <a:ext cx="8423275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30"/>
          <p:cNvCxnSpPr/>
          <p:nvPr/>
        </p:nvCxnSpPr>
        <p:spPr>
          <a:xfrm>
            <a:off x="742952" y="3886200"/>
            <a:ext cx="8423275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30"/>
          <p:cNvSpPr txBox="1">
            <a:spLocks noGrp="1"/>
          </p:cNvSpPr>
          <p:nvPr>
            <p:ph type="subTitle" idx="1"/>
          </p:nvPr>
        </p:nvSpPr>
        <p:spPr>
          <a:xfrm>
            <a:off x="715644" y="4511675"/>
            <a:ext cx="8485832" cy="106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None/>
              <a:defRPr sz="216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/>
          <p:nvPr/>
        </p:nvSpPr>
        <p:spPr>
          <a:xfrm rot="10800000" flipH="1">
            <a:off x="0" y="6237294"/>
            <a:ext cx="9906000" cy="1936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7"/>
              <a:buFont typeface="Malgun Gothic"/>
              <a:buNone/>
            </a:pPr>
            <a:endParaRPr sz="1517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0"/>
          <p:cNvSpPr txBox="1">
            <a:spLocks noGrp="1"/>
          </p:cNvSpPr>
          <p:nvPr>
            <p:ph type="ctrTitle"/>
          </p:nvPr>
        </p:nvSpPr>
        <p:spPr>
          <a:xfrm>
            <a:off x="1463714" y="2317754"/>
            <a:ext cx="6894740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sz="3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_3">
  <p:cSld name="Contents_3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2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2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151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69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_2">
  <p:cSld name="Contents_2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body" idx="1"/>
          </p:nvPr>
        </p:nvSpPr>
        <p:spPr>
          <a:xfrm>
            <a:off x="273052" y="720092"/>
            <a:ext cx="9359900" cy="5733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cxnSp>
        <p:nvCxnSpPr>
          <p:cNvPr id="22" name="Google Shape;22;p31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1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151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body" idx="2"/>
          </p:nvPr>
        </p:nvSpPr>
        <p:spPr>
          <a:xfrm>
            <a:off x="6307708" y="260327"/>
            <a:ext cx="3312369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">
  <p:cSld name="본문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/>
          <p:nvPr/>
        </p:nvSpPr>
        <p:spPr>
          <a:xfrm>
            <a:off x="-1" y="-1"/>
            <a:ext cx="7762164" cy="316575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" name="Google Shape;27;p33"/>
          <p:cNvSpPr/>
          <p:nvPr/>
        </p:nvSpPr>
        <p:spPr>
          <a:xfrm>
            <a:off x="7762162" y="-1"/>
            <a:ext cx="2143837" cy="31657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33"/>
          <p:cNvSpPr/>
          <p:nvPr/>
        </p:nvSpPr>
        <p:spPr>
          <a:xfrm>
            <a:off x="43521" y="28575"/>
            <a:ext cx="7690424" cy="288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" name="Google Shape;29;p33"/>
          <p:cNvCxnSpPr/>
          <p:nvPr/>
        </p:nvCxnSpPr>
        <p:spPr>
          <a:xfrm>
            <a:off x="7762519" y="0"/>
            <a:ext cx="0" cy="316574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" name="Google Shape;30;p33"/>
          <p:cNvCxnSpPr/>
          <p:nvPr/>
        </p:nvCxnSpPr>
        <p:spPr>
          <a:xfrm>
            <a:off x="7762519" y="315416"/>
            <a:ext cx="0" cy="6542584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33"/>
          <p:cNvSpPr txBox="1">
            <a:spLocks noGrp="1"/>
          </p:cNvSpPr>
          <p:nvPr>
            <p:ph type="body" idx="1"/>
          </p:nvPr>
        </p:nvSpPr>
        <p:spPr>
          <a:xfrm>
            <a:off x="3" y="333"/>
            <a:ext cx="7545288" cy="315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92"/>
              <a:buFont typeface="Arial"/>
              <a:buNone/>
              <a:defRPr sz="1192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937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2" name="Google Shape;32;p33"/>
          <p:cNvSpPr txBox="1"/>
          <p:nvPr/>
        </p:nvSpPr>
        <p:spPr>
          <a:xfrm>
            <a:off x="7762162" y="-1"/>
            <a:ext cx="2143837" cy="306388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2"/>
              <a:buFont typeface="Arial"/>
              <a:buNone/>
            </a:pPr>
            <a:r>
              <a:rPr lang="ko-KR" sz="1192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Description</a:t>
            </a:r>
            <a:endParaRPr sz="1192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34"/>
          <p:cNvCxnSpPr/>
          <p:nvPr/>
        </p:nvCxnSpPr>
        <p:spPr>
          <a:xfrm>
            <a:off x="742952" y="2133600"/>
            <a:ext cx="8423275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" name="Google Shape;35;p34"/>
          <p:cNvCxnSpPr/>
          <p:nvPr/>
        </p:nvCxnSpPr>
        <p:spPr>
          <a:xfrm>
            <a:off x="742952" y="3886200"/>
            <a:ext cx="8423275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34"/>
          <p:cNvSpPr txBox="1">
            <a:spLocks noGrp="1"/>
          </p:cNvSpPr>
          <p:nvPr>
            <p:ph type="subTitle" idx="1"/>
          </p:nvPr>
        </p:nvSpPr>
        <p:spPr>
          <a:xfrm>
            <a:off x="715644" y="4511675"/>
            <a:ext cx="8485832" cy="106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None/>
              <a:defRPr sz="216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37" name="Google Shape;37;p34"/>
          <p:cNvSpPr/>
          <p:nvPr/>
        </p:nvSpPr>
        <p:spPr>
          <a:xfrm rot="10800000" flipH="1">
            <a:off x="0" y="6237294"/>
            <a:ext cx="9906000" cy="1936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17"/>
              <a:buFont typeface="Arial"/>
              <a:buNone/>
            </a:pPr>
            <a:endParaRPr sz="1517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4"/>
          <p:cNvSpPr txBox="1">
            <a:spLocks noGrp="1"/>
          </p:cNvSpPr>
          <p:nvPr>
            <p:ph type="ctrTitle"/>
          </p:nvPr>
        </p:nvSpPr>
        <p:spPr>
          <a:xfrm>
            <a:off x="1463714" y="2317754"/>
            <a:ext cx="6894740" cy="1281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sz="3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페이지">
  <p:cSld name="빈페이지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_1">
  <p:cSld name="Contents_1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>
            <a:spLocks noGrp="1"/>
          </p:cNvSpPr>
          <p:nvPr>
            <p:ph type="body" idx="1"/>
          </p:nvPr>
        </p:nvSpPr>
        <p:spPr>
          <a:xfrm>
            <a:off x="273052" y="1628775"/>
            <a:ext cx="9359900" cy="482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None/>
              <a:defRPr sz="1733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cxnSp>
        <p:nvCxnSpPr>
          <p:cNvPr id="42" name="Google Shape;42;p36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151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None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2"/>
          </p:nvPr>
        </p:nvSpPr>
        <p:spPr>
          <a:xfrm>
            <a:off x="273052" y="692156"/>
            <a:ext cx="935990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None/>
              <a:defRPr sz="17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864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733"/>
              <a:buFont typeface="Noto Sans Symbols"/>
              <a:buChar char="▪"/>
              <a:defRPr sz="17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3864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17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3864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17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3864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17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3"/>
          </p:nvPr>
        </p:nvSpPr>
        <p:spPr>
          <a:xfrm>
            <a:off x="6307708" y="260327"/>
            <a:ext cx="3312369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37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37"/>
          <p:cNvSpPr txBox="1">
            <a:spLocks noGrp="1"/>
          </p:cNvSpPr>
          <p:nvPr>
            <p:ph type="body" idx="1"/>
          </p:nvPr>
        </p:nvSpPr>
        <p:spPr>
          <a:xfrm>
            <a:off x="3296817" y="1628800"/>
            <a:ext cx="4320481" cy="4104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5242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Malgun Gothic"/>
              <a:buAutoNum type="arabicPeriod"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150000"/>
              </a:lnSpc>
              <a:spcBef>
                <a:spcPts val="217"/>
              </a:spcBef>
              <a:spcAft>
                <a:spcPts val="0"/>
              </a:spcAft>
              <a:buClr>
                <a:schemeClr val="dk1"/>
              </a:buClr>
              <a:buSzPts val="1950"/>
              <a:buFont typeface="Malgun Gothic"/>
              <a:buAutoNum type="arabicParenR"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2425" algn="l" rtl="0">
              <a:lnSpc>
                <a:spcPct val="150000"/>
              </a:lnSpc>
              <a:spcBef>
                <a:spcPts val="217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AutoNum type="arabicPeriod"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2425" algn="l" rtl="0">
              <a:lnSpc>
                <a:spcPct val="150000"/>
              </a:lnSpc>
              <a:spcBef>
                <a:spcPts val="217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2425" algn="l" rtl="0">
              <a:lnSpc>
                <a:spcPct val="150000"/>
              </a:lnSpc>
              <a:spcBef>
                <a:spcPts val="217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9" name="Google Shape;49;p37"/>
          <p:cNvSpPr txBox="1">
            <a:spLocks noGrp="1"/>
          </p:cNvSpPr>
          <p:nvPr>
            <p:ph type="body" idx="2"/>
          </p:nvPr>
        </p:nvSpPr>
        <p:spPr>
          <a:xfrm>
            <a:off x="6307708" y="260327"/>
            <a:ext cx="3312369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0" name="Google Shape;50;p37"/>
          <p:cNvSpPr txBox="1"/>
          <p:nvPr/>
        </p:nvSpPr>
        <p:spPr>
          <a:xfrm>
            <a:off x="351285" y="0"/>
            <a:ext cx="165618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ko-KR" sz="195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  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ision">
  <p:cSld name="revis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38"/>
          <p:cNvCxnSpPr/>
          <p:nvPr/>
        </p:nvCxnSpPr>
        <p:spPr>
          <a:xfrm>
            <a:off x="0" y="612775"/>
            <a:ext cx="99060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38"/>
          <p:cNvSpPr txBox="1"/>
          <p:nvPr/>
        </p:nvSpPr>
        <p:spPr>
          <a:xfrm>
            <a:off x="351285" y="0"/>
            <a:ext cx="1656184" cy="62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ko-KR" sz="195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개정 이력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" name="Google Shape;54;p38"/>
          <p:cNvGraphicFramePr/>
          <p:nvPr/>
        </p:nvGraphicFramePr>
        <p:xfrm>
          <a:off x="273051" y="90873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{B12E1DA2-125A-4504-A2AF-F7ADCE5B9F7E}</a:tableStyleId>
              </a:tblPr>
              <a:tblGrid>
                <a:gridCol w="119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6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975"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</a:rPr>
                        <a:t>개정일자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</a:rPr>
                        <a:t>버전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</a:rPr>
                        <a:t>변경내용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b="1" u="none" strike="noStrike" cap="none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sz="1200" b="1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BD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u="none" strike="noStrike" cap="none"/>
                        <a:t>2019.06.01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u="none" strike="noStrike" cap="none"/>
                        <a:t>1.0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Malgun Gothic"/>
                        <a:buNone/>
                      </a:pPr>
                      <a:r>
                        <a:rPr lang="ko-KR" sz="1200" u="none" strike="noStrike" cap="none"/>
                        <a:t>초안 작성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r>
                        <a:rPr lang="ko-KR" sz="1200" b="0" i="0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홍길동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2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80"/>
                        <a:buFont typeface="Arial"/>
                        <a:buNone/>
                      </a:pPr>
                      <a:endParaRPr sz="12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36000" marB="360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55" name="Google Shape;55;p38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69" cy="360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517"/>
              <a:buFont typeface="Arial"/>
              <a:buNone/>
              <a:defRPr sz="1517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66204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2167"/>
              <a:buFont typeface="Arial"/>
              <a:buChar char="•"/>
              <a:defRPr sz="2167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2425" algn="l" rtl="0">
              <a:lnSpc>
                <a:spcPct val="90000"/>
              </a:lnSpc>
              <a:spcBef>
                <a:spcPts val="542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•"/>
              <a:defRPr sz="195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1284390" y="2189344"/>
            <a:ext cx="6974589" cy="79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33"/>
              <a:buNone/>
            </a:pPr>
            <a:r>
              <a:rPr lang="ko-KR" sz="4333">
                <a:solidFill>
                  <a:schemeClr val="dk1"/>
                </a:solidFill>
              </a:rPr>
              <a:t>화면 설계서</a:t>
            </a:r>
            <a:endParaRPr/>
          </a:p>
        </p:txBody>
      </p:sp>
      <p:sp>
        <p:nvSpPr>
          <p:cNvPr id="61" name="Google Shape;61;p1"/>
          <p:cNvSpPr txBox="1">
            <a:spLocks noGrp="1"/>
          </p:cNvSpPr>
          <p:nvPr>
            <p:ph type="subTitle" idx="1"/>
          </p:nvPr>
        </p:nvSpPr>
        <p:spPr>
          <a:xfrm>
            <a:off x="6177125" y="4653125"/>
            <a:ext cx="34380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247646" lvl="0" indent="-24764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ko-KR" sz="2100"/>
              <a:t>1팀 김준우 김유진 박이담</a:t>
            </a:r>
            <a:endParaRPr sz="2100"/>
          </a:p>
        </p:txBody>
      </p:sp>
      <p:sp>
        <p:nvSpPr>
          <p:cNvPr id="62" name="Google Shape;62;p1"/>
          <p:cNvSpPr txBox="1"/>
          <p:nvPr/>
        </p:nvSpPr>
        <p:spPr>
          <a:xfrm>
            <a:off x="4402154" y="3429005"/>
            <a:ext cx="47355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None/>
            </a:pPr>
            <a:r>
              <a:rPr lang="ko-KR" sz="1733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시스템명 </a:t>
            </a:r>
            <a:r>
              <a:rPr lang="ko-KR" sz="1733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스마트투자 </a:t>
            </a:r>
            <a:endParaRPr sz="18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2bc150f1b0_0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초기 화면</a:t>
            </a:r>
            <a:endParaRPr/>
          </a:p>
        </p:txBody>
      </p:sp>
      <p:sp>
        <p:nvSpPr>
          <p:cNvPr id="69" name="Google Shape;69;g32bc150f1b0_0_0"/>
          <p:cNvSpPr/>
          <p:nvPr/>
        </p:nvSpPr>
        <p:spPr>
          <a:xfrm>
            <a:off x="7816566" y="620697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975" b="1">
                <a:latin typeface="Malgun Gothic"/>
                <a:ea typeface="Malgun Gothic"/>
                <a:cs typeface="Malgun Gothic"/>
                <a:sym typeface="Malgun Gothic"/>
              </a:rPr>
              <a:t>실시간 국내 지수 제공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</a:t>
            </a:r>
            <a:r>
              <a:rPr lang="ko-KR" sz="975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종목의 가격 전일비, 등락률 상위 5종목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</a:t>
            </a:r>
            <a:r>
              <a:rPr lang="ko-KR" sz="975" b="1">
                <a:latin typeface="Malgun Gothic"/>
                <a:ea typeface="Malgun Gothic"/>
                <a:cs typeface="Malgun Gothic"/>
                <a:sym typeface="Malgun Gothic"/>
              </a:rPr>
              <a:t>종목의 거래량 전일비, 등락률 상위 5종목</a:t>
            </a:r>
            <a:endParaRPr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g32bc150f1b0_0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pic>
        <p:nvPicPr>
          <p:cNvPr id="71" name="Google Shape;71;g32bc150f1b0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261200" cy="58212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2bc150f1b0_0_0"/>
          <p:cNvSpPr txBox="1"/>
          <p:nvPr/>
        </p:nvSpPr>
        <p:spPr>
          <a:xfrm>
            <a:off x="152400" y="773100"/>
            <a:ext cx="224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rgbClr val="FF0000"/>
                </a:solidFill>
              </a:rPr>
              <a:t>데스크탑 (1280px 이상)</a:t>
            </a:r>
            <a:endParaRPr sz="1200" b="1">
              <a:solidFill>
                <a:srgbClr val="FF0000"/>
              </a:solidFill>
            </a:endParaRPr>
          </a:p>
        </p:txBody>
      </p:sp>
      <p:sp>
        <p:nvSpPr>
          <p:cNvPr id="73" name="Google Shape;73;g32bc150f1b0_0_0"/>
          <p:cNvSpPr/>
          <p:nvPr/>
        </p:nvSpPr>
        <p:spPr>
          <a:xfrm>
            <a:off x="1866513" y="19772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2bc150f1b0_0_0"/>
          <p:cNvSpPr/>
          <p:nvPr/>
        </p:nvSpPr>
        <p:spPr>
          <a:xfrm>
            <a:off x="1333113" y="41870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2bc150f1b0_0_0"/>
          <p:cNvSpPr/>
          <p:nvPr/>
        </p:nvSpPr>
        <p:spPr>
          <a:xfrm>
            <a:off x="3542913" y="41108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a46f86f94_0_21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Header/Footer</a:t>
            </a:r>
            <a:endParaRPr/>
          </a:p>
        </p:txBody>
      </p:sp>
      <p:sp>
        <p:nvSpPr>
          <p:cNvPr id="82" name="Google Shape;82;g32a46f86f94_0_21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975" b="1">
                <a:latin typeface="Malgun Gothic"/>
                <a:ea typeface="Malgun Gothic"/>
                <a:cs typeface="Malgun Gothic"/>
                <a:sym typeface="Malgun Gothic"/>
              </a:rPr>
              <a:t>클릭시 초기화면으로 이동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</a:t>
            </a:r>
            <a:r>
              <a:rPr lang="ko-KR" sz="975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버튼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</a:t>
            </a:r>
            <a:r>
              <a:rPr lang="ko-KR" sz="975" b="1">
                <a:latin typeface="Malgun Gothic"/>
                <a:ea typeface="Malgun Gothic"/>
                <a:cs typeface="Malgun Gothic"/>
                <a:sym typeface="Malgun Gothic"/>
              </a:rPr>
              <a:t>회원가입 버튼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</a:t>
            </a:r>
            <a:r>
              <a:rPr 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로그인 상태라면 로그인된 계정의 아이디 및로그아웃버튼 출력</a:t>
            </a:r>
            <a:endParaRPr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종목명, 종목코드로 검색해 종목 상세페이지로 이동가능</a:t>
            </a:r>
            <a:endParaRPr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 네비게이션 메뉴</a:t>
            </a:r>
            <a:endParaRPr lang="en-US" altLang="ko-KR"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lang="en-US"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[7]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푸터 메뉴</a:t>
            </a:r>
            <a:endParaRPr lang="en-US"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g32a46f86f94_0_21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pic>
        <p:nvPicPr>
          <p:cNvPr id="84" name="Google Shape;84;g32a46f86f94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50" y="1854050"/>
            <a:ext cx="7456190" cy="406595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2a46f86f94_0_21"/>
          <p:cNvSpPr/>
          <p:nvPr/>
        </p:nvSpPr>
        <p:spPr>
          <a:xfrm>
            <a:off x="-100862" y="21551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2a46f86f94_0_21"/>
          <p:cNvSpPr/>
          <p:nvPr/>
        </p:nvSpPr>
        <p:spPr>
          <a:xfrm>
            <a:off x="5875863" y="21551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2a46f86f94_0_21"/>
          <p:cNvSpPr/>
          <p:nvPr/>
        </p:nvSpPr>
        <p:spPr>
          <a:xfrm>
            <a:off x="6753338" y="21551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2a46f86f94_0_21"/>
          <p:cNvSpPr/>
          <p:nvPr/>
        </p:nvSpPr>
        <p:spPr>
          <a:xfrm>
            <a:off x="5469263" y="28568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2a46f86f94_0_21"/>
          <p:cNvSpPr/>
          <p:nvPr/>
        </p:nvSpPr>
        <p:spPr>
          <a:xfrm>
            <a:off x="-100862" y="35872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2a46f86f94_0_21"/>
          <p:cNvSpPr/>
          <p:nvPr/>
        </p:nvSpPr>
        <p:spPr>
          <a:xfrm>
            <a:off x="737338" y="43649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2a46f86f94_0_21"/>
          <p:cNvSpPr/>
          <p:nvPr/>
        </p:nvSpPr>
        <p:spPr>
          <a:xfrm>
            <a:off x="-100862" y="52031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9389ef16a_1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고객 성향 검사</a:t>
            </a:r>
            <a:endParaRPr/>
          </a:p>
        </p:txBody>
      </p:sp>
      <p:sp>
        <p:nvSpPr>
          <p:cNvPr id="119" name="Google Shape;119;g329389ef16a_1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20" name="Google Shape;120;g329389ef16a_1_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고객 성향 검사의 목적과, 수집하는 정보를 고객에게 전달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고객 성향 검사를 시작하는 버튼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121" name="Google Shape;121;g329389ef16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29389ef16a_1_0"/>
          <p:cNvSpPr/>
          <p:nvPr/>
        </p:nvSpPr>
        <p:spPr>
          <a:xfrm>
            <a:off x="1296313" y="275546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29389ef16a_1_0"/>
          <p:cNvSpPr/>
          <p:nvPr/>
        </p:nvSpPr>
        <p:spPr>
          <a:xfrm>
            <a:off x="5012413" y="53527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29389ef16a_2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고객 성향 검사</a:t>
            </a:r>
            <a:endParaRPr/>
          </a:p>
        </p:txBody>
      </p:sp>
      <p:sp>
        <p:nvSpPr>
          <p:cNvPr id="130" name="Google Shape;130;g329389ef16a_2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31" name="Google Shape;131;g329389ef16a_2_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위험 단계를 선택하는 radio 버튼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각 위험 단계를 설명하여 고객에게 위험 단계에 대한 정보 제공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위험 단계를 선택한 뒤 다음 검사 단계를 진행하기 위한 버튼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132" name="Google Shape;132;g329389ef16a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29389ef16a_2_0"/>
          <p:cNvSpPr/>
          <p:nvPr/>
        </p:nvSpPr>
        <p:spPr>
          <a:xfrm>
            <a:off x="3370238" y="34289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29389ef16a_2_0"/>
          <p:cNvSpPr/>
          <p:nvPr/>
        </p:nvSpPr>
        <p:spPr>
          <a:xfrm>
            <a:off x="1307338" y="374406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29389ef16a_2_0"/>
          <p:cNvSpPr/>
          <p:nvPr/>
        </p:nvSpPr>
        <p:spPr>
          <a:xfrm>
            <a:off x="4913313" y="53535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9389ef16a_2_14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고객 성향 검사</a:t>
            </a:r>
            <a:endParaRPr/>
          </a:p>
        </p:txBody>
      </p:sp>
      <p:sp>
        <p:nvSpPr>
          <p:cNvPr id="142" name="Google Shape;142;g329389ef16a_2_14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43" name="Google Shape;143;g329389ef16a_2_14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b="1">
                <a:latin typeface="Malgun Gothic"/>
                <a:ea typeface="Malgun Gothic"/>
                <a:cs typeface="Malgun Gothic"/>
                <a:sym typeface="Malgun Gothic"/>
              </a:rPr>
              <a:t>관심 업종 선택 파트에 대한 설명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b="1"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b="1">
                <a:latin typeface="Malgun Gothic"/>
                <a:ea typeface="Malgun Gothic"/>
                <a:cs typeface="Malgun Gothic"/>
                <a:sym typeface="Malgun Gothic"/>
              </a:rPr>
              <a:t>앞서 선택한 위험단계</a:t>
            </a:r>
            <a:endParaRPr lang="en-US" altLang="ko-KR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alt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시장별 업종 목록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(추천) 표시는 앞서 선택한 위험 단계 내에서 </a:t>
            </a:r>
            <a:r>
              <a:rPr lang="ko-KR" altLang="en-US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시장별 한달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수익률 지표가 좋은 </a:t>
            </a:r>
            <a:r>
              <a:rPr lang="ko-KR" altLang="en-US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</a:t>
            </a:r>
            <a:r>
              <a:rPr lang="en-US" alt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체크 박스를 통해 관심 업종을 최대 5업종까지 선택 가능</a:t>
            </a:r>
            <a:endParaRPr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altLang="ko-KR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b="1">
                <a:latin typeface="Malgun Gothic"/>
                <a:ea typeface="Malgun Gothic"/>
                <a:cs typeface="Malgun Gothic"/>
                <a:sym typeface="Malgun Gothic"/>
              </a:rPr>
              <a:t>이전 단계로 되돌아감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en-US" alt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] 관심 업종을 선택 후, 다음 단계로 진행 관심 업종을 선택 안하더라도 활성화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8A2071-EFD9-6E05-56E7-D2D980E5A3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2" y="776473"/>
            <a:ext cx="7261200" cy="5821200"/>
          </a:xfrm>
          <a:prstGeom prst="rect">
            <a:avLst/>
          </a:prstGeom>
        </p:spPr>
      </p:pic>
      <p:sp>
        <p:nvSpPr>
          <p:cNvPr id="6" name="Google Shape;122;g329389ef16a_1_0">
            <a:extLst>
              <a:ext uri="{FF2B5EF4-FFF2-40B4-BE49-F238E27FC236}">
                <a16:creationId xmlns:a16="http://schemas.microsoft.com/office/drawing/2014/main" id="{5B36E884-BDA8-EFD5-F8D5-68D2D0E4B965}"/>
              </a:ext>
            </a:extLst>
          </p:cNvPr>
          <p:cNvSpPr/>
          <p:nvPr/>
        </p:nvSpPr>
        <p:spPr>
          <a:xfrm>
            <a:off x="1266816" y="1880396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2;g329389ef16a_1_0">
            <a:extLst>
              <a:ext uri="{FF2B5EF4-FFF2-40B4-BE49-F238E27FC236}">
                <a16:creationId xmlns:a16="http://schemas.microsoft.com/office/drawing/2014/main" id="{E4B4226B-232F-3A2E-D95C-77632BAB4EAE}"/>
              </a:ext>
            </a:extLst>
          </p:cNvPr>
          <p:cNvSpPr/>
          <p:nvPr/>
        </p:nvSpPr>
        <p:spPr>
          <a:xfrm>
            <a:off x="1266816" y="298431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2;g329389ef16a_1_0">
            <a:extLst>
              <a:ext uri="{FF2B5EF4-FFF2-40B4-BE49-F238E27FC236}">
                <a16:creationId xmlns:a16="http://schemas.microsoft.com/office/drawing/2014/main" id="{1C46BC54-615D-6BEA-781C-3EA50D04CAD8}"/>
              </a:ext>
            </a:extLst>
          </p:cNvPr>
          <p:cNvSpPr/>
          <p:nvPr/>
        </p:nvSpPr>
        <p:spPr>
          <a:xfrm>
            <a:off x="1281565" y="34710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22;g329389ef16a_1_0">
            <a:extLst>
              <a:ext uri="{FF2B5EF4-FFF2-40B4-BE49-F238E27FC236}">
                <a16:creationId xmlns:a16="http://schemas.microsoft.com/office/drawing/2014/main" id="{ECDD176B-14AB-6C6C-51A8-397654F9A11B}"/>
              </a:ext>
            </a:extLst>
          </p:cNvPr>
          <p:cNvSpPr/>
          <p:nvPr/>
        </p:nvSpPr>
        <p:spPr>
          <a:xfrm>
            <a:off x="3896945" y="6194551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2;g329389ef16a_1_0">
            <a:extLst>
              <a:ext uri="{FF2B5EF4-FFF2-40B4-BE49-F238E27FC236}">
                <a16:creationId xmlns:a16="http://schemas.microsoft.com/office/drawing/2014/main" id="{9D243B55-E74A-B76D-AE0C-3C54993ABC13}"/>
              </a:ext>
            </a:extLst>
          </p:cNvPr>
          <p:cNvSpPr/>
          <p:nvPr/>
        </p:nvSpPr>
        <p:spPr>
          <a:xfrm>
            <a:off x="5902726" y="6194551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29389ef16a_2_3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고객 성향 검사</a:t>
            </a:r>
            <a:endParaRPr/>
          </a:p>
        </p:txBody>
      </p:sp>
      <p:sp>
        <p:nvSpPr>
          <p:cNvPr id="155" name="Google Shape;155;g329389ef16a_2_3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56" name="Google Shape;156;g329389ef16a_2_3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희망 수익률 설정에 대한 설명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</a:t>
            </a: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설정할 수 있는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최대 희망</a:t>
            </a: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수익률의 한계 표시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희망 최소 수익률을 input으로 입력 하는 부분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이전 단계로 이동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희망 수익률을 입력한 뒤 마침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CFE11C-9AE0-39EC-1926-BD239681CA5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880954"/>
            <a:ext cx="7455600" cy="5821200"/>
          </a:xfrm>
          <a:prstGeom prst="rect">
            <a:avLst/>
          </a:prstGeom>
        </p:spPr>
      </p:pic>
      <p:sp>
        <p:nvSpPr>
          <p:cNvPr id="4" name="Google Shape;122;g329389ef16a_1_0">
            <a:extLst>
              <a:ext uri="{FF2B5EF4-FFF2-40B4-BE49-F238E27FC236}">
                <a16:creationId xmlns:a16="http://schemas.microsoft.com/office/drawing/2014/main" id="{906909BB-7B2B-1ADD-8335-D44EC96B1616}"/>
              </a:ext>
            </a:extLst>
          </p:cNvPr>
          <p:cNvSpPr/>
          <p:nvPr/>
        </p:nvSpPr>
        <p:spPr>
          <a:xfrm>
            <a:off x="1473293" y="32860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22;g329389ef16a_1_0">
            <a:extLst>
              <a:ext uri="{FF2B5EF4-FFF2-40B4-BE49-F238E27FC236}">
                <a16:creationId xmlns:a16="http://schemas.microsoft.com/office/drawing/2014/main" id="{BEEA1722-E5D4-887E-DB94-A466464B63AE}"/>
              </a:ext>
            </a:extLst>
          </p:cNvPr>
          <p:cNvSpPr/>
          <p:nvPr/>
        </p:nvSpPr>
        <p:spPr>
          <a:xfrm>
            <a:off x="3513200" y="408282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2;g329389ef16a_1_0">
            <a:extLst>
              <a:ext uri="{FF2B5EF4-FFF2-40B4-BE49-F238E27FC236}">
                <a16:creationId xmlns:a16="http://schemas.microsoft.com/office/drawing/2014/main" id="{903EF6E5-415A-EBCC-F6C0-AAF45CA09BE5}"/>
              </a:ext>
            </a:extLst>
          </p:cNvPr>
          <p:cNvSpPr/>
          <p:nvPr/>
        </p:nvSpPr>
        <p:spPr>
          <a:xfrm>
            <a:off x="2997293" y="4633428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2;g329389ef16a_1_0">
            <a:extLst>
              <a:ext uri="{FF2B5EF4-FFF2-40B4-BE49-F238E27FC236}">
                <a16:creationId xmlns:a16="http://schemas.microsoft.com/office/drawing/2014/main" id="{E7D9692B-D96A-2AEA-E686-329374544C82}"/>
              </a:ext>
            </a:extLst>
          </p:cNvPr>
          <p:cNvSpPr/>
          <p:nvPr/>
        </p:nvSpPr>
        <p:spPr>
          <a:xfrm>
            <a:off x="4285319" y="5439673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22;g329389ef16a_1_0">
            <a:extLst>
              <a:ext uri="{FF2B5EF4-FFF2-40B4-BE49-F238E27FC236}">
                <a16:creationId xmlns:a16="http://schemas.microsoft.com/office/drawing/2014/main" id="{75938386-E469-4CB8-1A45-63534EE7092C}"/>
              </a:ext>
            </a:extLst>
          </p:cNvPr>
          <p:cNvSpPr/>
          <p:nvPr/>
        </p:nvSpPr>
        <p:spPr>
          <a:xfrm>
            <a:off x="6164758" y="5439673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9389ef16a_2_6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고객 성향 검사</a:t>
            </a:r>
            <a:endParaRPr/>
          </a:p>
        </p:txBody>
      </p:sp>
      <p:sp>
        <p:nvSpPr>
          <p:cNvPr id="169" name="Google Shape;169;g329389ef16a_2_6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70" name="Google Shape;170;g329389ef16a_2_6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성향 검사 완료 안내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검사 결과 조회 페이지로 이동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메인 화면으로 이동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투자 성향별 종목 추천 페이지로 이동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171" name="Google Shape;171;g329389ef16a_2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645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29389ef16a_2_60"/>
          <p:cNvSpPr/>
          <p:nvPr/>
        </p:nvSpPr>
        <p:spPr>
          <a:xfrm>
            <a:off x="1302913" y="27328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29389ef16a_2_60"/>
          <p:cNvSpPr/>
          <p:nvPr/>
        </p:nvSpPr>
        <p:spPr>
          <a:xfrm>
            <a:off x="2443013" y="50399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29389ef16a_2_60"/>
          <p:cNvSpPr/>
          <p:nvPr/>
        </p:nvSpPr>
        <p:spPr>
          <a:xfrm>
            <a:off x="3692313" y="50399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29389ef16a_2_60"/>
          <p:cNvSpPr/>
          <p:nvPr/>
        </p:nvSpPr>
        <p:spPr>
          <a:xfrm>
            <a:off x="4941613" y="50399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9389ef16a_2_9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성향별 종목 추천</a:t>
            </a:r>
            <a:endParaRPr/>
          </a:p>
        </p:txBody>
      </p:sp>
      <p:sp>
        <p:nvSpPr>
          <p:cNvPr id="182" name="Google Shape;182;g329389ef16a_2_9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83" name="Google Shape;183;g329389ef16a_2_9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현재 로그인된 사용자의 성향정보를 보여준다.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오늘 기준 특정 구간을 빠르게 입력 가능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달력 UI 생성, 날짜를 직접 지정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지표 산출 시작 기간을 직접 입력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초기화면으로 되돌아감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 입력된 기간동안 성향 기반 추천종목 목록을 요청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8E802D5-FF1C-EF04-B1C7-A662E18A3B4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776473"/>
            <a:ext cx="7455600" cy="5821200"/>
          </a:xfrm>
          <a:prstGeom prst="rect">
            <a:avLst/>
          </a:prstGeom>
        </p:spPr>
      </p:pic>
      <p:sp>
        <p:nvSpPr>
          <p:cNvPr id="4" name="Google Shape;172;g329389ef16a_2_60">
            <a:extLst>
              <a:ext uri="{FF2B5EF4-FFF2-40B4-BE49-F238E27FC236}">
                <a16:creationId xmlns:a16="http://schemas.microsoft.com/office/drawing/2014/main" id="{E479FA35-7077-2A08-BB84-7D4931AE3B2C}"/>
              </a:ext>
            </a:extLst>
          </p:cNvPr>
          <p:cNvSpPr/>
          <p:nvPr/>
        </p:nvSpPr>
        <p:spPr>
          <a:xfrm>
            <a:off x="1479891" y="32047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2;g329389ef16a_2_60">
            <a:extLst>
              <a:ext uri="{FF2B5EF4-FFF2-40B4-BE49-F238E27FC236}">
                <a16:creationId xmlns:a16="http://schemas.microsoft.com/office/drawing/2014/main" id="{CA96F43D-01EB-791E-9845-1D123BE15DAC}"/>
              </a:ext>
            </a:extLst>
          </p:cNvPr>
          <p:cNvSpPr/>
          <p:nvPr/>
        </p:nvSpPr>
        <p:spPr>
          <a:xfrm>
            <a:off x="2876075" y="445348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72;g329389ef16a_2_60">
            <a:extLst>
              <a:ext uri="{FF2B5EF4-FFF2-40B4-BE49-F238E27FC236}">
                <a16:creationId xmlns:a16="http://schemas.microsoft.com/office/drawing/2014/main" id="{9D9BC205-2E40-6F19-B2A2-CB2C2735D760}"/>
              </a:ext>
            </a:extLst>
          </p:cNvPr>
          <p:cNvSpPr/>
          <p:nvPr/>
        </p:nvSpPr>
        <p:spPr>
          <a:xfrm>
            <a:off x="5631882" y="473938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72;g329389ef16a_2_60">
            <a:extLst>
              <a:ext uri="{FF2B5EF4-FFF2-40B4-BE49-F238E27FC236}">
                <a16:creationId xmlns:a16="http://schemas.microsoft.com/office/drawing/2014/main" id="{ABC53DA2-1267-D448-1B4A-5C4A5E1C4A3E}"/>
              </a:ext>
            </a:extLst>
          </p:cNvPr>
          <p:cNvSpPr/>
          <p:nvPr/>
        </p:nvSpPr>
        <p:spPr>
          <a:xfrm>
            <a:off x="2984748" y="5122081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2;g329389ef16a_2_60">
            <a:extLst>
              <a:ext uri="{FF2B5EF4-FFF2-40B4-BE49-F238E27FC236}">
                <a16:creationId xmlns:a16="http://schemas.microsoft.com/office/drawing/2014/main" id="{F6836A34-CD3B-F71C-5636-FD5CBE156E89}"/>
              </a:ext>
            </a:extLst>
          </p:cNvPr>
          <p:cNvSpPr/>
          <p:nvPr/>
        </p:nvSpPr>
        <p:spPr>
          <a:xfrm>
            <a:off x="3532864" y="549570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72;g329389ef16a_2_60">
            <a:extLst>
              <a:ext uri="{FF2B5EF4-FFF2-40B4-BE49-F238E27FC236}">
                <a16:creationId xmlns:a16="http://schemas.microsoft.com/office/drawing/2014/main" id="{5FC4EC49-1F86-6AC8-E906-0B6AA42F634F}"/>
              </a:ext>
            </a:extLst>
          </p:cNvPr>
          <p:cNvSpPr/>
          <p:nvPr/>
        </p:nvSpPr>
        <p:spPr>
          <a:xfrm>
            <a:off x="6224270" y="544201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31ababc578_1_1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성향별 종목 추천</a:t>
            </a:r>
            <a:endParaRPr/>
          </a:p>
        </p:txBody>
      </p:sp>
      <p:sp>
        <p:nvSpPr>
          <p:cNvPr id="197" name="Google Shape;197;g331ababc578_1_1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98" name="Google Shape;198;g331ababc578_1_1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지표 산출 기간이 표시됨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성향별 추천 종목 목록이 나타남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199" name="Google Shape;199;g331ababc578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75" y="97445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31ababc578_1_1"/>
          <p:cNvSpPr/>
          <p:nvPr/>
        </p:nvSpPr>
        <p:spPr>
          <a:xfrm>
            <a:off x="3772063" y="28724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31ababc578_1_1"/>
          <p:cNvSpPr/>
          <p:nvPr/>
        </p:nvSpPr>
        <p:spPr>
          <a:xfrm>
            <a:off x="1498088" y="42780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f270d49f9_0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종목 리스트 조회 화면</a:t>
            </a:r>
            <a:endParaRPr/>
          </a:p>
        </p:txBody>
      </p:sp>
      <p:sp>
        <p:nvSpPr>
          <p:cNvPr id="98" name="Google Shape;98;g32f270d49f9_0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99" name="Google Shape;99;g32f270d49f9_0_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975" b="1">
                <a:latin typeface="Malgun Gothic"/>
                <a:ea typeface="Malgun Gothic"/>
                <a:cs typeface="Malgun Gothic"/>
                <a:sym typeface="Malgun Gothic"/>
              </a:rPr>
              <a:t>시장 필터링</a:t>
            </a:r>
            <a:r>
              <a:rPr lang="en-US" altLang="ko-KR" sz="975" b="1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75" b="1">
                <a:latin typeface="Malgun Gothic"/>
                <a:ea typeface="Malgun Gothic"/>
                <a:cs typeface="Malgun Gothic"/>
                <a:sym typeface="Malgun Gothic"/>
              </a:rPr>
              <a:t>선택한 시장의 종목만 출력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975" b="1">
                <a:latin typeface="Malgun Gothic"/>
                <a:ea typeface="Malgun Gothic"/>
                <a:cs typeface="Malgun Gothic"/>
                <a:sym typeface="Malgun Gothic"/>
              </a:rPr>
              <a:t>위험단계 필터링</a:t>
            </a:r>
            <a:r>
              <a:rPr lang="en-US" altLang="ko-KR" sz="975" b="1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75" b="1">
                <a:latin typeface="Malgun Gothic"/>
                <a:ea typeface="Malgun Gothic"/>
                <a:cs typeface="Malgun Gothic"/>
                <a:sym typeface="Malgun Gothic"/>
              </a:rPr>
              <a:t>해당 위험단계 이하의 종목만 출력</a:t>
            </a:r>
            <a:endParaRPr lang="en-US" altLang="ko-KR" sz="975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업종목록을 선택하여</a:t>
            </a:r>
            <a:r>
              <a:rPr lang="en-US" alt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업종내 종목들만 필터링</a:t>
            </a:r>
            <a:endParaRPr lang="en-US" altLang="ko-KR"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종목명을 클릭하여 해당 종목의 상세 지표 페이지로 이동가능</a:t>
            </a:r>
            <a:endParaRPr lang="en-US" altLang="ko-KR" sz="975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등락률</a:t>
            </a:r>
            <a:r>
              <a:rPr lang="en-US" alt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거래량</a:t>
            </a:r>
            <a:r>
              <a:rPr lang="en-US" altLang="ko-KR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975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위험도 내림차순 정렬 기능</a:t>
            </a:r>
            <a:endParaRPr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6BFBF1-5BE6-876B-61A5-DB1C446E8C0A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4224" y="880954"/>
            <a:ext cx="7455600" cy="5821200"/>
          </a:xfrm>
          <a:prstGeom prst="rect">
            <a:avLst/>
          </a:prstGeom>
        </p:spPr>
      </p:pic>
      <p:sp>
        <p:nvSpPr>
          <p:cNvPr id="9" name="Google Shape;200;g331ababc578_1_1">
            <a:extLst>
              <a:ext uri="{FF2B5EF4-FFF2-40B4-BE49-F238E27FC236}">
                <a16:creationId xmlns:a16="http://schemas.microsoft.com/office/drawing/2014/main" id="{E29191E3-1E50-F6F8-8422-F7FC200D9F7F}"/>
              </a:ext>
            </a:extLst>
          </p:cNvPr>
          <p:cNvSpPr/>
          <p:nvPr/>
        </p:nvSpPr>
        <p:spPr>
          <a:xfrm>
            <a:off x="1461482" y="24889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00;g331ababc578_1_1">
            <a:extLst>
              <a:ext uri="{FF2B5EF4-FFF2-40B4-BE49-F238E27FC236}">
                <a16:creationId xmlns:a16="http://schemas.microsoft.com/office/drawing/2014/main" id="{DC543F52-5E74-9D2C-157D-4B0DC72C1DBD}"/>
              </a:ext>
            </a:extLst>
          </p:cNvPr>
          <p:cNvSpPr/>
          <p:nvPr/>
        </p:nvSpPr>
        <p:spPr>
          <a:xfrm>
            <a:off x="3605916" y="22030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00;g331ababc578_1_1">
            <a:extLst>
              <a:ext uri="{FF2B5EF4-FFF2-40B4-BE49-F238E27FC236}">
                <a16:creationId xmlns:a16="http://schemas.microsoft.com/office/drawing/2014/main" id="{D4B94197-4C86-E9EA-7025-D9D638B7F0D8}"/>
              </a:ext>
            </a:extLst>
          </p:cNvPr>
          <p:cNvSpPr/>
          <p:nvPr/>
        </p:nvSpPr>
        <p:spPr>
          <a:xfrm>
            <a:off x="5424242" y="22030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0;g331ababc578_1_1">
            <a:extLst>
              <a:ext uri="{FF2B5EF4-FFF2-40B4-BE49-F238E27FC236}">
                <a16:creationId xmlns:a16="http://schemas.microsoft.com/office/drawing/2014/main" id="{7B76103A-EF73-F092-9174-4085C9131774}"/>
              </a:ext>
            </a:extLst>
          </p:cNvPr>
          <p:cNvSpPr/>
          <p:nvPr/>
        </p:nvSpPr>
        <p:spPr>
          <a:xfrm>
            <a:off x="1461482" y="31431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00;g331ababc578_1_1">
            <a:extLst>
              <a:ext uri="{FF2B5EF4-FFF2-40B4-BE49-F238E27FC236}">
                <a16:creationId xmlns:a16="http://schemas.microsoft.com/office/drawing/2014/main" id="{71A2BCE2-E6E4-5EDE-7A7C-A7C3BB5D1C5A}"/>
              </a:ext>
            </a:extLst>
          </p:cNvPr>
          <p:cNvSpPr/>
          <p:nvPr/>
        </p:nvSpPr>
        <p:spPr>
          <a:xfrm>
            <a:off x="6021808" y="28572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438" y="717925"/>
            <a:ext cx="6698101" cy="5965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종목 상세 조회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7682716" y="620697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초기 설정에 따라 긍정점수를 비롯한 여러 변수의 일별 추이 그래프를 보여주는 섹션</a:t>
            </a: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체크박스를 이용하여 해당 변수를 제공받을지 여부를 결정한다.</a:t>
            </a:r>
            <a:r>
              <a:rPr lang="ko-KR" sz="975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기간을 지정하여 제공 받을 데이터를 변경가능</a:t>
            </a:r>
            <a:endParaRPr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975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975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해당 종목의 현재 </a:t>
            </a:r>
            <a:r>
              <a:rPr lang="ko-KR" sz="975" b="1">
                <a:latin typeface="Malgun Gothic"/>
                <a:ea typeface="Malgun Gothic"/>
                <a:cs typeface="Malgun Gothic"/>
                <a:sym typeface="Malgun Gothic"/>
              </a:rPr>
              <a:t>시간 기준 최신순으로 기사를 보여준다.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2411163" y="274424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737188" y="376916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1694172" y="4606211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98219f9b9_0_2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회원 가입</a:t>
            </a:r>
            <a:endParaRPr/>
          </a:p>
        </p:txBody>
      </p:sp>
      <p:sp>
        <p:nvSpPr>
          <p:cNvPr id="208" name="Google Shape;208;g3298219f9b9_0_2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09" name="Google Shape;209;g3298219f9b9_0_2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영문, 숫자로 구성된 15글자 이하의 단어, 시작단어는 영어 </a:t>
            </a: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기존 회원 DB와 대조를 통해 중복 검사 진행</a:t>
            </a: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0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비밀번호는 대소문자 구분, 영문, 특수문자, 숫자를 반드시 포함한 8글자~15글자</a:t>
            </a: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[4] 비밀번호를 한번 더 입력하여 동일 여부 확인</a:t>
            </a: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[5] </a:t>
            </a: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휴대폰 번호를 입력</a:t>
            </a: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[6] </a:t>
            </a: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이메일 입력</a:t>
            </a: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latin typeface="Malgun Gothic"/>
                <a:ea typeface="Malgun Gothic"/>
                <a:cs typeface="Malgun Gothic"/>
                <a:sym typeface="Malgun Gothic"/>
              </a:rPr>
              <a:t>[7] </a:t>
            </a: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입력한 이메일로 인증 메일 발송</a:t>
            </a: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[8] 발송받은 이메일에 있는 인증번호를 입력</a:t>
            </a: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[9] 이메일 인증을 요청</a:t>
            </a: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[10] 아이디 중복확인 완료, 모든 항목 입력, 이메일 인증까지 완료했다면 회원가입 요청을 보낼수 있다.</a:t>
            </a: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000"/>
          </a:p>
        </p:txBody>
      </p:sp>
      <p:pic>
        <p:nvPicPr>
          <p:cNvPr id="210" name="Google Shape;210;g3298219f9b9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6695736" cy="592851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298219f9b9_0_20"/>
          <p:cNvSpPr/>
          <p:nvPr/>
        </p:nvSpPr>
        <p:spPr>
          <a:xfrm>
            <a:off x="2238038" y="28523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298219f9b9_0_20"/>
          <p:cNvSpPr/>
          <p:nvPr/>
        </p:nvSpPr>
        <p:spPr>
          <a:xfrm>
            <a:off x="4524038" y="28523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298219f9b9_0_20"/>
          <p:cNvSpPr/>
          <p:nvPr/>
        </p:nvSpPr>
        <p:spPr>
          <a:xfrm>
            <a:off x="2238038" y="32680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298219f9b9_0_20"/>
          <p:cNvSpPr/>
          <p:nvPr/>
        </p:nvSpPr>
        <p:spPr>
          <a:xfrm>
            <a:off x="2238038" y="36490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g3298219f9b9_0_20"/>
          <p:cNvSpPr/>
          <p:nvPr/>
        </p:nvSpPr>
        <p:spPr>
          <a:xfrm>
            <a:off x="2238038" y="443572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g3298219f9b9_0_20"/>
          <p:cNvSpPr/>
          <p:nvPr/>
        </p:nvSpPr>
        <p:spPr>
          <a:xfrm>
            <a:off x="4524038" y="4435724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g3298219f9b9_0_20"/>
          <p:cNvSpPr/>
          <p:nvPr/>
        </p:nvSpPr>
        <p:spPr>
          <a:xfrm>
            <a:off x="2238038" y="48290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298219f9b9_0_20"/>
          <p:cNvSpPr/>
          <p:nvPr/>
        </p:nvSpPr>
        <p:spPr>
          <a:xfrm>
            <a:off x="2238038" y="4042388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298219f9b9_0_20"/>
          <p:cNvSpPr/>
          <p:nvPr/>
        </p:nvSpPr>
        <p:spPr>
          <a:xfrm>
            <a:off x="4524038" y="48290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298219f9b9_0_20"/>
          <p:cNvSpPr/>
          <p:nvPr/>
        </p:nvSpPr>
        <p:spPr>
          <a:xfrm>
            <a:off x="2238038" y="53026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29eb335b78_0_8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로그인</a:t>
            </a:r>
            <a:endParaRPr/>
          </a:p>
        </p:txBody>
      </p:sp>
      <p:sp>
        <p:nvSpPr>
          <p:cNvPr id="227" name="Google Shape;227;g329eb335b78_0_8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28" name="Google Shape;228;g329eb335b78_0_8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회원 DB에서 입력값과 동일한 값이 있는지 검색</a:t>
            </a: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회원 DB에서 입력 아이디와 매칭되는 비밀번호가 있는지 검색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아이디/비밀번호를 잊었을 시 해당 메뉴를 통해 아이디찾기/비밀번호 찾기에 접근</a:t>
            </a: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입력한 아이디와 비밀번호로 로그인을 요청, DB에 매칭되는 아이디/비밀번호가 존재 하지 않을시 아이디 혹은 비밀번호가 맞지 않다는 메시지 하단에 출력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비회원일경우 회원가입 페이지로 이동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29eb335b7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0" name="Google Shape;230;g329eb335b78_0_8"/>
          <p:cNvSpPr/>
          <p:nvPr/>
        </p:nvSpPr>
        <p:spPr>
          <a:xfrm>
            <a:off x="2513213" y="30356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29eb335b78_0_8"/>
          <p:cNvSpPr/>
          <p:nvPr/>
        </p:nvSpPr>
        <p:spPr>
          <a:xfrm>
            <a:off x="2513213" y="3632254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29eb335b78_0_8"/>
          <p:cNvSpPr/>
          <p:nvPr/>
        </p:nvSpPr>
        <p:spPr>
          <a:xfrm>
            <a:off x="3081513" y="43079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29eb335b78_0_8"/>
          <p:cNvSpPr/>
          <p:nvPr/>
        </p:nvSpPr>
        <p:spPr>
          <a:xfrm>
            <a:off x="2799113" y="464081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29eb335b78_0_8"/>
          <p:cNvSpPr/>
          <p:nvPr/>
        </p:nvSpPr>
        <p:spPr>
          <a:xfrm>
            <a:off x="2799113" y="517848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9eb335b78_0_21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아이디/비밀번호 찾기</a:t>
            </a:r>
            <a:endParaRPr/>
          </a:p>
        </p:txBody>
      </p:sp>
      <p:sp>
        <p:nvSpPr>
          <p:cNvPr id="241" name="Google Shape;241;g329eb335b78_0_21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42" name="Google Shape;242;g329eb335b78_0_21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회원 가입시 입력한 이메일을 회원 DB와 대조해 아이디를 찾음</a:t>
            </a: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DB와 일치하는 아이디가 있다면 빨간 글씨로 아이디를 표시해주고 [3]에 아이디를 자동으로 입력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</a:t>
            </a:r>
            <a:r>
              <a:rPr lang="ko-KR" b="1">
                <a:latin typeface="Malgun Gothic"/>
                <a:ea typeface="Malgun Gothic"/>
                <a:cs typeface="Malgun Gothic"/>
                <a:sym typeface="Malgun Gothic"/>
              </a:rPr>
              <a:t>찾고자 하는 비밀번호를 가진 아이디를 입력</a:t>
            </a:r>
            <a:endParaRPr sz="14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가입시 사용했던 이메일 주소를 입력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가입 이메일로 가입 아이디의 </a:t>
            </a:r>
            <a:r>
              <a:rPr lang="ko-KR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임시 </a:t>
            </a: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비밀번호를 전송, 빨간 글씨로 전송 되었다는 메시지 출력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[6] 메인 화면으로 복귀</a:t>
            </a:r>
            <a:endParaRPr sz="14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g329eb335b78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29eb335b78_0_21"/>
          <p:cNvSpPr/>
          <p:nvPr/>
        </p:nvSpPr>
        <p:spPr>
          <a:xfrm>
            <a:off x="2509288" y="30457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29eb335b78_0_21"/>
          <p:cNvSpPr/>
          <p:nvPr/>
        </p:nvSpPr>
        <p:spPr>
          <a:xfrm>
            <a:off x="2795201" y="348952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29eb335b78_0_21"/>
          <p:cNvSpPr/>
          <p:nvPr/>
        </p:nvSpPr>
        <p:spPr>
          <a:xfrm>
            <a:off x="2509288" y="4094654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29eb335b78_0_21"/>
          <p:cNvSpPr/>
          <p:nvPr/>
        </p:nvSpPr>
        <p:spPr>
          <a:xfrm>
            <a:off x="2509288" y="4669504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29eb335b78_0_21"/>
          <p:cNvSpPr/>
          <p:nvPr/>
        </p:nvSpPr>
        <p:spPr>
          <a:xfrm>
            <a:off x="2795191" y="5072908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29eb335b78_0_21"/>
          <p:cNvSpPr/>
          <p:nvPr/>
        </p:nvSpPr>
        <p:spPr>
          <a:xfrm>
            <a:off x="4996025" y="5425908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2b56e7798b_0_1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회원 정보 조회</a:t>
            </a:r>
            <a:endParaRPr/>
          </a:p>
        </p:txBody>
      </p:sp>
      <p:sp>
        <p:nvSpPr>
          <p:cNvPr id="256" name="Google Shape;256;g32b56e7798b_0_1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57" name="Google Shape;257;g32b56e7798b_0_1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로그인 시 입력했던 비밀번호를 한번 더 입력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비밀번호가 일치한다면 버튼을 누름으로써 회원 정보 조회 화면으로 넘어감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258" name="Google Shape;258;g32b56e7798b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32b56e7798b_0_1"/>
          <p:cNvSpPr/>
          <p:nvPr/>
        </p:nvSpPr>
        <p:spPr>
          <a:xfrm>
            <a:off x="2509288" y="33505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2b56e7798b_0_1"/>
          <p:cNvSpPr/>
          <p:nvPr/>
        </p:nvSpPr>
        <p:spPr>
          <a:xfrm>
            <a:off x="2814088" y="40363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b56e7798b_0_1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회원 정보 조회</a:t>
            </a:r>
            <a:endParaRPr/>
          </a:p>
        </p:txBody>
      </p:sp>
      <p:sp>
        <p:nvSpPr>
          <p:cNvPr id="267" name="Google Shape;267;g32b56e7798b_0_1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68" name="Google Shape;268;g32b56e7798b_0_1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회원 정보가 나타나는 영역, 이 화면에서는 회원 정보를 수정할 수 없다.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회원 정보를 수정하려면 버튼을 눌러 회원 정보 수정 화면으로 넘어갈 수 있다. 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269" name="Google Shape;269;g32b56e7798b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6700234" cy="593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2b56e7798b_0_10"/>
          <p:cNvSpPr/>
          <p:nvPr/>
        </p:nvSpPr>
        <p:spPr>
          <a:xfrm>
            <a:off x="2566463" y="32102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2b56e7798b_0_10"/>
          <p:cNvSpPr/>
          <p:nvPr/>
        </p:nvSpPr>
        <p:spPr>
          <a:xfrm>
            <a:off x="2566463" y="51473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afc962a7a_1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회원 정보 수정</a:t>
            </a:r>
            <a:endParaRPr/>
          </a:p>
        </p:txBody>
      </p:sp>
      <p:sp>
        <p:nvSpPr>
          <p:cNvPr id="278" name="Google Shape;278;g32afc962a7a_1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79" name="Google Shape;279;g32afc962a7a_1_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이메일로 발송된 인증번호를 입력한다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입력한 인증 번호로 인증을 요청한다.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인증메일 재발송을 요청한다.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[4] 인증이 완료되었다면, 이 버튼이 활성화 상태 되어 버튼을 눌러 회원 정보 수정화면으로 넘어갈 수있다.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280" name="Google Shape;280;g32afc962a7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2afc962a7a_1_0"/>
          <p:cNvSpPr/>
          <p:nvPr/>
        </p:nvSpPr>
        <p:spPr>
          <a:xfrm>
            <a:off x="2509288" y="33505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2afc962a7a_1_0"/>
          <p:cNvSpPr/>
          <p:nvPr/>
        </p:nvSpPr>
        <p:spPr>
          <a:xfrm>
            <a:off x="5100088" y="31219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2afc962a7a_1_0"/>
          <p:cNvSpPr/>
          <p:nvPr/>
        </p:nvSpPr>
        <p:spPr>
          <a:xfrm>
            <a:off x="5709688" y="31219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2afc962a7a_1_0"/>
          <p:cNvSpPr/>
          <p:nvPr/>
        </p:nvSpPr>
        <p:spPr>
          <a:xfrm>
            <a:off x="2795188" y="40272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2afc962a7a_1_9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회원 정보 수정</a:t>
            </a:r>
            <a:endParaRPr/>
          </a:p>
        </p:txBody>
      </p:sp>
      <p:sp>
        <p:nvSpPr>
          <p:cNvPr id="291" name="Google Shape;291;g32afc962a7a_1_9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292" name="Google Shape;292;g32afc962a7a_1_9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수정할 수 있는 영역이 생성되어, 값을 수정 할 수 있다.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[2] 기입한 이메일로 인증코드가 담긴 메일을 요청한다.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[3] 메일로 수신받은 인증코드로 인증을 요청하면 수정 완료버튼이 활성화 된다.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수정된 회원 정보를 저장한다.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293" name="Google Shape;293;g32afc962a7a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6700234" cy="593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2afc962a7a_1_9"/>
          <p:cNvSpPr/>
          <p:nvPr/>
        </p:nvSpPr>
        <p:spPr>
          <a:xfrm>
            <a:off x="2553638" y="295955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2afc962a7a_1_9"/>
          <p:cNvSpPr/>
          <p:nvPr/>
        </p:nvSpPr>
        <p:spPr>
          <a:xfrm>
            <a:off x="5146213" y="378972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2afc962a7a_1_9"/>
          <p:cNvSpPr/>
          <p:nvPr/>
        </p:nvSpPr>
        <p:spPr>
          <a:xfrm>
            <a:off x="5146213" y="421082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2afc962a7a_1_9"/>
          <p:cNvSpPr/>
          <p:nvPr/>
        </p:nvSpPr>
        <p:spPr>
          <a:xfrm>
            <a:off x="2661688" y="484447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b9b8ec798_0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고객 투자 성향 조회</a:t>
            </a:r>
            <a:endParaRPr/>
          </a:p>
        </p:txBody>
      </p:sp>
      <p:sp>
        <p:nvSpPr>
          <p:cNvPr id="304" name="Google Shape;304;g32b9b8ec798_0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305" name="Google Shape;305;g32b9b8ec798_0_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선택한 위험 단계</a:t>
            </a: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</a:t>
            </a:r>
            <a:r>
              <a:rPr lang="en-US" alt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</a:t>
            </a: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위험 단계를 시각적으로 표현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선택한 관심업종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선택한 희망 수익률</a:t>
            </a:r>
            <a:endParaRPr lang="en-US" altLang="ko-KR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투자 성향 수정 페이지로 이동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06" name="Google Shape;306;g32b9b8ec79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4;g32afc962a7a_1_9">
            <a:extLst>
              <a:ext uri="{FF2B5EF4-FFF2-40B4-BE49-F238E27FC236}">
                <a16:creationId xmlns:a16="http://schemas.microsoft.com/office/drawing/2014/main" id="{736EC610-878C-F61D-D416-49569E665583}"/>
              </a:ext>
            </a:extLst>
          </p:cNvPr>
          <p:cNvSpPr/>
          <p:nvPr/>
        </p:nvSpPr>
        <p:spPr>
          <a:xfrm>
            <a:off x="1334438" y="31431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4;g32afc962a7a_1_9">
            <a:extLst>
              <a:ext uri="{FF2B5EF4-FFF2-40B4-BE49-F238E27FC236}">
                <a16:creationId xmlns:a16="http://schemas.microsoft.com/office/drawing/2014/main" id="{6C47117B-1B92-CD8B-840F-94A2E7F26ADB}"/>
              </a:ext>
            </a:extLst>
          </p:cNvPr>
          <p:cNvSpPr/>
          <p:nvPr/>
        </p:nvSpPr>
        <p:spPr>
          <a:xfrm>
            <a:off x="2327089" y="3542724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94;g32afc962a7a_1_9">
            <a:extLst>
              <a:ext uri="{FF2B5EF4-FFF2-40B4-BE49-F238E27FC236}">
                <a16:creationId xmlns:a16="http://schemas.microsoft.com/office/drawing/2014/main" id="{A72B66AB-331C-C78C-C439-31A4B7F40CEC}"/>
              </a:ext>
            </a:extLst>
          </p:cNvPr>
          <p:cNvSpPr/>
          <p:nvPr/>
        </p:nvSpPr>
        <p:spPr>
          <a:xfrm>
            <a:off x="1334438" y="41689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4;g32afc962a7a_1_9">
            <a:extLst>
              <a:ext uri="{FF2B5EF4-FFF2-40B4-BE49-F238E27FC236}">
                <a16:creationId xmlns:a16="http://schemas.microsoft.com/office/drawing/2014/main" id="{A8CC1418-F669-1863-D61B-A112C423F2D9}"/>
              </a:ext>
            </a:extLst>
          </p:cNvPr>
          <p:cNvSpPr/>
          <p:nvPr/>
        </p:nvSpPr>
        <p:spPr>
          <a:xfrm>
            <a:off x="1334438" y="460721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94;g32afc962a7a_1_9">
            <a:extLst>
              <a:ext uri="{FF2B5EF4-FFF2-40B4-BE49-F238E27FC236}">
                <a16:creationId xmlns:a16="http://schemas.microsoft.com/office/drawing/2014/main" id="{DC13D17C-36D1-E76D-49E4-FD0B3854CF12}"/>
              </a:ext>
            </a:extLst>
          </p:cNvPr>
          <p:cNvSpPr/>
          <p:nvPr/>
        </p:nvSpPr>
        <p:spPr>
          <a:xfrm>
            <a:off x="4953000" y="534878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ff4e9e484_0_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성향 검사 수정</a:t>
            </a:r>
            <a:endParaRPr/>
          </a:p>
        </p:txBody>
      </p:sp>
      <p:sp>
        <p:nvSpPr>
          <p:cNvPr id="313" name="Google Shape;313;g32ff4e9e484_0_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314" name="Google Shape;314;g32ff4e9e484_0_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위험단계 수정 화면으로 이동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업종 수정 화면으로 이동</a:t>
            </a:r>
            <a:endParaRPr lang="en-US" altLang="ko-KR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희망 수익률 수정 화면으로 이동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수정내용을 저장하지 않고 기존으로 되돌림</a:t>
            </a:r>
            <a:endParaRPr lang="en-US" altLang="ko-KR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[5]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 내용을 최종적으로 저장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15" name="Google Shape;315;g32ff4e9e48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4;g32afc962a7a_1_9">
            <a:extLst>
              <a:ext uri="{FF2B5EF4-FFF2-40B4-BE49-F238E27FC236}">
                <a16:creationId xmlns:a16="http://schemas.microsoft.com/office/drawing/2014/main" id="{5E78E89A-2A81-0CBE-9A7C-FEA531B9E38E}"/>
              </a:ext>
            </a:extLst>
          </p:cNvPr>
          <p:cNvSpPr/>
          <p:nvPr/>
        </p:nvSpPr>
        <p:spPr>
          <a:xfrm>
            <a:off x="3227300" y="3143100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4;g32afc962a7a_1_9">
            <a:extLst>
              <a:ext uri="{FF2B5EF4-FFF2-40B4-BE49-F238E27FC236}">
                <a16:creationId xmlns:a16="http://schemas.microsoft.com/office/drawing/2014/main" id="{E29C784F-5AB4-4648-A2EA-6C345A8D0634}"/>
              </a:ext>
            </a:extLst>
          </p:cNvPr>
          <p:cNvSpPr/>
          <p:nvPr/>
        </p:nvSpPr>
        <p:spPr>
          <a:xfrm>
            <a:off x="4667100" y="4149253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94;g32afc962a7a_1_9">
            <a:extLst>
              <a:ext uri="{FF2B5EF4-FFF2-40B4-BE49-F238E27FC236}">
                <a16:creationId xmlns:a16="http://schemas.microsoft.com/office/drawing/2014/main" id="{50F94748-1C81-6493-EDA8-6F1C0000CDFA}"/>
              </a:ext>
            </a:extLst>
          </p:cNvPr>
          <p:cNvSpPr/>
          <p:nvPr/>
        </p:nvSpPr>
        <p:spPr>
          <a:xfrm>
            <a:off x="3654559" y="44810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4;g32afc962a7a_1_9">
            <a:extLst>
              <a:ext uri="{FF2B5EF4-FFF2-40B4-BE49-F238E27FC236}">
                <a16:creationId xmlns:a16="http://schemas.microsoft.com/office/drawing/2014/main" id="{ECF4CAC9-0E12-8112-95E9-82AC53ED57EA}"/>
              </a:ext>
            </a:extLst>
          </p:cNvPr>
          <p:cNvSpPr/>
          <p:nvPr/>
        </p:nvSpPr>
        <p:spPr>
          <a:xfrm>
            <a:off x="4126799" y="5358621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294;g32afc962a7a_1_9">
            <a:extLst>
              <a:ext uri="{FF2B5EF4-FFF2-40B4-BE49-F238E27FC236}">
                <a16:creationId xmlns:a16="http://schemas.microsoft.com/office/drawing/2014/main" id="{EC08488B-D1B4-8F0A-535F-647C5E7129BF}"/>
              </a:ext>
            </a:extLst>
          </p:cNvPr>
          <p:cNvSpPr/>
          <p:nvPr/>
        </p:nvSpPr>
        <p:spPr>
          <a:xfrm>
            <a:off x="6164758" y="5358621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ff4e9e484_0_10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성향 검사 수정</a:t>
            </a:r>
            <a:endParaRPr/>
          </a:p>
        </p:txBody>
      </p:sp>
      <p:sp>
        <p:nvSpPr>
          <p:cNvPr id="322" name="Google Shape;322;g32ff4e9e484_0_10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323" name="Google Shape;323;g32ff4e9e484_0_10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기존 선택되어 있던 위험단계에 빨간 글씨로 강조 표시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수정된 위험단계를 제출</a:t>
            </a:r>
            <a:endParaRPr lang="en-US" altLang="ko-KR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24" name="Google Shape;324;g32ff4e9e484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6190" cy="58251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4;g32afc962a7a_1_9">
            <a:extLst>
              <a:ext uri="{FF2B5EF4-FFF2-40B4-BE49-F238E27FC236}">
                <a16:creationId xmlns:a16="http://schemas.microsoft.com/office/drawing/2014/main" id="{3EC4AE20-3A07-EA0C-6E97-990DF5728A67}"/>
              </a:ext>
            </a:extLst>
          </p:cNvPr>
          <p:cNvSpPr/>
          <p:nvPr/>
        </p:nvSpPr>
        <p:spPr>
          <a:xfrm>
            <a:off x="3737545" y="288089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4;g32afc962a7a_1_9">
            <a:extLst>
              <a:ext uri="{FF2B5EF4-FFF2-40B4-BE49-F238E27FC236}">
                <a16:creationId xmlns:a16="http://schemas.microsoft.com/office/drawing/2014/main" id="{7ACED3EF-0914-CC2D-38DA-48355CF007BE}"/>
              </a:ext>
            </a:extLst>
          </p:cNvPr>
          <p:cNvSpPr/>
          <p:nvPr/>
        </p:nvSpPr>
        <p:spPr>
          <a:xfrm>
            <a:off x="4953000" y="5329125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2ff4e9e484_0_19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성향 검사 수정</a:t>
            </a:r>
            <a:endParaRPr/>
          </a:p>
        </p:txBody>
      </p:sp>
      <p:sp>
        <p:nvSpPr>
          <p:cNvPr id="331" name="Google Shape;331;g32ff4e9e484_0_19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332" name="Google Shape;332;g32ff4e9e484_0_19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기존 선택했던 관심업종에 체크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빨간글씨로 표시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수정된 관심업종을 제출</a:t>
            </a:r>
            <a:endParaRPr lang="en-US" altLang="ko-KR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33" name="Google Shape;333;g32ff4e9e484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119000" cy="593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4;g32afc962a7a_1_9">
            <a:extLst>
              <a:ext uri="{FF2B5EF4-FFF2-40B4-BE49-F238E27FC236}">
                <a16:creationId xmlns:a16="http://schemas.microsoft.com/office/drawing/2014/main" id="{C6D045D2-B0FF-AAC2-EE8D-42698C1509B8}"/>
              </a:ext>
            </a:extLst>
          </p:cNvPr>
          <p:cNvSpPr/>
          <p:nvPr/>
        </p:nvSpPr>
        <p:spPr>
          <a:xfrm>
            <a:off x="1324606" y="3887022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4;g32afc962a7a_1_9">
            <a:extLst>
              <a:ext uri="{FF2B5EF4-FFF2-40B4-BE49-F238E27FC236}">
                <a16:creationId xmlns:a16="http://schemas.microsoft.com/office/drawing/2014/main" id="{DBC5DD1C-05F2-191E-298D-0B77B27912E1}"/>
              </a:ext>
            </a:extLst>
          </p:cNvPr>
          <p:cNvSpPr/>
          <p:nvPr/>
        </p:nvSpPr>
        <p:spPr>
          <a:xfrm>
            <a:off x="4667100" y="634184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2ff4e9e484_0_29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성향 검사 수정</a:t>
            </a:r>
            <a:endParaRPr/>
          </a:p>
        </p:txBody>
      </p:sp>
      <p:sp>
        <p:nvSpPr>
          <p:cNvPr id="340" name="Google Shape;340;g32ff4e9e484_0_29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341" name="Google Shape;341;g32ff4e9e484_0_29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기존의 희망 수익률이 표시됨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수정된 희망 수익률을 제출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27E28C-1579-CC09-D7F7-129F777CDE8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" y="776473"/>
            <a:ext cx="7455600" cy="5821200"/>
          </a:xfrm>
          <a:prstGeom prst="rect">
            <a:avLst/>
          </a:prstGeom>
        </p:spPr>
      </p:pic>
      <p:sp>
        <p:nvSpPr>
          <p:cNvPr id="4" name="Google Shape;294;g32afc962a7a_1_9">
            <a:extLst>
              <a:ext uri="{FF2B5EF4-FFF2-40B4-BE49-F238E27FC236}">
                <a16:creationId xmlns:a16="http://schemas.microsoft.com/office/drawing/2014/main" id="{6CB9C84C-CB90-C4E3-19A8-55920C4612E5}"/>
              </a:ext>
            </a:extLst>
          </p:cNvPr>
          <p:cNvSpPr/>
          <p:nvPr/>
        </p:nvSpPr>
        <p:spPr>
          <a:xfrm>
            <a:off x="3714950" y="451304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4;g32afc962a7a_1_9">
            <a:extLst>
              <a:ext uri="{FF2B5EF4-FFF2-40B4-BE49-F238E27FC236}">
                <a16:creationId xmlns:a16="http://schemas.microsoft.com/office/drawing/2014/main" id="{A0101CCA-3B58-1595-2CFE-1ECA57527902}"/>
              </a:ext>
            </a:extLst>
          </p:cNvPr>
          <p:cNvSpPr/>
          <p:nvPr/>
        </p:nvSpPr>
        <p:spPr>
          <a:xfrm>
            <a:off x="5041200" y="5348789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ba37954f3_0_3"/>
          <p:cNvSpPr txBox="1">
            <a:spLocks noGrp="1"/>
          </p:cNvSpPr>
          <p:nvPr>
            <p:ph type="title"/>
          </p:nvPr>
        </p:nvSpPr>
        <p:spPr>
          <a:xfrm>
            <a:off x="273050" y="0"/>
            <a:ext cx="64803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ko-KR"/>
              <a:t>실시간 이슈 정보</a:t>
            </a:r>
            <a:endParaRPr/>
          </a:p>
        </p:txBody>
      </p:sp>
      <p:sp>
        <p:nvSpPr>
          <p:cNvPr id="349" name="Google Shape;349;g32ba37954f3_0_3"/>
          <p:cNvSpPr txBox="1">
            <a:spLocks noGrp="1"/>
          </p:cNvSpPr>
          <p:nvPr>
            <p:ph type="body" idx="1"/>
          </p:nvPr>
        </p:nvSpPr>
        <p:spPr>
          <a:xfrm>
            <a:off x="6307708" y="260327"/>
            <a:ext cx="33123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1083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Description</a:t>
            </a:r>
            <a:endParaRPr/>
          </a:p>
        </p:txBody>
      </p:sp>
      <p:sp>
        <p:nvSpPr>
          <p:cNvPr id="350" name="Google Shape;350;g32ba37954f3_0_3"/>
          <p:cNvSpPr/>
          <p:nvPr/>
        </p:nvSpPr>
        <p:spPr>
          <a:xfrm>
            <a:off x="7760991" y="620622"/>
            <a:ext cx="2145000" cy="6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000" tIns="0" rIns="3900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[1]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하루전 오전 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시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~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당일 오전 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시 뉴스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커뮤니티에서 많이 언급된 단어들의 워드 클라우드가 표시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r>
              <a:rPr 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[2]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이슈 업종을 시장별로 필터링</a:t>
            </a:r>
            <a:endParaRPr lang="en-US" altLang="ko-KR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lang="ko-KR" sz="1600" b="1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1600" b="1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]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실시간 이슈 업종의 순위를 뉴스기사수 증가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커뮤니티 반응의 증가 순위로 상위 </a:t>
            </a:r>
            <a:r>
              <a:rPr lang="en-US" altLang="ko-KR" sz="1600" b="1"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r>
              <a:rPr lang="ko-KR" altLang="en-US" sz="1600" b="1">
                <a:latin typeface="Malgun Gothic"/>
                <a:ea typeface="Malgun Gothic"/>
                <a:cs typeface="Malgun Gothic"/>
                <a:sym typeface="Malgun Gothic"/>
              </a:rPr>
              <a:t>위까지 표시</a:t>
            </a:r>
            <a:endParaRPr lang="en-US" altLang="ko-KR" sz="1600" b="1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lang="en-US"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[4]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이슈 종목의 순위를 뉴스기사수 증가</a:t>
            </a:r>
            <a:r>
              <a:rPr lang="en-US" alt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커뮤니티 반응의 증가 순위로 상위 </a:t>
            </a:r>
            <a:r>
              <a:rPr lang="en-US" altLang="ko-KR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r>
              <a:rPr lang="ko-KR" altLang="en-US"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위까지 표시</a:t>
            </a:r>
            <a:endParaRPr sz="16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endParaRPr sz="1600"/>
          </a:p>
        </p:txBody>
      </p:sp>
      <p:pic>
        <p:nvPicPr>
          <p:cNvPr id="351" name="Google Shape;351;g32ba37954f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3100"/>
            <a:ext cx="7455600" cy="58212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4;g32afc962a7a_1_9">
            <a:extLst>
              <a:ext uri="{FF2B5EF4-FFF2-40B4-BE49-F238E27FC236}">
                <a16:creationId xmlns:a16="http://schemas.microsoft.com/office/drawing/2014/main" id="{72937BED-EF2A-D2D5-6E1E-509D5FBD6F6B}"/>
              </a:ext>
            </a:extLst>
          </p:cNvPr>
          <p:cNvSpPr/>
          <p:nvPr/>
        </p:nvSpPr>
        <p:spPr>
          <a:xfrm>
            <a:off x="1422929" y="255642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4;g32afc962a7a_1_9">
            <a:extLst>
              <a:ext uri="{FF2B5EF4-FFF2-40B4-BE49-F238E27FC236}">
                <a16:creationId xmlns:a16="http://schemas.microsoft.com/office/drawing/2014/main" id="{4C8BC033-5C02-791E-D987-7508C0F7C4E8}"/>
              </a:ext>
            </a:extLst>
          </p:cNvPr>
          <p:cNvSpPr/>
          <p:nvPr/>
        </p:nvSpPr>
        <p:spPr>
          <a:xfrm>
            <a:off x="3513200" y="241347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94;g32afc962a7a_1_9">
            <a:extLst>
              <a:ext uri="{FF2B5EF4-FFF2-40B4-BE49-F238E27FC236}">
                <a16:creationId xmlns:a16="http://schemas.microsoft.com/office/drawing/2014/main" id="{8FA80CE1-C1F2-4EB2-5CB8-282059ED4F97}"/>
              </a:ext>
            </a:extLst>
          </p:cNvPr>
          <p:cNvSpPr/>
          <p:nvPr/>
        </p:nvSpPr>
        <p:spPr>
          <a:xfrm>
            <a:off x="3513200" y="2851777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4;g32afc962a7a_1_9">
            <a:extLst>
              <a:ext uri="{FF2B5EF4-FFF2-40B4-BE49-F238E27FC236}">
                <a16:creationId xmlns:a16="http://schemas.microsoft.com/office/drawing/2014/main" id="{05A063D4-20D7-4487-F9CD-432EB65C26A7}"/>
              </a:ext>
            </a:extLst>
          </p:cNvPr>
          <p:cNvSpPr/>
          <p:nvPr/>
        </p:nvSpPr>
        <p:spPr>
          <a:xfrm>
            <a:off x="1422929" y="4432414"/>
            <a:ext cx="285900" cy="285900"/>
          </a:xfrm>
          <a:prstGeom prst="rect">
            <a:avLst/>
          </a:prstGeom>
          <a:solidFill>
            <a:srgbClr val="C27BA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1247</Words>
  <Application>Microsoft Office PowerPoint</Application>
  <PresentationFormat>A4 용지(210x297mm)</PresentationFormat>
  <Paragraphs>387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Noto Sans Symbols</vt:lpstr>
      <vt:lpstr>Malgun Gothic</vt:lpstr>
      <vt:lpstr>Arial</vt:lpstr>
      <vt:lpstr>Office 테마</vt:lpstr>
      <vt:lpstr>화면 설계서</vt:lpstr>
      <vt:lpstr>초기 화면</vt:lpstr>
      <vt:lpstr>Header/Footer</vt:lpstr>
      <vt:lpstr>고객 성향 검사</vt:lpstr>
      <vt:lpstr>고객 성향 검사</vt:lpstr>
      <vt:lpstr>고객 성향 검사</vt:lpstr>
      <vt:lpstr>고객 성향 검사</vt:lpstr>
      <vt:lpstr>고객 성향 검사</vt:lpstr>
      <vt:lpstr>성향별 종목 추천</vt:lpstr>
      <vt:lpstr>성향별 종목 추천</vt:lpstr>
      <vt:lpstr>종목 리스트 조회 화면</vt:lpstr>
      <vt:lpstr>종목 상세 조회</vt:lpstr>
      <vt:lpstr>회원 가입</vt:lpstr>
      <vt:lpstr>로그인</vt:lpstr>
      <vt:lpstr>아이디/비밀번호 찾기</vt:lpstr>
      <vt:lpstr>회원 정보 조회</vt:lpstr>
      <vt:lpstr>회원 정보 조회</vt:lpstr>
      <vt:lpstr>회원 정보 수정</vt:lpstr>
      <vt:lpstr>회원 정보 수정</vt:lpstr>
      <vt:lpstr>고객 투자 성향 조회</vt:lpstr>
      <vt:lpstr>성향 검사 수정</vt:lpstr>
      <vt:lpstr>성향 검사 수정</vt:lpstr>
      <vt:lpstr>성향 검사 수정</vt:lpstr>
      <vt:lpstr>성향 검사 수정</vt:lpstr>
      <vt:lpstr>실시간 이슈 정보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loveme</dc:creator>
  <cp:lastModifiedBy>June K</cp:lastModifiedBy>
  <cp:revision>1</cp:revision>
  <dcterms:created xsi:type="dcterms:W3CDTF">2017-12-19T02:35:40Z</dcterms:created>
  <dcterms:modified xsi:type="dcterms:W3CDTF">2025-03-03T11:53:44Z</dcterms:modified>
</cp:coreProperties>
</file>