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notesMasterIdLst>
    <p:notesMasterId r:id="rId65"/>
  </p:notesMasterIdLst>
  <p:sldIdLst>
    <p:sldId id="257" r:id="rId2"/>
    <p:sldId id="258" r:id="rId3"/>
    <p:sldId id="277" r:id="rId4"/>
    <p:sldId id="260" r:id="rId5"/>
    <p:sldId id="267" r:id="rId6"/>
    <p:sldId id="268" r:id="rId7"/>
    <p:sldId id="269" r:id="rId8"/>
    <p:sldId id="270" r:id="rId9"/>
    <p:sldId id="263" r:id="rId10"/>
    <p:sldId id="262" r:id="rId11"/>
    <p:sldId id="264" r:id="rId12"/>
    <p:sldId id="266" r:id="rId13"/>
    <p:sldId id="271" r:id="rId14"/>
    <p:sldId id="274" r:id="rId15"/>
    <p:sldId id="279" r:id="rId16"/>
    <p:sldId id="278" r:id="rId17"/>
    <p:sldId id="276" r:id="rId18"/>
    <p:sldId id="309" r:id="rId19"/>
    <p:sldId id="280" r:id="rId20"/>
    <p:sldId id="281" r:id="rId21"/>
    <p:sldId id="282" r:id="rId22"/>
    <p:sldId id="311" r:id="rId23"/>
    <p:sldId id="287" r:id="rId24"/>
    <p:sldId id="305" r:id="rId25"/>
    <p:sldId id="325" r:id="rId26"/>
    <p:sldId id="326" r:id="rId27"/>
    <p:sldId id="327" r:id="rId28"/>
    <p:sldId id="330" r:id="rId29"/>
    <p:sldId id="331" r:id="rId30"/>
    <p:sldId id="283" r:id="rId31"/>
    <p:sldId id="288" r:id="rId32"/>
    <p:sldId id="290" r:id="rId33"/>
    <p:sldId id="328" r:id="rId34"/>
    <p:sldId id="329" r:id="rId35"/>
    <p:sldId id="289" r:id="rId36"/>
    <p:sldId id="285" r:id="rId37"/>
    <p:sldId id="296" r:id="rId38"/>
    <p:sldId id="297" r:id="rId39"/>
    <p:sldId id="292" r:id="rId40"/>
    <p:sldId id="298" r:id="rId41"/>
    <p:sldId id="299" r:id="rId42"/>
    <p:sldId id="310" r:id="rId43"/>
    <p:sldId id="308" r:id="rId44"/>
    <p:sldId id="293" r:id="rId45"/>
    <p:sldId id="294" r:id="rId46"/>
    <p:sldId id="295" r:id="rId47"/>
    <p:sldId id="300" r:id="rId48"/>
    <p:sldId id="304" r:id="rId49"/>
    <p:sldId id="303" r:id="rId50"/>
    <p:sldId id="306" r:id="rId51"/>
    <p:sldId id="301" r:id="rId52"/>
    <p:sldId id="307" r:id="rId53"/>
    <p:sldId id="314" r:id="rId54"/>
    <p:sldId id="313" r:id="rId55"/>
    <p:sldId id="316" r:id="rId56"/>
    <p:sldId id="315" r:id="rId57"/>
    <p:sldId id="317" r:id="rId58"/>
    <p:sldId id="320" r:id="rId59"/>
    <p:sldId id="319" r:id="rId60"/>
    <p:sldId id="323" r:id="rId61"/>
    <p:sldId id="324" r:id="rId62"/>
    <p:sldId id="322" r:id="rId63"/>
    <p:sldId id="321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D59"/>
    <a:srgbClr val="000000"/>
    <a:srgbClr val="B99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7" autoAdjust="0"/>
    <p:restoredTop sz="84686" autoAdjust="0"/>
  </p:normalViewPr>
  <p:slideViewPr>
    <p:cSldViewPr>
      <p:cViewPr varScale="1">
        <p:scale>
          <a:sx n="68" d="100"/>
          <a:sy n="68" d="100"/>
        </p:scale>
        <p:origin x="81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E775A4-FAFA-4521-887B-FA701D271C49}" type="datetimeFigureOut">
              <a:rPr lang="ko-KR" altLang="en-US" smtClean="0"/>
              <a:t>2025-03-04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C889B3-8536-438C-BBF1-11DF437984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864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889B3-8536-438C-BBF1-11DF4379845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520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889B3-8536-438C-BBF1-11DF4379845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78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889B3-8536-438C-BBF1-11DF4379845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569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889B3-8536-438C-BBF1-11DF4379845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23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889B3-8536-438C-BBF1-11DF4379845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92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889B3-8536-438C-BBF1-11DF43798457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561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889B3-8536-438C-BBF1-11DF43798457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096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889B3-8536-438C-BBF1-11DF43798457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271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889B3-8536-438C-BBF1-11DF43798457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395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889B3-8536-438C-BBF1-11DF43798457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729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889B3-8536-438C-BBF1-11DF43798457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292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889B3-8536-438C-BBF1-11DF43798457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159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889B3-8536-438C-BBF1-11DF43798457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87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53383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70321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8444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0507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381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43882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1768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738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45764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63661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57935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60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hyperlink" Target="https://github.com/park1200656/KnuSentiLex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52.jp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RZHj2SgIwyw?feature=oembed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 t="-9259" b="-9259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371600" y="1694282"/>
            <a:ext cx="9448800" cy="615553"/>
          </a:xfrm>
          <a:prstGeom prst="rect">
            <a:avLst/>
          </a:prstGeom>
        </p:spPr>
        <p:txBody>
          <a:bodyPr wrap="square" lIns="0" tIns="0" rIns="0" bIns="0" rtlCol="0" anchor="t" anchorCtr="0">
            <a:spAutoFit/>
          </a:bodyPr>
          <a:lstStyle/>
          <a:p>
            <a:pPr algn="ctr"/>
            <a:r>
              <a:rPr lang="ko-KR" altLang="en-US" sz="40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투자 성향별 종목 추천 플랫폼</a:t>
            </a:r>
            <a:endParaRPr lang="en-US" sz="40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253225" y="2577000"/>
            <a:ext cx="3685555" cy="615553"/>
          </a:xfrm>
          <a:prstGeom prst="rect">
            <a:avLst/>
          </a:prstGeom>
        </p:spPr>
        <p:txBody>
          <a:bodyPr lIns="0" tIns="0" rIns="0" bIns="0" rtlCol="0" anchor="ctr" anchorCtr="1">
            <a:spAutoFit/>
          </a:bodyPr>
          <a:lstStyle/>
          <a:p>
            <a:pPr algn="ctr"/>
            <a:r>
              <a:rPr lang="ko-KR" altLang="en-US" sz="40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스마트투자</a:t>
            </a:r>
            <a:endParaRPr lang="en-US" sz="4000" b="1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0" y="6385101"/>
            <a:ext cx="12192000" cy="5540"/>
          </a:xfrm>
          <a:prstGeom prst="line">
            <a:avLst/>
          </a:prstGeom>
          <a:ln w="28575" cap="flat">
            <a:solidFill>
              <a:srgbClr val="FFBD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00492409-3FBF-A651-FF8B-DF19C3255B7E}"/>
              </a:ext>
            </a:extLst>
          </p:cNvPr>
          <p:cNvSpPr txBox="1"/>
          <p:nvPr/>
        </p:nvSpPr>
        <p:spPr>
          <a:xfrm>
            <a:off x="328912" y="4905607"/>
            <a:ext cx="2970388" cy="1473525"/>
          </a:xfrm>
          <a:prstGeom prst="roundRect">
            <a:avLst/>
          </a:prstGeom>
          <a:noFill/>
          <a:ln>
            <a:noFill/>
          </a:ln>
          <a:effectLst/>
        </p:spPr>
        <p:txBody>
          <a:bodyPr wrap="none" lIns="360000" tIns="0" rIns="360000" bIns="0" rtlCol="0" anchor="ctr" anchorCtr="1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20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</a:t>
            </a:r>
            <a:r>
              <a:rPr lang="ko-KR" altLang="en-US" sz="20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팀 초보주식러</a:t>
            </a:r>
            <a:endParaRPr lang="en-US" altLang="ko-KR" sz="20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algn="r">
              <a:lnSpc>
                <a:spcPct val="150000"/>
              </a:lnSpc>
            </a:pPr>
            <a:r>
              <a:rPr lang="ko-KR" altLang="en-US" sz="20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김준우 김유진 박이담</a:t>
            </a:r>
            <a:endParaRPr lang="en-US" altLang="ko-KR" sz="20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algn="r">
              <a:lnSpc>
                <a:spcPct val="150000"/>
              </a:lnSpc>
            </a:pPr>
            <a:r>
              <a:rPr lang="en-US" altLang="ko-KR" sz="20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2025.03.06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6B6AECE4-E9A2-71FD-90AA-62B8C6CFEF76}"/>
              </a:ext>
            </a:extLst>
          </p:cNvPr>
          <p:cNvGrpSpPr/>
          <p:nvPr/>
        </p:nvGrpSpPr>
        <p:grpSpPr>
          <a:xfrm>
            <a:off x="0" y="1869747"/>
            <a:ext cx="2495550" cy="253535"/>
            <a:chOff x="0" y="0"/>
            <a:chExt cx="1273309" cy="187722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45446BC6-C84E-08C2-2BEA-9B47F70EB56B}"/>
                </a:ext>
              </a:extLst>
            </p:cNvPr>
            <p:cNvSpPr/>
            <p:nvPr/>
          </p:nvSpPr>
          <p:spPr>
            <a:xfrm>
              <a:off x="0" y="0"/>
              <a:ext cx="1273309" cy="187722"/>
            </a:xfrm>
            <a:custGeom>
              <a:avLst/>
              <a:gdLst/>
              <a:ahLst/>
              <a:cxnLst/>
              <a:rect l="l" t="t" r="r" b="b"/>
              <a:pathLst>
                <a:path w="1273309" h="187722">
                  <a:moveTo>
                    <a:pt x="0" y="0"/>
                  </a:moveTo>
                  <a:lnTo>
                    <a:pt x="1273309" y="0"/>
                  </a:lnTo>
                  <a:lnTo>
                    <a:pt x="1273309" y="187722"/>
                  </a:lnTo>
                  <a:lnTo>
                    <a:pt x="0" y="1877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BF90E269-9D06-5DBD-7D1C-8F8EFC4A92BC}"/>
                </a:ext>
              </a:extLst>
            </p:cNvPr>
            <p:cNvSpPr txBox="1"/>
            <p:nvPr/>
          </p:nvSpPr>
          <p:spPr>
            <a:xfrm>
              <a:off x="0" y="47625"/>
              <a:ext cx="1273309" cy="14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9"/>
                </a:lnSpc>
              </a:pPr>
              <a:endParaRPr/>
            </a:p>
          </p:txBody>
        </p:sp>
      </p:grpSp>
      <p:grpSp>
        <p:nvGrpSpPr>
          <p:cNvPr id="21" name="Group 2">
            <a:extLst>
              <a:ext uri="{FF2B5EF4-FFF2-40B4-BE49-F238E27FC236}">
                <a16:creationId xmlns:a16="http://schemas.microsoft.com/office/drawing/2014/main" id="{24A7EC85-DF45-33A1-9A5E-0B40E58B7F76}"/>
              </a:ext>
            </a:extLst>
          </p:cNvPr>
          <p:cNvGrpSpPr/>
          <p:nvPr/>
        </p:nvGrpSpPr>
        <p:grpSpPr>
          <a:xfrm>
            <a:off x="9696452" y="1855189"/>
            <a:ext cx="2495549" cy="259075"/>
            <a:chOff x="0" y="0"/>
            <a:chExt cx="1273309" cy="187722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4B487F14-6FCC-9E60-50F4-328E53781E92}"/>
                </a:ext>
              </a:extLst>
            </p:cNvPr>
            <p:cNvSpPr/>
            <p:nvPr/>
          </p:nvSpPr>
          <p:spPr>
            <a:xfrm>
              <a:off x="0" y="0"/>
              <a:ext cx="1273309" cy="187722"/>
            </a:xfrm>
            <a:custGeom>
              <a:avLst/>
              <a:gdLst/>
              <a:ahLst/>
              <a:cxnLst/>
              <a:rect l="l" t="t" r="r" b="b"/>
              <a:pathLst>
                <a:path w="1273309" h="187722">
                  <a:moveTo>
                    <a:pt x="0" y="0"/>
                  </a:moveTo>
                  <a:lnTo>
                    <a:pt x="1273309" y="0"/>
                  </a:lnTo>
                  <a:lnTo>
                    <a:pt x="1273309" y="187722"/>
                  </a:lnTo>
                  <a:lnTo>
                    <a:pt x="0" y="1877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893BD094-16B2-DF7D-AB49-ACF4C7A3ECD0}"/>
                </a:ext>
              </a:extLst>
            </p:cNvPr>
            <p:cNvSpPr txBox="1"/>
            <p:nvPr/>
          </p:nvSpPr>
          <p:spPr>
            <a:xfrm>
              <a:off x="0" y="47625"/>
              <a:ext cx="1273309" cy="14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908D4EA0-4D8A-FCA7-77B3-4A80760F5940}"/>
              </a:ext>
            </a:extLst>
          </p:cNvPr>
          <p:cNvSpPr>
            <a:spLocks/>
          </p:cNvSpPr>
          <p:nvPr/>
        </p:nvSpPr>
        <p:spPr>
          <a:xfrm>
            <a:off x="2" y="0"/>
            <a:ext cx="3938091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 wrap="square"/>
          <a:lstStyle/>
          <a:p>
            <a:endParaRPr lang="ko-KR" altLang="en-US"/>
          </a:p>
        </p:txBody>
      </p:sp>
      <p:sp>
        <p:nvSpPr>
          <p:cNvPr id="4" name="AutoShape 11">
            <a:extLst>
              <a:ext uri="{FF2B5EF4-FFF2-40B4-BE49-F238E27FC236}">
                <a16:creationId xmlns:a16="http://schemas.microsoft.com/office/drawing/2014/main" id="{5EFA9CF8-6676-0696-5737-14CA26DFFCF9}"/>
              </a:ext>
            </a:extLst>
          </p:cNvPr>
          <p:cNvSpPr/>
          <p:nvPr/>
        </p:nvSpPr>
        <p:spPr>
          <a:xfrm>
            <a:off x="3938094" y="558800"/>
            <a:ext cx="8253909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975674" y="20195"/>
            <a:ext cx="1372171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TT Hoves Bold"/>
                <a:ea typeface="TT Hoves Bold"/>
                <a:cs typeface="TT Hoves Bold"/>
                <a:sym typeface="TT Hoves Bold"/>
              </a:rPr>
              <a:t>INDEX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4CE1E9ED-9D4C-40FF-FFF5-BA9AF513D362}"/>
              </a:ext>
            </a:extLst>
          </p:cNvPr>
          <p:cNvSpPr txBox="1"/>
          <p:nvPr/>
        </p:nvSpPr>
        <p:spPr>
          <a:xfrm>
            <a:off x="4151784" y="1268760"/>
            <a:ext cx="3125856" cy="4401205"/>
          </a:xfrm>
          <a:prstGeom prst="rect">
            <a:avLst/>
          </a:prstGeom>
        </p:spPr>
        <p:txBody>
          <a:bodyPr wrap="none" lIns="0" tIns="0" rIns="0" bIns="0" rtlCol="0" anchor="t" anchorCtr="1">
            <a:spAutoFit/>
          </a:bodyPr>
          <a:lstStyle/>
          <a:p>
            <a:pPr marL="457189" indent="-457189">
              <a:buFont typeface="+mj-lt"/>
              <a:buAutoNum type="arabicPeriod"/>
            </a:pPr>
            <a:r>
              <a:rPr lang="ko-KR" altLang="en-US" sz="20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개요</a:t>
            </a:r>
            <a:endParaRPr lang="en-US" altLang="ko-KR" sz="20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1.1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주제</a:t>
            </a: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,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선정배경</a:t>
            </a: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,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기획의도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1.2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구조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1.3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내용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1.4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활용장비 및 재료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1.5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활용 방안 및 기대 효과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457189" indent="-457189">
              <a:spcBef>
                <a:spcPts val="1500"/>
              </a:spcBef>
              <a:buFont typeface="+mj-lt"/>
              <a:buAutoNum type="arabicPeriod" startAt="2"/>
            </a:pPr>
            <a:r>
              <a:rPr lang="ko-KR" altLang="en-US" sz="20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팀구성 및 역할</a:t>
            </a:r>
            <a:endParaRPr lang="en-US" altLang="ko-KR" sz="20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2.1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팀원 역할 및 담당 업무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457189" indent="-457189">
              <a:spcBef>
                <a:spcPts val="1500"/>
              </a:spcBef>
              <a:buFont typeface="+mj-lt"/>
              <a:buAutoNum type="arabicPeriod" startAt="3"/>
            </a:pPr>
            <a:r>
              <a:rPr lang="ko-KR" altLang="en-US" sz="20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altLang="ko-KR" sz="20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3.1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단계별 진행절차 및 활동내용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8B855759-5786-8E66-817E-8CF111469EE6}"/>
              </a:ext>
            </a:extLst>
          </p:cNvPr>
          <p:cNvSpPr txBox="1"/>
          <p:nvPr/>
        </p:nvSpPr>
        <p:spPr>
          <a:xfrm>
            <a:off x="7104112" y="1268760"/>
            <a:ext cx="2489143" cy="4431983"/>
          </a:xfrm>
          <a:prstGeom prst="rect">
            <a:avLst/>
          </a:prstGeom>
        </p:spPr>
        <p:txBody>
          <a:bodyPr wrap="none" lIns="0" tIns="0" rIns="0" bIns="0" rtlCol="0" anchor="t" anchorCtr="1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ko-KR" altLang="en-US" sz="20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경과</a:t>
            </a:r>
            <a:endParaRPr lang="en-US" altLang="ko-KR" sz="20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4.1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기능 정의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4.2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프로세스 설계서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4.3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데이터베이스 구조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4.4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데이터 시각화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4.5 AI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모델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4.6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소요 기술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4.7 S/W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아키텍처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4.8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시스템 아키텍처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4.9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화면설계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4.10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시연 시나리오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4.11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동영상 시연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59991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4.12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세부 산출물 목록 및 첨부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17FD42B-2EE2-294F-BD4F-D64B4C5F1303}"/>
              </a:ext>
            </a:extLst>
          </p:cNvPr>
          <p:cNvSpPr txBox="1"/>
          <p:nvPr/>
        </p:nvSpPr>
        <p:spPr>
          <a:xfrm>
            <a:off x="9696400" y="1268760"/>
            <a:ext cx="2405787" cy="1990288"/>
          </a:xfrm>
          <a:prstGeom prst="rect">
            <a:avLst/>
          </a:prstGeom>
        </p:spPr>
        <p:txBody>
          <a:bodyPr wrap="none" lIns="0" tIns="0" rIns="0" bIns="0" rtlCol="0" anchor="t" anchorCtr="1">
            <a:spAutoFit/>
          </a:bodyPr>
          <a:lstStyle/>
          <a:p>
            <a:pPr marL="457200" indent="-457200">
              <a:spcBef>
                <a:spcPts val="1500"/>
              </a:spcBef>
              <a:buFont typeface="+mj-lt"/>
              <a:buAutoNum type="arabicPeriod" startAt="5"/>
            </a:pPr>
            <a:r>
              <a:rPr lang="ko-KR" altLang="en-US" sz="20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자체 평가 의견</a:t>
            </a:r>
            <a:endParaRPr lang="en-US" altLang="ko-KR" sz="20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60000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5.1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평가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60000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5.2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잘한부분과 아쉬운 부분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60000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5.3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추후 개선 및 보완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pPr marL="360000">
              <a:spcBef>
                <a:spcPts val="1000"/>
              </a:spcBef>
            </a:pPr>
            <a:r>
              <a:rPr lang="en-US" altLang="ko-KR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5.4 </a:t>
            </a:r>
            <a:r>
              <a:rPr lang="ko-KR" altLang="en-US" sz="14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느낀 점 및 경험한 성과</a:t>
            </a:r>
            <a:endParaRPr lang="en-US" altLang="ko-KR" sz="14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  <a:p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1287461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540FFA2F-72BE-FB69-027B-9D1C9FF8C7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50000"/>
            </a:blip>
            <a:srcRect/>
            <a:stretch>
              <a:fillRect t="-9259" b="-9259"/>
            </a:stretch>
          </a:blipFill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0FF5E-F5CB-E18D-1BC9-3DE9763CF4F1}"/>
              </a:ext>
            </a:extLst>
          </p:cNvPr>
          <p:cNvSpPr txBox="1"/>
          <p:nvPr/>
        </p:nvSpPr>
        <p:spPr>
          <a:xfrm>
            <a:off x="1991544" y="2708920"/>
            <a:ext cx="84016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1.</a:t>
            </a:r>
            <a:r>
              <a:rPr lang="ko-KR" altLang="en-US" sz="100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프로젝트 개요</a:t>
            </a:r>
          </a:p>
        </p:txBody>
      </p:sp>
    </p:spTree>
    <p:extLst>
      <p:ext uri="{BB962C8B-B14F-4D97-AF65-F5344CB8AC3E}">
        <p14:creationId xmlns:p14="http://schemas.microsoft.com/office/powerpoint/2010/main" val="326581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326050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 spc="3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 </a:t>
            </a:r>
            <a:r>
              <a:rPr lang="ko-KR" altLang="en-US" sz="3500" b="1" spc="3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개요</a:t>
            </a:r>
            <a:endParaRPr lang="en-US" sz="3500" b="1" spc="3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565079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1.1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주제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선정배경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기획의도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197BBE5B-2E5E-A3C8-959B-BBD9D0D3128D}"/>
              </a:ext>
            </a:extLst>
          </p:cNvPr>
          <p:cNvGrpSpPr/>
          <p:nvPr/>
        </p:nvGrpSpPr>
        <p:grpSpPr>
          <a:xfrm>
            <a:off x="1055440" y="2384884"/>
            <a:ext cx="10081120" cy="2088231"/>
            <a:chOff x="0" y="0"/>
            <a:chExt cx="1293710" cy="825345"/>
          </a:xfrm>
          <a:solidFill>
            <a:schemeClr val="tx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6D2D98FF-ACEC-227D-4566-94BB0B84C44A}"/>
                </a:ext>
              </a:extLst>
            </p:cNvPr>
            <p:cNvSpPr/>
            <p:nvPr/>
          </p:nvSpPr>
          <p:spPr>
            <a:xfrm>
              <a:off x="0" y="0"/>
              <a:ext cx="1293710" cy="825345"/>
            </a:xfrm>
            <a:custGeom>
              <a:avLst/>
              <a:gdLst/>
              <a:ahLst/>
              <a:cxnLst/>
              <a:rect l="l" t="t" r="r" b="b"/>
              <a:pathLst>
                <a:path w="1293710" h="825345">
                  <a:moveTo>
                    <a:pt x="31522" y="0"/>
                  </a:moveTo>
                  <a:lnTo>
                    <a:pt x="1262188" y="0"/>
                  </a:lnTo>
                  <a:cubicBezTo>
                    <a:pt x="1279597" y="0"/>
                    <a:pt x="1293710" y="14113"/>
                    <a:pt x="1293710" y="31522"/>
                  </a:cubicBezTo>
                  <a:lnTo>
                    <a:pt x="1293710" y="793823"/>
                  </a:lnTo>
                  <a:cubicBezTo>
                    <a:pt x="1293710" y="811233"/>
                    <a:pt x="1279597" y="825345"/>
                    <a:pt x="1262188" y="825345"/>
                  </a:cubicBezTo>
                  <a:lnTo>
                    <a:pt x="31522" y="825345"/>
                  </a:lnTo>
                  <a:cubicBezTo>
                    <a:pt x="14113" y="825345"/>
                    <a:pt x="0" y="811233"/>
                    <a:pt x="0" y="793823"/>
                  </a:cubicBezTo>
                  <a:lnTo>
                    <a:pt x="0" y="31522"/>
                  </a:lnTo>
                  <a:cubicBezTo>
                    <a:pt x="0" y="14113"/>
                    <a:pt x="14113" y="0"/>
                    <a:pt x="31522" y="0"/>
                  </a:cubicBezTo>
                  <a:close/>
                </a:path>
              </a:pathLst>
            </a:custGeom>
            <a:grpFill/>
            <a:ln w="25400" cap="rnd">
              <a:solidFill>
                <a:schemeClr val="bg1"/>
              </a:solidFill>
            </a:ln>
          </p:spPr>
        </p:sp>
        <p:sp>
          <p:nvSpPr>
            <p:cNvPr id="5" name="TextBox 6">
              <a:extLst>
                <a:ext uri="{FF2B5EF4-FFF2-40B4-BE49-F238E27FC236}">
                  <a16:creationId xmlns:a16="http://schemas.microsoft.com/office/drawing/2014/main" id="{C92C92E8-0498-86F5-4E8B-2B44FD6E7B8B}"/>
                </a:ext>
              </a:extLst>
            </p:cNvPr>
            <p:cNvSpPr txBox="1"/>
            <p:nvPr/>
          </p:nvSpPr>
          <p:spPr>
            <a:xfrm>
              <a:off x="0" y="-38100"/>
              <a:ext cx="1293710" cy="863445"/>
            </a:xfrm>
            <a:prstGeom prst="rect">
              <a:avLst/>
            </a:prstGeom>
            <a:grpFill/>
            <a:ln w="25400" cap="rnd"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AD5CB57C-04E2-45CE-C50D-7BF401E6F257}"/>
              </a:ext>
            </a:extLst>
          </p:cNvPr>
          <p:cNvGrpSpPr/>
          <p:nvPr/>
        </p:nvGrpSpPr>
        <p:grpSpPr>
          <a:xfrm>
            <a:off x="4799856" y="2004307"/>
            <a:ext cx="1919486" cy="540001"/>
            <a:chOff x="0" y="-14"/>
            <a:chExt cx="1273309" cy="22151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FCEEC295-A132-863D-BBFB-35171D3FE4AB}"/>
                </a:ext>
              </a:extLst>
            </p:cNvPr>
            <p:cNvSpPr/>
            <p:nvPr/>
          </p:nvSpPr>
          <p:spPr>
            <a:xfrm>
              <a:off x="79262" y="-14"/>
              <a:ext cx="1194047" cy="221513"/>
            </a:xfrm>
            <a:custGeom>
              <a:avLst/>
              <a:gdLst/>
              <a:ahLst/>
              <a:cxnLst/>
              <a:rect l="l" t="t" r="r" b="b"/>
              <a:pathLst>
                <a:path w="1273309" h="187722">
                  <a:moveTo>
                    <a:pt x="0" y="0"/>
                  </a:moveTo>
                  <a:lnTo>
                    <a:pt x="1273309" y="0"/>
                  </a:lnTo>
                  <a:lnTo>
                    <a:pt x="1273309" y="187722"/>
                  </a:lnTo>
                  <a:lnTo>
                    <a:pt x="0" y="1877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250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주제</a:t>
              </a:r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A0BB80B4-E474-E004-1E53-B71F6B02722F}"/>
                </a:ext>
              </a:extLst>
            </p:cNvPr>
            <p:cNvSpPr txBox="1"/>
            <p:nvPr/>
          </p:nvSpPr>
          <p:spPr>
            <a:xfrm>
              <a:off x="0" y="47625"/>
              <a:ext cx="1273309" cy="14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9"/>
                </a:lnSpc>
              </a:pPr>
              <a:endParaRPr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C558584-CC6F-DB97-76DF-15EA94EA1180}"/>
              </a:ext>
            </a:extLst>
          </p:cNvPr>
          <p:cNvSpPr txBox="1"/>
          <p:nvPr/>
        </p:nvSpPr>
        <p:spPr>
          <a:xfrm>
            <a:off x="1883532" y="3113528"/>
            <a:ext cx="816120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주식 초심자들을 위한 성향별 종목 추천 플랫폼</a:t>
            </a:r>
          </a:p>
        </p:txBody>
      </p:sp>
    </p:spTree>
    <p:extLst>
      <p:ext uri="{BB962C8B-B14F-4D97-AF65-F5344CB8AC3E}">
        <p14:creationId xmlns:p14="http://schemas.microsoft.com/office/powerpoint/2010/main" val="2096751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326050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 spc="3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 </a:t>
            </a:r>
            <a:r>
              <a:rPr lang="ko-KR" altLang="en-US" sz="3500" b="1" spc="3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개요</a:t>
            </a:r>
            <a:endParaRPr lang="en-US" sz="3500" b="1" spc="3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565079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1.1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주제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선정배경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기획의도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A0BB80B4-E474-E004-1E53-B71F6B02722F}"/>
              </a:ext>
            </a:extLst>
          </p:cNvPr>
          <p:cNvSpPr txBox="1"/>
          <p:nvPr/>
        </p:nvSpPr>
        <p:spPr>
          <a:xfrm>
            <a:off x="4799856" y="2120441"/>
            <a:ext cx="1919486" cy="34152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499"/>
              </a:lnSpc>
            </a:pPr>
            <a:endParaRPr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5FD55200-FC7B-64B0-BF3B-C07BBC8B8405}"/>
              </a:ext>
            </a:extLst>
          </p:cNvPr>
          <p:cNvGrpSpPr/>
          <p:nvPr/>
        </p:nvGrpSpPr>
        <p:grpSpPr>
          <a:xfrm>
            <a:off x="1487488" y="1958669"/>
            <a:ext cx="8928992" cy="1542338"/>
            <a:chOff x="0" y="0"/>
            <a:chExt cx="1293710" cy="825345"/>
          </a:xfrm>
          <a:solidFill>
            <a:schemeClr val="tx1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29E24B25-F796-E174-674A-6B0523117D6B}"/>
                </a:ext>
              </a:extLst>
            </p:cNvPr>
            <p:cNvSpPr/>
            <p:nvPr/>
          </p:nvSpPr>
          <p:spPr>
            <a:xfrm>
              <a:off x="0" y="0"/>
              <a:ext cx="1293710" cy="825345"/>
            </a:xfrm>
            <a:custGeom>
              <a:avLst/>
              <a:gdLst/>
              <a:ahLst/>
              <a:cxnLst/>
              <a:rect l="l" t="t" r="r" b="b"/>
              <a:pathLst>
                <a:path w="1293710" h="825345">
                  <a:moveTo>
                    <a:pt x="31522" y="0"/>
                  </a:moveTo>
                  <a:lnTo>
                    <a:pt x="1262188" y="0"/>
                  </a:lnTo>
                  <a:cubicBezTo>
                    <a:pt x="1279597" y="0"/>
                    <a:pt x="1293710" y="14113"/>
                    <a:pt x="1293710" y="31522"/>
                  </a:cubicBezTo>
                  <a:lnTo>
                    <a:pt x="1293710" y="793823"/>
                  </a:lnTo>
                  <a:cubicBezTo>
                    <a:pt x="1293710" y="811233"/>
                    <a:pt x="1279597" y="825345"/>
                    <a:pt x="1262188" y="825345"/>
                  </a:cubicBezTo>
                  <a:lnTo>
                    <a:pt x="31522" y="825345"/>
                  </a:lnTo>
                  <a:cubicBezTo>
                    <a:pt x="14113" y="825345"/>
                    <a:pt x="0" y="811233"/>
                    <a:pt x="0" y="793823"/>
                  </a:cubicBezTo>
                  <a:lnTo>
                    <a:pt x="0" y="31522"/>
                  </a:lnTo>
                  <a:cubicBezTo>
                    <a:pt x="0" y="14113"/>
                    <a:pt x="14113" y="0"/>
                    <a:pt x="31522" y="0"/>
                  </a:cubicBezTo>
                  <a:close/>
                </a:path>
              </a:pathLst>
            </a:custGeom>
            <a:grpFill/>
            <a:ln w="25400" cap="rnd">
              <a:solidFill>
                <a:schemeClr val="bg1"/>
              </a:solidFill>
            </a:ln>
          </p:spPr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C7AEAB1B-4DEC-A4E0-37DF-2D46E9FF618B}"/>
                </a:ext>
              </a:extLst>
            </p:cNvPr>
            <p:cNvSpPr txBox="1"/>
            <p:nvPr/>
          </p:nvSpPr>
          <p:spPr>
            <a:xfrm>
              <a:off x="0" y="-38100"/>
              <a:ext cx="1293710" cy="863445"/>
            </a:xfrm>
            <a:prstGeom prst="rect">
              <a:avLst/>
            </a:prstGeom>
            <a:grpFill/>
            <a:ln w="25400" cap="rnd"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6" name="Group 2">
            <a:extLst>
              <a:ext uri="{FF2B5EF4-FFF2-40B4-BE49-F238E27FC236}">
                <a16:creationId xmlns:a16="http://schemas.microsoft.com/office/drawing/2014/main" id="{FB98E638-5C52-EAE3-579D-7419CABB1C76}"/>
              </a:ext>
            </a:extLst>
          </p:cNvPr>
          <p:cNvGrpSpPr/>
          <p:nvPr/>
        </p:nvGrpSpPr>
        <p:grpSpPr>
          <a:xfrm>
            <a:off x="479376" y="1576526"/>
            <a:ext cx="1919486" cy="540001"/>
            <a:chOff x="0" y="-14"/>
            <a:chExt cx="1273309" cy="221513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89E83DBA-7514-115D-7990-8EA8FB38056C}"/>
                </a:ext>
              </a:extLst>
            </p:cNvPr>
            <p:cNvSpPr/>
            <p:nvPr/>
          </p:nvSpPr>
          <p:spPr>
            <a:xfrm>
              <a:off x="79262" y="-14"/>
              <a:ext cx="1194047" cy="221513"/>
            </a:xfrm>
            <a:custGeom>
              <a:avLst/>
              <a:gdLst/>
              <a:ahLst/>
              <a:cxnLst/>
              <a:rect l="l" t="t" r="r" b="b"/>
              <a:pathLst>
                <a:path w="1273309" h="187722">
                  <a:moveTo>
                    <a:pt x="0" y="0"/>
                  </a:moveTo>
                  <a:lnTo>
                    <a:pt x="1273309" y="0"/>
                  </a:lnTo>
                  <a:lnTo>
                    <a:pt x="1273309" y="187722"/>
                  </a:lnTo>
                  <a:lnTo>
                    <a:pt x="0" y="1877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250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선정배경</a:t>
              </a:r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75A960EA-27D5-4D7E-3140-4A03A041B309}"/>
                </a:ext>
              </a:extLst>
            </p:cNvPr>
            <p:cNvSpPr txBox="1"/>
            <p:nvPr/>
          </p:nvSpPr>
          <p:spPr>
            <a:xfrm>
              <a:off x="0" y="47625"/>
              <a:ext cx="1273309" cy="14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9"/>
                </a:lnSpc>
              </a:pPr>
              <a:endParaRPr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C329FED-6756-9F79-8EEB-BA1D45310969}"/>
              </a:ext>
            </a:extLst>
          </p:cNvPr>
          <p:cNvSpPr txBox="1"/>
          <p:nvPr/>
        </p:nvSpPr>
        <p:spPr>
          <a:xfrm>
            <a:off x="1787339" y="2201808"/>
            <a:ext cx="832928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투자 시장이 거대해진 반면</a:t>
            </a:r>
            <a:r>
              <a:rPr lang="en-US" altLang="ko-KR" sz="17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17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주식에 대해 미약한 지식을 가지고 투자에 도전하려는 개인투자자들이 꾸준히 증가하고 있고</a:t>
            </a:r>
            <a:r>
              <a:rPr lang="en-US" altLang="ko-KR" sz="17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1700" u="sng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주식 관련 지식 부족</a:t>
            </a:r>
            <a:r>
              <a:rPr lang="ko-KR" altLang="en-US" sz="17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으로 그에 따른 실패 경험도 많이 발생하고 있습니다</a:t>
            </a:r>
            <a:r>
              <a:rPr lang="en-US" altLang="ko-KR" sz="17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  <a:p>
            <a:r>
              <a:rPr lang="ko-KR" altLang="en-US" sz="17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이러한 실패 경험을 줄이고자</a:t>
            </a:r>
            <a:r>
              <a:rPr lang="en-US" altLang="ko-KR" sz="1700" u="sng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1700" u="sng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초보 투자자 에게도 접근성이 좋고 직관적인 정보를 제공</a:t>
            </a:r>
            <a:r>
              <a:rPr lang="ko-KR" altLang="en-US" sz="17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하는 플랫폼의 필요성을 인지하였습니다</a:t>
            </a:r>
            <a:r>
              <a:rPr lang="en-US" altLang="ko-KR" sz="17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  <a:p>
            <a:endParaRPr lang="ko-KR" altLang="en-US" sz="17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21B05858-320F-530D-AEDD-E5796134CA01}"/>
              </a:ext>
            </a:extLst>
          </p:cNvPr>
          <p:cNvGrpSpPr/>
          <p:nvPr/>
        </p:nvGrpSpPr>
        <p:grpSpPr>
          <a:xfrm>
            <a:off x="1487488" y="4232350"/>
            <a:ext cx="8928992" cy="1687758"/>
            <a:chOff x="0" y="0"/>
            <a:chExt cx="1293710" cy="825345"/>
          </a:xfrm>
          <a:solidFill>
            <a:schemeClr val="tx1"/>
          </a:solidFill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A0A4C0A5-5E55-C1D1-60EE-3ECA09C6A30D}"/>
                </a:ext>
              </a:extLst>
            </p:cNvPr>
            <p:cNvSpPr/>
            <p:nvPr/>
          </p:nvSpPr>
          <p:spPr>
            <a:xfrm>
              <a:off x="0" y="0"/>
              <a:ext cx="1293710" cy="825345"/>
            </a:xfrm>
            <a:custGeom>
              <a:avLst/>
              <a:gdLst/>
              <a:ahLst/>
              <a:cxnLst/>
              <a:rect l="l" t="t" r="r" b="b"/>
              <a:pathLst>
                <a:path w="1293710" h="825345">
                  <a:moveTo>
                    <a:pt x="31522" y="0"/>
                  </a:moveTo>
                  <a:lnTo>
                    <a:pt x="1262188" y="0"/>
                  </a:lnTo>
                  <a:cubicBezTo>
                    <a:pt x="1279597" y="0"/>
                    <a:pt x="1293710" y="14113"/>
                    <a:pt x="1293710" y="31522"/>
                  </a:cubicBezTo>
                  <a:lnTo>
                    <a:pt x="1293710" y="793823"/>
                  </a:lnTo>
                  <a:cubicBezTo>
                    <a:pt x="1293710" y="811233"/>
                    <a:pt x="1279597" y="825345"/>
                    <a:pt x="1262188" y="825345"/>
                  </a:cubicBezTo>
                  <a:lnTo>
                    <a:pt x="31522" y="825345"/>
                  </a:lnTo>
                  <a:cubicBezTo>
                    <a:pt x="14113" y="825345"/>
                    <a:pt x="0" y="811233"/>
                    <a:pt x="0" y="793823"/>
                  </a:cubicBezTo>
                  <a:lnTo>
                    <a:pt x="0" y="31522"/>
                  </a:lnTo>
                  <a:cubicBezTo>
                    <a:pt x="0" y="14113"/>
                    <a:pt x="14113" y="0"/>
                    <a:pt x="31522" y="0"/>
                  </a:cubicBezTo>
                  <a:close/>
                </a:path>
              </a:pathLst>
            </a:custGeom>
            <a:grpFill/>
            <a:ln w="25400" cap="rnd">
              <a:solidFill>
                <a:schemeClr val="bg1"/>
              </a:solidFill>
            </a:ln>
          </p:spPr>
        </p:sp>
        <p:sp>
          <p:nvSpPr>
            <p:cNvPr id="22" name="TextBox 6">
              <a:extLst>
                <a:ext uri="{FF2B5EF4-FFF2-40B4-BE49-F238E27FC236}">
                  <a16:creationId xmlns:a16="http://schemas.microsoft.com/office/drawing/2014/main" id="{073775FE-DEF5-5952-2C75-92F4E9453815}"/>
                </a:ext>
              </a:extLst>
            </p:cNvPr>
            <p:cNvSpPr txBox="1"/>
            <p:nvPr/>
          </p:nvSpPr>
          <p:spPr>
            <a:xfrm>
              <a:off x="0" y="-38100"/>
              <a:ext cx="1293710" cy="863445"/>
            </a:xfrm>
            <a:prstGeom prst="rect">
              <a:avLst/>
            </a:prstGeom>
            <a:grpFill/>
            <a:ln w="25400" cap="rnd"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3" name="Group 2">
            <a:extLst>
              <a:ext uri="{FF2B5EF4-FFF2-40B4-BE49-F238E27FC236}">
                <a16:creationId xmlns:a16="http://schemas.microsoft.com/office/drawing/2014/main" id="{6C37E041-469C-1A3D-2F10-2836AABEE598}"/>
              </a:ext>
            </a:extLst>
          </p:cNvPr>
          <p:cNvGrpSpPr/>
          <p:nvPr/>
        </p:nvGrpSpPr>
        <p:grpSpPr>
          <a:xfrm>
            <a:off x="479376" y="3850207"/>
            <a:ext cx="1919486" cy="540001"/>
            <a:chOff x="0" y="-14"/>
            <a:chExt cx="1273309" cy="221513"/>
          </a:xfrm>
        </p:grpSpPr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1E3543AF-D066-3ADC-3404-BE1F5624A185}"/>
                </a:ext>
              </a:extLst>
            </p:cNvPr>
            <p:cNvSpPr/>
            <p:nvPr/>
          </p:nvSpPr>
          <p:spPr>
            <a:xfrm>
              <a:off x="79262" y="-14"/>
              <a:ext cx="1194047" cy="221513"/>
            </a:xfrm>
            <a:custGeom>
              <a:avLst/>
              <a:gdLst/>
              <a:ahLst/>
              <a:cxnLst/>
              <a:rect l="l" t="t" r="r" b="b"/>
              <a:pathLst>
                <a:path w="1273309" h="187722">
                  <a:moveTo>
                    <a:pt x="0" y="0"/>
                  </a:moveTo>
                  <a:lnTo>
                    <a:pt x="1273309" y="0"/>
                  </a:lnTo>
                  <a:lnTo>
                    <a:pt x="1273309" y="187722"/>
                  </a:lnTo>
                  <a:lnTo>
                    <a:pt x="0" y="1877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250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기획의도</a:t>
              </a:r>
            </a:p>
          </p:txBody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BBD86646-9BD9-D0E4-2B3B-C91319D89F43}"/>
                </a:ext>
              </a:extLst>
            </p:cNvPr>
            <p:cNvSpPr txBox="1"/>
            <p:nvPr/>
          </p:nvSpPr>
          <p:spPr>
            <a:xfrm>
              <a:off x="0" y="47625"/>
              <a:ext cx="1273309" cy="14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9"/>
                </a:lnSpc>
              </a:pPr>
              <a:endParaRPr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11F0A30-621F-415B-87B8-5BC149493EC2}"/>
              </a:ext>
            </a:extLst>
          </p:cNvPr>
          <p:cNvSpPr txBox="1"/>
          <p:nvPr/>
        </p:nvSpPr>
        <p:spPr>
          <a:xfrm>
            <a:off x="1941977" y="4442780"/>
            <a:ext cx="8330487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본 프로젝트는 주식 관련 지식이 부족한 초보 투자자들의 투자 선택에 도움을 주기 위해 기획 되었습니다</a:t>
            </a:r>
            <a:r>
              <a:rPr lang="en-US" altLang="ko-KR" sz="17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  <a:p>
            <a:r>
              <a:rPr lang="ko-KR" altLang="en-US" sz="1700" u="sng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과거 종목 지표와 고객의 투자 성향을 기반으로 투자하기에 적합한 종목 리스트를 제공</a:t>
            </a:r>
            <a:r>
              <a:rPr lang="ko-KR" altLang="en-US" sz="17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하고</a:t>
            </a:r>
            <a:r>
              <a:rPr lang="en-US" altLang="ko-KR" sz="17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17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직관적인 시장 트렌드 파악을 통해 </a:t>
            </a:r>
            <a:r>
              <a:rPr lang="ko-KR" altLang="en-US" sz="1700" u="sng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관련 지식이 다소 부족하더라도 투자 시장에 쉽게 접근</a:t>
            </a:r>
            <a:r>
              <a:rPr lang="ko-KR" altLang="en-US" sz="17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할 수 있도록 하려고 합니다</a:t>
            </a:r>
            <a:r>
              <a:rPr lang="en-US" altLang="ko-KR" sz="17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  <a:endParaRPr lang="ko-KR" altLang="en-US" sz="17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9762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326050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 spc="3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 </a:t>
            </a:r>
            <a:r>
              <a:rPr lang="ko-KR" altLang="en-US" sz="3500" b="1" spc="3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개요</a:t>
            </a:r>
            <a:endParaRPr lang="en-US" sz="3500" b="1" spc="3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565079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1.1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주제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선정배경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기획의도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A0BB80B4-E474-E004-1E53-B71F6B02722F}"/>
              </a:ext>
            </a:extLst>
          </p:cNvPr>
          <p:cNvSpPr txBox="1"/>
          <p:nvPr/>
        </p:nvSpPr>
        <p:spPr>
          <a:xfrm>
            <a:off x="4799856" y="2120441"/>
            <a:ext cx="1919486" cy="34152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499"/>
              </a:lnSpc>
            </a:pPr>
            <a:endParaRPr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75A960EA-27D5-4D7E-3140-4A03A041B309}"/>
              </a:ext>
            </a:extLst>
          </p:cNvPr>
          <p:cNvSpPr txBox="1"/>
          <p:nvPr/>
        </p:nvSpPr>
        <p:spPr>
          <a:xfrm>
            <a:off x="479376" y="1692660"/>
            <a:ext cx="1919486" cy="34152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499"/>
              </a:lnSpc>
            </a:pPr>
            <a:endParaRPr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5" name="TextBox 4">
            <a:extLst>
              <a:ext uri="{FF2B5EF4-FFF2-40B4-BE49-F238E27FC236}">
                <a16:creationId xmlns:a16="http://schemas.microsoft.com/office/drawing/2014/main" id="{BBD86646-9BD9-D0E4-2B3B-C91319D89F43}"/>
              </a:ext>
            </a:extLst>
          </p:cNvPr>
          <p:cNvSpPr txBox="1"/>
          <p:nvPr/>
        </p:nvSpPr>
        <p:spPr>
          <a:xfrm>
            <a:off x="479376" y="3966341"/>
            <a:ext cx="1919486" cy="34152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499"/>
              </a:lnSpc>
            </a:pPr>
            <a:endParaRPr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pic>
        <p:nvPicPr>
          <p:cNvPr id="3" name="그림 2" descr="텍스트, 스크린샷, 라인, 도표이(가) 표시된 사진&#10;&#10;자동 생성된 설명">
            <a:extLst>
              <a:ext uri="{FF2B5EF4-FFF2-40B4-BE49-F238E27FC236}">
                <a16:creationId xmlns:a16="http://schemas.microsoft.com/office/drawing/2014/main" id="{0F167A77-1BF2-4FD5-12D5-71740870B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556792"/>
            <a:ext cx="3888432" cy="38528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33F25D-B3F1-D413-1142-2281B712EFCF}"/>
              </a:ext>
            </a:extLst>
          </p:cNvPr>
          <p:cNvSpPr txBox="1"/>
          <p:nvPr/>
        </p:nvSpPr>
        <p:spPr>
          <a:xfrm>
            <a:off x="1055440" y="5621977"/>
            <a:ext cx="3488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투자 시장에 뛰어드는 개인 투자자 수 증가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8086F-E726-C068-DE12-C48DE84DE304}"/>
              </a:ext>
            </a:extLst>
          </p:cNvPr>
          <p:cNvSpPr txBox="1"/>
          <p:nvPr/>
        </p:nvSpPr>
        <p:spPr>
          <a:xfrm>
            <a:off x="1273130" y="1603893"/>
            <a:ext cx="3550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국내 개인 투자자 수 증가 추이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181988-64AC-E48A-D986-34B701C35757}"/>
              </a:ext>
            </a:extLst>
          </p:cNvPr>
          <p:cNvSpPr txBox="1"/>
          <p:nvPr/>
        </p:nvSpPr>
        <p:spPr>
          <a:xfrm>
            <a:off x="1359020" y="2180009"/>
            <a:ext cx="12186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rgbClr val="FF000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투자자 수</a:t>
            </a:r>
            <a:r>
              <a:rPr lang="en-US" altLang="ko-KR" sz="1500" b="1" dirty="0">
                <a:solidFill>
                  <a:srgbClr val="FF000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(</a:t>
            </a:r>
            <a:r>
              <a:rPr lang="ko-KR" altLang="en-US" sz="1500" b="1" dirty="0">
                <a:solidFill>
                  <a:srgbClr val="FF000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명</a:t>
            </a:r>
            <a:r>
              <a:rPr lang="en-US" altLang="ko-KR" sz="1500" b="1" dirty="0">
                <a:solidFill>
                  <a:srgbClr val="FF000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)</a:t>
            </a:r>
            <a:endParaRPr lang="ko-KR" altLang="en-US" sz="1500" b="1" dirty="0">
              <a:solidFill>
                <a:srgbClr val="FF0000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pic>
        <p:nvPicPr>
          <p:cNvPr id="34" name="그림 3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70DEEB15-9F2E-5FDB-B6D6-019C013ED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202" y="1563272"/>
            <a:ext cx="4921275" cy="3846371"/>
          </a:xfrm>
          <a:prstGeom prst="rect">
            <a:avLst/>
          </a:prstGeom>
        </p:spPr>
      </p:pic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4D45627-FC49-C119-1861-0056F30DE266}"/>
              </a:ext>
            </a:extLst>
          </p:cNvPr>
          <p:cNvCxnSpPr>
            <a:cxnSpLocks/>
          </p:cNvCxnSpPr>
          <p:nvPr/>
        </p:nvCxnSpPr>
        <p:spPr>
          <a:xfrm flipV="1">
            <a:off x="1360800" y="2120441"/>
            <a:ext cx="0" cy="24010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6011881-8F26-8DC8-7CF6-8FDC70746C5C}"/>
              </a:ext>
            </a:extLst>
          </p:cNvPr>
          <p:cNvSpPr txBox="1"/>
          <p:nvPr/>
        </p:nvSpPr>
        <p:spPr>
          <a:xfrm>
            <a:off x="6196202" y="5621977"/>
            <a:ext cx="58732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미숙한 투자자의 증가는 많은 실패 사례를 초래 </a:t>
            </a:r>
            <a:endParaRPr lang="en-US" altLang="ko-KR" sz="16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r>
              <a:rPr lang="en-US" altLang="ko-KR" sz="16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	</a:t>
            </a:r>
            <a:r>
              <a:rPr lang="ko-KR" altLang="en-US" sz="16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지식이 부족한 투자자 들에게 안정적이고 계획적인 투자 전략 제시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A7F2CBE1-ACF0-5E01-39B4-A702385FCB2C}"/>
              </a:ext>
            </a:extLst>
          </p:cNvPr>
          <p:cNvCxnSpPr>
            <a:cxnSpLocks/>
          </p:cNvCxnSpPr>
          <p:nvPr/>
        </p:nvCxnSpPr>
        <p:spPr>
          <a:xfrm>
            <a:off x="8328248" y="5085184"/>
            <a:ext cx="266429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87CE446-6A10-9574-0191-F8C4FC967398}"/>
              </a:ext>
            </a:extLst>
          </p:cNvPr>
          <p:cNvCxnSpPr>
            <a:cxnSpLocks/>
          </p:cNvCxnSpPr>
          <p:nvPr/>
        </p:nvCxnSpPr>
        <p:spPr>
          <a:xfrm>
            <a:off x="6240016" y="5301208"/>
            <a:ext cx="15121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70AC92AE-6E53-40BB-6F7D-C19B90256235}"/>
              </a:ext>
            </a:extLst>
          </p:cNvPr>
          <p:cNvSpPr/>
          <p:nvPr/>
        </p:nvSpPr>
        <p:spPr>
          <a:xfrm>
            <a:off x="6312220" y="5960531"/>
            <a:ext cx="360040" cy="13276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BAA4105F-5A34-9564-7CF0-2CD121074122}"/>
              </a:ext>
            </a:extLst>
          </p:cNvPr>
          <p:cNvCxnSpPr>
            <a:cxnSpLocks/>
          </p:cNvCxnSpPr>
          <p:nvPr/>
        </p:nvCxnSpPr>
        <p:spPr>
          <a:xfrm>
            <a:off x="9120336" y="4149080"/>
            <a:ext cx="187220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01108196-8CDD-5F17-2972-D3CCBF5D5702}"/>
              </a:ext>
            </a:extLst>
          </p:cNvPr>
          <p:cNvCxnSpPr>
            <a:cxnSpLocks/>
          </p:cNvCxnSpPr>
          <p:nvPr/>
        </p:nvCxnSpPr>
        <p:spPr>
          <a:xfrm>
            <a:off x="6275216" y="4307867"/>
            <a:ext cx="133295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70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326050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 spc="3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 </a:t>
            </a:r>
            <a:r>
              <a:rPr lang="ko-KR" altLang="en-US" sz="3500" b="1" spc="3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개요</a:t>
            </a:r>
            <a:endParaRPr lang="en-US" sz="3500" b="1" spc="3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565079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1.1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주제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선정배경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기획의도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A0BB80B4-E474-E004-1E53-B71F6B02722F}"/>
              </a:ext>
            </a:extLst>
          </p:cNvPr>
          <p:cNvSpPr txBox="1"/>
          <p:nvPr/>
        </p:nvSpPr>
        <p:spPr>
          <a:xfrm>
            <a:off x="4799856" y="2120441"/>
            <a:ext cx="1919486" cy="34152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499"/>
              </a:lnSpc>
            </a:pPr>
            <a:endParaRPr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75A960EA-27D5-4D7E-3140-4A03A041B309}"/>
              </a:ext>
            </a:extLst>
          </p:cNvPr>
          <p:cNvSpPr txBox="1"/>
          <p:nvPr/>
        </p:nvSpPr>
        <p:spPr>
          <a:xfrm>
            <a:off x="479376" y="1692660"/>
            <a:ext cx="1919486" cy="34152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499"/>
              </a:lnSpc>
            </a:pPr>
            <a:endParaRPr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5" name="TextBox 4">
            <a:extLst>
              <a:ext uri="{FF2B5EF4-FFF2-40B4-BE49-F238E27FC236}">
                <a16:creationId xmlns:a16="http://schemas.microsoft.com/office/drawing/2014/main" id="{BBD86646-9BD9-D0E4-2B3B-C91319D89F43}"/>
              </a:ext>
            </a:extLst>
          </p:cNvPr>
          <p:cNvSpPr txBox="1"/>
          <p:nvPr/>
        </p:nvSpPr>
        <p:spPr>
          <a:xfrm>
            <a:off x="479376" y="3966341"/>
            <a:ext cx="1919486" cy="34152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499"/>
              </a:lnSpc>
            </a:pPr>
            <a:endParaRPr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8086F-E726-C068-DE12-C48DE84DE304}"/>
              </a:ext>
            </a:extLst>
          </p:cNvPr>
          <p:cNvSpPr txBox="1"/>
          <p:nvPr/>
        </p:nvSpPr>
        <p:spPr>
          <a:xfrm>
            <a:off x="1273130" y="1603893"/>
            <a:ext cx="3550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국내 개인 투자자 수 증가 추이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4D45627-FC49-C119-1861-0056F30DE266}"/>
              </a:ext>
            </a:extLst>
          </p:cNvPr>
          <p:cNvCxnSpPr>
            <a:cxnSpLocks/>
          </p:cNvCxnSpPr>
          <p:nvPr/>
        </p:nvCxnSpPr>
        <p:spPr>
          <a:xfrm flipV="1">
            <a:off x="1360800" y="2120441"/>
            <a:ext cx="0" cy="24010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6011881-8F26-8DC8-7CF6-8FDC70746C5C}"/>
              </a:ext>
            </a:extLst>
          </p:cNvPr>
          <p:cNvSpPr txBox="1"/>
          <p:nvPr/>
        </p:nvSpPr>
        <p:spPr>
          <a:xfrm>
            <a:off x="6492240" y="2211676"/>
            <a:ext cx="562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주식 투자 시장에 처음 들어오려는 투자자들은 눈에 </a:t>
            </a:r>
            <a:r>
              <a:rPr lang="ko-KR" altLang="en-US" sz="1600" u="sng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들어오는 과도한 정보와 각종 전문용어</a:t>
            </a:r>
            <a:r>
              <a:rPr lang="ko-KR" altLang="en-US" sz="16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들의 등장으로 투자를 시작하는 것에 있어서 많은 어려움을 겪음</a:t>
            </a:r>
            <a:endParaRPr lang="en-US" altLang="ko-KR" sz="16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pic>
        <p:nvPicPr>
          <p:cNvPr id="12" name="그림 11" descr="텍스트, 스크린샷, 번호, 도표이(가) 표시된 사진&#10;&#10;자동 생성된 설명">
            <a:extLst>
              <a:ext uri="{FF2B5EF4-FFF2-40B4-BE49-F238E27FC236}">
                <a16:creationId xmlns:a16="http://schemas.microsoft.com/office/drawing/2014/main" id="{FA5FC5A6-70DF-510B-1E84-2E9CD2E3D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319" y="1373505"/>
            <a:ext cx="5629372" cy="424847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ED2243F-0515-B612-E001-461456E946CD}"/>
              </a:ext>
            </a:extLst>
          </p:cNvPr>
          <p:cNvSpPr/>
          <p:nvPr/>
        </p:nvSpPr>
        <p:spPr>
          <a:xfrm>
            <a:off x="588319" y="5229200"/>
            <a:ext cx="772481" cy="392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5084B3-D429-E386-DA74-CC3321235020}"/>
              </a:ext>
            </a:extLst>
          </p:cNvPr>
          <p:cNvSpPr/>
          <p:nvPr/>
        </p:nvSpPr>
        <p:spPr>
          <a:xfrm>
            <a:off x="588319" y="3212976"/>
            <a:ext cx="772478" cy="5396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2A6F524-30EC-98BB-6D04-8711B8EE129F}"/>
              </a:ext>
            </a:extLst>
          </p:cNvPr>
          <p:cNvSpPr/>
          <p:nvPr/>
        </p:nvSpPr>
        <p:spPr>
          <a:xfrm>
            <a:off x="570994" y="1603894"/>
            <a:ext cx="772478" cy="10686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02AF6F-911E-AF30-2949-CDBD7DEDD95C}"/>
              </a:ext>
            </a:extLst>
          </p:cNvPr>
          <p:cNvSpPr txBox="1"/>
          <p:nvPr/>
        </p:nvSpPr>
        <p:spPr>
          <a:xfrm>
            <a:off x="6492240" y="3839939"/>
            <a:ext cx="56293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u="sng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과도한 정보량을 줄이고</a:t>
            </a:r>
            <a:r>
              <a:rPr lang="en-US" altLang="ko-KR" sz="1600" u="sng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1600" u="sng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직관적인 지표 위주로 구성</a:t>
            </a:r>
            <a:r>
              <a:rPr lang="ko-KR" altLang="en-US" sz="16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하여 전문 용어들의 학습 및 관련 지식이 다소 부족 하더라도 우량 종목을 확인할 수 있게 해 투자 시작을 안정적으로 지원 해주는 플랫폼의 필요성을 인지</a:t>
            </a:r>
            <a:endParaRPr lang="en-US" altLang="ko-KR" sz="16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B0A75E-D278-B39F-45C8-94AFDE8CB529}"/>
              </a:ext>
            </a:extLst>
          </p:cNvPr>
          <p:cNvSpPr txBox="1"/>
          <p:nvPr/>
        </p:nvSpPr>
        <p:spPr>
          <a:xfrm>
            <a:off x="570994" y="5667145"/>
            <a:ext cx="126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출처 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: 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네이버 증권</a:t>
            </a:r>
            <a:endParaRPr lang="en-US" altLang="ko-KR" sz="12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73C2157-8DED-3C2F-C48E-F4E93A0D5D16}"/>
              </a:ext>
            </a:extLst>
          </p:cNvPr>
          <p:cNvSpPr/>
          <p:nvPr/>
        </p:nvSpPr>
        <p:spPr>
          <a:xfrm>
            <a:off x="1474589" y="1382429"/>
            <a:ext cx="3550969" cy="25387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93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326050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 spc="3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 </a:t>
            </a:r>
            <a:r>
              <a:rPr lang="ko-KR" altLang="en-US" sz="3500" b="1" spc="3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개요</a:t>
            </a:r>
            <a:endParaRPr lang="en-US" sz="3500" b="1" spc="3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565079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1.1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주제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선정배경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기획의도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02AF6F-911E-AF30-2949-CDBD7DEDD95C}"/>
              </a:ext>
            </a:extLst>
          </p:cNvPr>
          <p:cNvSpPr txBox="1"/>
          <p:nvPr/>
        </p:nvSpPr>
        <p:spPr>
          <a:xfrm>
            <a:off x="979944" y="4653136"/>
            <a:ext cx="2592288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투자성향 기반 우량 종목 추천</a:t>
            </a:r>
            <a:endParaRPr lang="en-US" altLang="ko-KR" sz="16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손쉽게 파악하는 시장 트렌드</a:t>
            </a:r>
            <a:endParaRPr lang="en-US" altLang="ko-KR" sz="16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" name="원형: 비어 있음 2">
            <a:extLst>
              <a:ext uri="{FF2B5EF4-FFF2-40B4-BE49-F238E27FC236}">
                <a16:creationId xmlns:a16="http://schemas.microsoft.com/office/drawing/2014/main" id="{83904550-AEDD-0E65-F410-A8F577FF39D5}"/>
              </a:ext>
            </a:extLst>
          </p:cNvPr>
          <p:cNvSpPr/>
          <p:nvPr/>
        </p:nvSpPr>
        <p:spPr>
          <a:xfrm>
            <a:off x="946423" y="1936155"/>
            <a:ext cx="2557289" cy="2284933"/>
          </a:xfrm>
          <a:prstGeom prst="donut">
            <a:avLst>
              <a:gd name="adj" fmla="val 1226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E93A46BF-7403-6FD3-EC16-061F0934A668}"/>
              </a:ext>
            </a:extLst>
          </p:cNvPr>
          <p:cNvSpPr/>
          <p:nvPr/>
        </p:nvSpPr>
        <p:spPr>
          <a:xfrm>
            <a:off x="5033575" y="1936154"/>
            <a:ext cx="2557289" cy="2284933"/>
          </a:xfrm>
          <a:prstGeom prst="donut">
            <a:avLst>
              <a:gd name="adj" fmla="val 12260"/>
            </a:avLst>
          </a:prstGeom>
          <a:solidFill>
            <a:srgbClr val="FFBD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원형: 비어 있음 9">
            <a:extLst>
              <a:ext uri="{FF2B5EF4-FFF2-40B4-BE49-F238E27FC236}">
                <a16:creationId xmlns:a16="http://schemas.microsoft.com/office/drawing/2014/main" id="{EDC65962-6CAB-6EFF-2393-1F43BF1F9D19}"/>
              </a:ext>
            </a:extLst>
          </p:cNvPr>
          <p:cNvSpPr/>
          <p:nvPr/>
        </p:nvSpPr>
        <p:spPr>
          <a:xfrm>
            <a:off x="9120727" y="1936155"/>
            <a:ext cx="2557289" cy="2284933"/>
          </a:xfrm>
          <a:prstGeom prst="donut">
            <a:avLst>
              <a:gd name="adj" fmla="val 1226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0D7467-58F1-50AC-A32A-C66472965CCE}"/>
              </a:ext>
            </a:extLst>
          </p:cNvPr>
          <p:cNvSpPr txBox="1"/>
          <p:nvPr/>
        </p:nvSpPr>
        <p:spPr>
          <a:xfrm>
            <a:off x="1512396" y="2852936"/>
            <a:ext cx="1428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보수적 투자자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1384D3-022F-AAB4-FDA9-FD21E6CC3137}"/>
              </a:ext>
            </a:extLst>
          </p:cNvPr>
          <p:cNvSpPr txBox="1"/>
          <p:nvPr/>
        </p:nvSpPr>
        <p:spPr>
          <a:xfrm>
            <a:off x="5597921" y="2852936"/>
            <a:ext cx="1428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중도적 투자자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0AF404-3FEB-1DC0-BF75-FBFCBF55C813}"/>
              </a:ext>
            </a:extLst>
          </p:cNvPr>
          <p:cNvSpPr txBox="1"/>
          <p:nvPr/>
        </p:nvSpPr>
        <p:spPr>
          <a:xfrm>
            <a:off x="9685073" y="2852936"/>
            <a:ext cx="1428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공격적 투자자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8268B2-C7F9-F95D-58E1-EE6B6FFFABBB}"/>
              </a:ext>
            </a:extLst>
          </p:cNvPr>
          <p:cNvSpPr txBox="1"/>
          <p:nvPr/>
        </p:nvSpPr>
        <p:spPr>
          <a:xfrm>
            <a:off x="2426910" y="5661248"/>
            <a:ext cx="7629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u="sng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관련 지식이 부족한 초보 투자자들의 투자 결정을 지원</a:t>
            </a:r>
            <a:r>
              <a:rPr lang="ko-KR" altLang="en-US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하여 안정적인 투자 계획 설립</a:t>
            </a:r>
            <a:endParaRPr lang="en-US" altLang="ko-KR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DFC9699D-3B1E-4F03-2C1E-79E40A509D80}"/>
              </a:ext>
            </a:extLst>
          </p:cNvPr>
          <p:cNvSpPr/>
          <p:nvPr/>
        </p:nvSpPr>
        <p:spPr>
          <a:xfrm>
            <a:off x="1264657" y="5661248"/>
            <a:ext cx="1162254" cy="33855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CC29A2-426F-F197-5728-6BA431569ADF}"/>
              </a:ext>
            </a:extLst>
          </p:cNvPr>
          <p:cNvSpPr txBox="1"/>
          <p:nvPr/>
        </p:nvSpPr>
        <p:spPr>
          <a:xfrm>
            <a:off x="4829885" y="4653136"/>
            <a:ext cx="4855188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본인의 투자성향에 맞춘 유연한 종목 추천</a:t>
            </a:r>
            <a:endParaRPr lang="en-US" altLang="ko-KR" sz="1600" u="sng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직관적인 지표와 수치를 통한 시장 트렌드 파악</a:t>
            </a:r>
            <a:endParaRPr lang="en-US" altLang="ko-KR" sz="16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7739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2875787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개요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2325958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1.2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구조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4386865-3588-F2FB-EBB3-EFD530097FC9}"/>
              </a:ext>
            </a:extLst>
          </p:cNvPr>
          <p:cNvGrpSpPr/>
          <p:nvPr/>
        </p:nvGrpSpPr>
        <p:grpSpPr>
          <a:xfrm>
            <a:off x="1703512" y="2060848"/>
            <a:ext cx="8568952" cy="792088"/>
            <a:chOff x="0" y="0"/>
            <a:chExt cx="1293710" cy="825345"/>
          </a:xfrm>
          <a:solidFill>
            <a:schemeClr val="tx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D3C2F1D5-D8F2-E985-2034-84838AB91835}"/>
                </a:ext>
              </a:extLst>
            </p:cNvPr>
            <p:cNvSpPr/>
            <p:nvPr/>
          </p:nvSpPr>
          <p:spPr>
            <a:xfrm>
              <a:off x="0" y="0"/>
              <a:ext cx="1293710" cy="825345"/>
            </a:xfrm>
            <a:custGeom>
              <a:avLst/>
              <a:gdLst/>
              <a:ahLst/>
              <a:cxnLst/>
              <a:rect l="l" t="t" r="r" b="b"/>
              <a:pathLst>
                <a:path w="1293710" h="825345">
                  <a:moveTo>
                    <a:pt x="31522" y="0"/>
                  </a:moveTo>
                  <a:lnTo>
                    <a:pt x="1262188" y="0"/>
                  </a:lnTo>
                  <a:cubicBezTo>
                    <a:pt x="1279597" y="0"/>
                    <a:pt x="1293710" y="14113"/>
                    <a:pt x="1293710" y="31522"/>
                  </a:cubicBezTo>
                  <a:lnTo>
                    <a:pt x="1293710" y="793823"/>
                  </a:lnTo>
                  <a:cubicBezTo>
                    <a:pt x="1293710" y="811233"/>
                    <a:pt x="1279597" y="825345"/>
                    <a:pt x="1262188" y="825345"/>
                  </a:cubicBezTo>
                  <a:lnTo>
                    <a:pt x="31522" y="825345"/>
                  </a:lnTo>
                  <a:cubicBezTo>
                    <a:pt x="14113" y="825345"/>
                    <a:pt x="0" y="811233"/>
                    <a:pt x="0" y="793823"/>
                  </a:cubicBezTo>
                  <a:lnTo>
                    <a:pt x="0" y="31522"/>
                  </a:lnTo>
                  <a:cubicBezTo>
                    <a:pt x="0" y="14113"/>
                    <a:pt x="14113" y="0"/>
                    <a:pt x="31522" y="0"/>
                  </a:cubicBezTo>
                  <a:close/>
                </a:path>
              </a:pathLst>
            </a:custGeom>
            <a:grpFill/>
            <a:ln w="25400" cap="rnd">
              <a:solidFill>
                <a:schemeClr val="bg1"/>
              </a:solidFill>
            </a:ln>
          </p:spPr>
        </p:sp>
        <p:sp>
          <p:nvSpPr>
            <p:cNvPr id="5" name="TextBox 6">
              <a:extLst>
                <a:ext uri="{FF2B5EF4-FFF2-40B4-BE49-F238E27FC236}">
                  <a16:creationId xmlns:a16="http://schemas.microsoft.com/office/drawing/2014/main" id="{3486FEAB-C166-6257-BE98-97514C00A246}"/>
                </a:ext>
              </a:extLst>
            </p:cNvPr>
            <p:cNvSpPr txBox="1"/>
            <p:nvPr/>
          </p:nvSpPr>
          <p:spPr>
            <a:xfrm>
              <a:off x="0" y="-38100"/>
              <a:ext cx="1293710" cy="863445"/>
            </a:xfrm>
            <a:prstGeom prst="rect">
              <a:avLst/>
            </a:prstGeom>
            <a:grpFill/>
            <a:ln w="25400" cap="rnd"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1DA681BF-1644-D392-52E1-00B8B8F2F0D2}"/>
              </a:ext>
            </a:extLst>
          </p:cNvPr>
          <p:cNvGrpSpPr/>
          <p:nvPr/>
        </p:nvGrpSpPr>
        <p:grpSpPr>
          <a:xfrm>
            <a:off x="623392" y="1705419"/>
            <a:ext cx="1919486" cy="540001"/>
            <a:chOff x="0" y="-14"/>
            <a:chExt cx="1273309" cy="22151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98A30B2B-0A05-ED2A-F7FE-342EF31598D3}"/>
                </a:ext>
              </a:extLst>
            </p:cNvPr>
            <p:cNvSpPr/>
            <p:nvPr/>
          </p:nvSpPr>
          <p:spPr>
            <a:xfrm>
              <a:off x="79262" y="-14"/>
              <a:ext cx="1194047" cy="221513"/>
            </a:xfrm>
            <a:custGeom>
              <a:avLst/>
              <a:gdLst/>
              <a:ahLst/>
              <a:cxnLst/>
              <a:rect l="l" t="t" r="r" b="b"/>
              <a:pathLst>
                <a:path w="1273309" h="187722">
                  <a:moveTo>
                    <a:pt x="0" y="0"/>
                  </a:moveTo>
                  <a:lnTo>
                    <a:pt x="1273309" y="0"/>
                  </a:lnTo>
                  <a:lnTo>
                    <a:pt x="1273309" y="187722"/>
                  </a:lnTo>
                  <a:lnTo>
                    <a:pt x="0" y="1877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250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목적</a:t>
              </a:r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DCB8BEA6-590D-261D-8C81-C0BC719A0BE5}"/>
                </a:ext>
              </a:extLst>
            </p:cNvPr>
            <p:cNvSpPr txBox="1"/>
            <p:nvPr/>
          </p:nvSpPr>
          <p:spPr>
            <a:xfrm>
              <a:off x="0" y="47625"/>
              <a:ext cx="1273309" cy="14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9"/>
                </a:lnSpc>
              </a:pPr>
              <a:endParaRPr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8D3C480-82A1-E64C-689D-69570870C0B1}"/>
              </a:ext>
            </a:extLst>
          </p:cNvPr>
          <p:cNvSpPr txBox="1"/>
          <p:nvPr/>
        </p:nvSpPr>
        <p:spPr>
          <a:xfrm>
            <a:off x="2135560" y="2237942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주식 초심자들을 위한 투자 성향별 투자종목 추천 플랫폼 구축</a:t>
            </a:r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F4BA4C03-6767-4FE7-B309-A2EC82647D7A}"/>
              </a:ext>
            </a:extLst>
          </p:cNvPr>
          <p:cNvGrpSpPr>
            <a:grpSpLocks/>
          </p:cNvGrpSpPr>
          <p:nvPr/>
        </p:nvGrpSpPr>
        <p:grpSpPr>
          <a:xfrm>
            <a:off x="1991544" y="3796436"/>
            <a:ext cx="8280920" cy="665620"/>
            <a:chOff x="0" y="0"/>
            <a:chExt cx="1293710" cy="825345"/>
          </a:xfrm>
          <a:solidFill>
            <a:schemeClr val="tx1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4064FACC-94E0-F441-BDE0-83298E0BFDAA}"/>
                </a:ext>
              </a:extLst>
            </p:cNvPr>
            <p:cNvSpPr/>
            <p:nvPr/>
          </p:nvSpPr>
          <p:spPr>
            <a:xfrm>
              <a:off x="0" y="0"/>
              <a:ext cx="1293710" cy="825345"/>
            </a:xfrm>
            <a:custGeom>
              <a:avLst/>
              <a:gdLst/>
              <a:ahLst/>
              <a:cxnLst/>
              <a:rect l="l" t="t" r="r" b="b"/>
              <a:pathLst>
                <a:path w="1293710" h="825345">
                  <a:moveTo>
                    <a:pt x="31522" y="0"/>
                  </a:moveTo>
                  <a:lnTo>
                    <a:pt x="1262188" y="0"/>
                  </a:lnTo>
                  <a:cubicBezTo>
                    <a:pt x="1279597" y="0"/>
                    <a:pt x="1293710" y="14113"/>
                    <a:pt x="1293710" y="31522"/>
                  </a:cubicBezTo>
                  <a:lnTo>
                    <a:pt x="1293710" y="793823"/>
                  </a:lnTo>
                  <a:cubicBezTo>
                    <a:pt x="1293710" y="811233"/>
                    <a:pt x="1279597" y="825345"/>
                    <a:pt x="1262188" y="825345"/>
                  </a:cubicBezTo>
                  <a:lnTo>
                    <a:pt x="31522" y="825345"/>
                  </a:lnTo>
                  <a:cubicBezTo>
                    <a:pt x="14113" y="825345"/>
                    <a:pt x="0" y="811233"/>
                    <a:pt x="0" y="793823"/>
                  </a:cubicBezTo>
                  <a:lnTo>
                    <a:pt x="0" y="31522"/>
                  </a:lnTo>
                  <a:cubicBezTo>
                    <a:pt x="0" y="14113"/>
                    <a:pt x="14113" y="0"/>
                    <a:pt x="31522" y="0"/>
                  </a:cubicBezTo>
                  <a:close/>
                </a:path>
              </a:pathLst>
            </a:custGeom>
            <a:grpFill/>
            <a:ln w="25400" cap="rnd">
              <a:solidFill>
                <a:schemeClr val="bg1"/>
              </a:solidFill>
            </a:ln>
          </p:spPr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4DF0E51D-39C6-6E25-B527-29AA784C84EE}"/>
                </a:ext>
              </a:extLst>
            </p:cNvPr>
            <p:cNvSpPr txBox="1"/>
            <p:nvPr/>
          </p:nvSpPr>
          <p:spPr>
            <a:xfrm>
              <a:off x="0" y="-38100"/>
              <a:ext cx="1293710" cy="863445"/>
            </a:xfrm>
            <a:prstGeom prst="rect">
              <a:avLst/>
            </a:prstGeom>
            <a:grpFill/>
            <a:ln w="25400" cap="rnd"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6" name="Group 2">
            <a:extLst>
              <a:ext uri="{FF2B5EF4-FFF2-40B4-BE49-F238E27FC236}">
                <a16:creationId xmlns:a16="http://schemas.microsoft.com/office/drawing/2014/main" id="{785AAE2C-B408-7AAE-0395-6563A1C768F2}"/>
              </a:ext>
            </a:extLst>
          </p:cNvPr>
          <p:cNvGrpSpPr>
            <a:grpSpLocks/>
          </p:cNvGrpSpPr>
          <p:nvPr/>
        </p:nvGrpSpPr>
        <p:grpSpPr>
          <a:xfrm>
            <a:off x="911424" y="3441008"/>
            <a:ext cx="1613013" cy="453782"/>
            <a:chOff x="0" y="-14"/>
            <a:chExt cx="1273309" cy="221513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F7D0A99E-3A20-6371-1381-DE4D0787FE5F}"/>
                </a:ext>
              </a:extLst>
            </p:cNvPr>
            <p:cNvSpPr/>
            <p:nvPr/>
          </p:nvSpPr>
          <p:spPr>
            <a:xfrm>
              <a:off x="79262" y="-14"/>
              <a:ext cx="1194047" cy="221513"/>
            </a:xfrm>
            <a:custGeom>
              <a:avLst/>
              <a:gdLst/>
              <a:ahLst/>
              <a:cxnLst/>
              <a:rect l="l" t="t" r="r" b="b"/>
              <a:pathLst>
                <a:path w="1273309" h="187722">
                  <a:moveTo>
                    <a:pt x="0" y="0"/>
                  </a:moveTo>
                  <a:lnTo>
                    <a:pt x="1273309" y="0"/>
                  </a:lnTo>
                  <a:lnTo>
                    <a:pt x="1273309" y="187722"/>
                  </a:lnTo>
                  <a:lnTo>
                    <a:pt x="0" y="1877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none">
              <a:noAutofit/>
            </a:bodyPr>
            <a:lstStyle/>
            <a:p>
              <a:pPr algn="ctr"/>
              <a:r>
                <a:rPr lang="ko-KR" altLang="en-US" sz="220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목표 </a:t>
              </a:r>
              <a:r>
                <a:rPr lang="en-US" altLang="ko-KR" sz="220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1</a:t>
              </a:r>
              <a:endParaRPr lang="ko-KR" altLang="en-US" sz="22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1F43A7CB-FB55-A4BC-E18F-AD7FCC009D31}"/>
                </a:ext>
              </a:extLst>
            </p:cNvPr>
            <p:cNvSpPr txBox="1"/>
            <p:nvPr/>
          </p:nvSpPr>
          <p:spPr>
            <a:xfrm>
              <a:off x="0" y="47625"/>
              <a:ext cx="1273309" cy="14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9"/>
                </a:lnSpc>
              </a:pPr>
              <a:endParaRPr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endParaRPr>
            </a:p>
          </p:txBody>
        </p:sp>
      </p:grpSp>
      <p:grpSp>
        <p:nvGrpSpPr>
          <p:cNvPr id="25" name="Group 4">
            <a:extLst>
              <a:ext uri="{FF2B5EF4-FFF2-40B4-BE49-F238E27FC236}">
                <a16:creationId xmlns:a16="http://schemas.microsoft.com/office/drawing/2014/main" id="{99D40A21-BAFC-ADEF-4138-5F820C0B9FF7}"/>
              </a:ext>
            </a:extLst>
          </p:cNvPr>
          <p:cNvGrpSpPr>
            <a:grpSpLocks/>
          </p:cNvGrpSpPr>
          <p:nvPr/>
        </p:nvGrpSpPr>
        <p:grpSpPr>
          <a:xfrm>
            <a:off x="1991544" y="5095561"/>
            <a:ext cx="8280920" cy="665620"/>
            <a:chOff x="0" y="0"/>
            <a:chExt cx="1293710" cy="825345"/>
          </a:xfrm>
          <a:solidFill>
            <a:schemeClr val="tx1"/>
          </a:solidFill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0224B0EA-6CD3-5F69-C8C1-5942759D3BE0}"/>
                </a:ext>
              </a:extLst>
            </p:cNvPr>
            <p:cNvSpPr/>
            <p:nvPr/>
          </p:nvSpPr>
          <p:spPr>
            <a:xfrm>
              <a:off x="0" y="0"/>
              <a:ext cx="1293710" cy="825345"/>
            </a:xfrm>
            <a:custGeom>
              <a:avLst/>
              <a:gdLst/>
              <a:ahLst/>
              <a:cxnLst/>
              <a:rect l="l" t="t" r="r" b="b"/>
              <a:pathLst>
                <a:path w="1293710" h="825345">
                  <a:moveTo>
                    <a:pt x="31522" y="0"/>
                  </a:moveTo>
                  <a:lnTo>
                    <a:pt x="1262188" y="0"/>
                  </a:lnTo>
                  <a:cubicBezTo>
                    <a:pt x="1279597" y="0"/>
                    <a:pt x="1293710" y="14113"/>
                    <a:pt x="1293710" y="31522"/>
                  </a:cubicBezTo>
                  <a:lnTo>
                    <a:pt x="1293710" y="793823"/>
                  </a:lnTo>
                  <a:cubicBezTo>
                    <a:pt x="1293710" y="811233"/>
                    <a:pt x="1279597" y="825345"/>
                    <a:pt x="1262188" y="825345"/>
                  </a:cubicBezTo>
                  <a:lnTo>
                    <a:pt x="31522" y="825345"/>
                  </a:lnTo>
                  <a:cubicBezTo>
                    <a:pt x="14113" y="825345"/>
                    <a:pt x="0" y="811233"/>
                    <a:pt x="0" y="793823"/>
                  </a:cubicBezTo>
                  <a:lnTo>
                    <a:pt x="0" y="31522"/>
                  </a:lnTo>
                  <a:cubicBezTo>
                    <a:pt x="0" y="14113"/>
                    <a:pt x="14113" y="0"/>
                    <a:pt x="31522" y="0"/>
                  </a:cubicBezTo>
                  <a:close/>
                </a:path>
              </a:pathLst>
            </a:custGeom>
            <a:grpFill/>
            <a:ln w="25400" cap="rnd">
              <a:solidFill>
                <a:schemeClr val="bg1"/>
              </a:solidFill>
            </a:ln>
          </p:spPr>
        </p:sp>
        <p:sp>
          <p:nvSpPr>
            <p:cNvPr id="27" name="TextBox 6">
              <a:extLst>
                <a:ext uri="{FF2B5EF4-FFF2-40B4-BE49-F238E27FC236}">
                  <a16:creationId xmlns:a16="http://schemas.microsoft.com/office/drawing/2014/main" id="{F2702A58-ABB5-52A7-9260-800FE7BD9F00}"/>
                </a:ext>
              </a:extLst>
            </p:cNvPr>
            <p:cNvSpPr txBox="1"/>
            <p:nvPr/>
          </p:nvSpPr>
          <p:spPr>
            <a:xfrm>
              <a:off x="0" y="-38100"/>
              <a:ext cx="1293710" cy="863445"/>
            </a:xfrm>
            <a:prstGeom prst="rect">
              <a:avLst/>
            </a:prstGeom>
            <a:grpFill/>
            <a:ln w="25400" cap="rnd"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8" name="Group 2">
            <a:extLst>
              <a:ext uri="{FF2B5EF4-FFF2-40B4-BE49-F238E27FC236}">
                <a16:creationId xmlns:a16="http://schemas.microsoft.com/office/drawing/2014/main" id="{4558C25E-14CB-9EDE-2CA3-945A9240BDB1}"/>
              </a:ext>
            </a:extLst>
          </p:cNvPr>
          <p:cNvGrpSpPr>
            <a:grpSpLocks/>
          </p:cNvGrpSpPr>
          <p:nvPr/>
        </p:nvGrpSpPr>
        <p:grpSpPr>
          <a:xfrm>
            <a:off x="911424" y="4740133"/>
            <a:ext cx="1613013" cy="453782"/>
            <a:chOff x="0" y="-14"/>
            <a:chExt cx="1273309" cy="221513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32484884-E38C-48A0-A137-EDBA84604043}"/>
                </a:ext>
              </a:extLst>
            </p:cNvPr>
            <p:cNvSpPr/>
            <p:nvPr/>
          </p:nvSpPr>
          <p:spPr>
            <a:xfrm>
              <a:off x="79262" y="-14"/>
              <a:ext cx="1194047" cy="221513"/>
            </a:xfrm>
            <a:custGeom>
              <a:avLst/>
              <a:gdLst/>
              <a:ahLst/>
              <a:cxnLst/>
              <a:rect l="l" t="t" r="r" b="b"/>
              <a:pathLst>
                <a:path w="1273309" h="187722">
                  <a:moveTo>
                    <a:pt x="0" y="0"/>
                  </a:moveTo>
                  <a:lnTo>
                    <a:pt x="1273309" y="0"/>
                  </a:lnTo>
                  <a:lnTo>
                    <a:pt x="1273309" y="187722"/>
                  </a:lnTo>
                  <a:lnTo>
                    <a:pt x="0" y="1877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none">
              <a:noAutofit/>
            </a:bodyPr>
            <a:lstStyle/>
            <a:p>
              <a:pPr algn="ctr"/>
              <a:r>
                <a:rPr lang="ko-KR" altLang="en-US" sz="220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목표 </a:t>
              </a:r>
              <a:r>
                <a:rPr lang="en-US" altLang="ko-KR" sz="220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2</a:t>
              </a:r>
              <a:endParaRPr lang="ko-KR" altLang="en-US" sz="22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E0C24EAD-B69B-EE72-7AD0-0CE749FDEB7B}"/>
                </a:ext>
              </a:extLst>
            </p:cNvPr>
            <p:cNvSpPr txBox="1"/>
            <p:nvPr/>
          </p:nvSpPr>
          <p:spPr>
            <a:xfrm>
              <a:off x="0" y="47625"/>
              <a:ext cx="1273309" cy="14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9"/>
                </a:lnSpc>
              </a:pPr>
              <a:endParaRPr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0A7908A-CEA2-054D-B871-16FA2EED94D3}"/>
              </a:ext>
            </a:extLst>
          </p:cNvPr>
          <p:cNvSpPr txBox="1"/>
          <p:nvPr/>
        </p:nvSpPr>
        <p:spPr>
          <a:xfrm>
            <a:off x="2927648" y="3949087"/>
            <a:ext cx="60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과거 지표 기반 사용자의 투자 성향에 맞는 종목 추천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4273CD-45B3-2E97-C150-FF859056E463}"/>
              </a:ext>
            </a:extLst>
          </p:cNvPr>
          <p:cNvSpPr txBox="1"/>
          <p:nvPr/>
        </p:nvSpPr>
        <p:spPr>
          <a:xfrm>
            <a:off x="2927648" y="5243705"/>
            <a:ext cx="6492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기사</a:t>
            </a:r>
            <a:r>
              <a:rPr lang="en-US" altLang="ko-KR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lang="ko-KR" altLang="en-US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커뮤니티 반응 기반 긍정점수를 통해 투자 의사 결정 지원 도구 제공</a:t>
            </a:r>
          </a:p>
        </p:txBody>
      </p:sp>
    </p:spTree>
    <p:extLst>
      <p:ext uri="{BB962C8B-B14F-4D97-AF65-F5344CB8AC3E}">
        <p14:creationId xmlns:p14="http://schemas.microsoft.com/office/powerpoint/2010/main" val="1874516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2877391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개요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2329164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TT Hoves Bold"/>
              </a:rPr>
              <a:t>1.2 </a:t>
            </a:r>
            <a:r>
              <a:rPr lang="ko-KR" altLang="en-US" sz="2500" b="1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TT Hoves Bold"/>
              </a:rPr>
              <a:t>프로젝트 구조 </a:t>
            </a:r>
            <a:endParaRPr lang="en-US" sz="2500" b="1">
              <a:solidFill>
                <a:schemeClr val="bg1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E691FC-A34F-E205-9F2A-8BC521C8DF47}"/>
              </a:ext>
            </a:extLst>
          </p:cNvPr>
          <p:cNvSpPr txBox="1"/>
          <p:nvPr/>
        </p:nvSpPr>
        <p:spPr>
          <a:xfrm>
            <a:off x="5375920" y="1484784"/>
            <a:ext cx="1526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1D08ADBB-8D65-26B4-6D77-9D2899036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39487"/>
              </p:ext>
            </p:extLst>
          </p:nvPr>
        </p:nvGraphicFramePr>
        <p:xfrm>
          <a:off x="1055440" y="2060848"/>
          <a:ext cx="9853091" cy="3528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415529334"/>
                    </a:ext>
                  </a:extLst>
                </a:gridCol>
                <a:gridCol w="804089">
                  <a:extLst>
                    <a:ext uri="{9D8B030D-6E8A-4147-A177-3AD203B41FA5}">
                      <a16:colId xmlns:a16="http://schemas.microsoft.com/office/drawing/2014/main" val="1496314129"/>
                    </a:ext>
                  </a:extLst>
                </a:gridCol>
                <a:gridCol w="804089">
                  <a:extLst>
                    <a:ext uri="{9D8B030D-6E8A-4147-A177-3AD203B41FA5}">
                      <a16:colId xmlns:a16="http://schemas.microsoft.com/office/drawing/2014/main" val="1184069950"/>
                    </a:ext>
                  </a:extLst>
                </a:gridCol>
                <a:gridCol w="804089">
                  <a:extLst>
                    <a:ext uri="{9D8B030D-6E8A-4147-A177-3AD203B41FA5}">
                      <a16:colId xmlns:a16="http://schemas.microsoft.com/office/drawing/2014/main" val="200385012"/>
                    </a:ext>
                  </a:extLst>
                </a:gridCol>
                <a:gridCol w="804089">
                  <a:extLst>
                    <a:ext uri="{9D8B030D-6E8A-4147-A177-3AD203B41FA5}">
                      <a16:colId xmlns:a16="http://schemas.microsoft.com/office/drawing/2014/main" val="1292606770"/>
                    </a:ext>
                  </a:extLst>
                </a:gridCol>
                <a:gridCol w="804089">
                  <a:extLst>
                    <a:ext uri="{9D8B030D-6E8A-4147-A177-3AD203B41FA5}">
                      <a16:colId xmlns:a16="http://schemas.microsoft.com/office/drawing/2014/main" val="1890047198"/>
                    </a:ext>
                  </a:extLst>
                </a:gridCol>
                <a:gridCol w="804089">
                  <a:extLst>
                    <a:ext uri="{9D8B030D-6E8A-4147-A177-3AD203B41FA5}">
                      <a16:colId xmlns:a16="http://schemas.microsoft.com/office/drawing/2014/main" val="4260854521"/>
                    </a:ext>
                  </a:extLst>
                </a:gridCol>
                <a:gridCol w="804089">
                  <a:extLst>
                    <a:ext uri="{9D8B030D-6E8A-4147-A177-3AD203B41FA5}">
                      <a16:colId xmlns:a16="http://schemas.microsoft.com/office/drawing/2014/main" val="3652683160"/>
                    </a:ext>
                  </a:extLst>
                </a:gridCol>
                <a:gridCol w="804089">
                  <a:extLst>
                    <a:ext uri="{9D8B030D-6E8A-4147-A177-3AD203B41FA5}">
                      <a16:colId xmlns:a16="http://schemas.microsoft.com/office/drawing/2014/main" val="2192178417"/>
                    </a:ext>
                  </a:extLst>
                </a:gridCol>
                <a:gridCol w="804089">
                  <a:extLst>
                    <a:ext uri="{9D8B030D-6E8A-4147-A177-3AD203B41FA5}">
                      <a16:colId xmlns:a16="http://schemas.microsoft.com/office/drawing/2014/main" val="2008713863"/>
                    </a:ext>
                  </a:extLst>
                </a:gridCol>
                <a:gridCol w="804089">
                  <a:extLst>
                    <a:ext uri="{9D8B030D-6E8A-4147-A177-3AD203B41FA5}">
                      <a16:colId xmlns:a16="http://schemas.microsoft.com/office/drawing/2014/main" val="1252963747"/>
                    </a:ext>
                  </a:extLst>
                </a:gridCol>
                <a:gridCol w="804089">
                  <a:extLst>
                    <a:ext uri="{9D8B030D-6E8A-4147-A177-3AD203B41FA5}">
                      <a16:colId xmlns:a16="http://schemas.microsoft.com/office/drawing/2014/main" val="885229752"/>
                    </a:ext>
                  </a:extLst>
                </a:gridCol>
              </a:tblGrid>
              <a:tr h="588065"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1/28</a:t>
                      </a:r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2/5</a:t>
                      </a:r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2/13</a:t>
                      </a:r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2/21</a:t>
                      </a:r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2/28</a:t>
                      </a:r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991285"/>
                  </a:ext>
                </a:extLst>
              </a:tr>
              <a:tr h="5880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기획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330281"/>
                  </a:ext>
                </a:extLst>
              </a:tr>
              <a:tr h="5880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분석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483787"/>
                  </a:ext>
                </a:extLst>
              </a:tr>
              <a:tr h="5880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설계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802111"/>
                  </a:ext>
                </a:extLst>
              </a:tr>
              <a:tr h="5880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구현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844938"/>
                  </a:ext>
                </a:extLst>
              </a:tr>
              <a:tr h="5880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테스트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33274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3AF3FBD-E5F1-B95A-295B-D4B6CAF48041}"/>
              </a:ext>
            </a:extLst>
          </p:cNvPr>
          <p:cNvSpPr txBox="1"/>
          <p:nvPr/>
        </p:nvSpPr>
        <p:spPr>
          <a:xfrm>
            <a:off x="3214728" y="1412776"/>
            <a:ext cx="770485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01/20 (</a:t>
            </a:r>
            <a:r>
              <a:rPr lang="ko-KR" altLang="en-US" sz="24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월</a:t>
            </a:r>
            <a:r>
              <a:rPr lang="en-US" altLang="ko-KR" sz="24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)</a:t>
            </a:r>
            <a:r>
              <a:rPr lang="ko-KR" altLang="en-US" sz="24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en-US" altLang="ko-KR" sz="24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~</a:t>
            </a:r>
            <a:r>
              <a:rPr lang="ko-KR" altLang="en-US" sz="24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en-US" altLang="ko-KR" sz="24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02/28 (</a:t>
            </a:r>
            <a:r>
              <a:rPr lang="ko-KR" altLang="en-US" sz="24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금</a:t>
            </a:r>
            <a:r>
              <a:rPr lang="en-US" altLang="ko-KR" sz="24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)</a:t>
            </a:r>
            <a:endParaRPr lang="ko-KR" altLang="en-US" sz="2400">
              <a:solidFill>
                <a:schemeClr val="bg1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9C2024C-F31A-C908-2F0B-94F454FEB1D8}"/>
              </a:ext>
            </a:extLst>
          </p:cNvPr>
          <p:cNvSpPr/>
          <p:nvPr/>
        </p:nvSpPr>
        <p:spPr>
          <a:xfrm>
            <a:off x="1055440" y="1412776"/>
            <a:ext cx="2016224" cy="47705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FFE5BC-EA62-3EAE-A83C-2636CA1A274C}"/>
              </a:ext>
            </a:extLst>
          </p:cNvPr>
          <p:cNvSpPr txBox="1"/>
          <p:nvPr/>
        </p:nvSpPr>
        <p:spPr>
          <a:xfrm>
            <a:off x="1019436" y="1435859"/>
            <a:ext cx="2124236" cy="430887"/>
          </a:xfrm>
          <a:prstGeom prst="rect">
            <a:avLst/>
          </a:prstGeom>
          <a:noFill/>
          <a:effectLst>
            <a:softEdge rad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총 개발 기간</a:t>
            </a:r>
          </a:p>
        </p:txBody>
      </p:sp>
      <p:sp>
        <p:nvSpPr>
          <p:cNvPr id="17" name="순서도: 지연 16">
            <a:extLst>
              <a:ext uri="{FF2B5EF4-FFF2-40B4-BE49-F238E27FC236}">
                <a16:creationId xmlns:a16="http://schemas.microsoft.com/office/drawing/2014/main" id="{1580975C-2848-198F-0101-13C5283D21DF}"/>
              </a:ext>
            </a:extLst>
          </p:cNvPr>
          <p:cNvSpPr/>
          <p:nvPr/>
        </p:nvSpPr>
        <p:spPr>
          <a:xfrm>
            <a:off x="2063553" y="2743801"/>
            <a:ext cx="713658" cy="397164"/>
          </a:xfrm>
          <a:custGeom>
            <a:avLst/>
            <a:gdLst>
              <a:gd name="connsiteX0" fmla="*/ 0 w 1152128"/>
              <a:gd name="connsiteY0" fmla="*/ 0 h 397163"/>
              <a:gd name="connsiteX1" fmla="*/ 576064 w 1152128"/>
              <a:gd name="connsiteY1" fmla="*/ 0 h 397163"/>
              <a:gd name="connsiteX2" fmla="*/ 1152128 w 1152128"/>
              <a:gd name="connsiteY2" fmla="*/ 198582 h 397163"/>
              <a:gd name="connsiteX3" fmla="*/ 576064 w 1152128"/>
              <a:gd name="connsiteY3" fmla="*/ 397164 h 397163"/>
              <a:gd name="connsiteX4" fmla="*/ 0 w 1152128"/>
              <a:gd name="connsiteY4" fmla="*/ 397163 h 397163"/>
              <a:gd name="connsiteX5" fmla="*/ 0 w 1152128"/>
              <a:gd name="connsiteY5" fmla="*/ 0 h 397163"/>
              <a:gd name="connsiteX0" fmla="*/ 0 w 829559"/>
              <a:gd name="connsiteY0" fmla="*/ 0 h 397164"/>
              <a:gd name="connsiteX1" fmla="*/ 576064 w 829559"/>
              <a:gd name="connsiteY1" fmla="*/ 0 h 397164"/>
              <a:gd name="connsiteX2" fmla="*/ 822675 w 829559"/>
              <a:gd name="connsiteY2" fmla="*/ 198582 h 397164"/>
              <a:gd name="connsiteX3" fmla="*/ 576064 w 829559"/>
              <a:gd name="connsiteY3" fmla="*/ 397164 h 397164"/>
              <a:gd name="connsiteX4" fmla="*/ 0 w 829559"/>
              <a:gd name="connsiteY4" fmla="*/ 397163 h 397164"/>
              <a:gd name="connsiteX5" fmla="*/ 0 w 829559"/>
              <a:gd name="connsiteY5" fmla="*/ 0 h 397164"/>
              <a:gd name="connsiteX0" fmla="*/ 0 w 923528"/>
              <a:gd name="connsiteY0" fmla="*/ 0 h 397164"/>
              <a:gd name="connsiteX1" fmla="*/ 576064 w 923528"/>
              <a:gd name="connsiteY1" fmla="*/ 0 h 397164"/>
              <a:gd name="connsiteX2" fmla="*/ 923528 w 923528"/>
              <a:gd name="connsiteY2" fmla="*/ 205305 h 397164"/>
              <a:gd name="connsiteX3" fmla="*/ 576064 w 923528"/>
              <a:gd name="connsiteY3" fmla="*/ 397164 h 397164"/>
              <a:gd name="connsiteX4" fmla="*/ 0 w 923528"/>
              <a:gd name="connsiteY4" fmla="*/ 397163 h 397164"/>
              <a:gd name="connsiteX5" fmla="*/ 0 w 923528"/>
              <a:gd name="connsiteY5" fmla="*/ 0 h 397164"/>
              <a:gd name="connsiteX0" fmla="*/ 0 w 977317"/>
              <a:gd name="connsiteY0" fmla="*/ 0 h 397164"/>
              <a:gd name="connsiteX1" fmla="*/ 576064 w 977317"/>
              <a:gd name="connsiteY1" fmla="*/ 0 h 397164"/>
              <a:gd name="connsiteX2" fmla="*/ 977317 w 977317"/>
              <a:gd name="connsiteY2" fmla="*/ 205305 h 397164"/>
              <a:gd name="connsiteX3" fmla="*/ 576064 w 977317"/>
              <a:gd name="connsiteY3" fmla="*/ 397164 h 397164"/>
              <a:gd name="connsiteX4" fmla="*/ 0 w 977317"/>
              <a:gd name="connsiteY4" fmla="*/ 397163 h 397164"/>
              <a:gd name="connsiteX5" fmla="*/ 0 w 977317"/>
              <a:gd name="connsiteY5" fmla="*/ 0 h 39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7317" h="397164">
                <a:moveTo>
                  <a:pt x="0" y="0"/>
                </a:moveTo>
                <a:lnTo>
                  <a:pt x="576064" y="0"/>
                </a:lnTo>
                <a:cubicBezTo>
                  <a:pt x="894215" y="0"/>
                  <a:pt x="977317" y="95631"/>
                  <a:pt x="977317" y="205305"/>
                </a:cubicBezTo>
                <a:cubicBezTo>
                  <a:pt x="977317" y="314979"/>
                  <a:pt x="894215" y="397164"/>
                  <a:pt x="576064" y="397164"/>
                </a:cubicBezTo>
                <a:lnTo>
                  <a:pt x="0" y="39716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EF27D7-483F-A750-9806-20FF9EB10DE0}"/>
              </a:ext>
            </a:extLst>
          </p:cNvPr>
          <p:cNvSpPr txBox="1"/>
          <p:nvPr/>
        </p:nvSpPr>
        <p:spPr>
          <a:xfrm>
            <a:off x="1991544" y="2780928"/>
            <a:ext cx="7136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~1/22</a:t>
            </a:r>
            <a:endParaRPr lang="ko-KR" altLang="en-US" sz="15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0" name="순서도: 수행의 시작/종료 19">
            <a:extLst>
              <a:ext uri="{FF2B5EF4-FFF2-40B4-BE49-F238E27FC236}">
                <a16:creationId xmlns:a16="http://schemas.microsoft.com/office/drawing/2014/main" id="{2407091D-2F99-1530-C486-FBF2B6609D73}"/>
              </a:ext>
            </a:extLst>
          </p:cNvPr>
          <p:cNvSpPr/>
          <p:nvPr/>
        </p:nvSpPr>
        <p:spPr>
          <a:xfrm>
            <a:off x="2639616" y="3347175"/>
            <a:ext cx="1008112" cy="360044"/>
          </a:xfrm>
          <a:prstGeom prst="flowChartTermina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396AE7-7319-60CD-FA9E-430A6A5BD52C}"/>
              </a:ext>
            </a:extLst>
          </p:cNvPr>
          <p:cNvSpPr txBox="1"/>
          <p:nvPr/>
        </p:nvSpPr>
        <p:spPr>
          <a:xfrm>
            <a:off x="2828279" y="3365614"/>
            <a:ext cx="7216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~1/28</a:t>
            </a:r>
            <a:endParaRPr lang="ko-KR" altLang="en-US" sz="15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2" name="순서도: 수행의 시작/종료 21">
            <a:extLst>
              <a:ext uri="{FF2B5EF4-FFF2-40B4-BE49-F238E27FC236}">
                <a16:creationId xmlns:a16="http://schemas.microsoft.com/office/drawing/2014/main" id="{D12CE85E-BC63-4AD7-398B-F90FECEBA81B}"/>
              </a:ext>
            </a:extLst>
          </p:cNvPr>
          <p:cNvSpPr/>
          <p:nvPr/>
        </p:nvSpPr>
        <p:spPr>
          <a:xfrm>
            <a:off x="3647728" y="3933052"/>
            <a:ext cx="1872208" cy="360044"/>
          </a:xfrm>
          <a:prstGeom prst="flowChartTermina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5F76F4-E245-C742-7D89-E5A1B28E2F61}"/>
              </a:ext>
            </a:extLst>
          </p:cNvPr>
          <p:cNvSpPr txBox="1"/>
          <p:nvPr/>
        </p:nvSpPr>
        <p:spPr>
          <a:xfrm>
            <a:off x="4198578" y="3951491"/>
            <a:ext cx="61587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~2/7</a:t>
            </a:r>
            <a:endParaRPr lang="ko-KR" altLang="en-US" sz="15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B092154B-09E7-0691-6CAE-EA5FF2E6BCAA}"/>
              </a:ext>
            </a:extLst>
          </p:cNvPr>
          <p:cNvSpPr/>
          <p:nvPr/>
        </p:nvSpPr>
        <p:spPr>
          <a:xfrm>
            <a:off x="5519936" y="4509119"/>
            <a:ext cx="3492930" cy="360044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2398 w 20523"/>
              <a:gd name="connsiteY0" fmla="*/ 0 h 21600"/>
              <a:gd name="connsiteX1" fmla="*/ 17048 w 20523"/>
              <a:gd name="connsiteY1" fmla="*/ 0 h 21600"/>
              <a:gd name="connsiteX2" fmla="*/ 20523 w 20523"/>
              <a:gd name="connsiteY2" fmla="*/ 10800 h 21600"/>
              <a:gd name="connsiteX3" fmla="*/ 17048 w 20523"/>
              <a:gd name="connsiteY3" fmla="*/ 21600 h 21600"/>
              <a:gd name="connsiteX4" fmla="*/ 2398 w 20523"/>
              <a:gd name="connsiteY4" fmla="*/ 21600 h 21600"/>
              <a:gd name="connsiteX5" fmla="*/ 0 w 20523"/>
              <a:gd name="connsiteY5" fmla="*/ 10800 h 21600"/>
              <a:gd name="connsiteX6" fmla="*/ 2398 w 20523"/>
              <a:gd name="connsiteY6" fmla="*/ 0 h 21600"/>
              <a:gd name="connsiteX0" fmla="*/ 2398 w 19520"/>
              <a:gd name="connsiteY0" fmla="*/ 0 h 21600"/>
              <a:gd name="connsiteX1" fmla="*/ 17048 w 19520"/>
              <a:gd name="connsiteY1" fmla="*/ 0 h 21600"/>
              <a:gd name="connsiteX2" fmla="*/ 19520 w 19520"/>
              <a:gd name="connsiteY2" fmla="*/ 10800 h 21600"/>
              <a:gd name="connsiteX3" fmla="*/ 17048 w 19520"/>
              <a:gd name="connsiteY3" fmla="*/ 21600 h 21600"/>
              <a:gd name="connsiteX4" fmla="*/ 2398 w 19520"/>
              <a:gd name="connsiteY4" fmla="*/ 21600 h 21600"/>
              <a:gd name="connsiteX5" fmla="*/ 0 w 19520"/>
              <a:gd name="connsiteY5" fmla="*/ 10800 h 21600"/>
              <a:gd name="connsiteX6" fmla="*/ 2398 w 19520"/>
              <a:gd name="connsiteY6" fmla="*/ 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20" h="21600">
                <a:moveTo>
                  <a:pt x="2398" y="0"/>
                </a:moveTo>
                <a:lnTo>
                  <a:pt x="17048" y="0"/>
                </a:lnTo>
                <a:cubicBezTo>
                  <a:pt x="18967" y="0"/>
                  <a:pt x="19520" y="4835"/>
                  <a:pt x="19520" y="10800"/>
                </a:cubicBezTo>
                <a:cubicBezTo>
                  <a:pt x="19520" y="16765"/>
                  <a:pt x="18967" y="21600"/>
                  <a:pt x="17048" y="21600"/>
                </a:cubicBezTo>
                <a:lnTo>
                  <a:pt x="2398" y="21600"/>
                </a:lnTo>
                <a:cubicBezTo>
                  <a:pt x="479" y="21600"/>
                  <a:pt x="0" y="16765"/>
                  <a:pt x="0" y="10800"/>
                </a:cubicBezTo>
                <a:cubicBezTo>
                  <a:pt x="0" y="4835"/>
                  <a:pt x="479" y="0"/>
                  <a:pt x="239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05B32E-F334-0930-A2F0-61EA0E34AD91}"/>
              </a:ext>
            </a:extLst>
          </p:cNvPr>
          <p:cNvSpPr txBox="1"/>
          <p:nvPr/>
        </p:nvSpPr>
        <p:spPr>
          <a:xfrm>
            <a:off x="6780808" y="4527558"/>
            <a:ext cx="97118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~2/23</a:t>
            </a:r>
            <a:endParaRPr lang="ko-KR" altLang="en-US" sz="15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7" name="순서도: 수행의 시작/종료 26">
            <a:extLst>
              <a:ext uri="{FF2B5EF4-FFF2-40B4-BE49-F238E27FC236}">
                <a16:creationId xmlns:a16="http://schemas.microsoft.com/office/drawing/2014/main" id="{97B643EC-743E-D2F2-5C21-8B26D4FF048E}"/>
              </a:ext>
            </a:extLst>
          </p:cNvPr>
          <p:cNvSpPr/>
          <p:nvPr/>
        </p:nvSpPr>
        <p:spPr>
          <a:xfrm>
            <a:off x="8976320" y="5085186"/>
            <a:ext cx="1152128" cy="360044"/>
          </a:xfrm>
          <a:prstGeom prst="flowChartTermina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396AAC-0C7C-1F1B-3C7A-59F9D2B20ECF}"/>
              </a:ext>
            </a:extLst>
          </p:cNvPr>
          <p:cNvSpPr txBox="1"/>
          <p:nvPr/>
        </p:nvSpPr>
        <p:spPr>
          <a:xfrm>
            <a:off x="9174795" y="5103625"/>
            <a:ext cx="7489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~2/28</a:t>
            </a:r>
            <a:endParaRPr lang="ko-KR" altLang="en-US" sz="15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5743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2875787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개요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2261838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1.3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내용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E3390BEE-A723-114A-A748-469C8D231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564138"/>
              </p:ext>
            </p:extLst>
          </p:nvPr>
        </p:nvGraphicFramePr>
        <p:xfrm>
          <a:off x="983432" y="1506096"/>
          <a:ext cx="10225135" cy="389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6284">
                  <a:extLst>
                    <a:ext uri="{9D8B030D-6E8A-4147-A177-3AD203B41FA5}">
                      <a16:colId xmlns:a16="http://schemas.microsoft.com/office/drawing/2014/main" val="4119744980"/>
                    </a:ext>
                  </a:extLst>
                </a:gridCol>
                <a:gridCol w="2556284">
                  <a:extLst>
                    <a:ext uri="{9D8B030D-6E8A-4147-A177-3AD203B41FA5}">
                      <a16:colId xmlns:a16="http://schemas.microsoft.com/office/drawing/2014/main" val="1599960737"/>
                    </a:ext>
                  </a:extLst>
                </a:gridCol>
                <a:gridCol w="5112567">
                  <a:extLst>
                    <a:ext uri="{9D8B030D-6E8A-4147-A177-3AD203B41FA5}">
                      <a16:colId xmlns:a16="http://schemas.microsoft.com/office/drawing/2014/main" val="506538063"/>
                    </a:ext>
                  </a:extLst>
                </a:gridCol>
              </a:tblGrid>
              <a:tr h="5051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기능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기능소개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128171"/>
                  </a:ext>
                </a:extLst>
              </a:tr>
              <a:tr h="337259"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회원 관리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로그인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로그아웃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로그인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로그아웃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159211"/>
                  </a:ext>
                </a:extLst>
              </a:tr>
              <a:tr h="3372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회원관리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회원가입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,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아이디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비밀번호 찾기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,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회원정보 조회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46409"/>
                  </a:ext>
                </a:extLst>
              </a:tr>
              <a:tr h="224839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종목 추천 서비스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투자 성향 검사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 고객 투자 성향 결정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63748"/>
                  </a:ext>
                </a:extLst>
              </a:tr>
              <a:tr h="224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투자 성향별 종목 추천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고객 투자 성향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과거 지표 기반 종목 추천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126694"/>
                  </a:ext>
                </a:extLst>
              </a:tr>
              <a:tr h="2248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투자 성향 조회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수정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투자 성향 조회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수정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282072"/>
                  </a:ext>
                </a:extLst>
              </a:tr>
              <a:tr h="337259"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주식 정보 서비스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종목 리스트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종목 리스트 제공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987299"/>
                  </a:ext>
                </a:extLst>
              </a:tr>
              <a:tr h="3372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종목 상세 지표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종목 상세 지표 제공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000519"/>
                  </a:ext>
                </a:extLst>
              </a:tr>
              <a:tr h="67451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한눈에 보는 시장 트렌드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실시간 이슈 정보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뉴스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커뮤니티 이슈 단어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트렌드 업종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종목 상위 리스트 제공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80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224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2875787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개요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269144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1.4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활용장비 및 재료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322542D-9791-90E6-0E63-6023F884A5DD}"/>
              </a:ext>
            </a:extLst>
          </p:cNvPr>
          <p:cNvGraphicFramePr>
            <a:graphicFrameLocks noGrp="1"/>
          </p:cNvGraphicFramePr>
          <p:nvPr/>
        </p:nvGraphicFramePr>
        <p:xfrm>
          <a:off x="695400" y="1772816"/>
          <a:ext cx="5200921" cy="3625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521">
                  <a:extLst>
                    <a:ext uri="{9D8B030D-6E8A-4147-A177-3AD203B41FA5}">
                      <a16:colId xmlns:a16="http://schemas.microsoft.com/office/drawing/2014/main" val="1953802706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701092128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모델 및 버전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499170"/>
                  </a:ext>
                </a:extLst>
              </a:tr>
              <a:tr h="337259"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문서 작성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Microsoft Office 2016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265190"/>
                  </a:ext>
                </a:extLst>
              </a:tr>
              <a:tr h="431405"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데이터베이스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SQL Developer 23.1.1.345.2114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823623"/>
                  </a:ext>
                </a:extLst>
              </a:tr>
              <a:tr h="4314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Oracle 18.4.0.0.0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999996"/>
                  </a:ext>
                </a:extLst>
              </a:tr>
              <a:tr h="18089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SW 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개발도구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Intellij 21.0.4+13-b509.17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992203"/>
                  </a:ext>
                </a:extLst>
              </a:tr>
              <a:tr h="2069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VS Code 1.96.2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780136"/>
                  </a:ext>
                </a:extLst>
              </a:tr>
              <a:tr h="3617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Pycharm 21.0.5+8-b631.16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079569"/>
                  </a:ext>
                </a:extLst>
              </a:tr>
              <a:tr h="3372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웹 크롤링 도구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Pycharm 21.0.5+8-b631.16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282022"/>
                  </a:ext>
                </a:extLst>
              </a:tr>
              <a:tr h="5753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딥 러닝 도구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Google Colab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>
                          <a:solidFill>
                            <a:schemeClr val="bg1"/>
                          </a:solidFill>
                          <a:effectLst/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Linux-6.1.85+-x86_64-with-glibc2.35</a:t>
                      </a:r>
                      <a:endParaRPr lang="en-US" altLang="ko-KR" sz="1400" b="1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43382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F680A86-D2EE-D02E-B0A5-34770A6F520E}"/>
              </a:ext>
            </a:extLst>
          </p:cNvPr>
          <p:cNvGraphicFramePr>
            <a:graphicFrameLocks noGrp="1"/>
          </p:cNvGraphicFramePr>
          <p:nvPr/>
        </p:nvGraphicFramePr>
        <p:xfrm>
          <a:off x="6672064" y="1772816"/>
          <a:ext cx="5200921" cy="346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521">
                  <a:extLst>
                    <a:ext uri="{9D8B030D-6E8A-4147-A177-3AD203B41FA5}">
                      <a16:colId xmlns:a16="http://schemas.microsoft.com/office/drawing/2014/main" val="1953802706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701092128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모델 및 버전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499170"/>
                  </a:ext>
                </a:extLst>
              </a:tr>
              <a:tr h="178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화면 디자인 도구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VS Code 1.96.2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265190"/>
                  </a:ext>
                </a:extLst>
              </a:tr>
              <a:tr h="240305"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사용 언어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Java 17.0.13, Python 3.12.7, Thymeleaf,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HTML,CSS,Javascript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43382"/>
                  </a:ext>
                </a:extLst>
              </a:tr>
              <a:tr h="178680"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프레임워크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Springboot 3.4.2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90338"/>
                  </a:ext>
                </a:extLst>
              </a:tr>
              <a:tr h="1786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Fastapi 0.112.2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185013"/>
                  </a:ext>
                </a:extLst>
              </a:tr>
              <a:tr h="335094"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빌드 도구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Gradle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61414"/>
                  </a:ext>
                </a:extLst>
              </a:tr>
              <a:tr h="3350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형상 관리 도구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Git 2.47.0, Github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553848"/>
                  </a:ext>
                </a:extLst>
              </a:tr>
              <a:tr h="33509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테스트 도구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Postman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11.33.5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076284"/>
                  </a:ext>
                </a:extLst>
              </a:tr>
              <a:tr h="3350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JUnit 5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067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112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2875787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개요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380734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1.5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활용 방안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및 기대 효과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02F1A6E-A1CA-F5ED-D26C-F1EBE2E5F4F6}"/>
              </a:ext>
            </a:extLst>
          </p:cNvPr>
          <p:cNvSpPr/>
          <p:nvPr/>
        </p:nvSpPr>
        <p:spPr>
          <a:xfrm>
            <a:off x="1055440" y="2276872"/>
            <a:ext cx="3600400" cy="33843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E89538C-5657-9DF0-D9CC-CD80842B10E7}"/>
              </a:ext>
            </a:extLst>
          </p:cNvPr>
          <p:cNvSpPr/>
          <p:nvPr/>
        </p:nvSpPr>
        <p:spPr>
          <a:xfrm>
            <a:off x="7536160" y="2286735"/>
            <a:ext cx="3600400" cy="33843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253FFF-0318-5E70-4E18-7E2F68B4D39E}"/>
              </a:ext>
            </a:extLst>
          </p:cNvPr>
          <p:cNvSpPr txBox="1"/>
          <p:nvPr/>
        </p:nvSpPr>
        <p:spPr>
          <a:xfrm>
            <a:off x="1343472" y="3125703"/>
            <a:ext cx="3024336" cy="17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고객은 플랫폼을 통해 많은 전문지식과 용어 습득이 부족한 상태에서도</a:t>
            </a:r>
            <a:r>
              <a:rPr lang="en-US" altLang="ko-KR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좋은 지표를 가진 종목에 손쉽게 접근이 가능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10B585-24DD-8127-83B6-2598930DC1FE}"/>
              </a:ext>
            </a:extLst>
          </p:cNvPr>
          <p:cNvSpPr txBox="1"/>
          <p:nvPr/>
        </p:nvSpPr>
        <p:spPr>
          <a:xfrm>
            <a:off x="7824192" y="3436533"/>
            <a:ext cx="3024336" cy="12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시장 트렌드를 빠르게 파악해 현재 이슈 종목에 대한 시장의 투자 심리를 파악 할 수 있음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27C3547-BD5D-5605-8434-4B24850E57F8}"/>
              </a:ext>
            </a:extLst>
          </p:cNvPr>
          <p:cNvSpPr/>
          <p:nvPr/>
        </p:nvSpPr>
        <p:spPr>
          <a:xfrm>
            <a:off x="1559496" y="1916832"/>
            <a:ext cx="2592288" cy="576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9CAFF69-419B-83AD-21B6-C14DCD83DAC6}"/>
              </a:ext>
            </a:extLst>
          </p:cNvPr>
          <p:cNvSpPr/>
          <p:nvPr/>
        </p:nvSpPr>
        <p:spPr>
          <a:xfrm>
            <a:off x="8040218" y="1916832"/>
            <a:ext cx="2592288" cy="576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561F81-6AFC-6F14-38DC-15CC1D570CA7}"/>
              </a:ext>
            </a:extLst>
          </p:cNvPr>
          <p:cNvSpPr txBox="1"/>
          <p:nvPr/>
        </p:nvSpPr>
        <p:spPr>
          <a:xfrm>
            <a:off x="1798572" y="2020593"/>
            <a:ext cx="211413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우량 종목 정보 파악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0F2C9F-C53A-EC0B-1C20-4D455C244B78}"/>
              </a:ext>
            </a:extLst>
          </p:cNvPr>
          <p:cNvSpPr txBox="1"/>
          <p:nvPr/>
        </p:nvSpPr>
        <p:spPr>
          <a:xfrm>
            <a:off x="8242789" y="2020593"/>
            <a:ext cx="21788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여론 및 투자 심리 파악</a:t>
            </a:r>
          </a:p>
        </p:txBody>
      </p:sp>
    </p:spTree>
    <p:extLst>
      <p:ext uri="{BB962C8B-B14F-4D97-AF65-F5344CB8AC3E}">
        <p14:creationId xmlns:p14="http://schemas.microsoft.com/office/powerpoint/2010/main" val="3824376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2875787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개요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380734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1.5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활용 방안 및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기대 효과 </a:t>
            </a:r>
            <a:endParaRPr lang="en-US" sz="2500" b="1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02F1A6E-A1CA-F5ED-D26C-F1EBE2E5F4F6}"/>
              </a:ext>
            </a:extLst>
          </p:cNvPr>
          <p:cNvSpPr/>
          <p:nvPr/>
        </p:nvSpPr>
        <p:spPr>
          <a:xfrm>
            <a:off x="335360" y="2276872"/>
            <a:ext cx="3600400" cy="33843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E89538C-5657-9DF0-D9CC-CD80842B10E7}"/>
              </a:ext>
            </a:extLst>
          </p:cNvPr>
          <p:cNvSpPr/>
          <p:nvPr/>
        </p:nvSpPr>
        <p:spPr>
          <a:xfrm>
            <a:off x="4295800" y="2276872"/>
            <a:ext cx="3600400" cy="33843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253FFF-0318-5E70-4E18-7E2F68B4D39E}"/>
              </a:ext>
            </a:extLst>
          </p:cNvPr>
          <p:cNvSpPr txBox="1"/>
          <p:nvPr/>
        </p:nvSpPr>
        <p:spPr>
          <a:xfrm>
            <a:off x="587388" y="3125703"/>
            <a:ext cx="3096344" cy="21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초보 투자자들의 미숙함으로 오는 투자 실패 경험을 줄이고 성향에 맞는 투자 종목을 제공 받아 미숙할 시기에도 안정적인 투자 시작 경험을 제공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10B585-24DD-8127-83B6-2598930DC1FE}"/>
              </a:ext>
            </a:extLst>
          </p:cNvPr>
          <p:cNvSpPr txBox="1"/>
          <p:nvPr/>
        </p:nvSpPr>
        <p:spPr>
          <a:xfrm>
            <a:off x="4727848" y="3218929"/>
            <a:ext cx="3024336" cy="17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여러 곳을 돌아다니지 않아도 현재 이슈가 되고 있는 종목과</a:t>
            </a:r>
            <a:r>
              <a:rPr lang="en-US" altLang="ko-KR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r>
              <a:rPr lang="ko-KR" altLang="en-US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특정 종목에 대한 투자심리와</a:t>
            </a:r>
            <a:r>
              <a:rPr lang="en-US" altLang="ko-KR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r>
              <a:rPr lang="ko-KR" altLang="en-US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여론을 손쉽게 파악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27C3547-BD5D-5605-8434-4B24850E57F8}"/>
              </a:ext>
            </a:extLst>
          </p:cNvPr>
          <p:cNvSpPr/>
          <p:nvPr/>
        </p:nvSpPr>
        <p:spPr>
          <a:xfrm>
            <a:off x="839416" y="1916832"/>
            <a:ext cx="2592288" cy="576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9CAFF69-419B-83AD-21B6-C14DCD83DAC6}"/>
              </a:ext>
            </a:extLst>
          </p:cNvPr>
          <p:cNvSpPr/>
          <p:nvPr/>
        </p:nvSpPr>
        <p:spPr>
          <a:xfrm>
            <a:off x="4799856" y="1906969"/>
            <a:ext cx="2592288" cy="576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561F81-6AFC-6F14-38DC-15CC1D570CA7}"/>
              </a:ext>
            </a:extLst>
          </p:cNvPr>
          <p:cNvSpPr txBox="1"/>
          <p:nvPr/>
        </p:nvSpPr>
        <p:spPr>
          <a:xfrm>
            <a:off x="821739" y="2020593"/>
            <a:ext cx="262764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안정적인 투자 시작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0F2C9F-C53A-EC0B-1C20-4D455C244B78}"/>
              </a:ext>
            </a:extLst>
          </p:cNvPr>
          <p:cNvSpPr txBox="1"/>
          <p:nvPr/>
        </p:nvSpPr>
        <p:spPr>
          <a:xfrm>
            <a:off x="5002429" y="2010730"/>
            <a:ext cx="21788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시간 절약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E5320B9-DB71-7C2D-66B5-F99E4B45C8F1}"/>
              </a:ext>
            </a:extLst>
          </p:cNvPr>
          <p:cNvSpPr/>
          <p:nvPr/>
        </p:nvSpPr>
        <p:spPr>
          <a:xfrm>
            <a:off x="8256240" y="2276881"/>
            <a:ext cx="3600400" cy="33843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7EE49F-8D9D-5EF0-BAF0-FEBE10C6B1A1}"/>
              </a:ext>
            </a:extLst>
          </p:cNvPr>
          <p:cNvSpPr txBox="1"/>
          <p:nvPr/>
        </p:nvSpPr>
        <p:spPr>
          <a:xfrm>
            <a:off x="8544272" y="3426679"/>
            <a:ext cx="3024336" cy="12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위험도와 긍정점수를 통해 해당 종목의 투자 위험성을 직관적 으로 파악해 투자 결정을 지원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B28569-524C-18D1-202D-6D9F341B544A}"/>
              </a:ext>
            </a:extLst>
          </p:cNvPr>
          <p:cNvSpPr/>
          <p:nvPr/>
        </p:nvSpPr>
        <p:spPr>
          <a:xfrm>
            <a:off x="8760298" y="1906978"/>
            <a:ext cx="2592288" cy="576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E1B1E7-5BBA-7824-98E7-4DC582E8AE0F}"/>
              </a:ext>
            </a:extLst>
          </p:cNvPr>
          <p:cNvSpPr txBox="1"/>
          <p:nvPr/>
        </p:nvSpPr>
        <p:spPr>
          <a:xfrm>
            <a:off x="8962869" y="2010739"/>
            <a:ext cx="21788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리스크 경감</a:t>
            </a:r>
          </a:p>
        </p:txBody>
      </p:sp>
    </p:spTree>
    <p:extLst>
      <p:ext uri="{BB962C8B-B14F-4D97-AF65-F5344CB8AC3E}">
        <p14:creationId xmlns:p14="http://schemas.microsoft.com/office/powerpoint/2010/main" val="1740515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45BE409D-7EAA-9808-B4F3-6B8B3383291A}"/>
              </a:ext>
            </a:extLst>
          </p:cNvPr>
          <p:cNvSpPr/>
          <p:nvPr/>
        </p:nvSpPr>
        <p:spPr>
          <a:xfrm>
            <a:off x="3463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2833290" h="694581">
                <a:moveTo>
                  <a:pt x="0" y="0"/>
                </a:moveTo>
                <a:lnTo>
                  <a:pt x="2833290" y="0"/>
                </a:lnTo>
                <a:lnTo>
                  <a:pt x="2833290" y="694581"/>
                </a:lnTo>
                <a:lnTo>
                  <a:pt x="0" y="694581"/>
                </a:lnTo>
                <a:close/>
              </a:path>
            </a:pathLst>
          </a:custGeom>
          <a:blipFill dpi="0" rotWithShape="1">
            <a:blip r:embed="rId2">
              <a:alphaModFix amt="20000"/>
            </a:blip>
            <a:srcRect/>
            <a:stretch>
              <a:fillRect t="-160868" b="-11414"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201CD4-130F-2FFB-76CE-DF7B913F29AF}"/>
              </a:ext>
            </a:extLst>
          </p:cNvPr>
          <p:cNvSpPr txBox="1"/>
          <p:nvPr/>
        </p:nvSpPr>
        <p:spPr>
          <a:xfrm>
            <a:off x="1343472" y="2844224"/>
            <a:ext cx="9752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2.</a:t>
            </a:r>
            <a:r>
              <a:rPr lang="ko-KR" altLang="en-US" sz="70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프로젝트 팀 구성 및 역할</a:t>
            </a:r>
          </a:p>
        </p:txBody>
      </p:sp>
    </p:spTree>
    <p:extLst>
      <p:ext uri="{BB962C8B-B14F-4D97-AF65-F5344CB8AC3E}">
        <p14:creationId xmlns:p14="http://schemas.microsoft.com/office/powerpoint/2010/main" val="390260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447004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 spc="3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2. </a:t>
            </a:r>
            <a:r>
              <a:rPr lang="ko-KR" altLang="en-US" sz="3500" b="1" spc="3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팀 구성 및 역할</a:t>
            </a:r>
            <a:endParaRPr lang="en-US" sz="3500" b="1" spc="3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37432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2.1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팀원 역할 및 담당 업무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3">
            <a:extLst>
              <a:ext uri="{FF2B5EF4-FFF2-40B4-BE49-F238E27FC236}">
                <a16:creationId xmlns:a16="http://schemas.microsoft.com/office/drawing/2014/main" id="{A3A9DC1D-1275-86A2-B392-39E5A8DD17C9}"/>
              </a:ext>
            </a:extLst>
          </p:cNvPr>
          <p:cNvGrpSpPr/>
          <p:nvPr/>
        </p:nvGrpSpPr>
        <p:grpSpPr>
          <a:xfrm>
            <a:off x="1403897" y="1412776"/>
            <a:ext cx="2480810" cy="4392485"/>
            <a:chOff x="0" y="0"/>
            <a:chExt cx="980073" cy="1314619"/>
          </a:xfrm>
        </p:grpSpPr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D0257428-4179-68C8-8205-94C83B8EB062}"/>
                </a:ext>
              </a:extLst>
            </p:cNvPr>
            <p:cNvSpPr/>
            <p:nvPr/>
          </p:nvSpPr>
          <p:spPr>
            <a:xfrm>
              <a:off x="0" y="0"/>
              <a:ext cx="980073" cy="1314619"/>
            </a:xfrm>
            <a:custGeom>
              <a:avLst/>
              <a:gdLst/>
              <a:ahLst/>
              <a:cxnLst/>
              <a:rect l="l" t="t" r="r" b="b"/>
              <a:pathLst>
                <a:path w="980073" h="1314619">
                  <a:moveTo>
                    <a:pt x="41610" y="0"/>
                  </a:moveTo>
                  <a:lnTo>
                    <a:pt x="938463" y="0"/>
                  </a:lnTo>
                  <a:cubicBezTo>
                    <a:pt x="949499" y="0"/>
                    <a:pt x="960082" y="4384"/>
                    <a:pt x="967886" y="12187"/>
                  </a:cubicBezTo>
                  <a:cubicBezTo>
                    <a:pt x="975689" y="19991"/>
                    <a:pt x="980073" y="30574"/>
                    <a:pt x="980073" y="41610"/>
                  </a:cubicBezTo>
                  <a:lnTo>
                    <a:pt x="980073" y="1273009"/>
                  </a:lnTo>
                  <a:cubicBezTo>
                    <a:pt x="980073" y="1295990"/>
                    <a:pt x="961444" y="1314619"/>
                    <a:pt x="938463" y="1314619"/>
                  </a:cubicBezTo>
                  <a:lnTo>
                    <a:pt x="41610" y="1314619"/>
                  </a:lnTo>
                  <a:cubicBezTo>
                    <a:pt x="30574" y="1314619"/>
                    <a:pt x="19991" y="1310235"/>
                    <a:pt x="12187" y="1302432"/>
                  </a:cubicBezTo>
                  <a:cubicBezTo>
                    <a:pt x="4384" y="1294629"/>
                    <a:pt x="0" y="1284045"/>
                    <a:pt x="0" y="1273009"/>
                  </a:cubicBezTo>
                  <a:lnTo>
                    <a:pt x="0" y="41610"/>
                  </a:lnTo>
                  <a:cubicBezTo>
                    <a:pt x="0" y="30574"/>
                    <a:pt x="4384" y="19991"/>
                    <a:pt x="12187" y="12187"/>
                  </a:cubicBezTo>
                  <a:cubicBezTo>
                    <a:pt x="19991" y="4384"/>
                    <a:pt x="30574" y="0"/>
                    <a:pt x="41610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15" name="TextBox 5">
              <a:extLst>
                <a:ext uri="{FF2B5EF4-FFF2-40B4-BE49-F238E27FC236}">
                  <a16:creationId xmlns:a16="http://schemas.microsoft.com/office/drawing/2014/main" id="{99F88873-A9E0-F5F5-E2D1-BA4CF821E423}"/>
                </a:ext>
              </a:extLst>
            </p:cNvPr>
            <p:cNvSpPr txBox="1"/>
            <p:nvPr/>
          </p:nvSpPr>
          <p:spPr>
            <a:xfrm>
              <a:off x="0" y="-38100"/>
              <a:ext cx="980073" cy="135271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93"/>
                </a:lnSpc>
              </a:pPr>
              <a:endParaRPr sz="1200"/>
            </a:p>
          </p:txBody>
        </p:sp>
      </p:grpSp>
      <p:grpSp>
        <p:nvGrpSpPr>
          <p:cNvPr id="16" name="Group 6">
            <a:extLst>
              <a:ext uri="{FF2B5EF4-FFF2-40B4-BE49-F238E27FC236}">
                <a16:creationId xmlns:a16="http://schemas.microsoft.com/office/drawing/2014/main" id="{9493513B-D9B5-D3E0-8964-DC2DEEA82494}"/>
              </a:ext>
            </a:extLst>
          </p:cNvPr>
          <p:cNvGrpSpPr/>
          <p:nvPr/>
        </p:nvGrpSpPr>
        <p:grpSpPr>
          <a:xfrm>
            <a:off x="4855596" y="1412776"/>
            <a:ext cx="2480810" cy="4392485"/>
            <a:chOff x="0" y="0"/>
            <a:chExt cx="980073" cy="1314619"/>
          </a:xfrm>
        </p:grpSpPr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8F05D049-DB3E-3C0F-D9D6-F4768E87F7B8}"/>
                </a:ext>
              </a:extLst>
            </p:cNvPr>
            <p:cNvSpPr/>
            <p:nvPr/>
          </p:nvSpPr>
          <p:spPr>
            <a:xfrm>
              <a:off x="0" y="0"/>
              <a:ext cx="980073" cy="1314619"/>
            </a:xfrm>
            <a:custGeom>
              <a:avLst/>
              <a:gdLst/>
              <a:ahLst/>
              <a:cxnLst/>
              <a:rect l="l" t="t" r="r" b="b"/>
              <a:pathLst>
                <a:path w="980073" h="1314619">
                  <a:moveTo>
                    <a:pt x="41610" y="0"/>
                  </a:moveTo>
                  <a:lnTo>
                    <a:pt x="938463" y="0"/>
                  </a:lnTo>
                  <a:cubicBezTo>
                    <a:pt x="949499" y="0"/>
                    <a:pt x="960082" y="4384"/>
                    <a:pt x="967886" y="12187"/>
                  </a:cubicBezTo>
                  <a:cubicBezTo>
                    <a:pt x="975689" y="19991"/>
                    <a:pt x="980073" y="30574"/>
                    <a:pt x="980073" y="41610"/>
                  </a:cubicBezTo>
                  <a:lnTo>
                    <a:pt x="980073" y="1273009"/>
                  </a:lnTo>
                  <a:cubicBezTo>
                    <a:pt x="980073" y="1295990"/>
                    <a:pt x="961444" y="1314619"/>
                    <a:pt x="938463" y="1314619"/>
                  </a:cubicBezTo>
                  <a:lnTo>
                    <a:pt x="41610" y="1314619"/>
                  </a:lnTo>
                  <a:cubicBezTo>
                    <a:pt x="30574" y="1314619"/>
                    <a:pt x="19991" y="1310235"/>
                    <a:pt x="12187" y="1302432"/>
                  </a:cubicBezTo>
                  <a:cubicBezTo>
                    <a:pt x="4384" y="1294629"/>
                    <a:pt x="0" y="1284045"/>
                    <a:pt x="0" y="1273009"/>
                  </a:cubicBezTo>
                  <a:lnTo>
                    <a:pt x="0" y="41610"/>
                  </a:lnTo>
                  <a:cubicBezTo>
                    <a:pt x="0" y="30574"/>
                    <a:pt x="4384" y="19991"/>
                    <a:pt x="12187" y="12187"/>
                  </a:cubicBezTo>
                  <a:cubicBezTo>
                    <a:pt x="19991" y="4384"/>
                    <a:pt x="30574" y="0"/>
                    <a:pt x="41610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18" name="TextBox 8">
              <a:extLst>
                <a:ext uri="{FF2B5EF4-FFF2-40B4-BE49-F238E27FC236}">
                  <a16:creationId xmlns:a16="http://schemas.microsoft.com/office/drawing/2014/main" id="{BD6321AA-F303-27AF-030D-E92CE8A4C569}"/>
                </a:ext>
              </a:extLst>
            </p:cNvPr>
            <p:cNvSpPr txBox="1"/>
            <p:nvPr/>
          </p:nvSpPr>
          <p:spPr>
            <a:xfrm>
              <a:off x="0" y="-38100"/>
              <a:ext cx="980073" cy="135271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93"/>
                </a:lnSpc>
              </a:pPr>
              <a:endParaRPr sz="1200"/>
            </a:p>
          </p:txBody>
        </p:sp>
      </p:grpSp>
      <p:grpSp>
        <p:nvGrpSpPr>
          <p:cNvPr id="19" name="Group 9">
            <a:extLst>
              <a:ext uri="{FF2B5EF4-FFF2-40B4-BE49-F238E27FC236}">
                <a16:creationId xmlns:a16="http://schemas.microsoft.com/office/drawing/2014/main" id="{421047D0-6A65-C473-A814-9B5E1AD6936A}"/>
              </a:ext>
            </a:extLst>
          </p:cNvPr>
          <p:cNvGrpSpPr/>
          <p:nvPr/>
        </p:nvGrpSpPr>
        <p:grpSpPr>
          <a:xfrm>
            <a:off x="8307955" y="1412776"/>
            <a:ext cx="2480810" cy="4392485"/>
            <a:chOff x="0" y="0"/>
            <a:chExt cx="980073" cy="1314619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E7C14D7D-8EEE-3D58-0876-DA5F371A06AF}"/>
                </a:ext>
              </a:extLst>
            </p:cNvPr>
            <p:cNvSpPr/>
            <p:nvPr/>
          </p:nvSpPr>
          <p:spPr>
            <a:xfrm>
              <a:off x="0" y="0"/>
              <a:ext cx="980073" cy="1314619"/>
            </a:xfrm>
            <a:custGeom>
              <a:avLst/>
              <a:gdLst/>
              <a:ahLst/>
              <a:cxnLst/>
              <a:rect l="l" t="t" r="r" b="b"/>
              <a:pathLst>
                <a:path w="980073" h="1314619">
                  <a:moveTo>
                    <a:pt x="41610" y="0"/>
                  </a:moveTo>
                  <a:lnTo>
                    <a:pt x="938463" y="0"/>
                  </a:lnTo>
                  <a:cubicBezTo>
                    <a:pt x="949499" y="0"/>
                    <a:pt x="960082" y="4384"/>
                    <a:pt x="967886" y="12187"/>
                  </a:cubicBezTo>
                  <a:cubicBezTo>
                    <a:pt x="975689" y="19991"/>
                    <a:pt x="980073" y="30574"/>
                    <a:pt x="980073" y="41610"/>
                  </a:cubicBezTo>
                  <a:lnTo>
                    <a:pt x="980073" y="1273009"/>
                  </a:lnTo>
                  <a:cubicBezTo>
                    <a:pt x="980073" y="1295990"/>
                    <a:pt x="961444" y="1314619"/>
                    <a:pt x="938463" y="1314619"/>
                  </a:cubicBezTo>
                  <a:lnTo>
                    <a:pt x="41610" y="1314619"/>
                  </a:lnTo>
                  <a:cubicBezTo>
                    <a:pt x="30574" y="1314619"/>
                    <a:pt x="19991" y="1310235"/>
                    <a:pt x="12187" y="1302432"/>
                  </a:cubicBezTo>
                  <a:cubicBezTo>
                    <a:pt x="4384" y="1294629"/>
                    <a:pt x="0" y="1284045"/>
                    <a:pt x="0" y="1273009"/>
                  </a:cubicBezTo>
                  <a:lnTo>
                    <a:pt x="0" y="41610"/>
                  </a:lnTo>
                  <a:cubicBezTo>
                    <a:pt x="0" y="30574"/>
                    <a:pt x="4384" y="19991"/>
                    <a:pt x="12187" y="12187"/>
                  </a:cubicBezTo>
                  <a:cubicBezTo>
                    <a:pt x="19991" y="4384"/>
                    <a:pt x="30574" y="0"/>
                    <a:pt x="41610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A61BBEEB-4B73-A35B-78DB-F21E15BF277B}"/>
                </a:ext>
              </a:extLst>
            </p:cNvPr>
            <p:cNvSpPr txBox="1"/>
            <p:nvPr/>
          </p:nvSpPr>
          <p:spPr>
            <a:xfrm>
              <a:off x="0" y="-38100"/>
              <a:ext cx="980073" cy="135271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93"/>
                </a:lnSpc>
              </a:pPr>
              <a:endParaRPr sz="1200"/>
            </a:p>
          </p:txBody>
        </p:sp>
      </p:grpSp>
      <p:grpSp>
        <p:nvGrpSpPr>
          <p:cNvPr id="22" name="Group 12">
            <a:extLst>
              <a:ext uri="{FF2B5EF4-FFF2-40B4-BE49-F238E27FC236}">
                <a16:creationId xmlns:a16="http://schemas.microsoft.com/office/drawing/2014/main" id="{89E36CC4-5637-41C2-2328-266B2712FCAE}"/>
              </a:ext>
            </a:extLst>
          </p:cNvPr>
          <p:cNvGrpSpPr/>
          <p:nvPr/>
        </p:nvGrpSpPr>
        <p:grpSpPr>
          <a:xfrm>
            <a:off x="1869355" y="1628800"/>
            <a:ext cx="1549895" cy="1549895"/>
            <a:chOff x="0" y="0"/>
            <a:chExt cx="812800" cy="812800"/>
          </a:xfrm>
        </p:grpSpPr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69311D0D-77A6-2852-A592-B91D3A50B56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9385" t="-5876" r="-18019" b="-100231"/>
              </a:stretch>
            </a:blipFill>
          </p:spPr>
        </p:sp>
      </p:grpSp>
      <p:grpSp>
        <p:nvGrpSpPr>
          <p:cNvPr id="24" name="Group 14">
            <a:extLst>
              <a:ext uri="{FF2B5EF4-FFF2-40B4-BE49-F238E27FC236}">
                <a16:creationId xmlns:a16="http://schemas.microsoft.com/office/drawing/2014/main" id="{6AF61437-20A4-4165-1370-5357A95014F1}"/>
              </a:ext>
            </a:extLst>
          </p:cNvPr>
          <p:cNvGrpSpPr/>
          <p:nvPr/>
        </p:nvGrpSpPr>
        <p:grpSpPr>
          <a:xfrm>
            <a:off x="5321053" y="1628800"/>
            <a:ext cx="1549895" cy="1549895"/>
            <a:chOff x="0" y="0"/>
            <a:chExt cx="812800" cy="812800"/>
          </a:xfrm>
        </p:grpSpPr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9CA9645E-F8A9-1DE8-76FA-86BE14EB8C9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t="-18610" b="-18610"/>
              </a:stretch>
            </a:blipFill>
          </p:spPr>
        </p:sp>
      </p:grpSp>
      <p:grpSp>
        <p:nvGrpSpPr>
          <p:cNvPr id="26" name="Group 16">
            <a:extLst>
              <a:ext uri="{FF2B5EF4-FFF2-40B4-BE49-F238E27FC236}">
                <a16:creationId xmlns:a16="http://schemas.microsoft.com/office/drawing/2014/main" id="{51D02EF6-56CB-0B9C-1D6D-9AF914B03012}"/>
              </a:ext>
            </a:extLst>
          </p:cNvPr>
          <p:cNvGrpSpPr/>
          <p:nvPr/>
        </p:nvGrpSpPr>
        <p:grpSpPr>
          <a:xfrm>
            <a:off x="8773413" y="1628800"/>
            <a:ext cx="1549895" cy="1549895"/>
            <a:chOff x="0" y="0"/>
            <a:chExt cx="812800" cy="812800"/>
          </a:xfrm>
        </p:grpSpPr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EC435B10-009B-A618-D14D-474F2F5B5C1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6666" b="-16666"/>
              </a:stretch>
            </a:blipFill>
          </p:spPr>
        </p:sp>
      </p:grpSp>
      <p:sp>
        <p:nvSpPr>
          <p:cNvPr id="28" name="TextBox 22">
            <a:extLst>
              <a:ext uri="{FF2B5EF4-FFF2-40B4-BE49-F238E27FC236}">
                <a16:creationId xmlns:a16="http://schemas.microsoft.com/office/drawing/2014/main" id="{3CDDB845-FF29-4376-E0D8-1B58D509AB33}"/>
              </a:ext>
            </a:extLst>
          </p:cNvPr>
          <p:cNvSpPr txBox="1"/>
          <p:nvPr/>
        </p:nvSpPr>
        <p:spPr>
          <a:xfrm>
            <a:off x="1564308" y="3352343"/>
            <a:ext cx="215998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ko-KR" altLang="en-US" b="1" spc="98">
                <a:solidFill>
                  <a:srgbClr val="13191D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DM Sans Bold"/>
              </a:rPr>
              <a:t>김준우 </a:t>
            </a:r>
            <a:r>
              <a:rPr lang="en-US" altLang="ko-KR" b="1" spc="98">
                <a:solidFill>
                  <a:srgbClr val="13191D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DM Sans Bold"/>
              </a:rPr>
              <a:t>(</a:t>
            </a:r>
            <a:r>
              <a:rPr lang="ko-KR" altLang="en-US" b="1" spc="98">
                <a:solidFill>
                  <a:srgbClr val="13191D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DM Sans Bold"/>
              </a:rPr>
              <a:t>팀장</a:t>
            </a:r>
            <a:r>
              <a:rPr lang="en-US" altLang="ko-KR" b="1" spc="98">
                <a:solidFill>
                  <a:srgbClr val="13191D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DM Sans Bold"/>
              </a:rPr>
              <a:t>)</a:t>
            </a:r>
            <a:endParaRPr lang="en-US" b="1" spc="98">
              <a:solidFill>
                <a:srgbClr val="13191D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  <a:sym typeface="DM Sans Bold"/>
            </a:endParaRPr>
          </a:p>
        </p:txBody>
      </p:sp>
      <p:sp>
        <p:nvSpPr>
          <p:cNvPr id="29" name="TextBox 23">
            <a:extLst>
              <a:ext uri="{FF2B5EF4-FFF2-40B4-BE49-F238E27FC236}">
                <a16:creationId xmlns:a16="http://schemas.microsoft.com/office/drawing/2014/main" id="{BC73D82F-79CE-093E-3139-434872AD494F}"/>
              </a:ext>
            </a:extLst>
          </p:cNvPr>
          <p:cNvSpPr txBox="1"/>
          <p:nvPr/>
        </p:nvSpPr>
        <p:spPr>
          <a:xfrm>
            <a:off x="5016006" y="3352343"/>
            <a:ext cx="215998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ko-KR" altLang="en-US" b="1" spc="98">
                <a:solidFill>
                  <a:srgbClr val="13191D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DM Sans Bold"/>
              </a:rPr>
              <a:t>김유진</a:t>
            </a:r>
            <a:endParaRPr lang="en-US" b="1" spc="98">
              <a:solidFill>
                <a:srgbClr val="13191D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  <a:sym typeface="DM Sans Bold"/>
            </a:endParaRPr>
          </a:p>
        </p:txBody>
      </p:sp>
      <p:sp>
        <p:nvSpPr>
          <p:cNvPr id="30" name="TextBox 24">
            <a:extLst>
              <a:ext uri="{FF2B5EF4-FFF2-40B4-BE49-F238E27FC236}">
                <a16:creationId xmlns:a16="http://schemas.microsoft.com/office/drawing/2014/main" id="{7B015C1E-879A-59C6-1FAF-B09C0E5250FB}"/>
              </a:ext>
            </a:extLst>
          </p:cNvPr>
          <p:cNvSpPr txBox="1"/>
          <p:nvPr/>
        </p:nvSpPr>
        <p:spPr>
          <a:xfrm>
            <a:off x="8466705" y="3352343"/>
            <a:ext cx="215998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ko-KR" altLang="en-US" b="1" spc="98">
                <a:solidFill>
                  <a:srgbClr val="13191D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DM Sans Bold"/>
              </a:rPr>
              <a:t>박이담</a:t>
            </a:r>
            <a:endParaRPr lang="en-US" b="1" spc="98">
              <a:solidFill>
                <a:srgbClr val="13191D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  <a:sym typeface="DM Sans Bold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8FA59D-1B15-7075-8564-7F45AA8AA5CD}"/>
              </a:ext>
            </a:extLst>
          </p:cNvPr>
          <p:cNvSpPr txBox="1"/>
          <p:nvPr/>
        </p:nvSpPr>
        <p:spPr>
          <a:xfrm>
            <a:off x="1564308" y="3640375"/>
            <a:ext cx="2159988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프로젝트 총괄</a:t>
            </a:r>
            <a:endParaRPr lang="en-US" altLang="ko-KR" sz="11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개발 프로그램 설계</a:t>
            </a:r>
            <a:endParaRPr lang="en-US" altLang="ko-KR" sz="11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프로세스 설계</a:t>
            </a:r>
            <a:endParaRPr lang="en-US" altLang="ko-KR" sz="11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화면 정의서 설계</a:t>
            </a:r>
            <a:endParaRPr lang="en-US" altLang="ko-KR" sz="11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데이터베이스 설계</a:t>
            </a:r>
            <a:endParaRPr lang="en-US" altLang="ko-KR" sz="11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SW </a:t>
            </a:r>
            <a:r>
              <a:rPr lang="ko-KR" alt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아키텍처 설계</a:t>
            </a:r>
            <a:endParaRPr lang="en-US" altLang="ko-KR" sz="11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뉴스 데이터 수집 개선</a:t>
            </a:r>
            <a:endParaRPr lang="en-US" altLang="ko-KR" sz="11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커뮤니티 데이터 수집</a:t>
            </a:r>
            <a:endParaRPr lang="en-US" altLang="ko-KR" sz="11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커뮤니티 긍정라벨 학습 모델 제작</a:t>
            </a:r>
            <a:endParaRPr lang="en-US" altLang="ko-KR" sz="11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플랫폼 기능 구현</a:t>
            </a:r>
            <a:endParaRPr lang="en-US" altLang="ko-KR" sz="11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DB </a:t>
            </a:r>
            <a:r>
              <a:rPr lang="ko-KR" alt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데이터 분석</a:t>
            </a:r>
            <a:endParaRPr lang="en-US" altLang="ko-KR" sz="11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PPT</a:t>
            </a:r>
            <a:r>
              <a:rPr lang="ko-KR" alt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제작</a:t>
            </a:r>
            <a:endParaRPr lang="en-US" altLang="ko-KR" sz="11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ko-KR" altLang="en-US" sz="11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1D26D4-A9F4-5531-3ED7-3E0D0B736C7F}"/>
              </a:ext>
            </a:extLst>
          </p:cNvPr>
          <p:cNvSpPr txBox="1"/>
          <p:nvPr/>
        </p:nvSpPr>
        <p:spPr>
          <a:xfrm>
            <a:off x="5087889" y="3640375"/>
            <a:ext cx="20881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요구사항 정의서 설계</a:t>
            </a:r>
            <a:endParaRPr lang="en-US" altLang="ko-KR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테스크 플로우 설계</a:t>
            </a:r>
            <a:endParaRPr lang="en-US" altLang="ko-KR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기능 구현 피드백</a:t>
            </a:r>
            <a:endParaRPr lang="en-US" altLang="ko-KR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종목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뉴스 데이터 수집</a:t>
            </a:r>
            <a:endParaRPr lang="en-US" altLang="ko-KR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뉴스 긍정라벨 학습 모델 제작</a:t>
            </a:r>
            <a:endParaRPr lang="en-US" altLang="ko-KR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통합테스트 시나리오 작성</a:t>
            </a:r>
            <a:endParaRPr lang="en-US" altLang="ko-KR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시연 동영상 제작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FC0F23-E8B4-2CC3-5941-E21186422024}"/>
              </a:ext>
            </a:extLst>
          </p:cNvPr>
          <p:cNvSpPr txBox="1"/>
          <p:nvPr/>
        </p:nvSpPr>
        <p:spPr>
          <a:xfrm>
            <a:off x="8535807" y="3640375"/>
            <a:ext cx="20217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주제 선정 피드백</a:t>
            </a:r>
            <a:endParaRPr lang="en-US" altLang="ko-KR" sz="14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페르소나 기능 정의</a:t>
            </a:r>
            <a:endParaRPr lang="en-US" altLang="ko-KR" sz="14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통합테스트 시나리오 작성</a:t>
            </a:r>
            <a:endParaRPr lang="en-US" altLang="ko-KR" sz="14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4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4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1465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">
            <a:extLst>
              <a:ext uri="{FF2B5EF4-FFF2-40B4-BE49-F238E27FC236}">
                <a16:creationId xmlns:a16="http://schemas.microsoft.com/office/drawing/2014/main" id="{E8C2494D-9774-F386-A9F1-0D3E86CB05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50000"/>
            </a:blip>
            <a:srcRect/>
            <a:stretch>
              <a:fillRect t="-9259" b="-9259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2A8A76-A889-D332-A69F-5959D33E024B}"/>
              </a:ext>
            </a:extLst>
          </p:cNvPr>
          <p:cNvSpPr txBox="1"/>
          <p:nvPr/>
        </p:nvSpPr>
        <p:spPr>
          <a:xfrm>
            <a:off x="911424" y="2844224"/>
            <a:ext cx="105528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3.</a:t>
            </a:r>
            <a:r>
              <a:rPr lang="ko-KR" altLang="en-US" sz="70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프로젝트 수행 절차 및 방법</a:t>
            </a:r>
          </a:p>
        </p:txBody>
      </p:sp>
    </p:spTree>
    <p:extLst>
      <p:ext uri="{BB962C8B-B14F-4D97-AF65-F5344CB8AC3E}">
        <p14:creationId xmlns:p14="http://schemas.microsoft.com/office/powerpoint/2010/main" val="1535276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193729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3.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382336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TT Hoves Bold"/>
              </a:rPr>
              <a:t>3.1 </a:t>
            </a:r>
            <a:r>
              <a:rPr lang="ko-KR" altLang="en-US" sz="2500" b="1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TT Hoves Bold"/>
              </a:rPr>
              <a:t>진행 절차 및 활동 내용 </a:t>
            </a:r>
            <a:endParaRPr lang="en-US" sz="2500" b="1">
              <a:solidFill>
                <a:schemeClr val="bg1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E691FC-A34F-E205-9F2A-8BC521C8DF47}"/>
              </a:ext>
            </a:extLst>
          </p:cNvPr>
          <p:cNvSpPr txBox="1"/>
          <p:nvPr/>
        </p:nvSpPr>
        <p:spPr>
          <a:xfrm>
            <a:off x="5375920" y="1484784"/>
            <a:ext cx="1526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F6450A-B365-4505-CAC0-C8C1CD390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868660"/>
              </p:ext>
            </p:extLst>
          </p:nvPr>
        </p:nvGraphicFramePr>
        <p:xfrm>
          <a:off x="191344" y="620686"/>
          <a:ext cx="11688933" cy="590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623">
                  <a:extLst>
                    <a:ext uri="{9D8B030D-6E8A-4147-A177-3AD203B41FA5}">
                      <a16:colId xmlns:a16="http://schemas.microsoft.com/office/drawing/2014/main" val="3127009991"/>
                    </a:ext>
                  </a:extLst>
                </a:gridCol>
                <a:gridCol w="1289609">
                  <a:extLst>
                    <a:ext uri="{9D8B030D-6E8A-4147-A177-3AD203B41FA5}">
                      <a16:colId xmlns:a16="http://schemas.microsoft.com/office/drawing/2014/main" val="93094219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330084356"/>
                    </a:ext>
                  </a:extLst>
                </a:gridCol>
                <a:gridCol w="446603">
                  <a:extLst>
                    <a:ext uri="{9D8B030D-6E8A-4147-A177-3AD203B41FA5}">
                      <a16:colId xmlns:a16="http://schemas.microsoft.com/office/drawing/2014/main" val="2885336935"/>
                    </a:ext>
                  </a:extLst>
                </a:gridCol>
                <a:gridCol w="446603">
                  <a:extLst>
                    <a:ext uri="{9D8B030D-6E8A-4147-A177-3AD203B41FA5}">
                      <a16:colId xmlns:a16="http://schemas.microsoft.com/office/drawing/2014/main" val="2888409043"/>
                    </a:ext>
                  </a:extLst>
                </a:gridCol>
                <a:gridCol w="1161633">
                  <a:extLst>
                    <a:ext uri="{9D8B030D-6E8A-4147-A177-3AD203B41FA5}">
                      <a16:colId xmlns:a16="http://schemas.microsoft.com/office/drawing/2014/main" val="1366938512"/>
                    </a:ext>
                  </a:extLst>
                </a:gridCol>
                <a:gridCol w="1161633">
                  <a:extLst>
                    <a:ext uri="{9D8B030D-6E8A-4147-A177-3AD203B41FA5}">
                      <a16:colId xmlns:a16="http://schemas.microsoft.com/office/drawing/2014/main" val="84327965"/>
                    </a:ext>
                  </a:extLst>
                </a:gridCol>
                <a:gridCol w="1161633">
                  <a:extLst>
                    <a:ext uri="{9D8B030D-6E8A-4147-A177-3AD203B41FA5}">
                      <a16:colId xmlns:a16="http://schemas.microsoft.com/office/drawing/2014/main" val="2657771119"/>
                    </a:ext>
                  </a:extLst>
                </a:gridCol>
                <a:gridCol w="1161633">
                  <a:extLst>
                    <a:ext uri="{9D8B030D-6E8A-4147-A177-3AD203B41FA5}">
                      <a16:colId xmlns:a16="http://schemas.microsoft.com/office/drawing/2014/main" val="2112581133"/>
                    </a:ext>
                  </a:extLst>
                </a:gridCol>
                <a:gridCol w="1161633">
                  <a:extLst>
                    <a:ext uri="{9D8B030D-6E8A-4147-A177-3AD203B41FA5}">
                      <a16:colId xmlns:a16="http://schemas.microsoft.com/office/drawing/2014/main" val="1321334194"/>
                    </a:ext>
                  </a:extLst>
                </a:gridCol>
                <a:gridCol w="1161633">
                  <a:extLst>
                    <a:ext uri="{9D8B030D-6E8A-4147-A177-3AD203B41FA5}">
                      <a16:colId xmlns:a16="http://schemas.microsoft.com/office/drawing/2014/main" val="281132491"/>
                    </a:ext>
                  </a:extLst>
                </a:gridCol>
                <a:gridCol w="1161633">
                  <a:extLst>
                    <a:ext uri="{9D8B030D-6E8A-4147-A177-3AD203B41FA5}">
                      <a16:colId xmlns:a16="http://schemas.microsoft.com/office/drawing/2014/main" val="4136805081"/>
                    </a:ext>
                  </a:extLst>
                </a:gridCol>
              </a:tblGrid>
              <a:tr h="164018">
                <a:tc rowSpan="2"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구분</a:t>
                      </a:r>
                    </a:p>
                  </a:txBody>
                  <a:tcPr marL="0" marR="0" marT="0" marB="0" anchor="ctr"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1</a:t>
                      </a: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월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</a:t>
                      </a: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월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산출물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2451248"/>
                  </a:ext>
                </a:extLst>
              </a:tr>
              <a:tr h="164018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4</a:t>
                      </a: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5</a:t>
                      </a: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1</a:t>
                      </a: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</a:t>
                      </a: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3</a:t>
                      </a: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4</a:t>
                      </a: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5</a:t>
                      </a: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572153"/>
                  </a:ext>
                </a:extLst>
              </a:tr>
              <a:tr h="164018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기획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주제 선정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~1/22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901962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~1/22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881691"/>
                  </a:ext>
                </a:extLst>
              </a:tr>
              <a:tr h="164018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분석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기능 정의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~1/25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페르소나 기능정의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927321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~1/25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314921"/>
                  </a:ext>
                </a:extLst>
              </a:tr>
              <a:tr h="164018">
                <a:tc rowSpan="1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설계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요구사항 정의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1/25~1/27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요구사항 정의서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101286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1/25~1/27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058780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프로세스 설계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1/27~1/30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프로세스 설계서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64556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1/27~1/30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41481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테스크 플로우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1/27~2/1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테스크 플로우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099717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1/27~2/1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526582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화면 설계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1/27~2/3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화면 설계서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163838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1/27~2/5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068233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통합 테스트 시나리오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2/3~2/5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통합 테스트 시나리오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216031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2/5~2/7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728394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UI</a:t>
                      </a: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 구현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2/5~2/7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820602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2/7~2/8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469886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DB </a:t>
                      </a: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설계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2/7~2/9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테이블 레이아웃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299187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2/8~2/9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993914"/>
                  </a:ext>
                </a:extLst>
              </a:tr>
              <a:tr h="164018">
                <a:tc rowSpan="10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구현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메인 화면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2/9~2/10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프로그램 개발목록</a:t>
                      </a: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_1</a:t>
                      </a: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476349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2/9~2/11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445564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회원 관리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2/9~2/11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106113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2/11~2/13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280528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투자 성향 검사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2/10~2/13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857994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2/13~2/17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38818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주식 정보 서비스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2/11~2/14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255537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2/17~2/20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744283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한눈에 보는 시장 트렌드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2/13~2/16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448715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2/20~2/21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263293"/>
                  </a:ext>
                </a:extLst>
              </a:tr>
              <a:tr h="164018">
                <a:tc rowSpan="6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테스트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통합 테스트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2/16~2/19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시연 동영상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817059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2/21~2/23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586923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이슈 확인 및 수정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2/19~2/24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2908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2/23~2/24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9910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문서 작성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2/24~2/28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프로젝트 결과보고서</a:t>
                      </a: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_1</a:t>
                      </a: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246193"/>
                  </a:ext>
                </a:extLst>
              </a:tr>
              <a:tr h="164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2/24~2/28</a:t>
                      </a: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519911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27B3E0D-F5F7-25F4-0C0A-E0E9C9B7C2AE}"/>
              </a:ext>
            </a:extLst>
          </p:cNvPr>
          <p:cNvSpPr/>
          <p:nvPr/>
        </p:nvSpPr>
        <p:spPr>
          <a:xfrm>
            <a:off x="3287688" y="5085184"/>
            <a:ext cx="144016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설 장기연휴 </a:t>
            </a:r>
            <a:r>
              <a:rPr lang="en-US" altLang="ko-KR" sz="10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+ </a:t>
            </a:r>
          </a:p>
          <a:p>
            <a:pPr algn="ctr"/>
            <a:r>
              <a:rPr lang="ko-KR" altLang="en-US" sz="10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팀원 일정 이슈로 장기 불참기간 발생</a:t>
            </a:r>
            <a:r>
              <a:rPr lang="en-US" altLang="ko-KR" sz="10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</a:t>
            </a:r>
            <a:r>
              <a:rPr lang="ko-KR" altLang="en-US" sz="10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인력부족</a:t>
            </a:r>
            <a:endParaRPr lang="en-US" altLang="ko-KR" sz="100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CFB0453-5E72-1E2F-6AE8-70596DCE422E}"/>
              </a:ext>
            </a:extLst>
          </p:cNvPr>
          <p:cNvSpPr/>
          <p:nvPr/>
        </p:nvSpPr>
        <p:spPr>
          <a:xfrm>
            <a:off x="3287688" y="1916832"/>
            <a:ext cx="235790" cy="384721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4F0B9C0D-E7E7-2CAA-66F0-67A9CC5AF985}"/>
              </a:ext>
            </a:extLst>
          </p:cNvPr>
          <p:cNvCxnSpPr>
            <a:cxnSpLocks/>
            <a:stCxn id="18" idx="1"/>
            <a:endCxn id="5" idx="1"/>
          </p:cNvCxnSpPr>
          <p:nvPr/>
        </p:nvCxnSpPr>
        <p:spPr>
          <a:xfrm rot="10800000" flipV="1">
            <a:off x="3287688" y="2109192"/>
            <a:ext cx="12700" cy="3264023"/>
          </a:xfrm>
          <a:prstGeom prst="bentConnector3">
            <a:avLst>
              <a:gd name="adj1" fmla="val 1800000"/>
            </a:avLst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F1E2E34-93D9-887C-3B79-364E09692D22}"/>
              </a:ext>
            </a:extLst>
          </p:cNvPr>
          <p:cNvSpPr/>
          <p:nvPr/>
        </p:nvSpPr>
        <p:spPr>
          <a:xfrm>
            <a:off x="4680865" y="4581128"/>
            <a:ext cx="2003524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기술적 구현이 예상보다 난해 하였음 </a:t>
            </a:r>
            <a:r>
              <a:rPr lang="en-US" altLang="ko-KR" sz="10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투자성향검사 </a:t>
            </a:r>
            <a:r>
              <a:rPr lang="en-US" altLang="ko-KR" sz="10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– </a:t>
            </a:r>
            <a:r>
              <a:rPr lang="ko-KR" altLang="en-US" sz="10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관심업종선택</a:t>
            </a:r>
            <a:r>
              <a:rPr lang="en-US" altLang="ko-KR" sz="10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endParaRPr lang="ko-KR" altLang="en-US" sz="100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7DB5BDA-9B84-BFAE-8918-77F619F46ADE}"/>
              </a:ext>
            </a:extLst>
          </p:cNvPr>
          <p:cNvCxnSpPr>
            <a:cxnSpLocks/>
          </p:cNvCxnSpPr>
          <p:nvPr/>
        </p:nvCxnSpPr>
        <p:spPr>
          <a:xfrm>
            <a:off x="6684389" y="4776633"/>
            <a:ext cx="563739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A08166C-4A87-1EA8-4B20-620568130FF9}"/>
              </a:ext>
            </a:extLst>
          </p:cNvPr>
          <p:cNvSpPr/>
          <p:nvPr/>
        </p:nvSpPr>
        <p:spPr>
          <a:xfrm>
            <a:off x="4680865" y="3929378"/>
            <a:ext cx="2003524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레이아웃 제작 </a:t>
            </a:r>
            <a:r>
              <a:rPr lang="en-US" altLang="ko-KR" sz="10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– Fragment </a:t>
            </a:r>
            <a:r>
              <a:rPr lang="ko-KR" altLang="en-US" sz="10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활용 방식으로 변경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A381CE1-ACF8-40F6-D8AD-E290DFA321C6}"/>
              </a:ext>
            </a:extLst>
          </p:cNvPr>
          <p:cNvCxnSpPr>
            <a:cxnSpLocks/>
          </p:cNvCxnSpPr>
          <p:nvPr/>
        </p:nvCxnSpPr>
        <p:spPr>
          <a:xfrm>
            <a:off x="6672064" y="4077072"/>
            <a:ext cx="563739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339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3">
            <a:extLst>
              <a:ext uri="{FF2B5EF4-FFF2-40B4-BE49-F238E27FC236}">
                <a16:creationId xmlns:a16="http://schemas.microsoft.com/office/drawing/2014/main" id="{85F3738F-86BE-4BD8-8C27-87DCC315BB7F}"/>
              </a:ext>
            </a:extLst>
          </p:cNvPr>
          <p:cNvGrpSpPr/>
          <p:nvPr/>
        </p:nvGrpSpPr>
        <p:grpSpPr>
          <a:xfrm>
            <a:off x="0" y="1"/>
            <a:ext cx="12192000" cy="6858000"/>
            <a:chOff x="0" y="0"/>
            <a:chExt cx="9170163" cy="9149900"/>
          </a:xfrm>
        </p:grpSpPr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CDD810B1-B43F-FB09-5D3F-BBA78BAB4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rcRect l="43275" r="12877"/>
            <a:stretch>
              <a:fillRect/>
            </a:stretch>
          </p:blipFill>
          <p:spPr>
            <a:xfrm>
              <a:off x="0" y="0"/>
              <a:ext cx="9170163" cy="914990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6CBE6ED-E5AE-70D7-5872-B0E33DF54A6F}"/>
              </a:ext>
            </a:extLst>
          </p:cNvPr>
          <p:cNvSpPr txBox="1"/>
          <p:nvPr/>
        </p:nvSpPr>
        <p:spPr>
          <a:xfrm>
            <a:off x="911424" y="2844224"/>
            <a:ext cx="105528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4.</a:t>
            </a:r>
            <a:r>
              <a:rPr lang="ko-KR" altLang="en-US" sz="70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프로젝트 수행 절차 및 방법</a:t>
            </a:r>
          </a:p>
        </p:txBody>
      </p:sp>
    </p:spTree>
    <p:extLst>
      <p:ext uri="{BB962C8B-B14F-4D97-AF65-F5344CB8AC3E}">
        <p14:creationId xmlns:p14="http://schemas.microsoft.com/office/powerpoint/2010/main" val="2726544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1787349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4.1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기능 정의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E3390BEE-A723-114A-A748-469C8D231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126933"/>
              </p:ext>
            </p:extLst>
          </p:nvPr>
        </p:nvGraphicFramePr>
        <p:xfrm>
          <a:off x="983432" y="1506096"/>
          <a:ext cx="10225135" cy="4382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6284">
                  <a:extLst>
                    <a:ext uri="{9D8B030D-6E8A-4147-A177-3AD203B41FA5}">
                      <a16:colId xmlns:a16="http://schemas.microsoft.com/office/drawing/2014/main" val="4119744980"/>
                    </a:ext>
                  </a:extLst>
                </a:gridCol>
                <a:gridCol w="2556284">
                  <a:extLst>
                    <a:ext uri="{9D8B030D-6E8A-4147-A177-3AD203B41FA5}">
                      <a16:colId xmlns:a16="http://schemas.microsoft.com/office/drawing/2014/main" val="1599960737"/>
                    </a:ext>
                  </a:extLst>
                </a:gridCol>
                <a:gridCol w="5112567">
                  <a:extLst>
                    <a:ext uri="{9D8B030D-6E8A-4147-A177-3AD203B41FA5}">
                      <a16:colId xmlns:a16="http://schemas.microsoft.com/office/drawing/2014/main" val="506538063"/>
                    </a:ext>
                  </a:extLst>
                </a:gridCol>
              </a:tblGrid>
              <a:tr h="5051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기능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기능 상세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128171"/>
                  </a:ext>
                </a:extLst>
              </a:tr>
              <a:tr h="337259"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회원 관리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로그인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로그아웃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로그인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로그아웃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159211"/>
                  </a:ext>
                </a:extLst>
              </a:tr>
              <a:tr h="3372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회원관리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회원가입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,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아이디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비밀번호 찾기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,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회원정보 조회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46409"/>
                  </a:ext>
                </a:extLst>
              </a:tr>
              <a:tr h="224839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종목 추천 서비스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rgbClr val="FFBD59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투자 성향 검사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고객의 감당 위험단계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관심업종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희망 수익률을 수집해 투자 성향 결정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63748"/>
                  </a:ext>
                </a:extLst>
              </a:tr>
              <a:tr h="224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rgbClr val="FFBD59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투자 성향별 종목 추천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특정 기간 과거 종목 지표 기반 고객 투자 성향에 맞는 종목 추천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126694"/>
                  </a:ext>
                </a:extLst>
              </a:tr>
              <a:tr h="2248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투자 성향 조회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수정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결정된 투자 성향 조회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수정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282072"/>
                  </a:ext>
                </a:extLst>
              </a:tr>
              <a:tr h="337259"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주식 정보 서비스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종목 리스트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KOSPI,KOSDAQ,ETF 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종목들의 리스트 제공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987299"/>
                  </a:ext>
                </a:extLst>
              </a:tr>
              <a:tr h="3372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rgbClr val="FFBD59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종목 상세 지표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종목별 가격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,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긍정점수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수익률 추이 및 현재 지표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관련 뉴스 기사 제공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000519"/>
                  </a:ext>
                </a:extLst>
              </a:tr>
              <a:tr h="67451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한눈에 보는 시장 트렌드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rgbClr val="FFBD59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실시간 이슈 정보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뉴스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커뮤니티에서 이슈가 되는 단어 및 게시 수 증가 추이 기반 트렌드 업종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종목 리스트 제공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80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978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2664191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4.2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프로세스 설계서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426326E2-8E38-9EA9-65A3-05CECCAC7228}"/>
              </a:ext>
            </a:extLst>
          </p:cNvPr>
          <p:cNvSpPr/>
          <p:nvPr/>
        </p:nvSpPr>
        <p:spPr>
          <a:xfrm>
            <a:off x="5375920" y="1519336"/>
            <a:ext cx="1440160" cy="504057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스마트투자</a:t>
            </a: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59A9B000-DB5F-8B81-2231-0C4B5D8196AB}"/>
              </a:ext>
            </a:extLst>
          </p:cNvPr>
          <p:cNvSpPr/>
          <p:nvPr/>
        </p:nvSpPr>
        <p:spPr>
          <a:xfrm>
            <a:off x="1070660" y="2713909"/>
            <a:ext cx="1440160" cy="36004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2.1 </a:t>
            </a:r>
            <a:r>
              <a:rPr lang="ko-KR" altLang="en-US" sz="13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계정 관리</a:t>
            </a: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F6B23B95-1234-A0B5-85FA-938BBF781569}"/>
              </a:ext>
            </a:extLst>
          </p:cNvPr>
          <p:cNvSpPr/>
          <p:nvPr/>
        </p:nvSpPr>
        <p:spPr>
          <a:xfrm>
            <a:off x="3575720" y="2714920"/>
            <a:ext cx="1440160" cy="36004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3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2.2 </a:t>
            </a:r>
            <a:r>
              <a:rPr lang="ko-KR" altLang="en-US" sz="13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주식 정보 서비스</a:t>
            </a: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956FFB16-7ABF-D7C4-6967-5CC15BBAAD67}"/>
              </a:ext>
            </a:extLst>
          </p:cNvPr>
          <p:cNvSpPr/>
          <p:nvPr/>
        </p:nvSpPr>
        <p:spPr>
          <a:xfrm>
            <a:off x="7176120" y="2712989"/>
            <a:ext cx="1440160" cy="36004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3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2.3 </a:t>
            </a:r>
            <a:r>
              <a:rPr lang="ko-KR" altLang="en-US" sz="13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추천 서비스</a:t>
            </a:r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94397518-997C-1889-252A-A8DE3DDBB392}"/>
              </a:ext>
            </a:extLst>
          </p:cNvPr>
          <p:cNvSpPr/>
          <p:nvPr/>
        </p:nvSpPr>
        <p:spPr>
          <a:xfrm>
            <a:off x="9696400" y="2708920"/>
            <a:ext cx="1440160" cy="36004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2.4 </a:t>
            </a:r>
            <a:r>
              <a:rPr lang="ko-KR" altLang="en-US" sz="13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한눈에 보는 시장 트렌드</a:t>
            </a: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447D7EFD-8752-4296-415A-8359C2F35B63}"/>
              </a:ext>
            </a:extLst>
          </p:cNvPr>
          <p:cNvCxnSpPr>
            <a:stCxn id="3" idx="2"/>
            <a:endCxn id="5" idx="0"/>
          </p:cNvCxnSpPr>
          <p:nvPr/>
        </p:nvCxnSpPr>
        <p:spPr>
          <a:xfrm rot="5400000">
            <a:off x="3598112" y="216021"/>
            <a:ext cx="690516" cy="4305260"/>
          </a:xfrm>
          <a:prstGeom prst="bentConnector3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3FF7A223-56AF-7F6E-321D-1D313647BBC3}"/>
              </a:ext>
            </a:extLst>
          </p:cNvPr>
          <p:cNvCxnSpPr>
            <a:stCxn id="3" idx="2"/>
            <a:endCxn id="11" idx="0"/>
          </p:cNvCxnSpPr>
          <p:nvPr/>
        </p:nvCxnSpPr>
        <p:spPr>
          <a:xfrm rot="16200000" flipH="1">
            <a:off x="7913477" y="205916"/>
            <a:ext cx="685527" cy="4320480"/>
          </a:xfrm>
          <a:prstGeom prst="bentConnector3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408D0EAC-E03D-B566-FE76-CE60221A1A95}"/>
              </a:ext>
            </a:extLst>
          </p:cNvPr>
          <p:cNvSpPr/>
          <p:nvPr/>
        </p:nvSpPr>
        <p:spPr>
          <a:xfrm>
            <a:off x="1411563" y="3277472"/>
            <a:ext cx="1728192" cy="29302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650D00-CDA5-1B62-64B4-A8EA09419AA1}"/>
              </a:ext>
            </a:extLst>
          </p:cNvPr>
          <p:cNvSpPr txBox="1"/>
          <p:nvPr/>
        </p:nvSpPr>
        <p:spPr>
          <a:xfrm>
            <a:off x="1410611" y="3293177"/>
            <a:ext cx="1080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2.1.1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회원가입</a:t>
            </a: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6B8324CA-BFBF-1285-225E-E4225C7D98B5}"/>
              </a:ext>
            </a:extLst>
          </p:cNvPr>
          <p:cNvSpPr/>
          <p:nvPr/>
        </p:nvSpPr>
        <p:spPr>
          <a:xfrm>
            <a:off x="1410611" y="3754004"/>
            <a:ext cx="1728192" cy="29302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AF1F6E-B1AE-648E-70D0-3A7A3E41C117}"/>
              </a:ext>
            </a:extLst>
          </p:cNvPr>
          <p:cNvSpPr txBox="1"/>
          <p:nvPr/>
        </p:nvSpPr>
        <p:spPr>
          <a:xfrm>
            <a:off x="1409659" y="3769709"/>
            <a:ext cx="1080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2.1.2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로그인</a:t>
            </a:r>
          </a:p>
        </p:txBody>
      </p: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C9E90E17-FB93-33B8-1967-55EAF8912CC1}"/>
              </a:ext>
            </a:extLst>
          </p:cNvPr>
          <p:cNvSpPr/>
          <p:nvPr/>
        </p:nvSpPr>
        <p:spPr>
          <a:xfrm>
            <a:off x="1409659" y="4255465"/>
            <a:ext cx="1728192" cy="29302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646719-A346-77B7-BC78-CABFF9B94F0F}"/>
              </a:ext>
            </a:extLst>
          </p:cNvPr>
          <p:cNvSpPr txBox="1"/>
          <p:nvPr/>
        </p:nvSpPr>
        <p:spPr>
          <a:xfrm>
            <a:off x="1408707" y="4271170"/>
            <a:ext cx="1080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2.1.3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로그아웃</a:t>
            </a: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44859C9E-F793-E2D3-8DBA-D1C57BAB8E38}"/>
              </a:ext>
            </a:extLst>
          </p:cNvPr>
          <p:cNvSpPr/>
          <p:nvPr/>
        </p:nvSpPr>
        <p:spPr>
          <a:xfrm>
            <a:off x="1408707" y="4742784"/>
            <a:ext cx="1728192" cy="29302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F54425-7760-F328-A56D-EE3F91DD4C8E}"/>
              </a:ext>
            </a:extLst>
          </p:cNvPr>
          <p:cNvSpPr txBox="1"/>
          <p:nvPr/>
        </p:nvSpPr>
        <p:spPr>
          <a:xfrm>
            <a:off x="1407755" y="4758489"/>
            <a:ext cx="13340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2.1.4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회원 정보 조회</a:t>
            </a:r>
          </a:p>
        </p:txBody>
      </p:sp>
      <p:sp>
        <p:nvSpPr>
          <p:cNvPr id="25" name="순서도: 처리 24">
            <a:extLst>
              <a:ext uri="{FF2B5EF4-FFF2-40B4-BE49-F238E27FC236}">
                <a16:creationId xmlns:a16="http://schemas.microsoft.com/office/drawing/2014/main" id="{76BB74E8-20D9-6872-BCCF-C6799F25BFAE}"/>
              </a:ext>
            </a:extLst>
          </p:cNvPr>
          <p:cNvSpPr/>
          <p:nvPr/>
        </p:nvSpPr>
        <p:spPr>
          <a:xfrm>
            <a:off x="1408707" y="5219316"/>
            <a:ext cx="1728192" cy="29302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D1CB79-A6D2-C500-C103-27423D175770}"/>
              </a:ext>
            </a:extLst>
          </p:cNvPr>
          <p:cNvSpPr txBox="1"/>
          <p:nvPr/>
        </p:nvSpPr>
        <p:spPr>
          <a:xfrm>
            <a:off x="1407755" y="5235021"/>
            <a:ext cx="13292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2.1.5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회원 정보 수정</a:t>
            </a:r>
          </a:p>
        </p:txBody>
      </p:sp>
      <p:sp>
        <p:nvSpPr>
          <p:cNvPr id="27" name="순서도: 처리 26">
            <a:extLst>
              <a:ext uri="{FF2B5EF4-FFF2-40B4-BE49-F238E27FC236}">
                <a16:creationId xmlns:a16="http://schemas.microsoft.com/office/drawing/2014/main" id="{20E94E6B-738D-2583-DA40-53C51390F6FA}"/>
              </a:ext>
            </a:extLst>
          </p:cNvPr>
          <p:cNvSpPr/>
          <p:nvPr/>
        </p:nvSpPr>
        <p:spPr>
          <a:xfrm>
            <a:off x="1415480" y="5711553"/>
            <a:ext cx="1728192" cy="293020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C99F20-5220-1E7E-7403-BE527833F831}"/>
              </a:ext>
            </a:extLst>
          </p:cNvPr>
          <p:cNvSpPr txBox="1"/>
          <p:nvPr/>
        </p:nvSpPr>
        <p:spPr>
          <a:xfrm>
            <a:off x="1414528" y="5727258"/>
            <a:ext cx="17155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2.1.6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아이디</a:t>
            </a:r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비밀번호 찾기</a:t>
            </a: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8D3F82A-8026-66E4-C0E2-E58381612D82}"/>
              </a:ext>
            </a:extLst>
          </p:cNvPr>
          <p:cNvSpPr/>
          <p:nvPr/>
        </p:nvSpPr>
        <p:spPr>
          <a:xfrm>
            <a:off x="3935760" y="3277472"/>
            <a:ext cx="2016224" cy="29302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5A7D15-9B52-F4AA-6716-EA64A57F4A94}"/>
              </a:ext>
            </a:extLst>
          </p:cNvPr>
          <p:cNvSpPr txBox="1"/>
          <p:nvPr/>
        </p:nvSpPr>
        <p:spPr>
          <a:xfrm>
            <a:off x="3934808" y="3293177"/>
            <a:ext cx="1449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2.2.1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리스트 조회</a:t>
            </a: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C7DEDAA3-DC65-2DE4-7146-94D5299B1E06}"/>
              </a:ext>
            </a:extLst>
          </p:cNvPr>
          <p:cNvSpPr/>
          <p:nvPr/>
        </p:nvSpPr>
        <p:spPr>
          <a:xfrm>
            <a:off x="3935760" y="3754004"/>
            <a:ext cx="2016224" cy="293020"/>
          </a:xfrm>
          <a:prstGeom prst="flowChartProcess">
            <a:avLst/>
          </a:prstGeom>
          <a:solidFill>
            <a:srgbClr val="FFBD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89FA88-C648-EFD7-081B-34B690835252}"/>
              </a:ext>
            </a:extLst>
          </p:cNvPr>
          <p:cNvSpPr txBox="1"/>
          <p:nvPr/>
        </p:nvSpPr>
        <p:spPr>
          <a:xfrm>
            <a:off x="3934808" y="3775170"/>
            <a:ext cx="2058577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2.2.2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긍정 점수 및 상세 지표 조회</a:t>
            </a:r>
          </a:p>
        </p:txBody>
      </p:sp>
      <p:sp>
        <p:nvSpPr>
          <p:cNvPr id="34" name="순서도: 처리 33">
            <a:extLst>
              <a:ext uri="{FF2B5EF4-FFF2-40B4-BE49-F238E27FC236}">
                <a16:creationId xmlns:a16="http://schemas.microsoft.com/office/drawing/2014/main" id="{263DE5E7-27BC-0AF9-73AA-943D1783F746}"/>
              </a:ext>
            </a:extLst>
          </p:cNvPr>
          <p:cNvSpPr/>
          <p:nvPr/>
        </p:nvSpPr>
        <p:spPr>
          <a:xfrm>
            <a:off x="7536160" y="3282490"/>
            <a:ext cx="2016224" cy="293020"/>
          </a:xfrm>
          <a:prstGeom prst="flowChartProcess">
            <a:avLst/>
          </a:prstGeom>
          <a:solidFill>
            <a:srgbClr val="FFBD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D372A2-DAC6-C89C-F3F0-B9220CCE1119}"/>
              </a:ext>
            </a:extLst>
          </p:cNvPr>
          <p:cNvSpPr txBox="1"/>
          <p:nvPr/>
        </p:nvSpPr>
        <p:spPr>
          <a:xfrm>
            <a:off x="7535208" y="3298195"/>
            <a:ext cx="13324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2.3.1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투자 성향 검사</a:t>
            </a:r>
          </a:p>
        </p:txBody>
      </p:sp>
      <p:sp>
        <p:nvSpPr>
          <p:cNvPr id="36" name="순서도: 처리 35">
            <a:extLst>
              <a:ext uri="{FF2B5EF4-FFF2-40B4-BE49-F238E27FC236}">
                <a16:creationId xmlns:a16="http://schemas.microsoft.com/office/drawing/2014/main" id="{2598D007-8B9E-2017-95EB-55E6079003FC}"/>
              </a:ext>
            </a:extLst>
          </p:cNvPr>
          <p:cNvSpPr/>
          <p:nvPr/>
        </p:nvSpPr>
        <p:spPr>
          <a:xfrm>
            <a:off x="7536160" y="3754652"/>
            <a:ext cx="2016224" cy="293020"/>
          </a:xfrm>
          <a:prstGeom prst="flowChartProcess">
            <a:avLst/>
          </a:prstGeom>
          <a:solidFill>
            <a:srgbClr val="FFBD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75E37A-8385-AE48-EE2D-EDA54C151C07}"/>
              </a:ext>
            </a:extLst>
          </p:cNvPr>
          <p:cNvSpPr txBox="1"/>
          <p:nvPr/>
        </p:nvSpPr>
        <p:spPr>
          <a:xfrm>
            <a:off x="7535208" y="3770357"/>
            <a:ext cx="17524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2.3.2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투자 성향별 종목 추천</a:t>
            </a:r>
          </a:p>
        </p:txBody>
      </p:sp>
      <p:sp>
        <p:nvSpPr>
          <p:cNvPr id="38" name="순서도: 처리 37">
            <a:extLst>
              <a:ext uri="{FF2B5EF4-FFF2-40B4-BE49-F238E27FC236}">
                <a16:creationId xmlns:a16="http://schemas.microsoft.com/office/drawing/2014/main" id="{1199732F-BC09-B7B8-8CDD-D2DF6EF67897}"/>
              </a:ext>
            </a:extLst>
          </p:cNvPr>
          <p:cNvSpPr/>
          <p:nvPr/>
        </p:nvSpPr>
        <p:spPr>
          <a:xfrm>
            <a:off x="7536160" y="4249242"/>
            <a:ext cx="2016224" cy="29302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0AA424-3D79-0C3D-DDB4-BAC7046A531A}"/>
              </a:ext>
            </a:extLst>
          </p:cNvPr>
          <p:cNvSpPr txBox="1"/>
          <p:nvPr/>
        </p:nvSpPr>
        <p:spPr>
          <a:xfrm>
            <a:off x="7535208" y="4264947"/>
            <a:ext cx="16353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2.3.3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성향 검사 결과 조회</a:t>
            </a:r>
          </a:p>
        </p:txBody>
      </p:sp>
      <p:sp>
        <p:nvSpPr>
          <p:cNvPr id="40" name="순서도: 처리 39">
            <a:extLst>
              <a:ext uri="{FF2B5EF4-FFF2-40B4-BE49-F238E27FC236}">
                <a16:creationId xmlns:a16="http://schemas.microsoft.com/office/drawing/2014/main" id="{DF135E20-EA0E-ED37-8286-2FBACFAA05A9}"/>
              </a:ext>
            </a:extLst>
          </p:cNvPr>
          <p:cNvSpPr/>
          <p:nvPr/>
        </p:nvSpPr>
        <p:spPr>
          <a:xfrm>
            <a:off x="7535208" y="4742784"/>
            <a:ext cx="2016224" cy="29302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407DA8-A52C-6B45-25C3-A69BC1396D72}"/>
              </a:ext>
            </a:extLst>
          </p:cNvPr>
          <p:cNvSpPr txBox="1"/>
          <p:nvPr/>
        </p:nvSpPr>
        <p:spPr>
          <a:xfrm>
            <a:off x="7534256" y="4758489"/>
            <a:ext cx="1636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2.3.4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성향 검사 결과 수정</a:t>
            </a:r>
          </a:p>
        </p:txBody>
      </p:sp>
      <p:sp>
        <p:nvSpPr>
          <p:cNvPr id="42" name="순서도: 처리 41">
            <a:extLst>
              <a:ext uri="{FF2B5EF4-FFF2-40B4-BE49-F238E27FC236}">
                <a16:creationId xmlns:a16="http://schemas.microsoft.com/office/drawing/2014/main" id="{7F2B4DB4-8E9A-FFC7-9695-EBDC6208E045}"/>
              </a:ext>
            </a:extLst>
          </p:cNvPr>
          <p:cNvSpPr/>
          <p:nvPr/>
        </p:nvSpPr>
        <p:spPr>
          <a:xfrm>
            <a:off x="10056440" y="3277302"/>
            <a:ext cx="2016224" cy="293020"/>
          </a:xfrm>
          <a:prstGeom prst="flowChartProcess">
            <a:avLst/>
          </a:prstGeom>
          <a:solidFill>
            <a:srgbClr val="FFBD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F14381-4539-2C15-106F-92D9C2BD3D68}"/>
              </a:ext>
            </a:extLst>
          </p:cNvPr>
          <p:cNvSpPr txBox="1"/>
          <p:nvPr/>
        </p:nvSpPr>
        <p:spPr>
          <a:xfrm>
            <a:off x="10055488" y="3293007"/>
            <a:ext cx="17331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2.4.1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실시간 이슈 정보 제공</a:t>
            </a:r>
          </a:p>
        </p:txBody>
      </p:sp>
      <p:sp>
        <p:nvSpPr>
          <p:cNvPr id="44" name="순서도: 처리 43">
            <a:extLst>
              <a:ext uri="{FF2B5EF4-FFF2-40B4-BE49-F238E27FC236}">
                <a16:creationId xmlns:a16="http://schemas.microsoft.com/office/drawing/2014/main" id="{54A4512A-538F-DC4D-6D16-67DF735AAF28}"/>
              </a:ext>
            </a:extLst>
          </p:cNvPr>
          <p:cNvSpPr/>
          <p:nvPr/>
        </p:nvSpPr>
        <p:spPr>
          <a:xfrm>
            <a:off x="10056440" y="3754004"/>
            <a:ext cx="2016224" cy="29302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317244-E14A-F829-DE86-ACC368ED8B5B}"/>
              </a:ext>
            </a:extLst>
          </p:cNvPr>
          <p:cNvSpPr txBox="1"/>
          <p:nvPr/>
        </p:nvSpPr>
        <p:spPr>
          <a:xfrm>
            <a:off x="10055488" y="3769709"/>
            <a:ext cx="17540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2.4.2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실시간 국내 지수 제공</a:t>
            </a:r>
          </a:p>
        </p:txBody>
      </p:sp>
      <p:sp>
        <p:nvSpPr>
          <p:cNvPr id="46" name="순서도: 처리 45">
            <a:extLst>
              <a:ext uri="{FF2B5EF4-FFF2-40B4-BE49-F238E27FC236}">
                <a16:creationId xmlns:a16="http://schemas.microsoft.com/office/drawing/2014/main" id="{01F6F039-3387-1769-268A-083D4D0EA9C0}"/>
              </a:ext>
            </a:extLst>
          </p:cNvPr>
          <p:cNvSpPr/>
          <p:nvPr/>
        </p:nvSpPr>
        <p:spPr>
          <a:xfrm>
            <a:off x="10056440" y="4255465"/>
            <a:ext cx="2016224" cy="29302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63258E-7A13-ECFB-C5A0-26FF7DD59F14}"/>
              </a:ext>
            </a:extLst>
          </p:cNvPr>
          <p:cNvSpPr txBox="1"/>
          <p:nvPr/>
        </p:nvSpPr>
        <p:spPr>
          <a:xfrm>
            <a:off x="10055488" y="4271170"/>
            <a:ext cx="1758815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2.4.3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실시간 상위 종목 제공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95BD0BA-022C-AEC4-D618-0C1421C78745}"/>
              </a:ext>
            </a:extLst>
          </p:cNvPr>
          <p:cNvSpPr/>
          <p:nvPr/>
        </p:nvSpPr>
        <p:spPr>
          <a:xfrm>
            <a:off x="1070660" y="2708920"/>
            <a:ext cx="337095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F5BCC44E-C039-64F7-D455-AA9F767FC6A5}"/>
              </a:ext>
            </a:extLst>
          </p:cNvPr>
          <p:cNvCxnSpPr>
            <a:stCxn id="48" idx="2"/>
            <a:endCxn id="17" idx="1"/>
          </p:cNvCxnSpPr>
          <p:nvPr/>
        </p:nvCxnSpPr>
        <p:spPr>
          <a:xfrm rot="16200000" flipH="1">
            <a:off x="1147398" y="3160769"/>
            <a:ext cx="355022" cy="171403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C537FFE6-DA84-790F-5F0B-B161CD17606E}"/>
              </a:ext>
            </a:extLst>
          </p:cNvPr>
          <p:cNvCxnSpPr>
            <a:stCxn id="20" idx="1"/>
          </p:cNvCxnSpPr>
          <p:nvPr/>
        </p:nvCxnSpPr>
        <p:spPr>
          <a:xfrm rot="10800000">
            <a:off x="1239207" y="3068960"/>
            <a:ext cx="170452" cy="831555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6A8967A5-3158-C950-217E-C0438961AEF5}"/>
              </a:ext>
            </a:extLst>
          </p:cNvPr>
          <p:cNvCxnSpPr>
            <a:stCxn id="22" idx="1"/>
          </p:cNvCxnSpPr>
          <p:nvPr/>
        </p:nvCxnSpPr>
        <p:spPr>
          <a:xfrm rot="10800000">
            <a:off x="1239207" y="3068959"/>
            <a:ext cx="169500" cy="1333016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D8FE42C1-A5D0-CAFA-63AA-1DB8A9E621D9}"/>
              </a:ext>
            </a:extLst>
          </p:cNvPr>
          <p:cNvCxnSpPr>
            <a:stCxn id="24" idx="1"/>
            <a:endCxn id="48" idx="2"/>
          </p:cNvCxnSpPr>
          <p:nvPr/>
        </p:nvCxnSpPr>
        <p:spPr>
          <a:xfrm rot="10800000">
            <a:off x="1239209" y="3068960"/>
            <a:ext cx="168547" cy="1820334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C28E37BF-C6D2-6195-3879-A3125A5588B0}"/>
              </a:ext>
            </a:extLst>
          </p:cNvPr>
          <p:cNvCxnSpPr>
            <a:stCxn id="26" idx="1"/>
          </p:cNvCxnSpPr>
          <p:nvPr/>
        </p:nvCxnSpPr>
        <p:spPr>
          <a:xfrm rot="10800000">
            <a:off x="1239207" y="3068960"/>
            <a:ext cx="168548" cy="2296867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566531F2-B811-5B9F-5747-84CE08166E3D}"/>
              </a:ext>
            </a:extLst>
          </p:cNvPr>
          <p:cNvCxnSpPr>
            <a:stCxn id="28" idx="1"/>
          </p:cNvCxnSpPr>
          <p:nvPr/>
        </p:nvCxnSpPr>
        <p:spPr>
          <a:xfrm rot="10800000">
            <a:off x="1239208" y="3068959"/>
            <a:ext cx="175321" cy="2789104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059EB72-47ED-BDC7-4010-30EFF8226B20}"/>
              </a:ext>
            </a:extLst>
          </p:cNvPr>
          <p:cNvSpPr/>
          <p:nvPr/>
        </p:nvSpPr>
        <p:spPr>
          <a:xfrm>
            <a:off x="3575720" y="2708920"/>
            <a:ext cx="337095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655738C-0023-2135-DC78-35F95CB7C177}"/>
              </a:ext>
            </a:extLst>
          </p:cNvPr>
          <p:cNvSpPr/>
          <p:nvPr/>
        </p:nvSpPr>
        <p:spPr>
          <a:xfrm>
            <a:off x="7176120" y="2708920"/>
            <a:ext cx="337095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3B1E08E-77C4-F2F1-E865-4E66616A4F40}"/>
              </a:ext>
            </a:extLst>
          </p:cNvPr>
          <p:cNvSpPr/>
          <p:nvPr/>
        </p:nvSpPr>
        <p:spPr>
          <a:xfrm>
            <a:off x="9696400" y="2708920"/>
            <a:ext cx="337095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0599BD85-44EF-D9BB-9DA7-878C2B4C426A}"/>
              </a:ext>
            </a:extLst>
          </p:cNvPr>
          <p:cNvCxnSpPr>
            <a:stCxn id="30" idx="1"/>
            <a:endCxn id="65" idx="2"/>
          </p:cNvCxnSpPr>
          <p:nvPr/>
        </p:nvCxnSpPr>
        <p:spPr>
          <a:xfrm rot="10800000">
            <a:off x="3744268" y="3068960"/>
            <a:ext cx="190540" cy="355022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E0D5D5C8-C82D-691D-3AC3-6C7CDB449683}"/>
              </a:ext>
            </a:extLst>
          </p:cNvPr>
          <p:cNvCxnSpPr>
            <a:stCxn id="32" idx="1"/>
            <a:endCxn id="65" idx="2"/>
          </p:cNvCxnSpPr>
          <p:nvPr/>
        </p:nvCxnSpPr>
        <p:spPr>
          <a:xfrm rot="10800000">
            <a:off x="3744268" y="3068961"/>
            <a:ext cx="190540" cy="837015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C063C98D-E984-D552-4811-5B30D3DCD56B}"/>
              </a:ext>
            </a:extLst>
          </p:cNvPr>
          <p:cNvCxnSpPr>
            <a:stCxn id="35" idx="1"/>
            <a:endCxn id="66" idx="2"/>
          </p:cNvCxnSpPr>
          <p:nvPr/>
        </p:nvCxnSpPr>
        <p:spPr>
          <a:xfrm rot="10800000">
            <a:off x="7344668" y="3068960"/>
            <a:ext cx="190540" cy="360040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7FB20A76-DB1D-9930-105C-FD314B73B8AF}"/>
              </a:ext>
            </a:extLst>
          </p:cNvPr>
          <p:cNvCxnSpPr>
            <a:stCxn id="37" idx="1"/>
            <a:endCxn id="66" idx="2"/>
          </p:cNvCxnSpPr>
          <p:nvPr/>
        </p:nvCxnSpPr>
        <p:spPr>
          <a:xfrm rot="10800000">
            <a:off x="7344668" y="3068960"/>
            <a:ext cx="190540" cy="832202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22CB0856-8FC3-940B-3122-0FF274B7947A}"/>
              </a:ext>
            </a:extLst>
          </p:cNvPr>
          <p:cNvCxnSpPr>
            <a:stCxn id="39" idx="1"/>
            <a:endCxn id="66" idx="2"/>
          </p:cNvCxnSpPr>
          <p:nvPr/>
        </p:nvCxnSpPr>
        <p:spPr>
          <a:xfrm rot="10800000">
            <a:off x="7344668" y="3068960"/>
            <a:ext cx="190540" cy="1326792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4816559D-D2F6-2D0B-C9F1-D3BF737C2742}"/>
              </a:ext>
            </a:extLst>
          </p:cNvPr>
          <p:cNvCxnSpPr>
            <a:stCxn id="41" idx="1"/>
            <a:endCxn id="66" idx="2"/>
          </p:cNvCxnSpPr>
          <p:nvPr/>
        </p:nvCxnSpPr>
        <p:spPr>
          <a:xfrm rot="10800000">
            <a:off x="7344668" y="3068960"/>
            <a:ext cx="189588" cy="1820334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CC9D112F-9A6C-ED5A-9882-BBA8883110C7}"/>
              </a:ext>
            </a:extLst>
          </p:cNvPr>
          <p:cNvCxnSpPr>
            <a:stCxn id="43" idx="1"/>
            <a:endCxn id="67" idx="2"/>
          </p:cNvCxnSpPr>
          <p:nvPr/>
        </p:nvCxnSpPr>
        <p:spPr>
          <a:xfrm rot="10800000">
            <a:off x="9864948" y="3068960"/>
            <a:ext cx="190540" cy="354852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88B7EC8A-78C1-A350-3976-257C32EA4702}"/>
              </a:ext>
            </a:extLst>
          </p:cNvPr>
          <p:cNvCxnSpPr>
            <a:stCxn id="45" idx="1"/>
            <a:endCxn id="67" idx="2"/>
          </p:cNvCxnSpPr>
          <p:nvPr/>
        </p:nvCxnSpPr>
        <p:spPr>
          <a:xfrm rot="10800000">
            <a:off x="9864948" y="3068960"/>
            <a:ext cx="190540" cy="831554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E4C75E81-EF33-EC3E-3E12-2749B5A70836}"/>
              </a:ext>
            </a:extLst>
          </p:cNvPr>
          <p:cNvCxnSpPr>
            <a:stCxn id="47" idx="1"/>
          </p:cNvCxnSpPr>
          <p:nvPr/>
        </p:nvCxnSpPr>
        <p:spPr>
          <a:xfrm rot="10800000">
            <a:off x="9864948" y="3068959"/>
            <a:ext cx="190540" cy="1333016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CE6FE9C4-C5B7-00AE-AF28-7DEA12D2950A}"/>
              </a:ext>
            </a:extLst>
          </p:cNvPr>
          <p:cNvCxnSpPr>
            <a:stCxn id="8" idx="0"/>
            <a:endCxn id="3" idx="2"/>
          </p:cNvCxnSpPr>
          <p:nvPr/>
        </p:nvCxnSpPr>
        <p:spPr>
          <a:xfrm rot="5400000" flipH="1" flipV="1">
            <a:off x="4850137" y="1469057"/>
            <a:ext cx="691527" cy="1800200"/>
          </a:xfrm>
          <a:prstGeom prst="bentConnector3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9F11BD46-8818-9D3D-9599-11D6C245E53C}"/>
              </a:ext>
            </a:extLst>
          </p:cNvPr>
          <p:cNvCxnSpPr>
            <a:stCxn id="10" idx="0"/>
            <a:endCxn id="3" idx="2"/>
          </p:cNvCxnSpPr>
          <p:nvPr/>
        </p:nvCxnSpPr>
        <p:spPr>
          <a:xfrm rot="16200000" flipV="1">
            <a:off x="6651302" y="1468091"/>
            <a:ext cx="689596" cy="1800200"/>
          </a:xfrm>
          <a:prstGeom prst="bentConnector3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">
            <a:extLst>
              <a:ext uri="{FF2B5EF4-FFF2-40B4-BE49-F238E27FC236}">
                <a16:creationId xmlns:a16="http://schemas.microsoft.com/office/drawing/2014/main" id="{1DFA0CC9-3379-F066-9E12-4A4870966D5D}"/>
              </a:ext>
            </a:extLst>
          </p:cNvPr>
          <p:cNvSpPr txBox="1"/>
          <p:nvPr/>
        </p:nvSpPr>
        <p:spPr>
          <a:xfrm>
            <a:off x="899772" y="1282551"/>
            <a:ext cx="1163780" cy="307777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ko-KR" altLang="en-US" sz="20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프로세스 맵</a:t>
            </a:r>
            <a:endParaRPr lang="en-US" sz="20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</p:spTree>
    <p:extLst>
      <p:ext uri="{BB962C8B-B14F-4D97-AF65-F5344CB8AC3E}">
        <p14:creationId xmlns:p14="http://schemas.microsoft.com/office/powerpoint/2010/main" val="3148283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5397311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4.2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핵심 프로세스 설계서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투자 성향 검사 </a:t>
            </a:r>
            <a:endParaRPr lang="en-US" sz="2500" b="1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97190C28-C6F4-7C95-1030-22B5DD413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934976"/>
              </p:ext>
            </p:extLst>
          </p:nvPr>
        </p:nvGraphicFramePr>
        <p:xfrm>
          <a:off x="407368" y="1340768"/>
          <a:ext cx="11377264" cy="4824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8592">
                  <a:extLst>
                    <a:ext uri="{9D8B030D-6E8A-4147-A177-3AD203B41FA5}">
                      <a16:colId xmlns:a16="http://schemas.microsoft.com/office/drawing/2014/main" val="514502481"/>
                    </a:ext>
                  </a:extLst>
                </a:gridCol>
                <a:gridCol w="3932180">
                  <a:extLst>
                    <a:ext uri="{9D8B030D-6E8A-4147-A177-3AD203B41FA5}">
                      <a16:colId xmlns:a16="http://schemas.microsoft.com/office/drawing/2014/main" val="19918076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78894327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2685675537"/>
                    </a:ext>
                  </a:extLst>
                </a:gridCol>
              </a:tblGrid>
              <a:tr h="4268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사용자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시스템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외부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657336"/>
                  </a:ext>
                </a:extLst>
              </a:tr>
              <a:tr h="4397648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347074"/>
                  </a:ext>
                </a:extLst>
              </a:tr>
            </a:tbl>
          </a:graphicData>
        </a:graphic>
      </p:graphicFrame>
      <p:sp>
        <p:nvSpPr>
          <p:cNvPr id="20" name="Google Shape;217;g3293c47a664_0_82">
            <a:extLst>
              <a:ext uri="{FF2B5EF4-FFF2-40B4-BE49-F238E27FC236}">
                <a16:creationId xmlns:a16="http://schemas.microsoft.com/office/drawing/2014/main" id="{067E0111-D68B-FEF8-607B-A3F2A79FADF8}"/>
              </a:ext>
            </a:extLst>
          </p:cNvPr>
          <p:cNvSpPr/>
          <p:nvPr/>
        </p:nvSpPr>
        <p:spPr>
          <a:xfrm>
            <a:off x="1615708" y="4502110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5</a:t>
            </a:r>
            <a:r>
              <a:rPr lang="en-US" sz="1100" b="0" i="0" u="none" strike="noStrike" cap="none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Arial"/>
              </a:rPr>
              <a:t>. 희망 수익률 범위 설정</a:t>
            </a:r>
            <a:endParaRPr sz="1100" b="0" i="0" u="none" strike="noStrike" cap="none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  <a:sym typeface="Arial"/>
            </a:endParaRPr>
          </a:p>
        </p:txBody>
      </p:sp>
      <p:sp>
        <p:nvSpPr>
          <p:cNvPr id="22" name="Google Shape;218;g3293c47a664_0_82">
            <a:extLst>
              <a:ext uri="{FF2B5EF4-FFF2-40B4-BE49-F238E27FC236}">
                <a16:creationId xmlns:a16="http://schemas.microsoft.com/office/drawing/2014/main" id="{53DF244F-419E-781D-8A6F-A8DE78A47A62}"/>
              </a:ext>
            </a:extLst>
          </p:cNvPr>
          <p:cNvSpPr/>
          <p:nvPr/>
        </p:nvSpPr>
        <p:spPr>
          <a:xfrm>
            <a:off x="6151830" y="5013176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Arial"/>
              </a:rPr>
              <a:t>6. 투자 성향 결정</a:t>
            </a:r>
            <a:endParaRPr sz="1100" b="0" i="0" u="none" strike="noStrike" cap="none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  <a:sym typeface="Arial"/>
            </a:endParaRPr>
          </a:p>
        </p:txBody>
      </p:sp>
      <p:sp>
        <p:nvSpPr>
          <p:cNvPr id="23" name="Google Shape;221;g3293c47a664_0_82">
            <a:extLst>
              <a:ext uri="{FF2B5EF4-FFF2-40B4-BE49-F238E27FC236}">
                <a16:creationId xmlns:a16="http://schemas.microsoft.com/office/drawing/2014/main" id="{9E043173-052B-3459-515C-E6B5578497E3}"/>
              </a:ext>
            </a:extLst>
          </p:cNvPr>
          <p:cNvSpPr/>
          <p:nvPr/>
        </p:nvSpPr>
        <p:spPr>
          <a:xfrm>
            <a:off x="1615720" y="3082876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</a:t>
            </a:r>
            <a:r>
              <a:rPr lang="en-US" sz="1100" b="0" i="0" u="none" strike="noStrike" cap="none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Arial"/>
              </a:rPr>
              <a:t>. 위험 단계 설정</a:t>
            </a:r>
            <a:endParaRPr sz="1100" b="0" i="0" u="none" strike="noStrike" cap="none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  <a:sym typeface="Arial"/>
            </a:endParaRPr>
          </a:p>
        </p:txBody>
      </p:sp>
      <p:sp>
        <p:nvSpPr>
          <p:cNvPr id="25" name="Google Shape;222;g3293c47a664_0_82">
            <a:extLst>
              <a:ext uri="{FF2B5EF4-FFF2-40B4-BE49-F238E27FC236}">
                <a16:creationId xmlns:a16="http://schemas.microsoft.com/office/drawing/2014/main" id="{1D2E41F1-0AD0-7B2C-CFBC-2C99CF5A725B}"/>
              </a:ext>
            </a:extLst>
          </p:cNvPr>
          <p:cNvSpPr/>
          <p:nvPr/>
        </p:nvSpPr>
        <p:spPr>
          <a:xfrm>
            <a:off x="2421466" y="2262048"/>
            <a:ext cx="1184400" cy="379929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Arial"/>
              </a:rPr>
              <a:t>로그인</a:t>
            </a:r>
            <a:endParaRPr sz="1400" b="0" i="0" u="none" strike="noStrike" cap="none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  <a:sym typeface="Arial"/>
            </a:endParaRPr>
          </a:p>
        </p:txBody>
      </p:sp>
      <p:sp>
        <p:nvSpPr>
          <p:cNvPr id="26" name="Google Shape;225;g3293c47a664_0_82">
            <a:extLst>
              <a:ext uri="{FF2B5EF4-FFF2-40B4-BE49-F238E27FC236}">
                <a16:creationId xmlns:a16="http://schemas.microsoft.com/office/drawing/2014/main" id="{909F600A-9808-B592-9E3B-7F73B608ADDB}"/>
              </a:ext>
            </a:extLst>
          </p:cNvPr>
          <p:cNvSpPr/>
          <p:nvPr/>
        </p:nvSpPr>
        <p:spPr>
          <a:xfrm>
            <a:off x="715790" y="2231693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Arial"/>
              </a:rPr>
              <a:t>시작</a:t>
            </a:r>
            <a:endParaRPr sz="1100" b="0" i="0" u="none" strike="noStrike" cap="none">
              <a:solidFill>
                <a:schemeClr val="dk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  <a:sym typeface="Arial"/>
            </a:endParaRPr>
          </a:p>
        </p:txBody>
      </p:sp>
      <p:sp>
        <p:nvSpPr>
          <p:cNvPr id="27" name="Google Shape;227;g3293c47a664_0_82">
            <a:extLst>
              <a:ext uri="{FF2B5EF4-FFF2-40B4-BE49-F238E27FC236}">
                <a16:creationId xmlns:a16="http://schemas.microsoft.com/office/drawing/2014/main" id="{071A62CB-2572-2BAE-2B45-E5F12040B713}"/>
              </a:ext>
            </a:extLst>
          </p:cNvPr>
          <p:cNvSpPr/>
          <p:nvPr/>
        </p:nvSpPr>
        <p:spPr>
          <a:xfrm>
            <a:off x="7789886" y="4794716"/>
            <a:ext cx="1685679" cy="859469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Arial"/>
              </a:rPr>
              <a:t>고객 정보 DB</a:t>
            </a:r>
            <a:endParaRPr sz="1400" b="0" i="0" u="none" strike="noStrike" cap="none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  <a:sym typeface="Arial"/>
            </a:endParaRPr>
          </a:p>
        </p:txBody>
      </p:sp>
      <p:sp>
        <p:nvSpPr>
          <p:cNvPr id="29" name="Google Shape;231;g3293c47a664_0_82">
            <a:extLst>
              <a:ext uri="{FF2B5EF4-FFF2-40B4-BE49-F238E27FC236}">
                <a16:creationId xmlns:a16="http://schemas.microsoft.com/office/drawing/2014/main" id="{90E0AB82-58CF-98D8-F97A-DFFAA93A04DF}"/>
              </a:ext>
            </a:extLst>
          </p:cNvPr>
          <p:cNvSpPr/>
          <p:nvPr/>
        </p:nvSpPr>
        <p:spPr>
          <a:xfrm>
            <a:off x="6133702" y="3721580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3</a:t>
            </a:r>
            <a:r>
              <a:rPr lang="en-US" sz="1100" b="0" i="0" u="none" strike="noStrike" cap="none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Arial"/>
              </a:rPr>
              <a:t>. 위험단계별 추천 업종 표기</a:t>
            </a:r>
            <a:endParaRPr sz="1100" b="0" i="0" u="none" strike="noStrike" cap="none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  <a:sym typeface="Arial"/>
            </a:endParaRPr>
          </a:p>
        </p:txBody>
      </p:sp>
      <p:sp>
        <p:nvSpPr>
          <p:cNvPr id="31" name="Google Shape;232;g3293c47a664_0_82">
            <a:extLst>
              <a:ext uri="{FF2B5EF4-FFF2-40B4-BE49-F238E27FC236}">
                <a16:creationId xmlns:a16="http://schemas.microsoft.com/office/drawing/2014/main" id="{725DA2D7-AB02-F832-084A-7B4E0F794708}"/>
              </a:ext>
            </a:extLst>
          </p:cNvPr>
          <p:cNvSpPr/>
          <p:nvPr/>
        </p:nvSpPr>
        <p:spPr>
          <a:xfrm>
            <a:off x="7784148" y="3499227"/>
            <a:ext cx="1685679" cy="859469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성향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Arial"/>
              </a:rPr>
              <a:t>업종 데이터 DB</a:t>
            </a:r>
            <a:endParaRPr sz="1400" b="0" i="0" u="none" strike="noStrike" cap="none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  <a:sym typeface="Arial"/>
            </a:endParaRPr>
          </a:p>
        </p:txBody>
      </p:sp>
      <p:sp>
        <p:nvSpPr>
          <p:cNvPr id="33" name="Google Shape;234;g3293c47a664_0_82">
            <a:extLst>
              <a:ext uri="{FF2B5EF4-FFF2-40B4-BE49-F238E27FC236}">
                <a16:creationId xmlns:a16="http://schemas.microsoft.com/office/drawing/2014/main" id="{79197E03-D0AB-D083-28A6-91C1CCDC3735}"/>
              </a:ext>
            </a:extLst>
          </p:cNvPr>
          <p:cNvSpPr/>
          <p:nvPr/>
        </p:nvSpPr>
        <p:spPr>
          <a:xfrm>
            <a:off x="4202750" y="2246545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Arial"/>
              </a:rPr>
              <a:t>1.고객 성향 검사 요청</a:t>
            </a:r>
            <a:endParaRPr sz="1100" b="0" i="0" u="none" strike="noStrike" cap="none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  <a:sym typeface="Arial"/>
            </a:endParaRPr>
          </a:p>
        </p:txBody>
      </p:sp>
      <p:sp>
        <p:nvSpPr>
          <p:cNvPr id="34" name="Google Shape;237;g3293c47a664_0_82">
            <a:extLst>
              <a:ext uri="{FF2B5EF4-FFF2-40B4-BE49-F238E27FC236}">
                <a16:creationId xmlns:a16="http://schemas.microsoft.com/office/drawing/2014/main" id="{4ED5BF1B-AB2A-2F07-B5E5-21E85252F6A4}"/>
              </a:ext>
            </a:extLst>
          </p:cNvPr>
          <p:cNvSpPr/>
          <p:nvPr/>
        </p:nvSpPr>
        <p:spPr>
          <a:xfrm>
            <a:off x="1615725" y="3756151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Arial"/>
              </a:rPr>
              <a:t>4. 관심 업종 설정</a:t>
            </a:r>
            <a:endParaRPr sz="1100" b="0" i="0" u="none" strike="noStrike" cap="none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  <a:sym typeface="Arial"/>
            </a:endParaRPr>
          </a:p>
        </p:txBody>
      </p:sp>
      <p:sp>
        <p:nvSpPr>
          <p:cNvPr id="35" name="Google Shape;241;g3293c47a664_0_82">
            <a:extLst>
              <a:ext uri="{FF2B5EF4-FFF2-40B4-BE49-F238E27FC236}">
                <a16:creationId xmlns:a16="http://schemas.microsoft.com/office/drawing/2014/main" id="{9335489E-4F4A-AB15-9992-54B23BE93DC8}"/>
              </a:ext>
            </a:extLst>
          </p:cNvPr>
          <p:cNvSpPr/>
          <p:nvPr/>
        </p:nvSpPr>
        <p:spPr>
          <a:xfrm>
            <a:off x="3541584" y="4869160"/>
            <a:ext cx="1367982" cy="417922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2.3.3 성향 검사 결과 조회</a:t>
            </a:r>
            <a:endParaRPr sz="1400" b="0" i="0" u="none" strike="noStrike" cap="none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  <a:sym typeface="Arial"/>
            </a:endParaRPr>
          </a:p>
        </p:txBody>
      </p:sp>
      <p:sp>
        <p:nvSpPr>
          <p:cNvPr id="36" name="Google Shape;243;g3293c47a664_0_82">
            <a:extLst>
              <a:ext uri="{FF2B5EF4-FFF2-40B4-BE49-F238E27FC236}">
                <a16:creationId xmlns:a16="http://schemas.microsoft.com/office/drawing/2014/main" id="{0BA4FBEA-CC34-7150-CD0A-3C52207A7DCD}"/>
              </a:ext>
            </a:extLst>
          </p:cNvPr>
          <p:cNvSpPr/>
          <p:nvPr/>
        </p:nvSpPr>
        <p:spPr>
          <a:xfrm>
            <a:off x="3541584" y="5445224"/>
            <a:ext cx="1367982" cy="417922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2.3.2 투자 성향별 종목 추천</a:t>
            </a:r>
            <a:endParaRPr sz="1400" b="0" i="0" u="none" strike="noStrike" cap="none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  <a:sym typeface="Arial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3608715E-699C-8DE6-6D5A-1A03D9A50BCD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>
          <a:xfrm>
            <a:off x="2062766" y="2452013"/>
            <a:ext cx="3587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9967810-C69F-6942-F310-8725F9CF900B}"/>
              </a:ext>
            </a:extLst>
          </p:cNvPr>
          <p:cNvCxnSpPr>
            <a:cxnSpLocks/>
            <a:stCxn id="25" idx="3"/>
            <a:endCxn id="33" idx="1"/>
          </p:cNvCxnSpPr>
          <p:nvPr/>
        </p:nvCxnSpPr>
        <p:spPr>
          <a:xfrm>
            <a:off x="3605866" y="2452013"/>
            <a:ext cx="596884" cy="82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C884ED79-2DC0-908F-0F25-E8FF8F52E805}"/>
              </a:ext>
            </a:extLst>
          </p:cNvPr>
          <p:cNvCxnSpPr>
            <a:stCxn id="33" idx="2"/>
            <a:endCxn id="23" idx="0"/>
          </p:cNvCxnSpPr>
          <p:nvPr/>
        </p:nvCxnSpPr>
        <p:spPr>
          <a:xfrm rot="5400000">
            <a:off x="3271820" y="1584945"/>
            <a:ext cx="408831" cy="2587030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FF420BDD-AB91-5271-61D7-3FA4057935FB}"/>
              </a:ext>
            </a:extLst>
          </p:cNvPr>
          <p:cNvCxnSpPr>
            <a:stCxn id="23" idx="3"/>
            <a:endCxn id="29" idx="0"/>
          </p:cNvCxnSpPr>
          <p:nvPr/>
        </p:nvCxnSpPr>
        <p:spPr>
          <a:xfrm>
            <a:off x="2749720" y="3296626"/>
            <a:ext cx="3950982" cy="4249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6AD7D8AC-A745-0A79-D85E-DBAA79018D60}"/>
              </a:ext>
            </a:extLst>
          </p:cNvPr>
          <p:cNvCxnSpPr>
            <a:cxnSpLocks/>
            <a:stCxn id="29" idx="1"/>
            <a:endCxn id="34" idx="3"/>
          </p:cNvCxnSpPr>
          <p:nvPr/>
        </p:nvCxnSpPr>
        <p:spPr>
          <a:xfrm flipH="1">
            <a:off x="2749725" y="3935330"/>
            <a:ext cx="3383977" cy="345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8265FB36-F3F8-6E95-33EE-702C4B1EDD8C}"/>
              </a:ext>
            </a:extLst>
          </p:cNvPr>
          <p:cNvCxnSpPr>
            <a:stCxn id="34" idx="2"/>
            <a:endCxn id="20" idx="0"/>
          </p:cNvCxnSpPr>
          <p:nvPr/>
        </p:nvCxnSpPr>
        <p:spPr>
          <a:xfrm flipH="1">
            <a:off x="2182708" y="4183651"/>
            <a:ext cx="17" cy="3184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D5C3447A-5CB7-7F49-3538-637C9D80B7BA}"/>
              </a:ext>
            </a:extLst>
          </p:cNvPr>
          <p:cNvCxnSpPr>
            <a:endCxn id="22" idx="0"/>
          </p:cNvCxnSpPr>
          <p:nvPr/>
        </p:nvCxnSpPr>
        <p:spPr>
          <a:xfrm>
            <a:off x="2749708" y="4711312"/>
            <a:ext cx="3969122" cy="30186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095B66B1-25B2-F3F2-3418-04C741266C9A}"/>
              </a:ext>
            </a:extLst>
          </p:cNvPr>
          <p:cNvCxnSpPr>
            <a:stCxn id="22" idx="1"/>
            <a:endCxn id="35" idx="3"/>
          </p:cNvCxnSpPr>
          <p:nvPr/>
        </p:nvCxnSpPr>
        <p:spPr>
          <a:xfrm rot="10800000">
            <a:off x="4909566" y="5078122"/>
            <a:ext cx="1242264" cy="148805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41364E27-E0D8-E7D1-3912-4CDC764CDA4D}"/>
              </a:ext>
            </a:extLst>
          </p:cNvPr>
          <p:cNvCxnSpPr>
            <a:stCxn id="22" idx="1"/>
            <a:endCxn id="36" idx="3"/>
          </p:cNvCxnSpPr>
          <p:nvPr/>
        </p:nvCxnSpPr>
        <p:spPr>
          <a:xfrm rot="10800000" flipV="1">
            <a:off x="4909566" y="5226925"/>
            <a:ext cx="1242264" cy="42725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5504D032-2D7B-932B-7CFE-F81D1B6D126F}"/>
              </a:ext>
            </a:extLst>
          </p:cNvPr>
          <p:cNvCxnSpPr>
            <a:cxnSpLocks/>
            <a:stCxn id="31" idx="2"/>
            <a:endCxn id="29" idx="3"/>
          </p:cNvCxnSpPr>
          <p:nvPr/>
        </p:nvCxnSpPr>
        <p:spPr>
          <a:xfrm flipH="1">
            <a:off x="7267702" y="3928962"/>
            <a:ext cx="516446" cy="63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Google Shape;296;g3282f99512f_1_43">
            <a:extLst>
              <a:ext uri="{FF2B5EF4-FFF2-40B4-BE49-F238E27FC236}">
                <a16:creationId xmlns:a16="http://schemas.microsoft.com/office/drawing/2014/main" id="{DB22B791-9BC8-D64D-5CF0-388B43485872}"/>
              </a:ext>
            </a:extLst>
          </p:cNvPr>
          <p:cNvSpPr/>
          <p:nvPr/>
        </p:nvSpPr>
        <p:spPr>
          <a:xfrm>
            <a:off x="10504472" y="3700362"/>
            <a:ext cx="1280160" cy="4572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KRX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876;p75">
            <a:extLst>
              <a:ext uri="{FF2B5EF4-FFF2-40B4-BE49-F238E27FC236}">
                <a16:creationId xmlns:a16="http://schemas.microsoft.com/office/drawing/2014/main" id="{0E05E617-F6D4-F2AC-8028-6E2243AB8D00}"/>
              </a:ext>
            </a:extLst>
          </p:cNvPr>
          <p:cNvSpPr/>
          <p:nvPr/>
        </p:nvSpPr>
        <p:spPr>
          <a:xfrm>
            <a:off x="9815264" y="3725217"/>
            <a:ext cx="457200" cy="423863"/>
          </a:xfrm>
          <a:prstGeom prst="flowChartSummingJunct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alt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월</a:t>
            </a:r>
            <a:r>
              <a:rPr lang="en-US" altLang="ko-K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금 오전 </a:t>
            </a:r>
            <a:r>
              <a:rPr lang="en-US" altLang="ko-K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ko-KR" alt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 </a:t>
            </a:r>
            <a:r>
              <a:rPr lang="en-US" altLang="ko-K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r>
              <a:rPr lang="ko-KR" alt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E630BFC-127B-D5E1-22D7-AABB88C219B0}"/>
              </a:ext>
            </a:extLst>
          </p:cNvPr>
          <p:cNvCxnSpPr>
            <a:stCxn id="54" idx="3"/>
            <a:endCxn id="55" idx="6"/>
          </p:cNvCxnSpPr>
          <p:nvPr/>
        </p:nvCxnSpPr>
        <p:spPr>
          <a:xfrm flipH="1">
            <a:off x="10272464" y="3928962"/>
            <a:ext cx="232008" cy="81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6835387-6B78-3C8F-B0FE-7E3BCCC20FCF}"/>
              </a:ext>
            </a:extLst>
          </p:cNvPr>
          <p:cNvCxnSpPr>
            <a:stCxn id="55" idx="2"/>
            <a:endCxn id="31" idx="4"/>
          </p:cNvCxnSpPr>
          <p:nvPr/>
        </p:nvCxnSpPr>
        <p:spPr>
          <a:xfrm flipH="1" flipV="1">
            <a:off x="9469827" y="3928962"/>
            <a:ext cx="345437" cy="81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E25ACA8-A6FF-48FC-A40C-617CF859FFCA}"/>
              </a:ext>
            </a:extLst>
          </p:cNvPr>
          <p:cNvCxnSpPr>
            <a:endCxn id="27" idx="2"/>
          </p:cNvCxnSpPr>
          <p:nvPr/>
        </p:nvCxnSpPr>
        <p:spPr>
          <a:xfrm flipV="1">
            <a:off x="7285830" y="5224451"/>
            <a:ext cx="504056" cy="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238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6301405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4.2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핵심 프로세스 설계서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투자 성향별 종목 추천 </a:t>
            </a:r>
            <a:endParaRPr lang="en-US" altLang="ko-KR" sz="2500" b="1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18" name="표 4">
            <a:extLst>
              <a:ext uri="{FF2B5EF4-FFF2-40B4-BE49-F238E27FC236}">
                <a16:creationId xmlns:a16="http://schemas.microsoft.com/office/drawing/2014/main" id="{449D9D7B-E9E1-5098-6660-B9D441787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736421"/>
              </p:ext>
            </p:extLst>
          </p:nvPr>
        </p:nvGraphicFramePr>
        <p:xfrm>
          <a:off x="407368" y="1340768"/>
          <a:ext cx="11377264" cy="4824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4">
                  <a:extLst>
                    <a:ext uri="{9D8B030D-6E8A-4147-A177-3AD203B41FA5}">
                      <a16:colId xmlns:a16="http://schemas.microsoft.com/office/drawing/2014/main" val="514502481"/>
                    </a:ext>
                  </a:extLst>
                </a:gridCol>
                <a:gridCol w="5184576">
                  <a:extLst>
                    <a:ext uri="{9D8B030D-6E8A-4147-A177-3AD203B41FA5}">
                      <a16:colId xmlns:a16="http://schemas.microsoft.com/office/drawing/2014/main" val="1991807686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378894327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2685675537"/>
                    </a:ext>
                  </a:extLst>
                </a:gridCol>
              </a:tblGrid>
              <a:tr h="4268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사용자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시스템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외부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657336"/>
                  </a:ext>
                </a:extLst>
              </a:tr>
              <a:tr h="4397648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347074"/>
                  </a:ext>
                </a:extLst>
              </a:tr>
            </a:tbl>
          </a:graphicData>
        </a:graphic>
      </p:graphicFrame>
      <p:sp>
        <p:nvSpPr>
          <p:cNvPr id="44" name="Google Shape;270;g3282f99512f_1_43">
            <a:extLst>
              <a:ext uri="{FF2B5EF4-FFF2-40B4-BE49-F238E27FC236}">
                <a16:creationId xmlns:a16="http://schemas.microsoft.com/office/drawing/2014/main" id="{C1673A36-C7E0-1441-FD69-28F0BB48C588}"/>
              </a:ext>
            </a:extLst>
          </p:cNvPr>
          <p:cNvSpPr/>
          <p:nvPr/>
        </p:nvSpPr>
        <p:spPr>
          <a:xfrm>
            <a:off x="7569236" y="5436280"/>
            <a:ext cx="1360800" cy="513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고객 위험단계 선별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271;g3282f99512f_1_43">
            <a:extLst>
              <a:ext uri="{FF2B5EF4-FFF2-40B4-BE49-F238E27FC236}">
                <a16:creationId xmlns:a16="http://schemas.microsoft.com/office/drawing/2014/main" id="{036C650C-1283-883C-82FF-7B03D992E457}"/>
              </a:ext>
            </a:extLst>
          </p:cNvPr>
          <p:cNvSpPr/>
          <p:nvPr/>
        </p:nvSpPr>
        <p:spPr>
          <a:xfrm>
            <a:off x="7536162" y="3585765"/>
            <a:ext cx="1440180" cy="512906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종목 데이터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272;g3282f99512f_1_43">
            <a:extLst>
              <a:ext uri="{FF2B5EF4-FFF2-40B4-BE49-F238E27FC236}">
                <a16:creationId xmlns:a16="http://schemas.microsoft.com/office/drawing/2014/main" id="{78CCB616-5A72-527C-1A70-AEBB209672A5}"/>
              </a:ext>
            </a:extLst>
          </p:cNvPr>
          <p:cNvSpPr/>
          <p:nvPr/>
        </p:nvSpPr>
        <p:spPr>
          <a:xfrm>
            <a:off x="7536162" y="2551337"/>
            <a:ext cx="1440180" cy="512906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정보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274;g3282f99512f_1_43">
            <a:extLst>
              <a:ext uri="{FF2B5EF4-FFF2-40B4-BE49-F238E27FC236}">
                <a16:creationId xmlns:a16="http://schemas.microsoft.com/office/drawing/2014/main" id="{347AC1CD-A32B-E2EA-C88C-C4071BC70552}"/>
              </a:ext>
            </a:extLst>
          </p:cNvPr>
          <p:cNvSpPr/>
          <p:nvPr/>
        </p:nvSpPr>
        <p:spPr>
          <a:xfrm>
            <a:off x="7569237" y="4581128"/>
            <a:ext cx="1360800" cy="513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5-1. 관심 업종내 종목 선별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296;g3282f99512f_1_43">
            <a:extLst>
              <a:ext uri="{FF2B5EF4-FFF2-40B4-BE49-F238E27FC236}">
                <a16:creationId xmlns:a16="http://schemas.microsoft.com/office/drawing/2014/main" id="{8A0A780A-518D-ED1E-26A8-4CF25254684C}"/>
              </a:ext>
            </a:extLst>
          </p:cNvPr>
          <p:cNvSpPr/>
          <p:nvPr/>
        </p:nvSpPr>
        <p:spPr>
          <a:xfrm>
            <a:off x="10504472" y="3619872"/>
            <a:ext cx="1280160" cy="4572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KRX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267;g3282f99512f_1_43">
            <a:extLst>
              <a:ext uri="{FF2B5EF4-FFF2-40B4-BE49-F238E27FC236}">
                <a16:creationId xmlns:a16="http://schemas.microsoft.com/office/drawing/2014/main" id="{6F39BC56-0AF7-A139-5A61-977AE2ED400C}"/>
              </a:ext>
            </a:extLst>
          </p:cNvPr>
          <p:cNvSpPr/>
          <p:nvPr/>
        </p:nvSpPr>
        <p:spPr>
          <a:xfrm>
            <a:off x="5651755" y="2556375"/>
            <a:ext cx="1360800" cy="513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고객 성향 불러오기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268;g3282f99512f_1_43">
            <a:extLst>
              <a:ext uri="{FF2B5EF4-FFF2-40B4-BE49-F238E27FC236}">
                <a16:creationId xmlns:a16="http://schemas.microsoft.com/office/drawing/2014/main" id="{5628F836-1CDC-DEE9-9CF0-F8FBB5E0DF3A}"/>
              </a:ext>
            </a:extLst>
          </p:cNvPr>
          <p:cNvSpPr/>
          <p:nvPr/>
        </p:nvSpPr>
        <p:spPr>
          <a:xfrm>
            <a:off x="5560630" y="4395956"/>
            <a:ext cx="1543050" cy="617220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5.관심 업종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269;g3282f99512f_1_43">
            <a:extLst>
              <a:ext uri="{FF2B5EF4-FFF2-40B4-BE49-F238E27FC236}">
                <a16:creationId xmlns:a16="http://schemas.microsoft.com/office/drawing/2014/main" id="{D41A76F7-DCA0-B2E7-6D61-9C2D8A320D67}"/>
              </a:ext>
            </a:extLst>
          </p:cNvPr>
          <p:cNvSpPr/>
          <p:nvPr/>
        </p:nvSpPr>
        <p:spPr>
          <a:xfrm>
            <a:off x="4574016" y="5436280"/>
            <a:ext cx="1360800" cy="513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희망 수익률 종목 선별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273;g3282f99512f_1_43">
            <a:extLst>
              <a:ext uri="{FF2B5EF4-FFF2-40B4-BE49-F238E27FC236}">
                <a16:creationId xmlns:a16="http://schemas.microsoft.com/office/drawing/2014/main" id="{7BBA06F6-06EE-2801-9E63-4A21D7FB7BEF}"/>
              </a:ext>
            </a:extLst>
          </p:cNvPr>
          <p:cNvSpPr/>
          <p:nvPr/>
        </p:nvSpPr>
        <p:spPr>
          <a:xfrm>
            <a:off x="2559510" y="5436280"/>
            <a:ext cx="1360800" cy="513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종목 리스트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275;g3282f99512f_1_43">
            <a:extLst>
              <a:ext uri="{FF2B5EF4-FFF2-40B4-BE49-F238E27FC236}">
                <a16:creationId xmlns:a16="http://schemas.microsoft.com/office/drawing/2014/main" id="{2B0F4BDE-63CB-99B3-D64E-631160D23EAC}"/>
              </a:ext>
            </a:extLst>
          </p:cNvPr>
          <p:cNvSpPr/>
          <p:nvPr/>
        </p:nvSpPr>
        <p:spPr>
          <a:xfrm>
            <a:off x="504505" y="5463215"/>
            <a:ext cx="1409400" cy="486065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276;g3282f99512f_1_43">
            <a:extLst>
              <a:ext uri="{FF2B5EF4-FFF2-40B4-BE49-F238E27FC236}">
                <a16:creationId xmlns:a16="http://schemas.microsoft.com/office/drawing/2014/main" id="{B00E0D59-830D-E68D-D901-EB9AA0442158}"/>
              </a:ext>
            </a:extLst>
          </p:cNvPr>
          <p:cNvSpPr/>
          <p:nvPr/>
        </p:nvSpPr>
        <p:spPr>
          <a:xfrm>
            <a:off x="5651755" y="3585671"/>
            <a:ext cx="1360800" cy="513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기간별 종목 데이터 선별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277;g3282f99512f_1_43">
            <a:extLst>
              <a:ext uri="{FF2B5EF4-FFF2-40B4-BE49-F238E27FC236}">
                <a16:creationId xmlns:a16="http://schemas.microsoft.com/office/drawing/2014/main" id="{88217870-2508-1F5C-AA05-1478C6B0EA03}"/>
              </a:ext>
            </a:extLst>
          </p:cNvPr>
          <p:cNvSpPr/>
          <p:nvPr/>
        </p:nvSpPr>
        <p:spPr>
          <a:xfrm>
            <a:off x="864953" y="2600488"/>
            <a:ext cx="1421280" cy="455915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284;g3282f99512f_1_43">
            <a:extLst>
              <a:ext uri="{FF2B5EF4-FFF2-40B4-BE49-F238E27FC236}">
                <a16:creationId xmlns:a16="http://schemas.microsoft.com/office/drawing/2014/main" id="{F3F2A9D0-DB0F-D707-2261-E027FAAB91FD}"/>
              </a:ext>
            </a:extLst>
          </p:cNvPr>
          <p:cNvSpPr/>
          <p:nvPr/>
        </p:nvSpPr>
        <p:spPr>
          <a:xfrm>
            <a:off x="967141" y="3585671"/>
            <a:ext cx="1360800" cy="513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기간 입력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288;g3282f99512f_1_43">
            <a:extLst>
              <a:ext uri="{FF2B5EF4-FFF2-40B4-BE49-F238E27FC236}">
                <a16:creationId xmlns:a16="http://schemas.microsoft.com/office/drawing/2014/main" id="{AB5E0C72-CB95-ECB9-D6A9-81E3C68B31CD}"/>
              </a:ext>
            </a:extLst>
          </p:cNvPr>
          <p:cNvSpPr/>
          <p:nvPr/>
        </p:nvSpPr>
        <p:spPr>
          <a:xfrm>
            <a:off x="767408" y="1866423"/>
            <a:ext cx="1616371" cy="528768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290;g3282f99512f_1_43">
            <a:extLst>
              <a:ext uri="{FF2B5EF4-FFF2-40B4-BE49-F238E27FC236}">
                <a16:creationId xmlns:a16="http://schemas.microsoft.com/office/drawing/2014/main" id="{B49F6D99-2A83-5D0C-A0D0-E8F27EE60738}"/>
              </a:ext>
            </a:extLst>
          </p:cNvPr>
          <p:cNvSpPr/>
          <p:nvPr/>
        </p:nvSpPr>
        <p:spPr>
          <a:xfrm>
            <a:off x="2783632" y="2556375"/>
            <a:ext cx="1360800" cy="513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성향별 종목 추천 요청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212C099C-4E8D-0BC9-0879-8156A163FF35}"/>
              </a:ext>
            </a:extLst>
          </p:cNvPr>
          <p:cNvCxnSpPr>
            <a:stCxn id="67" idx="2"/>
            <a:endCxn id="65" idx="0"/>
          </p:cNvCxnSpPr>
          <p:nvPr/>
        </p:nvCxnSpPr>
        <p:spPr>
          <a:xfrm flipH="1">
            <a:off x="1575593" y="2395191"/>
            <a:ext cx="1" cy="2052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D446115F-A670-E1D3-8854-205209BE4146}"/>
              </a:ext>
            </a:extLst>
          </p:cNvPr>
          <p:cNvCxnSpPr>
            <a:endCxn id="68" idx="1"/>
          </p:cNvCxnSpPr>
          <p:nvPr/>
        </p:nvCxnSpPr>
        <p:spPr>
          <a:xfrm>
            <a:off x="2327941" y="2812875"/>
            <a:ext cx="45569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1DBF85F3-C709-C541-AB95-116FE87A2347}"/>
              </a:ext>
            </a:extLst>
          </p:cNvPr>
          <p:cNvCxnSpPr>
            <a:endCxn id="59" idx="1"/>
          </p:cNvCxnSpPr>
          <p:nvPr/>
        </p:nvCxnSpPr>
        <p:spPr>
          <a:xfrm>
            <a:off x="4144432" y="2812875"/>
            <a:ext cx="150732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F88C24B1-E3C9-F953-1373-E5C088F508FE}"/>
              </a:ext>
            </a:extLst>
          </p:cNvPr>
          <p:cNvCxnSpPr>
            <a:stCxn id="46" idx="2"/>
            <a:endCxn id="59" idx="3"/>
          </p:cNvCxnSpPr>
          <p:nvPr/>
        </p:nvCxnSpPr>
        <p:spPr>
          <a:xfrm flipH="1">
            <a:off x="7012555" y="2807790"/>
            <a:ext cx="523607" cy="5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45F4D84C-ECA7-0410-4803-B39C8661C8DD}"/>
              </a:ext>
            </a:extLst>
          </p:cNvPr>
          <p:cNvCxnSpPr>
            <a:stCxn id="59" idx="2"/>
            <a:endCxn id="66" idx="0"/>
          </p:cNvCxnSpPr>
          <p:nvPr/>
        </p:nvCxnSpPr>
        <p:spPr>
          <a:xfrm rot="5400000">
            <a:off x="3731700" y="985216"/>
            <a:ext cx="516296" cy="4684614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AB2E64CB-234D-CC67-7269-B65AD3FB1484}"/>
              </a:ext>
            </a:extLst>
          </p:cNvPr>
          <p:cNvCxnSpPr>
            <a:stCxn id="66" idx="3"/>
            <a:endCxn id="64" idx="1"/>
          </p:cNvCxnSpPr>
          <p:nvPr/>
        </p:nvCxnSpPr>
        <p:spPr>
          <a:xfrm>
            <a:off x="2327941" y="3842171"/>
            <a:ext cx="332381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7E7AB69B-8294-4BD8-B72D-85FC562C42CF}"/>
              </a:ext>
            </a:extLst>
          </p:cNvPr>
          <p:cNvCxnSpPr>
            <a:stCxn id="45" idx="2"/>
            <a:endCxn id="64" idx="3"/>
          </p:cNvCxnSpPr>
          <p:nvPr/>
        </p:nvCxnSpPr>
        <p:spPr>
          <a:xfrm flipH="1" flipV="1">
            <a:off x="7012555" y="3842171"/>
            <a:ext cx="523607" cy="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F6E272C8-6BDD-D2B3-10AB-2F5347DE5CB4}"/>
              </a:ext>
            </a:extLst>
          </p:cNvPr>
          <p:cNvCxnSpPr>
            <a:stCxn id="64" idx="2"/>
            <a:endCxn id="60" idx="0"/>
          </p:cNvCxnSpPr>
          <p:nvPr/>
        </p:nvCxnSpPr>
        <p:spPr>
          <a:xfrm>
            <a:off x="6332155" y="4098671"/>
            <a:ext cx="0" cy="2972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2093846E-2040-2D97-0672-8F12496D3148}"/>
              </a:ext>
            </a:extLst>
          </p:cNvPr>
          <p:cNvCxnSpPr>
            <a:stCxn id="60" idx="3"/>
            <a:endCxn id="47" idx="0"/>
          </p:cNvCxnSpPr>
          <p:nvPr/>
        </p:nvCxnSpPr>
        <p:spPr>
          <a:xfrm flipV="1">
            <a:off x="7103680" y="4581128"/>
            <a:ext cx="1145957" cy="123438"/>
          </a:xfrm>
          <a:prstGeom prst="bentConnector4">
            <a:avLst>
              <a:gd name="adj1" fmla="val 20313"/>
              <a:gd name="adj2" fmla="val 43520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309BED4A-E3BF-CB3B-4C8C-D9A4BA8602CE}"/>
              </a:ext>
            </a:extLst>
          </p:cNvPr>
          <p:cNvCxnSpPr>
            <a:stCxn id="60" idx="2"/>
            <a:endCxn id="44" idx="0"/>
          </p:cNvCxnSpPr>
          <p:nvPr/>
        </p:nvCxnSpPr>
        <p:spPr>
          <a:xfrm rot="16200000" flipH="1">
            <a:off x="7079343" y="4265987"/>
            <a:ext cx="423104" cy="191748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9A4AF3DD-FEB6-4363-B215-05BC3603CF27}"/>
              </a:ext>
            </a:extLst>
          </p:cNvPr>
          <p:cNvCxnSpPr/>
          <p:nvPr/>
        </p:nvCxnSpPr>
        <p:spPr>
          <a:xfrm>
            <a:off x="8688288" y="5094128"/>
            <a:ext cx="0" cy="3493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1FD05F58-4CAE-214C-8ACE-33C090C67454}"/>
              </a:ext>
            </a:extLst>
          </p:cNvPr>
          <p:cNvCxnSpPr>
            <a:cxnSpLocks/>
            <a:stCxn id="44" idx="1"/>
            <a:endCxn id="61" idx="3"/>
          </p:cNvCxnSpPr>
          <p:nvPr/>
        </p:nvCxnSpPr>
        <p:spPr>
          <a:xfrm flipH="1">
            <a:off x="5934816" y="5692780"/>
            <a:ext cx="16344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E2CAD81D-32E4-5B34-0075-958A260349AB}"/>
              </a:ext>
            </a:extLst>
          </p:cNvPr>
          <p:cNvCxnSpPr>
            <a:stCxn id="61" idx="1"/>
            <a:endCxn id="62" idx="3"/>
          </p:cNvCxnSpPr>
          <p:nvPr/>
        </p:nvCxnSpPr>
        <p:spPr>
          <a:xfrm flipH="1">
            <a:off x="3920310" y="5692780"/>
            <a:ext cx="65370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5B71815A-3FD4-DF67-D28E-1019427B231E}"/>
              </a:ext>
            </a:extLst>
          </p:cNvPr>
          <p:cNvCxnSpPr>
            <a:stCxn id="62" idx="1"/>
            <a:endCxn id="63" idx="3"/>
          </p:cNvCxnSpPr>
          <p:nvPr/>
        </p:nvCxnSpPr>
        <p:spPr>
          <a:xfrm flipH="1">
            <a:off x="1913905" y="5692780"/>
            <a:ext cx="645605" cy="134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876;p75">
            <a:extLst>
              <a:ext uri="{FF2B5EF4-FFF2-40B4-BE49-F238E27FC236}">
                <a16:creationId xmlns:a16="http://schemas.microsoft.com/office/drawing/2014/main" id="{80FE8253-81B3-9826-4249-6B9F2B380208}"/>
              </a:ext>
            </a:extLst>
          </p:cNvPr>
          <p:cNvSpPr/>
          <p:nvPr/>
        </p:nvSpPr>
        <p:spPr>
          <a:xfrm>
            <a:off x="9696400" y="3636541"/>
            <a:ext cx="457200" cy="423863"/>
          </a:xfrm>
          <a:prstGeom prst="flowChartSummingJunct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alt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월</a:t>
            </a:r>
            <a:r>
              <a:rPr lang="en-US" altLang="ko-K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금 오전 </a:t>
            </a:r>
            <a:r>
              <a:rPr lang="en-US" altLang="ko-K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ko-KR" alt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 </a:t>
            </a:r>
            <a:r>
              <a:rPr lang="en-US" altLang="ko-K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r>
              <a:rPr lang="ko-KR" alt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186FFA7-6F4A-D95C-6219-5410B2CF947F}"/>
              </a:ext>
            </a:extLst>
          </p:cNvPr>
          <p:cNvCxnSpPr>
            <a:stCxn id="48" idx="3"/>
            <a:endCxn id="10" idx="6"/>
          </p:cNvCxnSpPr>
          <p:nvPr/>
        </p:nvCxnSpPr>
        <p:spPr>
          <a:xfrm flipH="1">
            <a:off x="10153600" y="3848472"/>
            <a:ext cx="350872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E1F7F74-493E-C512-ABDA-34A504D64D81}"/>
              </a:ext>
            </a:extLst>
          </p:cNvPr>
          <p:cNvCxnSpPr>
            <a:stCxn id="10" idx="2"/>
            <a:endCxn id="45" idx="4"/>
          </p:cNvCxnSpPr>
          <p:nvPr/>
        </p:nvCxnSpPr>
        <p:spPr>
          <a:xfrm flipH="1" flipV="1">
            <a:off x="8976342" y="3842218"/>
            <a:ext cx="720058" cy="62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CFFD203-5449-8D62-FC38-14C08AAE6DE3}"/>
              </a:ext>
            </a:extLst>
          </p:cNvPr>
          <p:cNvSpPr txBox="1"/>
          <p:nvPr/>
        </p:nvSpPr>
        <p:spPr>
          <a:xfrm>
            <a:off x="7071623" y="4411761"/>
            <a:ext cx="216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Y</a:t>
            </a:r>
            <a:endParaRPr lang="ko-KR" altLang="en-US" sz="12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39F26-3474-A5F7-5071-364BDB5CFA2E}"/>
              </a:ext>
            </a:extLst>
          </p:cNvPr>
          <p:cNvSpPr txBox="1"/>
          <p:nvPr/>
        </p:nvSpPr>
        <p:spPr>
          <a:xfrm>
            <a:off x="6096000" y="4952201"/>
            <a:ext cx="216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N</a:t>
            </a:r>
            <a:endParaRPr lang="ko-KR" altLang="en-US" sz="12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7816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4496424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4.3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데이터베이스 구조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전체 </a:t>
            </a:r>
            <a:r>
              <a:rPr lang="en-US" altLang="ko-KR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ERD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</a:t>
            </a:r>
            <a:endParaRPr lang="en-US" sz="2500" b="1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1C83B9BD-B0FA-E15A-0FD7-704B6CD3FFDD}"/>
              </a:ext>
            </a:extLst>
          </p:cNvPr>
          <p:cNvGrpSpPr/>
          <p:nvPr/>
        </p:nvGrpSpPr>
        <p:grpSpPr>
          <a:xfrm rot="19629181">
            <a:off x="6691304" y="4157259"/>
            <a:ext cx="131655" cy="144016"/>
            <a:chOff x="6108361" y="1844824"/>
            <a:chExt cx="131655" cy="144016"/>
          </a:xfrm>
        </p:grpSpPr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EE5406CB-F9D4-8679-2E13-FD42D1F11F45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194FEED4-C236-D111-BAFE-35A68250CC2D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8BB8974A-28FA-6C56-BE51-029FFF2F5A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71691EE0-6906-5D32-C27C-1E84912D0138}"/>
              </a:ext>
            </a:extLst>
          </p:cNvPr>
          <p:cNvGrpSpPr/>
          <p:nvPr/>
        </p:nvGrpSpPr>
        <p:grpSpPr>
          <a:xfrm rot="19384666">
            <a:off x="6702120" y="5686352"/>
            <a:ext cx="131655" cy="144016"/>
            <a:chOff x="6108361" y="1844824"/>
            <a:chExt cx="131655" cy="144016"/>
          </a:xfrm>
        </p:grpSpPr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567F24C1-29DC-C520-2984-D74AB43FCB2F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5DD627EA-9731-68D4-D8C9-6655BB431ED8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CADB1E83-1483-EBBB-F8DC-9AD34D1147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90BABD90-03FE-A55D-B2EA-8C858B0F8501}"/>
              </a:ext>
            </a:extLst>
          </p:cNvPr>
          <p:cNvGrpSpPr/>
          <p:nvPr/>
        </p:nvGrpSpPr>
        <p:grpSpPr>
          <a:xfrm>
            <a:off x="4295800" y="5026996"/>
            <a:ext cx="131655" cy="144016"/>
            <a:chOff x="6108361" y="1844824"/>
            <a:chExt cx="131655" cy="144016"/>
          </a:xfrm>
        </p:grpSpPr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69BF4EFA-FA4D-4DF2-2431-2D03AB2CEE7C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FC7DC8D3-8685-9B44-33AE-702B3B83B708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124A24B4-3085-D520-49D0-19693A5FD6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A1332151-FAA0-5932-BF31-3218FA0F7D5E}"/>
              </a:ext>
            </a:extLst>
          </p:cNvPr>
          <p:cNvGrpSpPr/>
          <p:nvPr/>
        </p:nvGrpSpPr>
        <p:grpSpPr>
          <a:xfrm rot="5400000">
            <a:off x="8190412" y="4059075"/>
            <a:ext cx="131655" cy="144016"/>
            <a:chOff x="6108361" y="1844824"/>
            <a:chExt cx="131655" cy="144016"/>
          </a:xfrm>
        </p:grpSpPr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2A1774B7-5C6A-1C8D-4B1E-549BC93D606A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52FDC37D-9542-FF56-EAAA-5BA3EE7F7FAC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989494DA-1A4D-B894-FCAC-CF71701A72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EAA4C190-657A-37E9-6807-D98699F38C24}"/>
              </a:ext>
            </a:extLst>
          </p:cNvPr>
          <p:cNvGrpSpPr/>
          <p:nvPr/>
        </p:nvGrpSpPr>
        <p:grpSpPr>
          <a:xfrm rot="7232129">
            <a:off x="9679121" y="1391500"/>
            <a:ext cx="131655" cy="144016"/>
            <a:chOff x="6108361" y="1844824"/>
            <a:chExt cx="131655" cy="144016"/>
          </a:xfrm>
        </p:grpSpPr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6006D1CC-3294-651B-75FB-E5C2B2F3AEA8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DC1DD4B3-CE02-0239-84A3-29B42983380D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53D25CE0-7BCB-2DA0-1743-A6B4D17C53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E253CAE1-7DB7-AB49-8D58-FBB98DC0A5DF}"/>
              </a:ext>
            </a:extLst>
          </p:cNvPr>
          <p:cNvGrpSpPr/>
          <p:nvPr/>
        </p:nvGrpSpPr>
        <p:grpSpPr>
          <a:xfrm rot="5400000">
            <a:off x="10995783" y="4449385"/>
            <a:ext cx="131655" cy="144016"/>
            <a:chOff x="6108361" y="1844824"/>
            <a:chExt cx="131655" cy="144016"/>
          </a:xfrm>
        </p:grpSpPr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7F055E2A-B1FB-1959-FF4A-6504A03C7A42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E2C87017-5754-9341-B063-F3D03CA33D49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8A62A28B-1B7B-5CAF-A873-CE433FFA1D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249872CB-23E7-55F1-C5AC-574DA1E13266}"/>
              </a:ext>
            </a:extLst>
          </p:cNvPr>
          <p:cNvGrpSpPr/>
          <p:nvPr/>
        </p:nvGrpSpPr>
        <p:grpSpPr>
          <a:xfrm>
            <a:off x="9120336" y="5832266"/>
            <a:ext cx="131655" cy="144016"/>
            <a:chOff x="6108361" y="1844824"/>
            <a:chExt cx="131655" cy="144016"/>
          </a:xfrm>
        </p:grpSpPr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5C893B1E-8A13-5590-DEE1-1F305C00E15C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585FB575-4EE0-2C3C-E138-090C21444F4A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E7C4A2-7940-54FD-5169-7703D5FF59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8D2A4C91-9A01-23C3-3233-4C959CD586B5}"/>
              </a:ext>
            </a:extLst>
          </p:cNvPr>
          <p:cNvGrpSpPr/>
          <p:nvPr/>
        </p:nvGrpSpPr>
        <p:grpSpPr>
          <a:xfrm rot="5400000">
            <a:off x="8190412" y="1922655"/>
            <a:ext cx="131655" cy="144016"/>
            <a:chOff x="6108361" y="1844824"/>
            <a:chExt cx="131655" cy="144016"/>
          </a:xfrm>
        </p:grpSpPr>
        <p:cxnSp>
          <p:nvCxnSpPr>
            <p:cNvPr id="179" name="직선 연결선 178">
              <a:extLst>
                <a:ext uri="{FF2B5EF4-FFF2-40B4-BE49-F238E27FC236}">
                  <a16:creationId xmlns:a16="http://schemas.microsoft.com/office/drawing/2014/main" id="{A014167A-6C52-807C-5F28-8863BFB5B12E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23430482-5CEF-F5D8-2141-C84DD7C46BB4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67B42FC4-346F-E749-0495-0F7A56B33E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FD165A6A-EA5C-B3C7-B107-24330355DCF3}"/>
              </a:ext>
            </a:extLst>
          </p:cNvPr>
          <p:cNvGrpSpPr/>
          <p:nvPr/>
        </p:nvGrpSpPr>
        <p:grpSpPr>
          <a:xfrm>
            <a:off x="4943872" y="2916033"/>
            <a:ext cx="131655" cy="144016"/>
            <a:chOff x="6108361" y="1844824"/>
            <a:chExt cx="131655" cy="144016"/>
          </a:xfrm>
        </p:grpSpPr>
        <p:cxnSp>
          <p:nvCxnSpPr>
            <p:cNvPr id="221" name="직선 연결선 220">
              <a:extLst>
                <a:ext uri="{FF2B5EF4-FFF2-40B4-BE49-F238E27FC236}">
                  <a16:creationId xmlns:a16="http://schemas.microsoft.com/office/drawing/2014/main" id="{3B7C218B-CDDC-228D-DFEB-C235EE059425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3F429C6C-505E-E4CA-7B3D-2CDA900E81E4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05C7D5C6-C901-99E3-246E-55DDEAEF9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2C1B9355-2740-CF0D-A153-3597CEADC6CD}"/>
              </a:ext>
            </a:extLst>
          </p:cNvPr>
          <p:cNvGrpSpPr/>
          <p:nvPr/>
        </p:nvGrpSpPr>
        <p:grpSpPr>
          <a:xfrm rot="3702675">
            <a:off x="7005069" y="1704907"/>
            <a:ext cx="131655" cy="144016"/>
            <a:chOff x="6108361" y="1844824"/>
            <a:chExt cx="131655" cy="144016"/>
          </a:xfrm>
        </p:grpSpPr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576A36CD-47BA-40E5-A4D2-AA6D32F3EFCE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73E7C061-109B-9F5A-2ECB-A452177C0682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직선 연결선 230">
              <a:extLst>
                <a:ext uri="{FF2B5EF4-FFF2-40B4-BE49-F238E27FC236}">
                  <a16:creationId xmlns:a16="http://schemas.microsoft.com/office/drawing/2014/main" id="{2111791A-7BDA-0309-0E96-3DC993A64A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A8FFE68-19C8-3D32-87A4-F9FA1D6C88AB}"/>
              </a:ext>
            </a:extLst>
          </p:cNvPr>
          <p:cNvCxnSpPr>
            <a:cxnSpLocks/>
          </p:cNvCxnSpPr>
          <p:nvPr/>
        </p:nvCxnSpPr>
        <p:spPr>
          <a:xfrm flipH="1" flipV="1">
            <a:off x="6972365" y="1519654"/>
            <a:ext cx="500371" cy="1218865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467EE2F-A034-F1F9-6FE6-8BBBEEF2B46F}"/>
              </a:ext>
            </a:extLst>
          </p:cNvPr>
          <p:cNvCxnSpPr>
            <a:cxnSpLocks/>
          </p:cNvCxnSpPr>
          <p:nvPr/>
        </p:nvCxnSpPr>
        <p:spPr>
          <a:xfrm>
            <a:off x="8249236" y="1916832"/>
            <a:ext cx="7004" cy="398346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3D8F2A6-BF01-F7E6-D500-C8777C8A8216}"/>
              </a:ext>
            </a:extLst>
          </p:cNvPr>
          <p:cNvCxnSpPr>
            <a:cxnSpLocks/>
          </p:cNvCxnSpPr>
          <p:nvPr/>
        </p:nvCxnSpPr>
        <p:spPr>
          <a:xfrm flipH="1">
            <a:off x="9054190" y="1224811"/>
            <a:ext cx="776493" cy="1484109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97644F7-3D43-CB6C-B96F-6B08F8C51F13}"/>
              </a:ext>
            </a:extLst>
          </p:cNvPr>
          <p:cNvGrpSpPr/>
          <p:nvPr/>
        </p:nvGrpSpPr>
        <p:grpSpPr>
          <a:xfrm rot="3789252">
            <a:off x="9090715" y="3177262"/>
            <a:ext cx="131655" cy="144016"/>
            <a:chOff x="6108361" y="1844824"/>
            <a:chExt cx="131655" cy="144016"/>
          </a:xfrm>
        </p:grpSpPr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B3198405-EDBF-DF21-3108-8BE236533C3F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3244A31-7CC8-CF3D-5983-5B6E7A42770B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4700FD17-92D8-F7CF-6E17-58F33FF759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2542D44-2327-58A2-CB34-A12550D89233}"/>
              </a:ext>
            </a:extLst>
          </p:cNvPr>
          <p:cNvCxnSpPr>
            <a:cxnSpLocks/>
            <a:endCxn id="191" idx="1"/>
          </p:cNvCxnSpPr>
          <p:nvPr/>
        </p:nvCxnSpPr>
        <p:spPr>
          <a:xfrm>
            <a:off x="9054190" y="3026957"/>
            <a:ext cx="1227257" cy="2711136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13DBFD7A-689A-64FA-B69E-FDE7A72F91E9}"/>
              </a:ext>
            </a:extLst>
          </p:cNvPr>
          <p:cNvCxnSpPr>
            <a:cxnSpLocks/>
          </p:cNvCxnSpPr>
          <p:nvPr/>
        </p:nvCxnSpPr>
        <p:spPr>
          <a:xfrm>
            <a:off x="11064552" y="4400250"/>
            <a:ext cx="0" cy="966788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87AC621-6C0B-B582-8518-D3CBFB569550}"/>
              </a:ext>
            </a:extLst>
          </p:cNvPr>
          <p:cNvCxnSpPr>
            <a:cxnSpLocks/>
          </p:cNvCxnSpPr>
          <p:nvPr/>
        </p:nvCxnSpPr>
        <p:spPr>
          <a:xfrm>
            <a:off x="9054190" y="5917247"/>
            <a:ext cx="1227257" cy="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28578456-5C01-D610-91AB-637A9836916E}"/>
              </a:ext>
            </a:extLst>
          </p:cNvPr>
          <p:cNvCxnSpPr>
            <a:cxnSpLocks/>
          </p:cNvCxnSpPr>
          <p:nvPr/>
        </p:nvCxnSpPr>
        <p:spPr>
          <a:xfrm flipV="1">
            <a:off x="8256240" y="4052486"/>
            <a:ext cx="0" cy="754584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1694F2B2-061F-8B16-BB4F-B6673436992A}"/>
              </a:ext>
            </a:extLst>
          </p:cNvPr>
          <p:cNvCxnSpPr>
            <a:cxnSpLocks/>
          </p:cNvCxnSpPr>
          <p:nvPr/>
        </p:nvCxnSpPr>
        <p:spPr>
          <a:xfrm flipV="1">
            <a:off x="6600056" y="3759885"/>
            <a:ext cx="908495" cy="577487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53A0A88-EE2D-510B-36E3-5F51464B99BA}"/>
              </a:ext>
            </a:extLst>
          </p:cNvPr>
          <p:cNvCxnSpPr>
            <a:cxnSpLocks/>
          </p:cNvCxnSpPr>
          <p:nvPr/>
        </p:nvCxnSpPr>
        <p:spPr>
          <a:xfrm>
            <a:off x="4285953" y="5101032"/>
            <a:ext cx="2950440" cy="1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04B0FF63-CD1F-42F4-EB91-A35F95C1B0F2}"/>
              </a:ext>
            </a:extLst>
          </p:cNvPr>
          <p:cNvCxnSpPr>
            <a:cxnSpLocks/>
          </p:cNvCxnSpPr>
          <p:nvPr/>
        </p:nvCxnSpPr>
        <p:spPr>
          <a:xfrm flipV="1">
            <a:off x="6662772" y="5397115"/>
            <a:ext cx="583468" cy="455831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그림 62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EA66A3C3-316F-1081-69A9-EAB82565316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12" y="4617368"/>
            <a:ext cx="2120287" cy="2124000"/>
          </a:xfrm>
          <a:prstGeom prst="rect">
            <a:avLst/>
          </a:prstGeom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792E3A58-C4A5-90A0-9019-6B81482C4EDE}"/>
              </a:ext>
            </a:extLst>
          </p:cNvPr>
          <p:cNvSpPr/>
          <p:nvPr/>
        </p:nvSpPr>
        <p:spPr>
          <a:xfrm>
            <a:off x="746553" y="4532001"/>
            <a:ext cx="1111472" cy="231210"/>
          </a:xfrm>
          <a:prstGeom prst="roundRect">
            <a:avLst/>
          </a:prstGeom>
          <a:solidFill>
            <a:srgbClr val="FFBD5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회원 투자 성향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F4D3A3-C2DB-7FD7-7045-3DF880166E22}"/>
              </a:ext>
            </a:extLst>
          </p:cNvPr>
          <p:cNvSpPr txBox="1"/>
          <p:nvPr/>
        </p:nvSpPr>
        <p:spPr>
          <a:xfrm>
            <a:off x="336724" y="4855418"/>
            <a:ext cx="165618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회원 투자 성향 시퀀스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회원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시퀀스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(FK)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감당 위험단계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관심 업종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희망 수익률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작성일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수정일</a:t>
            </a:r>
          </a:p>
        </p:txBody>
      </p:sp>
      <p:pic>
        <p:nvPicPr>
          <p:cNvPr id="70" name="그림 69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0C4E449F-1FFC-629A-01CA-064AB07D4D3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547" y="3658850"/>
            <a:ext cx="1881253" cy="1998573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8E67619-6415-BDBD-2249-6FB497C6843A}"/>
              </a:ext>
            </a:extLst>
          </p:cNvPr>
          <p:cNvSpPr txBox="1"/>
          <p:nvPr/>
        </p:nvSpPr>
        <p:spPr>
          <a:xfrm>
            <a:off x="2621444" y="3869336"/>
            <a:ext cx="150897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성향 업종 시퀀스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 시퀀스 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(FK)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업종별 평균 수익률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업종별 평균 변동성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업종별 평균 위험단계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C07B749-A484-2891-3EEE-A1F15F48968D}"/>
              </a:ext>
            </a:extLst>
          </p:cNvPr>
          <p:cNvSpPr/>
          <p:nvPr/>
        </p:nvSpPr>
        <p:spPr>
          <a:xfrm>
            <a:off x="2209949" y="3501008"/>
            <a:ext cx="1111472" cy="2312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성향 검사 업종</a:t>
            </a:r>
          </a:p>
        </p:txBody>
      </p:sp>
      <p:pic>
        <p:nvPicPr>
          <p:cNvPr id="77" name="그림 76" descr="텍스트, 스크린샷, 디스플레이, 폰트이(가) 표시된 사진&#10;&#10;자동 생성된 설명">
            <a:extLst>
              <a:ext uri="{FF2B5EF4-FFF2-40B4-BE49-F238E27FC236}">
                <a16:creationId xmlns:a16="http://schemas.microsoft.com/office/drawing/2014/main" id="{B42245C6-A2DA-382C-4D9D-707E8A3CD49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449" y="5181401"/>
            <a:ext cx="1723615" cy="1631975"/>
          </a:xfrm>
          <a:prstGeom prst="rect">
            <a:avLst/>
          </a:prstGeom>
        </p:spPr>
      </p:pic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0EE2FBB7-23C4-8C2C-BEF0-296F2825F318}"/>
              </a:ext>
            </a:extLst>
          </p:cNvPr>
          <p:cNvSpPr/>
          <p:nvPr/>
        </p:nvSpPr>
        <p:spPr>
          <a:xfrm>
            <a:off x="5348589" y="5135828"/>
            <a:ext cx="955177" cy="231210"/>
          </a:xfrm>
          <a:prstGeom prst="roundRect">
            <a:avLst/>
          </a:prstGeom>
          <a:solidFill>
            <a:srgbClr val="FFBD5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관심 업종 추천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87EDC18-C009-D067-334B-BA7D292D60FD}"/>
              </a:ext>
            </a:extLst>
          </p:cNvPr>
          <p:cNvSpPr txBox="1"/>
          <p:nvPr/>
        </p:nvSpPr>
        <p:spPr>
          <a:xfrm>
            <a:off x="5015880" y="5355213"/>
            <a:ext cx="15757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관심 업종 추천 시퀀스</a:t>
            </a:r>
            <a:r>
              <a:rPr lang="en-US" altLang="ko-KR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 시퀀스</a:t>
            </a:r>
            <a:r>
              <a:rPr lang="en-US" altLang="ko-KR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(FK)</a:t>
            </a: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업종별 평균 수익률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 위험단계 구간 </a:t>
            </a:r>
            <a:r>
              <a:rPr lang="en-US" altLang="ko-KR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(1,2,3 </a:t>
            </a:r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이내</a:t>
            </a:r>
            <a:r>
              <a:rPr lang="en-US" altLang="ko-KR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추천 여부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시장 시퀀스 </a:t>
            </a:r>
            <a:r>
              <a:rPr lang="en-US" altLang="ko-KR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(FK)</a:t>
            </a: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BEF98D7E-C09F-11DB-38E4-17DEFF75128D}"/>
              </a:ext>
            </a:extLst>
          </p:cNvPr>
          <p:cNvCxnSpPr>
            <a:cxnSpLocks/>
            <a:stCxn id="174" idx="1"/>
          </p:cNvCxnSpPr>
          <p:nvPr/>
        </p:nvCxnSpPr>
        <p:spPr>
          <a:xfrm flipH="1">
            <a:off x="4295800" y="4197824"/>
            <a:ext cx="720272" cy="419544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13BD71F4-1D6F-F201-0B1A-C315F7D178E1}"/>
              </a:ext>
            </a:extLst>
          </p:cNvPr>
          <p:cNvCxnSpPr>
            <a:cxnSpLocks/>
          </p:cNvCxnSpPr>
          <p:nvPr/>
        </p:nvCxnSpPr>
        <p:spPr>
          <a:xfrm flipH="1" flipV="1">
            <a:off x="4324519" y="4467350"/>
            <a:ext cx="120407" cy="194613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A59A4658-4A56-1169-2BB5-4AAC052ED674}"/>
              </a:ext>
            </a:extLst>
          </p:cNvPr>
          <p:cNvGrpSpPr/>
          <p:nvPr/>
        </p:nvGrpSpPr>
        <p:grpSpPr>
          <a:xfrm rot="9042905">
            <a:off x="4857416" y="4198098"/>
            <a:ext cx="131655" cy="144008"/>
            <a:chOff x="9424549" y="3197744"/>
            <a:chExt cx="131655" cy="144008"/>
          </a:xfrm>
        </p:grpSpPr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CBA56A83-2F42-ACB4-1CEE-648C055B66C8}"/>
                </a:ext>
              </a:extLst>
            </p:cNvPr>
            <p:cNvCxnSpPr>
              <a:cxnSpLocks/>
            </p:cNvCxnSpPr>
            <p:nvPr/>
          </p:nvCxnSpPr>
          <p:spPr>
            <a:xfrm>
              <a:off x="9424549" y="319774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5F85FC9E-487A-1A71-1700-EB642C63C6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24549" y="326975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AE09CDA9-3A2C-33AB-4EF8-65727373172F}"/>
              </a:ext>
            </a:extLst>
          </p:cNvPr>
          <p:cNvCxnSpPr>
            <a:cxnSpLocks/>
          </p:cNvCxnSpPr>
          <p:nvPr/>
        </p:nvCxnSpPr>
        <p:spPr>
          <a:xfrm>
            <a:off x="4948449" y="2996952"/>
            <a:ext cx="2560102" cy="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FABB367F-F23A-D48A-68E3-A78E9389F23C}"/>
              </a:ext>
            </a:extLst>
          </p:cNvPr>
          <p:cNvCxnSpPr>
            <a:cxnSpLocks/>
          </p:cNvCxnSpPr>
          <p:nvPr/>
        </p:nvCxnSpPr>
        <p:spPr>
          <a:xfrm>
            <a:off x="6672064" y="6525344"/>
            <a:ext cx="3609383" cy="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648B8E9C-4F35-9D04-D2E9-F32723C81CB6}"/>
              </a:ext>
            </a:extLst>
          </p:cNvPr>
          <p:cNvGrpSpPr/>
          <p:nvPr/>
        </p:nvGrpSpPr>
        <p:grpSpPr>
          <a:xfrm>
            <a:off x="6662772" y="6453336"/>
            <a:ext cx="131655" cy="144016"/>
            <a:chOff x="6108361" y="1844824"/>
            <a:chExt cx="131655" cy="144016"/>
          </a:xfrm>
        </p:grpSpPr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BD0587A7-2FDA-0510-C0A2-765EBB4F6B30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2B80A3E2-1BF8-6216-C430-95E8155D99D1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4526B607-0A89-9DE1-3AAC-A08F0E743E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3" name="그림 122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8730F239-0987-5C38-110A-18DAFAD325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48" y="1497264"/>
            <a:ext cx="1749399" cy="2123449"/>
          </a:xfrm>
          <a:prstGeom prst="rect">
            <a:avLst/>
          </a:prstGeom>
        </p:spPr>
      </p:pic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B751046C-C8C3-2DB6-0B04-7EB2031A6CF5}"/>
              </a:ext>
            </a:extLst>
          </p:cNvPr>
          <p:cNvSpPr/>
          <p:nvPr/>
        </p:nvSpPr>
        <p:spPr>
          <a:xfrm>
            <a:off x="143148" y="1340768"/>
            <a:ext cx="679424" cy="2312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회원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432BF41-A72E-08E2-62FE-86149C45A24A}"/>
              </a:ext>
            </a:extLst>
          </p:cNvPr>
          <p:cNvSpPr txBox="1"/>
          <p:nvPr/>
        </p:nvSpPr>
        <p:spPr>
          <a:xfrm>
            <a:off x="264716" y="1652607"/>
            <a:ext cx="963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회원 시퀀스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회원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ID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비밀번호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전화번호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회원구분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이메일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작성일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수정일</a:t>
            </a: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2FEB50EB-2D5F-2B9B-3429-A8749C6D89A5}"/>
              </a:ext>
            </a:extLst>
          </p:cNvPr>
          <p:cNvCxnSpPr>
            <a:cxnSpLocks/>
          </p:cNvCxnSpPr>
          <p:nvPr/>
        </p:nvCxnSpPr>
        <p:spPr>
          <a:xfrm flipH="1">
            <a:off x="336724" y="4509120"/>
            <a:ext cx="284125" cy="667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타원 148">
            <a:extLst>
              <a:ext uri="{FF2B5EF4-FFF2-40B4-BE49-F238E27FC236}">
                <a16:creationId xmlns:a16="http://schemas.microsoft.com/office/drawing/2014/main" id="{17D44F1E-BAE9-413C-39E5-5764F42FE209}"/>
              </a:ext>
            </a:extLst>
          </p:cNvPr>
          <p:cNvSpPr/>
          <p:nvPr/>
        </p:nvSpPr>
        <p:spPr>
          <a:xfrm>
            <a:off x="417289" y="4388490"/>
            <a:ext cx="122991" cy="10801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129D0F1C-34DC-E714-F6E3-A9EEE2914644}"/>
              </a:ext>
            </a:extLst>
          </p:cNvPr>
          <p:cNvCxnSpPr>
            <a:cxnSpLocks/>
          </p:cNvCxnSpPr>
          <p:nvPr/>
        </p:nvCxnSpPr>
        <p:spPr>
          <a:xfrm flipH="1">
            <a:off x="478785" y="3620713"/>
            <a:ext cx="3336" cy="996655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41BE7677-DBD8-78B5-5A15-880C82236B5C}"/>
              </a:ext>
            </a:extLst>
          </p:cNvPr>
          <p:cNvCxnSpPr>
            <a:cxnSpLocks/>
          </p:cNvCxnSpPr>
          <p:nvPr/>
        </p:nvCxnSpPr>
        <p:spPr>
          <a:xfrm flipH="1">
            <a:off x="3575720" y="6174220"/>
            <a:ext cx="1372729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580E9A46-0A8E-3F5A-F5BE-3E8F1A33B097}"/>
              </a:ext>
            </a:extLst>
          </p:cNvPr>
          <p:cNvGrpSpPr/>
          <p:nvPr/>
        </p:nvGrpSpPr>
        <p:grpSpPr>
          <a:xfrm>
            <a:off x="2279576" y="6093296"/>
            <a:ext cx="131655" cy="144016"/>
            <a:chOff x="6108361" y="1844824"/>
            <a:chExt cx="131655" cy="144016"/>
          </a:xfrm>
        </p:grpSpPr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3BB84C89-069A-E448-5A26-EB9D05793E04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D6FECCF0-2CD8-5573-8C0E-BF41047E31C1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C7FBD601-630E-4AD7-6DE9-F0A39E05E2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6" name="타원 165">
            <a:extLst>
              <a:ext uri="{FF2B5EF4-FFF2-40B4-BE49-F238E27FC236}">
                <a16:creationId xmlns:a16="http://schemas.microsoft.com/office/drawing/2014/main" id="{2657CA45-6E57-1B32-5A29-CF529C9A625A}"/>
              </a:ext>
            </a:extLst>
          </p:cNvPr>
          <p:cNvSpPr/>
          <p:nvPr/>
        </p:nvSpPr>
        <p:spPr>
          <a:xfrm>
            <a:off x="2423592" y="6111298"/>
            <a:ext cx="122991" cy="10801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2B813D76-54AF-5D44-0DC1-287D3C2B8390}"/>
              </a:ext>
            </a:extLst>
          </p:cNvPr>
          <p:cNvCxnSpPr>
            <a:cxnSpLocks/>
          </p:cNvCxnSpPr>
          <p:nvPr/>
        </p:nvCxnSpPr>
        <p:spPr>
          <a:xfrm flipH="1">
            <a:off x="2301098" y="6168450"/>
            <a:ext cx="1274622" cy="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" name="그림 17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A7FF1E77-A15C-E870-95E8-405DFE4689BF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072" y="3382472"/>
            <a:ext cx="1637006" cy="1630704"/>
          </a:xfrm>
          <a:prstGeom prst="rect">
            <a:avLst/>
          </a:prstGeom>
        </p:spPr>
      </p:pic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68FE1BBC-7A58-42B4-5E3E-8D77354D5B08}"/>
              </a:ext>
            </a:extLst>
          </p:cNvPr>
          <p:cNvSpPr/>
          <p:nvPr/>
        </p:nvSpPr>
        <p:spPr>
          <a:xfrm>
            <a:off x="5428495" y="3284984"/>
            <a:ext cx="829749" cy="202767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성향 검사 종목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A843BBDF-E970-067D-A0BA-E59AE94A38F8}"/>
              </a:ext>
            </a:extLst>
          </p:cNvPr>
          <p:cNvSpPr txBox="1"/>
          <p:nvPr/>
        </p:nvSpPr>
        <p:spPr>
          <a:xfrm>
            <a:off x="5102848" y="3526847"/>
            <a:ext cx="143851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성향 종목 시퀀스</a:t>
            </a:r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시퀀스</a:t>
            </a:r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(FK)</a:t>
            </a:r>
          </a:p>
          <a:p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</a:t>
            </a:r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개월 수익률</a:t>
            </a:r>
            <a:endParaRPr lang="en-US" altLang="ko-KR" sz="75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변동성 </a:t>
            </a:r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( 1</a:t>
            </a:r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개월 수익률 표준편차</a:t>
            </a:r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위험단계 </a:t>
            </a:r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( 1</a:t>
            </a:r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개월 기준</a:t>
            </a:r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75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pic>
        <p:nvPicPr>
          <p:cNvPr id="186" name="그림 185" descr="텍스트, 스크린샷, 폰트, 디스플레이이(가) 표시된 사진&#10;&#10;자동 생성된 설명">
            <a:extLst>
              <a:ext uri="{FF2B5EF4-FFF2-40B4-BE49-F238E27FC236}">
                <a16:creationId xmlns:a16="http://schemas.microsoft.com/office/drawing/2014/main" id="{77E2C6F9-7B5D-0A0F-7E54-F516C79B5C20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4943" y="178731"/>
            <a:ext cx="1833947" cy="2124000"/>
          </a:xfrm>
          <a:prstGeom prst="rect">
            <a:avLst/>
          </a:prstGeom>
        </p:spPr>
      </p:pic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CA0C6847-B5A8-DE9F-DC24-8F57D3AEBB8A}"/>
              </a:ext>
            </a:extLst>
          </p:cNvPr>
          <p:cNvSpPr/>
          <p:nvPr/>
        </p:nvSpPr>
        <p:spPr>
          <a:xfrm>
            <a:off x="10128448" y="101446"/>
            <a:ext cx="1245802" cy="231210"/>
          </a:xfrm>
          <a:prstGeom prst="roundRect">
            <a:avLst/>
          </a:prstGeom>
          <a:solidFill>
            <a:srgbClr val="FFBD5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성향별 추천 종목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8DC1A38-9A11-D485-0E58-FFA2E7CA8F66}"/>
              </a:ext>
            </a:extLst>
          </p:cNvPr>
          <p:cNvSpPr txBox="1"/>
          <p:nvPr/>
        </p:nvSpPr>
        <p:spPr>
          <a:xfrm>
            <a:off x="10077010" y="371289"/>
            <a:ext cx="1486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성향 추천 종목 시퀀스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시퀀스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(FK)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종가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거래일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pic>
        <p:nvPicPr>
          <p:cNvPr id="189" name="그림 188">
            <a:extLst>
              <a:ext uri="{FF2B5EF4-FFF2-40B4-BE49-F238E27FC236}">
                <a16:creationId xmlns:a16="http://schemas.microsoft.com/office/drawing/2014/main" id="{3947809C-7AA6-3CB6-DB3A-80EFC9D06C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582" y="5356332"/>
            <a:ext cx="1590058" cy="1337659"/>
          </a:xfrm>
          <a:prstGeom prst="rect">
            <a:avLst/>
          </a:prstGeom>
        </p:spPr>
      </p:pic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FD9226B1-AB69-918E-8D5D-6610D4A42CC2}"/>
              </a:ext>
            </a:extLst>
          </p:cNvPr>
          <p:cNvSpPr/>
          <p:nvPr/>
        </p:nvSpPr>
        <p:spPr>
          <a:xfrm>
            <a:off x="10268320" y="5212348"/>
            <a:ext cx="576064" cy="21601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시장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6C66FF71-7706-3C5F-19E8-7FD4F7E77AAC}"/>
              </a:ext>
            </a:extLst>
          </p:cNvPr>
          <p:cNvSpPr txBox="1"/>
          <p:nvPr/>
        </p:nvSpPr>
        <p:spPr>
          <a:xfrm>
            <a:off x="10281447" y="5445705"/>
            <a:ext cx="1486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시장 시퀀스</a:t>
            </a:r>
            <a:r>
              <a:rPr lang="en-US" altLang="ko-KR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시장명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pic>
        <p:nvPicPr>
          <p:cNvPr id="194" name="그림 193" descr="텍스트, 스크린샷, 폰트, 디스플레이이(가) 표시된 사진&#10;&#10;자동 생성된 설명">
            <a:extLst>
              <a:ext uri="{FF2B5EF4-FFF2-40B4-BE49-F238E27FC236}">
                <a16:creationId xmlns:a16="http://schemas.microsoft.com/office/drawing/2014/main" id="{F87541F0-1AD6-79D7-3F5C-C325863CCD29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104" y="2315177"/>
            <a:ext cx="1557086" cy="1753043"/>
          </a:xfrm>
          <a:prstGeom prst="rect">
            <a:avLst/>
          </a:prstGeom>
        </p:spPr>
      </p:pic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EDEE6AB8-8FF4-2DE8-1E80-A344FBFCA843}"/>
              </a:ext>
            </a:extLst>
          </p:cNvPr>
          <p:cNvSpPr/>
          <p:nvPr/>
        </p:nvSpPr>
        <p:spPr>
          <a:xfrm>
            <a:off x="7561857" y="2125475"/>
            <a:ext cx="514892" cy="21601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종목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A4772CF9-EF71-40F0-4F28-FA7053977426}"/>
              </a:ext>
            </a:extLst>
          </p:cNvPr>
          <p:cNvSpPr txBox="1"/>
          <p:nvPr/>
        </p:nvSpPr>
        <p:spPr>
          <a:xfrm>
            <a:off x="7536160" y="2402885"/>
            <a:ext cx="1329093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시퀀스</a:t>
            </a:r>
            <a:r>
              <a:rPr lang="en-US" altLang="ko-KR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코드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종목명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 시퀀스</a:t>
            </a:r>
            <a:r>
              <a:rPr lang="en-US" altLang="ko-KR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(FK)</a:t>
            </a: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시장 시퀀스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pic>
        <p:nvPicPr>
          <p:cNvPr id="201" name="그림 200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964279A9-E826-6360-B2ED-2B1673B4627C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872" y="4721845"/>
            <a:ext cx="1904100" cy="1669156"/>
          </a:xfrm>
          <a:prstGeom prst="rect">
            <a:avLst/>
          </a:prstGeom>
        </p:spPr>
      </p:pic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CAB63D9D-D99A-BDCA-EE22-1CD548B89BC3}"/>
              </a:ext>
            </a:extLst>
          </p:cNvPr>
          <p:cNvSpPr/>
          <p:nvPr/>
        </p:nvSpPr>
        <p:spPr>
          <a:xfrm>
            <a:off x="6918717" y="4591054"/>
            <a:ext cx="576064" cy="21601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업종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6FA61BA1-2929-7FA2-7B8E-074E39355A8C}"/>
              </a:ext>
            </a:extLst>
          </p:cNvPr>
          <p:cNvSpPr txBox="1"/>
          <p:nvPr/>
        </p:nvSpPr>
        <p:spPr>
          <a:xfrm>
            <a:off x="7278757" y="4886018"/>
            <a:ext cx="1486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 시퀀스</a:t>
            </a:r>
            <a:r>
              <a:rPr lang="en-US" altLang="ko-KR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 코드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업종명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시장 시퀀스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pic>
        <p:nvPicPr>
          <p:cNvPr id="208" name="그림 207">
            <a:extLst>
              <a:ext uri="{FF2B5EF4-FFF2-40B4-BE49-F238E27FC236}">
                <a16:creationId xmlns:a16="http://schemas.microsoft.com/office/drawing/2014/main" id="{FA7ED7F7-DE82-D3FA-EB22-2D803B822C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970" y="1843467"/>
            <a:ext cx="1354077" cy="789286"/>
          </a:xfrm>
          <a:prstGeom prst="rect">
            <a:avLst/>
          </a:prstGeom>
        </p:spPr>
      </p:pic>
      <p:sp>
        <p:nvSpPr>
          <p:cNvPr id="214" name="TextBox 213">
            <a:extLst>
              <a:ext uri="{FF2B5EF4-FFF2-40B4-BE49-F238E27FC236}">
                <a16:creationId xmlns:a16="http://schemas.microsoft.com/office/drawing/2014/main" id="{6015B368-4889-5360-244A-6624AB9DF922}"/>
              </a:ext>
            </a:extLst>
          </p:cNvPr>
          <p:cNvSpPr txBox="1"/>
          <p:nvPr/>
        </p:nvSpPr>
        <p:spPr>
          <a:xfrm>
            <a:off x="1991544" y="1934542"/>
            <a:ext cx="1329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인증 코드 시퀀스</a:t>
            </a:r>
            <a:r>
              <a:rPr lang="en-US" altLang="ko-KR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인증 코드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이메일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코드 만료시간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0E42CC9-1503-CC77-34CB-2F9D345478B1}"/>
              </a:ext>
            </a:extLst>
          </p:cNvPr>
          <p:cNvSpPr/>
          <p:nvPr/>
        </p:nvSpPr>
        <p:spPr>
          <a:xfrm>
            <a:off x="2158753" y="1748840"/>
            <a:ext cx="1029434" cy="16799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이메일 인증 코드</a:t>
            </a:r>
          </a:p>
        </p:txBody>
      </p:sp>
      <p:pic>
        <p:nvPicPr>
          <p:cNvPr id="219" name="그림 218">
            <a:extLst>
              <a:ext uri="{FF2B5EF4-FFF2-40B4-BE49-F238E27FC236}">
                <a16:creationId xmlns:a16="http://schemas.microsoft.com/office/drawing/2014/main" id="{4FE1A22E-7093-120F-91EC-337EA6D4EC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712" y="1686642"/>
            <a:ext cx="1434885" cy="1742357"/>
          </a:xfrm>
          <a:prstGeom prst="rect">
            <a:avLst/>
          </a:prstGeom>
        </p:spPr>
      </p:pic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68699742-1AA1-4B39-1365-7488294629DC}"/>
              </a:ext>
            </a:extLst>
          </p:cNvPr>
          <p:cNvSpPr/>
          <p:nvPr/>
        </p:nvSpPr>
        <p:spPr>
          <a:xfrm>
            <a:off x="3683228" y="1566802"/>
            <a:ext cx="1036153" cy="18217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실시간 종목 지수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D2C69656-0732-0D6D-8F1A-1B1E231A0F66}"/>
              </a:ext>
            </a:extLst>
          </p:cNvPr>
          <p:cNvSpPr txBox="1"/>
          <p:nvPr/>
        </p:nvSpPr>
        <p:spPr>
          <a:xfrm>
            <a:off x="3503713" y="1772816"/>
            <a:ext cx="11530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실시간 종목 지수 시퀀스</a:t>
            </a:r>
            <a:r>
              <a:rPr lang="en-US" altLang="ko-KR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시퀀스</a:t>
            </a:r>
            <a:r>
              <a:rPr lang="en-US" altLang="ko-KR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(FK)</a:t>
            </a: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가격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전일비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등락률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거래량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거래대금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시가총액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7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pic>
        <p:nvPicPr>
          <p:cNvPr id="232" name="그림 231">
            <a:extLst>
              <a:ext uri="{FF2B5EF4-FFF2-40B4-BE49-F238E27FC236}">
                <a16:creationId xmlns:a16="http://schemas.microsoft.com/office/drawing/2014/main" id="{5E050F38-1EDE-92A6-7A06-88FF7D93C46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322" y="841840"/>
            <a:ext cx="1632004" cy="1473337"/>
          </a:xfrm>
          <a:prstGeom prst="rect">
            <a:avLst/>
          </a:prstGeom>
        </p:spPr>
      </p:pic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212E165F-6708-5E83-64E5-84ACD6558C11}"/>
              </a:ext>
            </a:extLst>
          </p:cNvPr>
          <p:cNvSpPr/>
          <p:nvPr/>
        </p:nvSpPr>
        <p:spPr>
          <a:xfrm>
            <a:off x="5649388" y="710824"/>
            <a:ext cx="1036153" cy="170919"/>
          </a:xfrm>
          <a:prstGeom prst="roundRect">
            <a:avLst/>
          </a:prstGeom>
          <a:solidFill>
            <a:srgbClr val="FFBD5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커뮤니티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8D7A5CB-A682-3B2C-5E8D-49F0F547B2E8}"/>
              </a:ext>
            </a:extLst>
          </p:cNvPr>
          <p:cNvSpPr txBox="1"/>
          <p:nvPr/>
        </p:nvSpPr>
        <p:spPr>
          <a:xfrm>
            <a:off x="5377570" y="944578"/>
            <a:ext cx="143851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커뮤니티 시퀀스</a:t>
            </a:r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시퀀스</a:t>
            </a:r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(FK)</a:t>
            </a: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커뮤니티 긍정라벨</a:t>
            </a:r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</a:t>
            </a:r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긍정</a:t>
            </a:r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부정</a:t>
            </a:r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게시 날짜</a:t>
            </a:r>
            <a:endParaRPr lang="en-US" altLang="ko-KR" sz="75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토큰화된 게시글 내용</a:t>
            </a:r>
            <a:endParaRPr lang="en-US" altLang="ko-KR" sz="75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75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pic>
        <p:nvPicPr>
          <p:cNvPr id="242" name="그림 241">
            <a:extLst>
              <a:ext uri="{FF2B5EF4-FFF2-40B4-BE49-F238E27FC236}">
                <a16:creationId xmlns:a16="http://schemas.microsoft.com/office/drawing/2014/main" id="{D2BC3C93-C351-573C-C21D-EA954B63554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051" y="224528"/>
            <a:ext cx="1895171" cy="1689721"/>
          </a:xfrm>
          <a:prstGeom prst="rect">
            <a:avLst/>
          </a:prstGeom>
        </p:spPr>
      </p:pic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6EED1BD1-AD05-026A-004C-EEBAEEEF5963}"/>
              </a:ext>
            </a:extLst>
          </p:cNvPr>
          <p:cNvSpPr/>
          <p:nvPr/>
        </p:nvSpPr>
        <p:spPr>
          <a:xfrm>
            <a:off x="7968208" y="101388"/>
            <a:ext cx="576064" cy="216016"/>
          </a:xfrm>
          <a:prstGeom prst="roundRect">
            <a:avLst/>
          </a:prstGeom>
          <a:solidFill>
            <a:srgbClr val="FFBD5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뉴스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D7E3997E-1BC7-5420-5DDA-137C8A159ACF}"/>
              </a:ext>
            </a:extLst>
          </p:cNvPr>
          <p:cNvSpPr txBox="1"/>
          <p:nvPr/>
        </p:nvSpPr>
        <p:spPr>
          <a:xfrm>
            <a:off x="7393794" y="332656"/>
            <a:ext cx="1438510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뉴스 시퀀스</a:t>
            </a:r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뉴스 제목</a:t>
            </a:r>
            <a:endParaRPr lang="en-US" altLang="ko-KR" sz="75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시퀀스</a:t>
            </a:r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(FK)</a:t>
            </a: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뉴스 긍정라벨</a:t>
            </a:r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</a:t>
            </a:r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긍정</a:t>
            </a:r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부정</a:t>
            </a:r>
            <a:r>
              <a:rPr lang="en-US" altLang="ko-KR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언론사명</a:t>
            </a:r>
            <a:endParaRPr lang="en-US" altLang="ko-KR" sz="75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기사 발행일</a:t>
            </a:r>
            <a:endParaRPr lang="en-US" altLang="ko-KR" sz="75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토큰화된 뉴스 내용</a:t>
            </a:r>
            <a:endParaRPr lang="en-US" altLang="ko-KR" sz="75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75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75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pic>
        <p:nvPicPr>
          <p:cNvPr id="245" name="그림 244">
            <a:extLst>
              <a:ext uri="{FF2B5EF4-FFF2-40B4-BE49-F238E27FC236}">
                <a16:creationId xmlns:a16="http://schemas.microsoft.com/office/drawing/2014/main" id="{EE292C8A-FB68-876A-92DF-AEC477BB1AE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2874700"/>
            <a:ext cx="2023405" cy="1562412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94D66F9-D96C-8FCA-8556-8A1EF03DA12F}"/>
              </a:ext>
            </a:extLst>
          </p:cNvPr>
          <p:cNvSpPr/>
          <p:nvPr/>
        </p:nvSpPr>
        <p:spPr>
          <a:xfrm>
            <a:off x="9710846" y="2698267"/>
            <a:ext cx="1111472" cy="2312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실시간 국내 지수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297286CD-CEE7-44FF-C7F9-C626B82DC247}"/>
              </a:ext>
            </a:extLst>
          </p:cNvPr>
          <p:cNvSpPr txBox="1"/>
          <p:nvPr/>
        </p:nvSpPr>
        <p:spPr>
          <a:xfrm>
            <a:off x="9994863" y="2996648"/>
            <a:ext cx="14869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국내 지수 시퀀스</a:t>
            </a:r>
            <a:r>
              <a:rPr lang="en-US" altLang="ko-KR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시장 시퀀스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국내 지수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지수 변화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변동률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</p:spTree>
    <p:extLst>
      <p:ext uri="{BB962C8B-B14F-4D97-AF65-F5344CB8AC3E}">
        <p14:creationId xmlns:p14="http://schemas.microsoft.com/office/powerpoint/2010/main" val="1048668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6376746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4.3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핵심 데이터베이스 구조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투자 성향 검사 </a:t>
            </a:r>
            <a:r>
              <a:rPr lang="en-US" altLang="ko-KR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ERD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</a:t>
            </a:r>
            <a:endParaRPr lang="en-US" sz="2500" b="1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9EEF3F72-ECD2-D068-7FE5-CECFCE649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64" y="4239483"/>
            <a:ext cx="2135751" cy="2123449"/>
          </a:xfrm>
          <a:prstGeom prst="rect">
            <a:avLst/>
          </a:prstGeom>
        </p:spPr>
      </p:pic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DAD2354-394C-EF80-E97E-6B1D66AD387A}"/>
              </a:ext>
            </a:extLst>
          </p:cNvPr>
          <p:cNvSpPr/>
          <p:nvPr/>
        </p:nvSpPr>
        <p:spPr>
          <a:xfrm>
            <a:off x="114364" y="4082987"/>
            <a:ext cx="679424" cy="2312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회원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CF4F8-4F07-DB0C-565A-57B062A33039}"/>
              </a:ext>
            </a:extLst>
          </p:cNvPr>
          <p:cNvSpPr txBox="1"/>
          <p:nvPr/>
        </p:nvSpPr>
        <p:spPr>
          <a:xfrm>
            <a:off x="286152" y="4388911"/>
            <a:ext cx="963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회원 시퀀스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회원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ID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비밀번호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전화번호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회원구분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이메일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작성일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수정일</a:t>
            </a:r>
          </a:p>
        </p:txBody>
      </p:sp>
      <p:pic>
        <p:nvPicPr>
          <p:cNvPr id="12" name="그림 11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3211DCD8-1C1A-9D90-20BE-BA0549379AD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28" y="1340124"/>
            <a:ext cx="2120287" cy="2124000"/>
          </a:xfrm>
          <a:prstGeom prst="rect">
            <a:avLst/>
          </a:prstGeom>
        </p:spPr>
      </p:pic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F113EA3-438E-F8D1-97D0-3EBF889DA80D}"/>
              </a:ext>
            </a:extLst>
          </p:cNvPr>
          <p:cNvSpPr/>
          <p:nvPr/>
        </p:nvSpPr>
        <p:spPr>
          <a:xfrm>
            <a:off x="717092" y="1218554"/>
            <a:ext cx="1111472" cy="2312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회원 투자 성향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7DEA75-9697-3908-298D-C5C22D77643F}"/>
              </a:ext>
            </a:extLst>
          </p:cNvPr>
          <p:cNvSpPr txBox="1"/>
          <p:nvPr/>
        </p:nvSpPr>
        <p:spPr>
          <a:xfrm>
            <a:off x="307263" y="1541971"/>
            <a:ext cx="165618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회원 투자 성향 시퀀스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회원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시퀀스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(FK)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감당 위험단계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관심 업종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희망 수익률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작성일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수정일</a:t>
            </a:r>
          </a:p>
        </p:txBody>
      </p:sp>
      <p:pic>
        <p:nvPicPr>
          <p:cNvPr id="17" name="그림 16" descr="텍스트, 스크린샷, 폰트, 디스플레이이(가) 표시된 사진&#10;&#10;자동 생성된 설명">
            <a:extLst>
              <a:ext uri="{FF2B5EF4-FFF2-40B4-BE49-F238E27FC236}">
                <a16:creationId xmlns:a16="http://schemas.microsoft.com/office/drawing/2014/main" id="{B19B0E06-B20A-6EA5-4533-0FB94971FF17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528" y="4545360"/>
            <a:ext cx="2286000" cy="2124000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87E44F7-B30E-4DF1-06D8-01E4CCEF466F}"/>
              </a:ext>
            </a:extLst>
          </p:cNvPr>
          <p:cNvSpPr/>
          <p:nvPr/>
        </p:nvSpPr>
        <p:spPr>
          <a:xfrm>
            <a:off x="9484977" y="4411253"/>
            <a:ext cx="1245802" cy="2312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성향별 추천 종목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3306AE-F977-F68C-ADC8-7E2D9CB323CD}"/>
              </a:ext>
            </a:extLst>
          </p:cNvPr>
          <p:cNvSpPr txBox="1"/>
          <p:nvPr/>
        </p:nvSpPr>
        <p:spPr>
          <a:xfrm>
            <a:off x="9937595" y="4737918"/>
            <a:ext cx="1486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성향 추천 종목 시퀀스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시퀀스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(FK)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종가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거래일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pic>
        <p:nvPicPr>
          <p:cNvPr id="29" name="그림 28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4D798541-AA98-A64F-4875-FF9D25C91515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528" y="584920"/>
            <a:ext cx="2286000" cy="2124000"/>
          </a:xfrm>
          <a:prstGeom prst="rect">
            <a:avLst/>
          </a:prstGeom>
        </p:spPr>
      </p:pic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34CBF67-C12F-62A0-F57A-6BBA4D825A56}"/>
              </a:ext>
            </a:extLst>
          </p:cNvPr>
          <p:cNvSpPr/>
          <p:nvPr/>
        </p:nvSpPr>
        <p:spPr>
          <a:xfrm>
            <a:off x="10313120" y="404664"/>
            <a:ext cx="1111472" cy="2312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성향 검사 종목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ED19A8-1E74-3356-DEF0-60E98B96A8CE}"/>
              </a:ext>
            </a:extLst>
          </p:cNvPr>
          <p:cNvSpPr txBox="1"/>
          <p:nvPr/>
        </p:nvSpPr>
        <p:spPr>
          <a:xfrm>
            <a:off x="9984430" y="768395"/>
            <a:ext cx="183362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성향 종목 시퀀스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시퀀스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(FK)</a:t>
            </a:r>
          </a:p>
          <a:p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</a:t>
            </a:r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개월 수익률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변동성 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( 1</a:t>
            </a:r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개월 수익률 표준편차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위험단계 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( 1</a:t>
            </a:r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개월 기준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pic>
        <p:nvPicPr>
          <p:cNvPr id="38" name="그림 37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077E4F18-0107-1437-7E11-263E23583CFC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080" y="584920"/>
            <a:ext cx="2286000" cy="2124000"/>
          </a:xfrm>
          <a:prstGeom prst="rect">
            <a:avLst/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C58027A-B9A6-EC72-8E69-606C778A079D}"/>
              </a:ext>
            </a:extLst>
          </p:cNvPr>
          <p:cNvSpPr/>
          <p:nvPr/>
        </p:nvSpPr>
        <p:spPr>
          <a:xfrm>
            <a:off x="7415509" y="404664"/>
            <a:ext cx="1111472" cy="2312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성향 검사 업종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900510-D91E-CAB7-80A8-22B367D3A943}"/>
              </a:ext>
            </a:extLst>
          </p:cNvPr>
          <p:cNvSpPr txBox="1"/>
          <p:nvPr/>
        </p:nvSpPr>
        <p:spPr>
          <a:xfrm>
            <a:off x="7022976" y="795406"/>
            <a:ext cx="183362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성향 업종 시퀀스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 시퀀스 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(FK)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업종별 평균 수익률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업종별 평균 변동성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업종별 평균 위험단계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pic>
        <p:nvPicPr>
          <p:cNvPr id="47" name="그림 46" descr="텍스트, 스크린샷, 디스플레이, 폰트이(가) 표시된 사진&#10;&#10;자동 생성된 설명">
            <a:extLst>
              <a:ext uri="{FF2B5EF4-FFF2-40B4-BE49-F238E27FC236}">
                <a16:creationId xmlns:a16="http://schemas.microsoft.com/office/drawing/2014/main" id="{D5946A0E-0C1B-DB68-BAE5-4947EF333F2F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90" y="1345894"/>
            <a:ext cx="2286000" cy="2124000"/>
          </a:xfrm>
          <a:prstGeom prst="rect">
            <a:avLst/>
          </a:prstGeom>
        </p:spPr>
      </p:pic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C9D1673-A2E0-39CF-A805-8D7D70CC1CF8}"/>
              </a:ext>
            </a:extLst>
          </p:cNvPr>
          <p:cNvSpPr/>
          <p:nvPr/>
        </p:nvSpPr>
        <p:spPr>
          <a:xfrm>
            <a:off x="4054096" y="1222460"/>
            <a:ext cx="1111472" cy="231210"/>
          </a:xfrm>
          <a:prstGeom prst="roundRect">
            <a:avLst/>
          </a:prstGeom>
          <a:solidFill>
            <a:srgbClr val="FFBD5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관심 업종 추천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BC1E22-AB34-BBB3-89AC-DDBDD9F9ECBE}"/>
              </a:ext>
            </a:extLst>
          </p:cNvPr>
          <p:cNvSpPr txBox="1"/>
          <p:nvPr/>
        </p:nvSpPr>
        <p:spPr>
          <a:xfrm>
            <a:off x="3625459" y="1502663"/>
            <a:ext cx="1833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관심 업종 추천 시퀀스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 시퀀스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(FK)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업종별 평균 수익률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 위험단계 구간 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(1,2,3 </a:t>
            </a:r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이내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추천 여부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시장 시퀀스 </a:t>
            </a:r>
            <a:r>
              <a:rPr lang="en-US" altLang="ko-KR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(FK)</a:t>
            </a: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9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9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9C55A53-40BB-3901-8900-EB66B9ECD9BE}"/>
              </a:ext>
            </a:extLst>
          </p:cNvPr>
          <p:cNvGrpSpPr/>
          <p:nvPr/>
        </p:nvGrpSpPr>
        <p:grpSpPr>
          <a:xfrm rot="5400000">
            <a:off x="10782700" y="2702740"/>
            <a:ext cx="131655" cy="144016"/>
            <a:chOff x="6108361" y="1844824"/>
            <a:chExt cx="131655" cy="144016"/>
          </a:xfrm>
        </p:grpSpPr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C37B6F8E-ECE7-4D0F-CF0C-C991CB29A264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83D3DFBF-23EB-BECC-2D8A-801D160CBFFD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C05F9A08-A185-286B-D480-F19997084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262DFA01-7347-23C9-CEB9-13FFF2AB6B79}"/>
              </a:ext>
            </a:extLst>
          </p:cNvPr>
          <p:cNvCxnSpPr>
            <a:cxnSpLocks/>
            <a:stCxn id="17" idx="0"/>
            <a:endCxn id="29" idx="2"/>
          </p:cNvCxnSpPr>
          <p:nvPr/>
        </p:nvCxnSpPr>
        <p:spPr>
          <a:xfrm flipV="1">
            <a:off x="10848528" y="2708920"/>
            <a:ext cx="0" cy="183644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F6A3C3B-4A31-432A-F16B-52B88AC7B8D4}"/>
              </a:ext>
            </a:extLst>
          </p:cNvPr>
          <p:cNvCxnSpPr>
            <a:stCxn id="29" idx="1"/>
            <a:endCxn id="38" idx="3"/>
          </p:cNvCxnSpPr>
          <p:nvPr/>
        </p:nvCxnSpPr>
        <p:spPr>
          <a:xfrm flipH="1">
            <a:off x="9102080" y="1646920"/>
            <a:ext cx="603448" cy="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677B6380-7F3F-2998-C063-9556890BDB4C}"/>
              </a:ext>
            </a:extLst>
          </p:cNvPr>
          <p:cNvCxnSpPr>
            <a:cxnSpLocks/>
            <a:stCxn id="38" idx="1"/>
            <a:endCxn id="47" idx="3"/>
          </p:cNvCxnSpPr>
          <p:nvPr/>
        </p:nvCxnSpPr>
        <p:spPr>
          <a:xfrm flipH="1">
            <a:off x="5753190" y="1646920"/>
            <a:ext cx="1062890" cy="760974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3CB8B9F7-41C2-B534-3F63-DA98575A9738}"/>
              </a:ext>
            </a:extLst>
          </p:cNvPr>
          <p:cNvGrpSpPr/>
          <p:nvPr/>
        </p:nvGrpSpPr>
        <p:grpSpPr>
          <a:xfrm rot="19344413">
            <a:off x="5775012" y="2276952"/>
            <a:ext cx="131655" cy="144016"/>
            <a:chOff x="6108361" y="1844824"/>
            <a:chExt cx="131655" cy="144016"/>
          </a:xfrm>
        </p:grpSpPr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D005EC77-FF39-150F-5339-3A2C49F86F74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FB679A86-754D-8808-5D15-DDE888D51A0B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D95DDFCE-0A36-908E-6A19-F9AC936B3A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43848921-EDBF-E9DA-2EBD-8AACAABF9235}"/>
              </a:ext>
            </a:extLst>
          </p:cNvPr>
          <p:cNvCxnSpPr>
            <a:cxnSpLocks/>
            <a:stCxn id="47" idx="1"/>
          </p:cNvCxnSpPr>
          <p:nvPr/>
        </p:nvCxnSpPr>
        <p:spPr>
          <a:xfrm flipH="1">
            <a:off x="2927648" y="2407894"/>
            <a:ext cx="539542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322374AC-7B30-58E8-9033-557EC6F50F44}"/>
              </a:ext>
            </a:extLst>
          </p:cNvPr>
          <p:cNvGrpSpPr/>
          <p:nvPr/>
        </p:nvGrpSpPr>
        <p:grpSpPr>
          <a:xfrm>
            <a:off x="2228593" y="2326970"/>
            <a:ext cx="131655" cy="144016"/>
            <a:chOff x="6108361" y="1844824"/>
            <a:chExt cx="131655" cy="144016"/>
          </a:xfrm>
        </p:grpSpPr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10691482-AB91-E0A0-28BE-36BBAA592BCB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F47047E6-40C6-9DCB-0DD3-E32C62F4E559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2B839087-7D98-5647-FFD6-8A27ED16B5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타원 80">
            <a:extLst>
              <a:ext uri="{FF2B5EF4-FFF2-40B4-BE49-F238E27FC236}">
                <a16:creationId xmlns:a16="http://schemas.microsoft.com/office/drawing/2014/main" id="{D2BADED7-B169-1620-91C7-FCBC13535DA8}"/>
              </a:ext>
            </a:extLst>
          </p:cNvPr>
          <p:cNvSpPr/>
          <p:nvPr/>
        </p:nvSpPr>
        <p:spPr>
          <a:xfrm>
            <a:off x="2372609" y="2344972"/>
            <a:ext cx="122991" cy="10801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974F8636-65FF-9045-2E97-5A17B1294543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2250115" y="2402124"/>
            <a:ext cx="637505" cy="6621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그림 90" descr="텍스트, 스크린샷, 폰트, 디스플레이이(가) 표시된 사진&#10;&#10;자동 생성된 설명">
            <a:extLst>
              <a:ext uri="{FF2B5EF4-FFF2-40B4-BE49-F238E27FC236}">
                <a16:creationId xmlns:a16="http://schemas.microsoft.com/office/drawing/2014/main" id="{598FC360-0184-223F-314B-3A4201CEE19B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170" y="4680525"/>
            <a:ext cx="1742077" cy="2124000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7EE2961-574A-F462-DB9C-2ADCB9AB9DE3}"/>
              </a:ext>
            </a:extLst>
          </p:cNvPr>
          <p:cNvSpPr/>
          <p:nvPr/>
        </p:nvSpPr>
        <p:spPr>
          <a:xfrm>
            <a:off x="6337195" y="4509120"/>
            <a:ext cx="576064" cy="21601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종목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E1BEC38-EB02-5A98-E4DA-E46AC518B083}"/>
              </a:ext>
            </a:extLst>
          </p:cNvPr>
          <p:cNvSpPr txBox="1"/>
          <p:nvPr/>
        </p:nvSpPr>
        <p:spPr>
          <a:xfrm>
            <a:off x="6625227" y="4824540"/>
            <a:ext cx="14869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시퀀스</a:t>
            </a:r>
            <a:r>
              <a:rPr lang="en-US" altLang="ko-KR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코드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종목명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 시퀀스</a:t>
            </a:r>
            <a:r>
              <a:rPr lang="en-US" altLang="ko-KR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(FK)</a:t>
            </a: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시장 시퀀스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2DB27648-83B1-B520-3633-CD65893ADD0D}"/>
              </a:ext>
            </a:extLst>
          </p:cNvPr>
          <p:cNvCxnSpPr>
            <a:cxnSpLocks/>
            <a:stCxn id="91" idx="3"/>
            <a:endCxn id="17" idx="1"/>
          </p:cNvCxnSpPr>
          <p:nvPr/>
        </p:nvCxnSpPr>
        <p:spPr>
          <a:xfrm flipV="1">
            <a:off x="8328247" y="5607360"/>
            <a:ext cx="1377281" cy="135165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EA434B0B-B3FE-8A93-8A0F-4F564A89A9A7}"/>
              </a:ext>
            </a:extLst>
          </p:cNvPr>
          <p:cNvGrpSpPr/>
          <p:nvPr/>
        </p:nvGrpSpPr>
        <p:grpSpPr>
          <a:xfrm rot="10800000">
            <a:off x="9573873" y="5535352"/>
            <a:ext cx="131655" cy="144016"/>
            <a:chOff x="6108361" y="1844824"/>
            <a:chExt cx="131655" cy="144016"/>
          </a:xfrm>
        </p:grpSpPr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81221001-D51B-0F4D-5B71-48FD02B7C026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0522573C-DFE2-F6E4-5902-B24C1645926B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01C08176-013D-4E03-9721-20137AFC38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0" name="그림 109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FB472EE7-9120-9C63-0333-0672519D601E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803" y="5137035"/>
            <a:ext cx="1904100" cy="1669156"/>
          </a:xfrm>
          <a:prstGeom prst="rect">
            <a:avLst/>
          </a:prstGeom>
        </p:spPr>
      </p:pic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3918994F-F585-1AD8-046A-08FD05E966A7}"/>
              </a:ext>
            </a:extLst>
          </p:cNvPr>
          <p:cNvSpPr/>
          <p:nvPr/>
        </p:nvSpPr>
        <p:spPr>
          <a:xfrm>
            <a:off x="2927648" y="5006244"/>
            <a:ext cx="576064" cy="21601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업종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D566CE3-2EF3-34A8-587A-3CF2849E7134}"/>
              </a:ext>
            </a:extLst>
          </p:cNvPr>
          <p:cNvCxnSpPr>
            <a:cxnSpLocks/>
            <a:stCxn id="110" idx="3"/>
            <a:endCxn id="91" idx="1"/>
          </p:cNvCxnSpPr>
          <p:nvPr/>
        </p:nvCxnSpPr>
        <p:spPr>
          <a:xfrm flipV="1">
            <a:off x="5149903" y="5742525"/>
            <a:ext cx="1436267" cy="229088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EBD4102-A1ED-5E8C-3C8C-820D7B8F9936}"/>
              </a:ext>
            </a:extLst>
          </p:cNvPr>
          <p:cNvGrpSpPr/>
          <p:nvPr/>
        </p:nvGrpSpPr>
        <p:grpSpPr>
          <a:xfrm rot="10800000">
            <a:off x="6456041" y="5670516"/>
            <a:ext cx="131655" cy="144016"/>
            <a:chOff x="6108361" y="1844824"/>
            <a:chExt cx="131655" cy="144016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B8FC733A-77D3-E688-47A9-15A303B7FB5F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981C4121-A433-0502-B853-ADE1657A4384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640EB829-E188-A647-0794-0DE5A47B8E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08E94F0-83B6-3C11-45A1-B6232D8804C7}"/>
              </a:ext>
            </a:extLst>
          </p:cNvPr>
          <p:cNvSpPr txBox="1"/>
          <p:nvPr/>
        </p:nvSpPr>
        <p:spPr>
          <a:xfrm>
            <a:off x="3287688" y="5301208"/>
            <a:ext cx="1486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 시퀀스</a:t>
            </a:r>
            <a:r>
              <a:rPr lang="en-US" altLang="ko-KR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 코드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업종명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시장 시퀀스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5B696A77-EE06-7126-A614-4BD85836DAC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3639674"/>
            <a:ext cx="1590058" cy="1183077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8206DBB-94A4-6E93-B5F8-EB64A177F213}"/>
              </a:ext>
            </a:extLst>
          </p:cNvPr>
          <p:cNvSpPr/>
          <p:nvPr/>
        </p:nvSpPr>
        <p:spPr>
          <a:xfrm>
            <a:off x="2310696" y="3512542"/>
            <a:ext cx="576064" cy="21601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시장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369366-87CB-8F0F-F04A-C43310751F5E}"/>
              </a:ext>
            </a:extLst>
          </p:cNvPr>
          <p:cNvSpPr txBox="1"/>
          <p:nvPr/>
        </p:nvSpPr>
        <p:spPr>
          <a:xfrm>
            <a:off x="2510465" y="3729047"/>
            <a:ext cx="1486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시장 시퀀스</a:t>
            </a:r>
            <a:r>
              <a:rPr lang="en-US" altLang="ko-KR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(PK)</a:t>
            </a: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시장명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생성일</a:t>
            </a:r>
            <a:endParaRPr lang="en-US" altLang="ko-KR" sz="8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8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수정일</a:t>
            </a: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62772A6-2E36-B09A-FF96-000A68E154E3}"/>
              </a:ext>
            </a:extLst>
          </p:cNvPr>
          <p:cNvCxnSpPr>
            <a:cxnSpLocks/>
          </p:cNvCxnSpPr>
          <p:nvPr/>
        </p:nvCxnSpPr>
        <p:spPr>
          <a:xfrm flipV="1">
            <a:off x="5064910" y="2722178"/>
            <a:ext cx="1980003" cy="2392074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70D860CC-E391-66B7-073E-7D3DDF439FD9}"/>
              </a:ext>
            </a:extLst>
          </p:cNvPr>
          <p:cNvGrpSpPr/>
          <p:nvPr/>
        </p:nvGrpSpPr>
        <p:grpSpPr>
          <a:xfrm rot="13913842">
            <a:off x="4446719" y="4946010"/>
            <a:ext cx="131655" cy="144016"/>
            <a:chOff x="6108361" y="1844824"/>
            <a:chExt cx="131655" cy="144016"/>
          </a:xfrm>
        </p:grpSpPr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C2C23DC7-407F-E6BE-7D4D-FCFD3A91DEEA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FD7CAE39-0F0F-6840-D40A-629A0BAF4462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88FAD311-BA3A-63EF-11D4-65FBBEDCC4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3AF0911D-DC62-66F9-B998-1934A22AD62C}"/>
              </a:ext>
            </a:extLst>
          </p:cNvPr>
          <p:cNvCxnSpPr/>
          <p:nvPr/>
        </p:nvCxnSpPr>
        <p:spPr>
          <a:xfrm flipH="1" flipV="1">
            <a:off x="4085658" y="4542807"/>
            <a:ext cx="524174" cy="594228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32998F08-D45D-13A9-6275-DF937196A1C8}"/>
              </a:ext>
            </a:extLst>
          </p:cNvPr>
          <p:cNvCxnSpPr>
            <a:endCxn id="47" idx="2"/>
          </p:cNvCxnSpPr>
          <p:nvPr/>
        </p:nvCxnSpPr>
        <p:spPr>
          <a:xfrm flipV="1">
            <a:off x="4085658" y="3469894"/>
            <a:ext cx="524532" cy="55154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6A2297C3-83D2-7C75-A3C7-16E40F700CD0}"/>
              </a:ext>
            </a:extLst>
          </p:cNvPr>
          <p:cNvGrpSpPr/>
          <p:nvPr/>
        </p:nvGrpSpPr>
        <p:grpSpPr>
          <a:xfrm rot="7887724">
            <a:off x="4455472" y="3501083"/>
            <a:ext cx="131655" cy="144016"/>
            <a:chOff x="6108361" y="1844824"/>
            <a:chExt cx="131655" cy="144016"/>
          </a:xfrm>
        </p:grpSpPr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752C30B9-1FF1-54BC-DB19-750DAED33098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C301F896-A509-3298-5AC4-5EEC208F6B16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89BDFB24-C0E0-CF17-DC32-10F20DC1F9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138AAB1E-1A18-E99F-3249-DA8ECFEA900B}"/>
              </a:ext>
            </a:extLst>
          </p:cNvPr>
          <p:cNvGrpSpPr/>
          <p:nvPr/>
        </p:nvGrpSpPr>
        <p:grpSpPr>
          <a:xfrm rot="7680624">
            <a:off x="6910566" y="2751189"/>
            <a:ext cx="131655" cy="144016"/>
            <a:chOff x="6108361" y="1844824"/>
            <a:chExt cx="131655" cy="144016"/>
          </a:xfrm>
        </p:grpSpPr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AFD8BD07-0354-2298-B34C-8E43BEC309F0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EDF1FCF-2398-C96E-8A5F-015EB9A5510C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7781C024-34EC-7F65-18E6-8A2A045410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F0D48EB1-948B-E2C9-530B-7595CF2DBC89}"/>
              </a:ext>
            </a:extLst>
          </p:cNvPr>
          <p:cNvSpPr txBox="1"/>
          <p:nvPr/>
        </p:nvSpPr>
        <p:spPr>
          <a:xfrm>
            <a:off x="5026062" y="2829573"/>
            <a:ext cx="2070844" cy="132343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성향 검사 종목</a:t>
            </a:r>
            <a:r>
              <a:rPr lang="en-US" altLang="ko-KR" sz="10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10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성향 검사 업종테이블은 </a:t>
            </a:r>
            <a:r>
              <a:rPr lang="ko-KR" altLang="en-US" sz="1000">
                <a:solidFill>
                  <a:srgbClr val="FFBD5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최종적으로 관심업종 선택 단계</a:t>
            </a:r>
            <a:r>
              <a:rPr lang="ko-KR" altLang="en-US" sz="10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에서 보여줄 </a:t>
            </a:r>
            <a:r>
              <a:rPr lang="ko-KR" altLang="en-US" sz="1000" u="sng">
                <a:solidFill>
                  <a:srgbClr val="FFBD5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관심업종 추천</a:t>
            </a:r>
            <a:r>
              <a:rPr lang="ko-KR" altLang="en-US" sz="1000">
                <a:solidFill>
                  <a:srgbClr val="FFBD5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10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테이블을 생성하기 위한 과정 입니다</a:t>
            </a:r>
            <a:r>
              <a:rPr lang="en-US" altLang="ko-KR" sz="10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r>
              <a:rPr lang="ko-KR" altLang="en-US" sz="10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한달간의 지표를 기반으로 업종별 위험단계를 선정하고</a:t>
            </a:r>
            <a:r>
              <a:rPr lang="en-US" altLang="ko-KR" sz="10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1000" u="sng">
                <a:solidFill>
                  <a:srgbClr val="FFBD5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시장별로 특정 위험 단계 내에서  가장 수익률이 높은 세 업종의 추천여부</a:t>
            </a:r>
            <a:r>
              <a:rPr lang="ko-KR" altLang="en-US" sz="10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를 변경합니다</a:t>
            </a:r>
            <a:r>
              <a:rPr lang="en-US" altLang="ko-KR" sz="10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lang="ko-KR" altLang="en-US" sz="10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042ECAFF-C9A7-BB2F-222B-C44ACF5CCDF7}"/>
              </a:ext>
            </a:extLst>
          </p:cNvPr>
          <p:cNvCxnSpPr>
            <a:cxnSpLocks/>
          </p:cNvCxnSpPr>
          <p:nvPr/>
        </p:nvCxnSpPr>
        <p:spPr>
          <a:xfrm flipV="1">
            <a:off x="8312678" y="2680315"/>
            <a:ext cx="2071566" cy="2602773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F3233561-5284-56FC-240E-E436009F41CE}"/>
              </a:ext>
            </a:extLst>
          </p:cNvPr>
          <p:cNvGrpSpPr/>
          <p:nvPr/>
        </p:nvGrpSpPr>
        <p:grpSpPr>
          <a:xfrm rot="8088180">
            <a:off x="10220938" y="2747618"/>
            <a:ext cx="131655" cy="144016"/>
            <a:chOff x="6108361" y="1844824"/>
            <a:chExt cx="131655" cy="144016"/>
          </a:xfrm>
        </p:grpSpPr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D7D0FE04-DEBF-3883-261B-7495D289B906}"/>
                </a:ext>
              </a:extLst>
            </p:cNvPr>
            <p:cNvCxnSpPr/>
            <p:nvPr/>
          </p:nvCxnSpPr>
          <p:spPr>
            <a:xfrm>
              <a:off x="6240016" y="1844824"/>
              <a:ext cx="0" cy="144016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1CA43688-1BB4-D609-B66D-9026A46C80AD}"/>
                </a:ext>
              </a:extLst>
            </p:cNvPr>
            <p:cNvCxnSpPr>
              <a:cxnSpLocks/>
            </p:cNvCxnSpPr>
            <p:nvPr/>
          </p:nvCxnSpPr>
          <p:spPr>
            <a:xfrm>
              <a:off x="6108361" y="184482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5CC477C2-14E0-5E5C-8FB6-2AC40A45B5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8361" y="191683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7A8917CF-F054-07F9-4E62-988713BE1072}"/>
              </a:ext>
            </a:extLst>
          </p:cNvPr>
          <p:cNvCxnSpPr/>
          <p:nvPr/>
        </p:nvCxnSpPr>
        <p:spPr>
          <a:xfrm>
            <a:off x="9150419" y="1574912"/>
            <a:ext cx="0" cy="162141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7BD19FFB-95FD-757F-15CD-9676627AF194}"/>
              </a:ext>
            </a:extLst>
          </p:cNvPr>
          <p:cNvGrpSpPr/>
          <p:nvPr/>
        </p:nvGrpSpPr>
        <p:grpSpPr>
          <a:xfrm rot="10800000">
            <a:off x="9566068" y="1581098"/>
            <a:ext cx="131655" cy="144008"/>
            <a:chOff x="9424549" y="3197744"/>
            <a:chExt cx="131655" cy="144008"/>
          </a:xfrm>
        </p:grpSpPr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24C3AE45-628F-F9A1-8FE7-F0013AE6E526}"/>
                </a:ext>
              </a:extLst>
            </p:cNvPr>
            <p:cNvCxnSpPr>
              <a:cxnSpLocks/>
            </p:cNvCxnSpPr>
            <p:nvPr/>
          </p:nvCxnSpPr>
          <p:spPr>
            <a:xfrm>
              <a:off x="9424549" y="3197744"/>
              <a:ext cx="131655" cy="72008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1F39B040-66CB-ADE6-D933-8E9419295C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24549" y="3269752"/>
              <a:ext cx="131654" cy="72000"/>
            </a:xfrm>
            <a:prstGeom prst="line">
              <a:avLst/>
            </a:prstGeom>
            <a:ln w="127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84A95C11-3DDC-525A-C77E-5FC568C19033}"/>
              </a:ext>
            </a:extLst>
          </p:cNvPr>
          <p:cNvCxnSpPr>
            <a:cxnSpLocks/>
          </p:cNvCxnSpPr>
          <p:nvPr/>
        </p:nvCxnSpPr>
        <p:spPr>
          <a:xfrm flipH="1">
            <a:off x="1059347" y="3566346"/>
            <a:ext cx="284125" cy="667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타원 123">
            <a:extLst>
              <a:ext uri="{FF2B5EF4-FFF2-40B4-BE49-F238E27FC236}">
                <a16:creationId xmlns:a16="http://schemas.microsoft.com/office/drawing/2014/main" id="{103A6FAA-DAC3-38A6-1EAF-B99C8A1E0705}"/>
              </a:ext>
            </a:extLst>
          </p:cNvPr>
          <p:cNvSpPr/>
          <p:nvPr/>
        </p:nvSpPr>
        <p:spPr>
          <a:xfrm>
            <a:off x="1127448" y="3465004"/>
            <a:ext cx="122991" cy="10801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A16C2DD3-7EBB-6862-044B-459C294CEBDC}"/>
              </a:ext>
            </a:extLst>
          </p:cNvPr>
          <p:cNvCxnSpPr>
            <a:cxnSpLocks/>
            <a:stCxn id="4" idx="0"/>
            <a:endCxn id="12" idx="2"/>
          </p:cNvCxnSpPr>
          <p:nvPr/>
        </p:nvCxnSpPr>
        <p:spPr>
          <a:xfrm flipV="1">
            <a:off x="1182240" y="3464124"/>
            <a:ext cx="7732" cy="775359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994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560089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4.4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데이터 시각화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(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수집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분석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시각화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해석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)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8" name="그림 7" descr="텍스트, 스크린샷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id="{41F3A559-4494-640B-51B6-D9739FF5C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1289612"/>
            <a:ext cx="5389421" cy="45063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B6230B-768F-B196-A2A5-53C6FF05D105}"/>
              </a:ext>
            </a:extLst>
          </p:cNvPr>
          <p:cNvSpPr txBox="1"/>
          <p:nvPr/>
        </p:nvSpPr>
        <p:spPr>
          <a:xfrm>
            <a:off x="6600056" y="6093296"/>
            <a:ext cx="482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커뮤니티 여론 출처 </a:t>
            </a:r>
            <a:r>
              <a:rPr lang="en-US" altLang="ko-KR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</a:t>
            </a:r>
            <a:r>
              <a:rPr lang="ko-KR" altLang="en-US" u="sng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토스증권 종목별 커뮤니티</a:t>
            </a:r>
          </a:p>
        </p:txBody>
      </p:sp>
      <p:pic>
        <p:nvPicPr>
          <p:cNvPr id="12" name="그림 11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E8162808-4AB6-8A19-24F7-190C113BFF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289612"/>
            <a:ext cx="4349330" cy="45063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ACC14E-CA06-C4D6-B9A6-42C50D57257E}"/>
              </a:ext>
            </a:extLst>
          </p:cNvPr>
          <p:cNvSpPr txBox="1"/>
          <p:nvPr/>
        </p:nvSpPr>
        <p:spPr>
          <a:xfrm>
            <a:off x="623392" y="6067218"/>
            <a:ext cx="482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종목별 뉴스기사 출처 </a:t>
            </a:r>
            <a:r>
              <a:rPr lang="en-US" altLang="ko-KR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</a:t>
            </a:r>
            <a:r>
              <a:rPr lang="ko-KR" altLang="en-US" u="sng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네이버증권 종목별 뉴스</a:t>
            </a:r>
          </a:p>
        </p:txBody>
      </p:sp>
    </p:spTree>
    <p:extLst>
      <p:ext uri="{BB962C8B-B14F-4D97-AF65-F5344CB8AC3E}">
        <p14:creationId xmlns:p14="http://schemas.microsoft.com/office/powerpoint/2010/main" val="3581899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560089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4.4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데이터 시각화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(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수집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분석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시각화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해석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)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780D1B4E-E238-ADD8-1D0A-C50D548EF1CA}"/>
              </a:ext>
            </a:extLst>
          </p:cNvPr>
          <p:cNvGrpSpPr>
            <a:grpSpLocks/>
          </p:cNvGrpSpPr>
          <p:nvPr/>
        </p:nvGrpSpPr>
        <p:grpSpPr>
          <a:xfrm>
            <a:off x="1055440" y="1742090"/>
            <a:ext cx="9361040" cy="966830"/>
            <a:chOff x="0" y="-38100"/>
            <a:chExt cx="1293710" cy="1198835"/>
          </a:xfrm>
          <a:solidFill>
            <a:schemeClr val="tx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27815F7C-B07B-D14E-5A7A-FDD739076732}"/>
                </a:ext>
              </a:extLst>
            </p:cNvPr>
            <p:cNvSpPr/>
            <p:nvPr/>
          </p:nvSpPr>
          <p:spPr>
            <a:xfrm>
              <a:off x="0" y="0"/>
              <a:ext cx="1293710" cy="825345"/>
            </a:xfrm>
            <a:custGeom>
              <a:avLst/>
              <a:gdLst/>
              <a:ahLst/>
              <a:cxnLst/>
              <a:rect l="l" t="t" r="r" b="b"/>
              <a:pathLst>
                <a:path w="1293710" h="825345">
                  <a:moveTo>
                    <a:pt x="31522" y="0"/>
                  </a:moveTo>
                  <a:lnTo>
                    <a:pt x="1262188" y="0"/>
                  </a:lnTo>
                  <a:cubicBezTo>
                    <a:pt x="1279597" y="0"/>
                    <a:pt x="1293710" y="14113"/>
                    <a:pt x="1293710" y="31522"/>
                  </a:cubicBezTo>
                  <a:lnTo>
                    <a:pt x="1293710" y="793823"/>
                  </a:lnTo>
                  <a:cubicBezTo>
                    <a:pt x="1293710" y="811233"/>
                    <a:pt x="1279597" y="825345"/>
                    <a:pt x="1262188" y="825345"/>
                  </a:cubicBezTo>
                  <a:lnTo>
                    <a:pt x="31522" y="825345"/>
                  </a:lnTo>
                  <a:cubicBezTo>
                    <a:pt x="14113" y="825345"/>
                    <a:pt x="0" y="811233"/>
                    <a:pt x="0" y="793823"/>
                  </a:cubicBezTo>
                  <a:lnTo>
                    <a:pt x="0" y="31522"/>
                  </a:lnTo>
                  <a:cubicBezTo>
                    <a:pt x="0" y="14113"/>
                    <a:pt x="14113" y="0"/>
                    <a:pt x="31522" y="0"/>
                  </a:cubicBezTo>
                  <a:close/>
                </a:path>
              </a:pathLst>
            </a:custGeom>
            <a:grpFill/>
            <a:ln w="25400" cap="rnd">
              <a:solidFill>
                <a:schemeClr val="bg1"/>
              </a:solidFill>
            </a:ln>
          </p:spPr>
        </p:sp>
        <p:sp>
          <p:nvSpPr>
            <p:cNvPr id="5" name="TextBox 6">
              <a:extLst>
                <a:ext uri="{FF2B5EF4-FFF2-40B4-BE49-F238E27FC236}">
                  <a16:creationId xmlns:a16="http://schemas.microsoft.com/office/drawing/2014/main" id="{2061E7A1-E63C-3F7F-96B2-84C754D33A78}"/>
                </a:ext>
              </a:extLst>
            </p:cNvPr>
            <p:cNvSpPr txBox="1"/>
            <p:nvPr/>
          </p:nvSpPr>
          <p:spPr>
            <a:xfrm>
              <a:off x="0" y="-38100"/>
              <a:ext cx="1293710" cy="1198835"/>
            </a:xfrm>
            <a:prstGeom prst="rect">
              <a:avLst/>
            </a:prstGeom>
            <a:grpFill/>
            <a:ln w="25400" cap="rnd"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lvl="1">
                <a:lnSpc>
                  <a:spcPct val="150000"/>
                </a:lnSpc>
              </a:pPr>
              <a:r>
                <a:rPr lang="ko-KR" altLang="en-US" sz="2000">
                  <a:solidFill>
                    <a:schemeClr val="bg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뉴스 기사</a:t>
              </a:r>
              <a:endParaRPr lang="en-US" altLang="ko-KR"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  <a:p>
              <a:pPr lvl="1">
                <a:lnSpc>
                  <a:spcPct val="150000"/>
                </a:lnSpc>
              </a:pPr>
              <a:r>
                <a:rPr lang="en-US" altLang="ko-KR" sz="2000" u="sng">
                  <a:solidFill>
                    <a:srgbClr val="FFBD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BeautifulSoup, Requests </a:t>
              </a:r>
              <a:r>
                <a:rPr lang="ko-KR" altLang="en-US" sz="2000">
                  <a:solidFill>
                    <a:schemeClr val="bg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활용한 웹 스크래핑</a:t>
              </a:r>
              <a:endParaRPr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</p:grp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D0A223C9-CF3F-5F4D-F53A-B812D475E025}"/>
              </a:ext>
            </a:extLst>
          </p:cNvPr>
          <p:cNvSpPr/>
          <p:nvPr/>
        </p:nvSpPr>
        <p:spPr>
          <a:xfrm>
            <a:off x="588688" y="2372891"/>
            <a:ext cx="900100" cy="233572"/>
          </a:xfrm>
          <a:prstGeom prst="rightArrow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EC44E77A-0B40-84A5-AE83-8498065B6463}"/>
              </a:ext>
            </a:extLst>
          </p:cNvPr>
          <p:cNvGrpSpPr>
            <a:grpSpLocks/>
          </p:cNvGrpSpPr>
          <p:nvPr/>
        </p:nvGrpSpPr>
        <p:grpSpPr>
          <a:xfrm>
            <a:off x="1055440" y="4251816"/>
            <a:ext cx="9361040" cy="977384"/>
            <a:chOff x="0" y="0"/>
            <a:chExt cx="1293710" cy="1211921"/>
          </a:xfrm>
          <a:solidFill>
            <a:schemeClr val="tx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14EDF78-1003-8631-BD37-4E1B27B56D76}"/>
                </a:ext>
              </a:extLst>
            </p:cNvPr>
            <p:cNvSpPr/>
            <p:nvPr/>
          </p:nvSpPr>
          <p:spPr>
            <a:xfrm>
              <a:off x="0" y="0"/>
              <a:ext cx="1293710" cy="825345"/>
            </a:xfrm>
            <a:custGeom>
              <a:avLst/>
              <a:gdLst/>
              <a:ahLst/>
              <a:cxnLst/>
              <a:rect l="l" t="t" r="r" b="b"/>
              <a:pathLst>
                <a:path w="1293710" h="825345">
                  <a:moveTo>
                    <a:pt x="31522" y="0"/>
                  </a:moveTo>
                  <a:lnTo>
                    <a:pt x="1262188" y="0"/>
                  </a:lnTo>
                  <a:cubicBezTo>
                    <a:pt x="1279597" y="0"/>
                    <a:pt x="1293710" y="14113"/>
                    <a:pt x="1293710" y="31522"/>
                  </a:cubicBezTo>
                  <a:lnTo>
                    <a:pt x="1293710" y="793823"/>
                  </a:lnTo>
                  <a:cubicBezTo>
                    <a:pt x="1293710" y="811233"/>
                    <a:pt x="1279597" y="825345"/>
                    <a:pt x="1262188" y="825345"/>
                  </a:cubicBezTo>
                  <a:lnTo>
                    <a:pt x="31522" y="825345"/>
                  </a:lnTo>
                  <a:cubicBezTo>
                    <a:pt x="14113" y="825345"/>
                    <a:pt x="0" y="811233"/>
                    <a:pt x="0" y="793823"/>
                  </a:cubicBezTo>
                  <a:lnTo>
                    <a:pt x="0" y="31522"/>
                  </a:lnTo>
                  <a:cubicBezTo>
                    <a:pt x="0" y="14113"/>
                    <a:pt x="14113" y="0"/>
                    <a:pt x="31522" y="0"/>
                  </a:cubicBezTo>
                  <a:close/>
                </a:path>
              </a:pathLst>
            </a:custGeom>
            <a:grpFill/>
            <a:ln w="25400" cap="rnd">
              <a:solidFill>
                <a:schemeClr val="bg1"/>
              </a:solidFill>
            </a:ln>
          </p:spPr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0D876459-3CB0-DEF6-C860-7133301FC6F6}"/>
                </a:ext>
              </a:extLst>
            </p:cNvPr>
            <p:cNvSpPr txBox="1"/>
            <p:nvPr/>
          </p:nvSpPr>
          <p:spPr>
            <a:xfrm>
              <a:off x="0" y="13086"/>
              <a:ext cx="1293710" cy="1198835"/>
            </a:xfrm>
            <a:prstGeom prst="rect">
              <a:avLst/>
            </a:prstGeom>
            <a:grpFill/>
            <a:ln w="25400" cap="rnd"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lvl="1">
                <a:lnSpc>
                  <a:spcPct val="150000"/>
                </a:lnSpc>
              </a:pPr>
              <a:r>
                <a:rPr lang="ko-KR" altLang="en-US" sz="2000">
                  <a:solidFill>
                    <a:schemeClr val="bg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토스 증권 커뮤니티 글 </a:t>
              </a:r>
              <a:r>
                <a:rPr lang="en-US" altLang="ko-KR" sz="2000">
                  <a:solidFill>
                    <a:schemeClr val="bg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: </a:t>
              </a:r>
              <a:r>
                <a:rPr lang="ko-KR" altLang="en-US" sz="2000">
                  <a:solidFill>
                    <a:schemeClr val="bg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동적으로 생성</a:t>
              </a:r>
              <a:endParaRPr lang="en-US" altLang="ko-KR"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  <a:p>
              <a:pPr lvl="1">
                <a:lnSpc>
                  <a:spcPct val="150000"/>
                </a:lnSpc>
              </a:pPr>
              <a:r>
                <a:rPr lang="en-US" altLang="ko-KR" sz="2000" u="sng">
                  <a:solidFill>
                    <a:srgbClr val="92D05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Selenium </a:t>
              </a:r>
              <a:r>
                <a:rPr lang="ko-KR" altLang="en-US" sz="2000" u="sng">
                  <a:solidFill>
                    <a:srgbClr val="92D05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사용</a:t>
              </a:r>
              <a:r>
                <a:rPr lang="en-US" altLang="ko-KR" sz="2000" u="sng">
                  <a:solidFill>
                    <a:srgbClr val="92D05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sz="2000">
                  <a:solidFill>
                    <a:srgbClr val="92D050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  		 	</a:t>
              </a:r>
              <a:r>
                <a:rPr lang="en-US" altLang="ko-KR" sz="2000" u="sng">
                  <a:solidFill>
                    <a:srgbClr val="FFBD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BeautifulSoup, Requests </a:t>
              </a:r>
              <a:r>
                <a:rPr lang="ko-KR" altLang="en-US" sz="2000">
                  <a:solidFill>
                    <a:schemeClr val="bg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활용한 웹 스크래핑 개선 </a:t>
              </a:r>
              <a:endParaRPr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</p:grp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2B33FA3D-4700-8144-0BC9-AEF4BC24D378}"/>
              </a:ext>
            </a:extLst>
          </p:cNvPr>
          <p:cNvSpPr/>
          <p:nvPr/>
        </p:nvSpPr>
        <p:spPr>
          <a:xfrm>
            <a:off x="605390" y="4901412"/>
            <a:ext cx="900100" cy="23357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96ECB2E8-2F1B-3193-3545-70403D91766B}"/>
              </a:ext>
            </a:extLst>
          </p:cNvPr>
          <p:cNvSpPr/>
          <p:nvPr/>
        </p:nvSpPr>
        <p:spPr>
          <a:xfrm>
            <a:off x="3266877" y="4892844"/>
            <a:ext cx="900100" cy="23357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81286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835E2-CCEF-567A-B58B-AE36ADE37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548E6557-3D9B-1390-50A8-3A67E82DEA88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4CD64382-AB04-0BA9-FBB8-26878F2E38C5}"/>
              </a:ext>
            </a:extLst>
          </p:cNvPr>
          <p:cNvSpPr txBox="1"/>
          <p:nvPr/>
        </p:nvSpPr>
        <p:spPr>
          <a:xfrm>
            <a:off x="311724" y="840090"/>
            <a:ext cx="560089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4.4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데이터 시각화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(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수집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분석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시각화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해석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)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7AD067F-4526-BDC0-BE43-31EB24577959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504CAD98-C35C-8FFE-5C81-20603D7CEBFE}"/>
              </a:ext>
            </a:extLst>
          </p:cNvPr>
          <p:cNvSpPr txBox="1"/>
          <p:nvPr/>
        </p:nvSpPr>
        <p:spPr>
          <a:xfrm>
            <a:off x="1103877" y="1752252"/>
            <a:ext cx="8822389" cy="1459276"/>
          </a:xfrm>
          <a:prstGeom prst="rect">
            <a:avLst/>
          </a:prstGeom>
          <a:solidFill>
            <a:schemeClr val="tx1"/>
          </a:solidFill>
          <a:ln w="25400" cap="rnd">
            <a:solidFill>
              <a:schemeClr val="bg1"/>
            </a:solidFill>
          </a:ln>
        </p:spPr>
        <p:txBody>
          <a:bodyPr lIns="50800" tIns="50800" rIns="50800" bIns="50800" rtlCol="0" anchor="ctr"/>
          <a:lstStyle/>
          <a:p>
            <a:pPr marL="0" lvl="1"/>
            <a:r>
              <a:rPr lang="ko-KR" altLang="en-US"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토스 증권 커뮤니티 글 </a:t>
            </a:r>
            <a:r>
              <a:rPr lang="en-US" altLang="ko-KR"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</a:t>
            </a:r>
            <a:r>
              <a:rPr lang="ko-KR" altLang="en-US"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동적으로 생성</a:t>
            </a:r>
            <a:endParaRPr lang="en-US" altLang="ko-KR" sz="2000"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0" lvl="1"/>
            <a:r>
              <a:rPr lang="ko-KR" altLang="en-US"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기존 </a:t>
            </a:r>
            <a:r>
              <a:rPr lang="en-US" altLang="ko-KR"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</a:t>
            </a:r>
            <a:r>
              <a:rPr lang="en-US" altLang="ko-KR" sz="2000" u="sng">
                <a:solidFill>
                  <a:srgbClr val="92D05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Selenium </a:t>
            </a:r>
            <a:r>
              <a:rPr lang="ko-KR" altLang="en-US" sz="2000" u="sng">
                <a:solidFill>
                  <a:srgbClr val="92D05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사용</a:t>
            </a:r>
            <a:r>
              <a:rPr lang="en-US" altLang="ko-KR" sz="2000" u="sng">
                <a:solidFill>
                  <a:srgbClr val="92D05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2000">
                <a:solidFill>
                  <a:srgbClr val="92D05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- </a:t>
            </a:r>
            <a:r>
              <a:rPr lang="ko-KR" altLang="en-US"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약 </a:t>
            </a:r>
            <a:r>
              <a:rPr lang="en-US" altLang="ko-KR"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4500</a:t>
            </a:r>
            <a:r>
              <a:rPr lang="ko-KR" altLang="en-US"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종목의 커뮤니티 글 스크래핑에 너무 오래걸려서 매번 트렌드 서비스를 제공하는 것이 사실상 불가능 </a:t>
            </a:r>
            <a:r>
              <a:rPr lang="en-US" altLang="ko-KR"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(5</a:t>
            </a:r>
            <a:r>
              <a:rPr lang="ko-KR" altLang="en-US"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시간 이상 소요</a:t>
            </a:r>
            <a:r>
              <a:rPr lang="en-US" altLang="ko-KR"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</a:p>
          <a:p>
            <a:pPr marL="0" lvl="1"/>
            <a:r>
              <a:rPr lang="en-US" altLang="ko-KR" sz="2000" u="sng">
                <a:solidFill>
                  <a:srgbClr val="FF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Requests, BeautifulSoup</a:t>
            </a:r>
            <a:r>
              <a:rPr lang="ko-KR" altLang="en-US" sz="20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으로 스크래핑 속도를 대폭 향상 시킬 필요성 인지</a:t>
            </a:r>
            <a:endParaRPr lang="en-US" altLang="ko-KR" sz="2000"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9C81E1-6C27-80B9-5782-6E003ED16974}"/>
              </a:ext>
            </a:extLst>
          </p:cNvPr>
          <p:cNvSpPr txBox="1"/>
          <p:nvPr/>
        </p:nvSpPr>
        <p:spPr>
          <a:xfrm>
            <a:off x="1103877" y="3933056"/>
            <a:ext cx="8822389" cy="175432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lvl="1"/>
            <a:r>
              <a:rPr lang="ko-KR" altLang="en-US" sz="18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토스 증권 종목 커뮤니티는 </a:t>
            </a:r>
            <a:r>
              <a:rPr lang="en-US" altLang="ko-KR" sz="18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REST API </a:t>
            </a:r>
            <a:r>
              <a:rPr lang="ko-KR" altLang="en-US" sz="18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방식으로 데이터를 제공하지만</a:t>
            </a:r>
            <a:r>
              <a:rPr lang="en-US" altLang="ko-KR" sz="18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OPEN</a:t>
            </a:r>
            <a:r>
              <a:rPr lang="ko-KR" altLang="en-US" sz="18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18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API</a:t>
            </a:r>
            <a:r>
              <a:rPr lang="ko-KR" altLang="en-US" sz="18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를 제공하지 않음 </a:t>
            </a:r>
          </a:p>
          <a:p>
            <a:pPr marL="0" lvl="1"/>
            <a:r>
              <a:rPr lang="ko-KR" altLang="en-US" sz="18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네크워크 탭에서 </a:t>
            </a:r>
            <a:r>
              <a:rPr lang="ko-KR" altLang="en-US" sz="1800" u="sng">
                <a:solidFill>
                  <a:schemeClr val="accent5">
                    <a:lumMod val="60000"/>
                    <a:lumOff val="40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직접 </a:t>
            </a:r>
            <a:r>
              <a:rPr lang="en-US" altLang="ko-KR" u="sng">
                <a:solidFill>
                  <a:schemeClr val="accent5">
                    <a:lumMod val="60000"/>
                    <a:lumOff val="40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AJAX</a:t>
            </a:r>
            <a:r>
              <a:rPr lang="en-US" altLang="ko-KR" sz="1800" u="sng">
                <a:solidFill>
                  <a:schemeClr val="accent5">
                    <a:lumMod val="60000"/>
                    <a:lumOff val="40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1800" u="sng">
                <a:solidFill>
                  <a:schemeClr val="accent5">
                    <a:lumMod val="60000"/>
                    <a:lumOff val="40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요청을 분석</a:t>
            </a:r>
            <a:r>
              <a:rPr lang="ko-KR" altLang="en-US" sz="18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하여 </a:t>
            </a:r>
            <a:r>
              <a:rPr lang="en-US" altLang="ko-KR" sz="18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API</a:t>
            </a:r>
            <a:r>
              <a:rPr lang="ko-KR" altLang="en-US" sz="18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요청을 통해 데이터를 직접 가져오는 방향으로 전환</a:t>
            </a:r>
            <a:endParaRPr lang="en-US" altLang="ko-KR" sz="1800"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0" lvl="1"/>
            <a:r>
              <a:rPr lang="ko-KR" altLang="en-US" sz="18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</a:p>
          <a:p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9573BD29-BEA7-3F4C-6FBF-80FE07A02931}"/>
              </a:ext>
            </a:extLst>
          </p:cNvPr>
          <p:cNvSpPr/>
          <p:nvPr/>
        </p:nvSpPr>
        <p:spPr>
          <a:xfrm>
            <a:off x="359579" y="4404980"/>
            <a:ext cx="648072" cy="824214"/>
          </a:xfrm>
          <a:prstGeom prst="rightArrow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4072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24ABA-C7C2-F630-BB48-97F3C64B0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AC0A420E-6B85-9859-7B48-E7A8F3C1B594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F0B99CDF-02A5-14D9-C5B4-57DA399EF5F6}"/>
              </a:ext>
            </a:extLst>
          </p:cNvPr>
          <p:cNvSpPr txBox="1"/>
          <p:nvPr/>
        </p:nvSpPr>
        <p:spPr>
          <a:xfrm>
            <a:off x="311724" y="840090"/>
            <a:ext cx="560089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4.4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데이터 시각화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(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수집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분석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시각화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해석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)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92F4F51-AB13-5B87-5FD8-4C1AD7E35566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6F9499-8271-7C5A-7829-69BAD7D5F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008" y="1333289"/>
            <a:ext cx="5904656" cy="233518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8CC7446-87E4-1C6D-5389-48933FE34371}"/>
              </a:ext>
            </a:extLst>
          </p:cNvPr>
          <p:cNvSpPr/>
          <p:nvPr/>
        </p:nvSpPr>
        <p:spPr>
          <a:xfrm>
            <a:off x="11100556" y="1445575"/>
            <a:ext cx="864096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E6DB114-0325-95A5-1B41-CA522D48BD45}"/>
              </a:ext>
            </a:extLst>
          </p:cNvPr>
          <p:cNvSpPr/>
          <p:nvPr/>
        </p:nvSpPr>
        <p:spPr>
          <a:xfrm>
            <a:off x="11072531" y="1844824"/>
            <a:ext cx="936104" cy="216024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199331-F791-149C-CB58-C566E612C7EE}"/>
              </a:ext>
            </a:extLst>
          </p:cNvPr>
          <p:cNvSpPr txBox="1"/>
          <p:nvPr/>
        </p:nvSpPr>
        <p:spPr>
          <a:xfrm>
            <a:off x="8904312" y="168056"/>
            <a:ext cx="345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토스 증권 </a:t>
            </a:r>
            <a:r>
              <a:rPr lang="en-US" altLang="ko-KR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API</a:t>
            </a:r>
            <a:r>
              <a:rPr lang="ko-KR" altLang="en-US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는 커뮤니티 글 목록을 갱신할 때 첫</a:t>
            </a:r>
            <a:r>
              <a:rPr lang="en-US" altLang="ko-KR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목록에서 가장 마지막 </a:t>
            </a:r>
            <a:r>
              <a:rPr lang="en-US" altLang="ko-KR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Id</a:t>
            </a:r>
            <a:r>
              <a:rPr lang="ko-KR" altLang="en-US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를  </a:t>
            </a:r>
            <a:r>
              <a:rPr lang="en-US" altLang="ko-KR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commentId </a:t>
            </a:r>
            <a:r>
              <a:rPr lang="ko-KR" altLang="en-US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값으로 요청 </a:t>
            </a:r>
            <a:r>
              <a:rPr lang="en-US" altLang="ko-KR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body</a:t>
            </a:r>
            <a:r>
              <a:rPr lang="ko-KR" altLang="en-US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에 같이 보낸 다는 것을 파악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A193E1-53DE-FDBC-6289-22EDBDB7B424}"/>
              </a:ext>
            </a:extLst>
          </p:cNvPr>
          <p:cNvSpPr txBox="1"/>
          <p:nvPr/>
        </p:nvSpPr>
        <p:spPr>
          <a:xfrm>
            <a:off x="6168008" y="763146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종목별로 고유의 </a:t>
            </a:r>
            <a:r>
              <a:rPr lang="en-US" altLang="ko-KR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subjectId</a:t>
            </a:r>
            <a:r>
              <a:rPr lang="ko-KR" altLang="en-US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를 통해 특정 종목의 커뮤니티 글을 요청할 수 있음을 파악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C9DC135-8350-201A-669E-4E84071441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4" y="1338441"/>
            <a:ext cx="5600892" cy="380384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5F84FE3-8CFA-D82B-1F5B-4DB84E18ED1F}"/>
              </a:ext>
            </a:extLst>
          </p:cNvPr>
          <p:cNvSpPr txBox="1"/>
          <p:nvPr/>
        </p:nvSpPr>
        <p:spPr>
          <a:xfrm>
            <a:off x="289005" y="5288726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커뮤니티 글 목록을 요청하는 </a:t>
            </a:r>
            <a:r>
              <a:rPr lang="en-US" altLang="ko-KR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POST</a:t>
            </a:r>
            <a:r>
              <a:rPr lang="ko-KR" altLang="en-US"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요청을 찾음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2E0DD245-1466-AECA-2686-E5F9D9C55F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008" y="3725451"/>
            <a:ext cx="5600892" cy="2951289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1D51A9BC-E4C5-0B47-95BE-53D8C8FF1FE2}"/>
              </a:ext>
            </a:extLst>
          </p:cNvPr>
          <p:cNvSpPr/>
          <p:nvPr/>
        </p:nvSpPr>
        <p:spPr>
          <a:xfrm>
            <a:off x="9264352" y="4653136"/>
            <a:ext cx="576064" cy="144016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16FC28D-9DAF-CE2B-5F5E-F6F60BF98D73}"/>
              </a:ext>
            </a:extLst>
          </p:cNvPr>
          <p:cNvSpPr/>
          <p:nvPr/>
        </p:nvSpPr>
        <p:spPr>
          <a:xfrm>
            <a:off x="9264352" y="4509120"/>
            <a:ext cx="864096" cy="14401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C5C29AF-2B78-FACE-DA22-4BAE07F55374}"/>
              </a:ext>
            </a:extLst>
          </p:cNvPr>
          <p:cNvSpPr/>
          <p:nvPr/>
        </p:nvSpPr>
        <p:spPr>
          <a:xfrm>
            <a:off x="7029535" y="4289356"/>
            <a:ext cx="1872208" cy="101559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종목 코드를 통해 요청 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body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에 실어 보낼 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subjectId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를 알 수 있는 요청 확인 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(guid)</a:t>
            </a:r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072D3487-F7EA-1D49-6F12-A9956E36F5AE}"/>
              </a:ext>
            </a:extLst>
          </p:cNvPr>
          <p:cNvCxnSpPr>
            <a:cxnSpLocks/>
            <a:stCxn id="30" idx="1"/>
            <a:endCxn id="33" idx="3"/>
          </p:cNvCxnSpPr>
          <p:nvPr/>
        </p:nvCxnSpPr>
        <p:spPr>
          <a:xfrm rot="10800000" flipV="1">
            <a:off x="8901744" y="4581128"/>
            <a:ext cx="362609" cy="216024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17E2F0E-C9F6-093B-6586-50CBC2D59EE6}"/>
              </a:ext>
            </a:extLst>
          </p:cNvPr>
          <p:cNvSpPr/>
          <p:nvPr/>
        </p:nvSpPr>
        <p:spPr>
          <a:xfrm>
            <a:off x="4151784" y="2536296"/>
            <a:ext cx="4396971" cy="1027355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Symbol" panose="05050102010706020507" pitchFamily="18" charset="2"/>
              <a:buChar char="Þ"/>
            </a:pP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종목코드를 통해 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guid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를 추출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commentId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를 기반으로 페이지네이션 한다는점 파악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</a:t>
            </a:r>
          </a:p>
          <a:p>
            <a:pPr marL="171450" indent="-171450" algn="ctr">
              <a:buFont typeface="Symbol" panose="05050102010706020507" pitchFamily="18" charset="2"/>
              <a:buChar char="Þ"/>
            </a:pPr>
            <a:r>
              <a:rPr lang="en-US" altLang="ko-KR" sz="1200">
                <a:solidFill>
                  <a:srgbClr val="00B05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Selenium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대신 </a:t>
            </a:r>
            <a:r>
              <a:rPr lang="en-US" altLang="ko-KR" sz="1200" u="sng">
                <a:solidFill>
                  <a:srgbClr val="FF000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Requests + API 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요청으로 특정 종목의 원하는 기간 커뮤니티 글 스크래핑을 훨씬 빠르고 효율적으로 하는것이 가능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DDA0D32-4402-8BB0-6819-42C9F1DC847E}"/>
              </a:ext>
            </a:extLst>
          </p:cNvPr>
          <p:cNvSpPr/>
          <p:nvPr/>
        </p:nvSpPr>
        <p:spPr>
          <a:xfrm>
            <a:off x="3112170" y="4142915"/>
            <a:ext cx="1255638" cy="146441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2301E8C7-5C68-1CE8-3ECD-67E198CEFC9C}"/>
              </a:ext>
            </a:extLst>
          </p:cNvPr>
          <p:cNvCxnSpPr/>
          <p:nvPr/>
        </p:nvCxnSpPr>
        <p:spPr>
          <a:xfrm>
            <a:off x="3745389" y="4289356"/>
            <a:ext cx="0" cy="1515908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D6CD9A5-B7DC-C35E-1046-EE60C02C090A}"/>
              </a:ext>
            </a:extLst>
          </p:cNvPr>
          <p:cNvSpPr/>
          <p:nvPr/>
        </p:nvSpPr>
        <p:spPr>
          <a:xfrm>
            <a:off x="2913398" y="5805264"/>
            <a:ext cx="1728192" cy="276999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커뮤니티 글 게시일 파악</a:t>
            </a:r>
          </a:p>
        </p:txBody>
      </p:sp>
    </p:spTree>
    <p:extLst>
      <p:ext uri="{BB962C8B-B14F-4D97-AF65-F5344CB8AC3E}">
        <p14:creationId xmlns:p14="http://schemas.microsoft.com/office/powerpoint/2010/main" val="381350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560089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4.4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데이터 시각화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(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수집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분석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시각화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해석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)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6" name="그림 15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9C99CBC6-27FE-1489-BDB1-E2BFBEBED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42" y="2014520"/>
            <a:ext cx="4608512" cy="324056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BED0293-8761-A972-43A4-E9D2B784C0C1}"/>
              </a:ext>
            </a:extLst>
          </p:cNvPr>
          <p:cNvSpPr/>
          <p:nvPr/>
        </p:nvSpPr>
        <p:spPr>
          <a:xfrm>
            <a:off x="2157314" y="1796479"/>
            <a:ext cx="1512168" cy="384721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수집</a:t>
            </a:r>
          </a:p>
        </p:txBody>
      </p:sp>
      <p:pic>
        <p:nvPicPr>
          <p:cNvPr id="18" name="그림 1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6DB02E25-9A5E-4696-E0DB-5D53D9712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063" y="1988838"/>
            <a:ext cx="5045497" cy="326624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E586550-5DB4-7353-FB70-3B417AF91C8D}"/>
              </a:ext>
            </a:extLst>
          </p:cNvPr>
          <p:cNvSpPr/>
          <p:nvPr/>
        </p:nvSpPr>
        <p:spPr>
          <a:xfrm>
            <a:off x="7857727" y="1796477"/>
            <a:ext cx="1512168" cy="384721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전처리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F2DEDB-B838-D182-812C-4063055BD592}"/>
              </a:ext>
            </a:extLst>
          </p:cNvPr>
          <p:cNvSpPr txBox="1"/>
          <p:nvPr/>
        </p:nvSpPr>
        <p:spPr>
          <a:xfrm>
            <a:off x="623392" y="5373216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DB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에서 뉴스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커뮤니티 내용 토큰 불러오기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0C4C24-86C4-1F96-1598-6EAF9C795AAC}"/>
              </a:ext>
            </a:extLst>
          </p:cNvPr>
          <p:cNvSpPr txBox="1"/>
          <p:nvPr/>
        </p:nvSpPr>
        <p:spPr>
          <a:xfrm>
            <a:off x="6240016" y="5373216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명사 추출 및 불용어 처리</a:t>
            </a:r>
          </a:p>
        </p:txBody>
      </p:sp>
    </p:spTree>
    <p:extLst>
      <p:ext uri="{BB962C8B-B14F-4D97-AF65-F5344CB8AC3E}">
        <p14:creationId xmlns:p14="http://schemas.microsoft.com/office/powerpoint/2010/main" val="31698278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560089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4.4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데이터 시각화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(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수집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분석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시각화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해석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)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" name="그림 3" descr="텍스트, 폰트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26BF41F3-9032-D152-147B-B3F95E343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4" y="1916832"/>
            <a:ext cx="5064196" cy="2952328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A5B68A7-39A4-C2AD-14C2-590C33BA0649}"/>
              </a:ext>
            </a:extLst>
          </p:cNvPr>
          <p:cNvSpPr/>
          <p:nvPr/>
        </p:nvSpPr>
        <p:spPr>
          <a:xfrm>
            <a:off x="611909" y="1724471"/>
            <a:ext cx="4602977" cy="384721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워드 클라우드 </a:t>
            </a:r>
            <a:r>
              <a:rPr lang="en-US" altLang="ko-KR" sz="16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– </a:t>
            </a:r>
            <a:r>
              <a:rPr lang="ko-KR" altLang="en-US" sz="16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뉴스</a:t>
            </a:r>
            <a:r>
              <a:rPr lang="en-US" altLang="ko-KR" sz="16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lang="ko-KR" altLang="en-US" sz="16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커뮤니티에서 많이 언급되는 단어</a:t>
            </a:r>
          </a:p>
        </p:txBody>
      </p:sp>
      <p:pic>
        <p:nvPicPr>
          <p:cNvPr id="20" name="그림 19" descr="도표, 라인, 텍스트, 그래프이(가) 표시된 사진&#10;&#10;자동 생성된 설명">
            <a:extLst>
              <a:ext uri="{FF2B5EF4-FFF2-40B4-BE49-F238E27FC236}">
                <a16:creationId xmlns:a16="http://schemas.microsoft.com/office/drawing/2014/main" id="{D773D43A-9B88-CDF4-ECC0-41F59C6F8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388" y="1656103"/>
            <a:ext cx="6228888" cy="3573097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D4BAC4F-AD96-5348-A518-D08D382A5672}"/>
              </a:ext>
            </a:extLst>
          </p:cNvPr>
          <p:cNvSpPr/>
          <p:nvPr/>
        </p:nvSpPr>
        <p:spPr>
          <a:xfrm>
            <a:off x="6389568" y="1463742"/>
            <a:ext cx="4752527" cy="384721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종목 상세지표 </a:t>
            </a:r>
            <a:r>
              <a:rPr lang="en-US" altLang="ko-KR" sz="20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– </a:t>
            </a:r>
            <a:r>
              <a:rPr lang="ko-KR" altLang="en-US" sz="20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가격과 긍정점수의 변화 추이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29AB15-3F88-5F0E-5413-18EAB93B0DFB}"/>
              </a:ext>
            </a:extLst>
          </p:cNvPr>
          <p:cNvSpPr txBox="1"/>
          <p:nvPr/>
        </p:nvSpPr>
        <p:spPr>
          <a:xfrm>
            <a:off x="407368" y="5013176"/>
            <a:ext cx="4608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뉴스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 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커뮤니티에서 언급이 많이 되는 트렌드 단어들을 알 수 있음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380E3A-992D-0E1C-563E-01F01F4C2E77}"/>
              </a:ext>
            </a:extLst>
          </p:cNvPr>
          <p:cNvSpPr txBox="1"/>
          <p:nvPr/>
        </p:nvSpPr>
        <p:spPr>
          <a:xfrm>
            <a:off x="5699760" y="5373216"/>
            <a:ext cx="5940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가격 변화에 따라 해당 종목에 대한 시장 분위기가 어떻게 형성되었는가를 파악 가능</a:t>
            </a:r>
          </a:p>
        </p:txBody>
      </p:sp>
    </p:spTree>
    <p:extLst>
      <p:ext uri="{BB962C8B-B14F-4D97-AF65-F5344CB8AC3E}">
        <p14:creationId xmlns:p14="http://schemas.microsoft.com/office/powerpoint/2010/main" val="1829418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4329711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4.5 AI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모델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모델 학습 </a:t>
            </a:r>
            <a:r>
              <a:rPr lang="en-US" altLang="ko-KR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- LSTM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 </a:t>
            </a:r>
            <a:endParaRPr lang="en-US" sz="2500" b="1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0" name="그림 9" descr="텍스트, 폰트, 스크린샷, 타이포그래피이(가) 표시된 사진&#10;&#10;자동 생성된 설명">
            <a:extLst>
              <a:ext uri="{FF2B5EF4-FFF2-40B4-BE49-F238E27FC236}">
                <a16:creationId xmlns:a16="http://schemas.microsoft.com/office/drawing/2014/main" id="{FD48FBED-6704-7EEE-0154-F3D5F7034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4" y="1700808"/>
            <a:ext cx="3625710" cy="317226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그림 10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F6D03C28-4154-C0FD-D2E6-CC76F88C5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840" y="1700808"/>
            <a:ext cx="6948816" cy="317226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105E24-6B91-C0F7-3CF1-A73C5FFB12EB}"/>
              </a:ext>
            </a:extLst>
          </p:cNvPr>
          <p:cNvSpPr txBox="1"/>
          <p:nvPr/>
        </p:nvSpPr>
        <p:spPr>
          <a:xfrm>
            <a:off x="275186" y="5216806"/>
            <a:ext cx="3748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KNU 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감성사전 기반 긍정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부정 이진분류</a:t>
            </a:r>
            <a:endParaRPr lang="en-US" altLang="ko-KR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0D5CBF-E65B-677F-BC24-6A8DFC5B2E73}"/>
              </a:ext>
            </a:extLst>
          </p:cNvPr>
          <p:cNvSpPr txBox="1"/>
          <p:nvPr/>
        </p:nvSpPr>
        <p:spPr>
          <a:xfrm>
            <a:off x="275186" y="5876579"/>
            <a:ext cx="8666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사전 데이터 출처 </a:t>
            </a:r>
            <a:r>
              <a:rPr lang="en-US" altLang="ko-KR" sz="120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KNU </a:t>
            </a:r>
            <a:r>
              <a:rPr lang="ko-KR" altLang="en-US" sz="120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한국어 감성사전 </a:t>
            </a:r>
            <a:r>
              <a:rPr lang="en-US" altLang="ko-KR" sz="1200">
                <a:solidFill>
                  <a:schemeClr val="tx2">
                    <a:lumMod val="20000"/>
                    <a:lumOff val="8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1200" b="0" i="0" u="sng" strike="noStrike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https://github.com/park1200656/KnuSentiLex</a:t>
            </a:r>
            <a:r>
              <a:rPr lang="en-US" altLang="ko-KR" sz="1200">
                <a:solidFill>
                  <a:schemeClr val="tx2">
                    <a:lumMod val="20000"/>
                    <a:lumOff val="8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endParaRPr lang="ko-KR" altLang="en-US" sz="1200">
              <a:solidFill>
                <a:schemeClr val="tx2">
                  <a:lumMod val="20000"/>
                  <a:lumOff val="8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AA95AE6-E75A-0A3F-58B3-857BA97F5434}"/>
              </a:ext>
            </a:extLst>
          </p:cNvPr>
          <p:cNvSpPr/>
          <p:nvPr/>
        </p:nvSpPr>
        <p:spPr>
          <a:xfrm>
            <a:off x="1271464" y="1506096"/>
            <a:ext cx="1512168" cy="384721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감성 사전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1A307FF-9C54-2D87-FBF1-5923891DCC39}"/>
              </a:ext>
            </a:extLst>
          </p:cNvPr>
          <p:cNvSpPr/>
          <p:nvPr/>
        </p:nvSpPr>
        <p:spPr>
          <a:xfrm>
            <a:off x="6465074" y="1506095"/>
            <a:ext cx="3330348" cy="384721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긍정</a:t>
            </a:r>
            <a:r>
              <a:rPr lang="en-US" altLang="ko-KR" sz="20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lang="ko-KR" altLang="en-US" sz="20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부정 이진분류 모델 학습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67638B-EEC0-9C74-1E49-8D886DC92445}"/>
              </a:ext>
            </a:extLst>
          </p:cNvPr>
          <p:cNvSpPr txBox="1"/>
          <p:nvPr/>
        </p:nvSpPr>
        <p:spPr>
          <a:xfrm>
            <a:off x="5699760" y="5070287"/>
            <a:ext cx="5436800" cy="875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LSTM 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모델 학습 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– 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긍정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부정 이진분류</a:t>
            </a:r>
            <a:endParaRPr lang="en-US" altLang="ko-KR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	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활성함수 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: sigmoid 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손실함수 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: crossentropy </a:t>
            </a:r>
            <a:endParaRPr lang="ko-KR" altLang="en-US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BC42C52A-303D-E651-6B2E-944D6DE38736}"/>
              </a:ext>
            </a:extLst>
          </p:cNvPr>
          <p:cNvSpPr/>
          <p:nvPr/>
        </p:nvSpPr>
        <p:spPr>
          <a:xfrm>
            <a:off x="5695039" y="5642860"/>
            <a:ext cx="468248" cy="204432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9D58AFD6-50B6-149E-D93A-C66C45682A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37" y="2907301"/>
            <a:ext cx="3960440" cy="1281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86BDC6-3D15-277C-CE78-F827E9CF2A81}"/>
              </a:ext>
            </a:extLst>
          </p:cNvPr>
          <p:cNvSpPr txBox="1"/>
          <p:nvPr/>
        </p:nvSpPr>
        <p:spPr>
          <a:xfrm>
            <a:off x="263352" y="4510861"/>
            <a:ext cx="3748142" cy="92333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모델 학습을 위해 감성 사전 기반 긍정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(1)/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부정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(0)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라벨링 수행 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(66,905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개의 샘플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endParaRPr lang="en-US" altLang="ko-KR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8E050F24-AED4-5C60-8FE6-82AFFA7101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34" y="1268601"/>
            <a:ext cx="2710827" cy="141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3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29417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4.5 AI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모델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모델 최적화</a:t>
            </a:r>
            <a:endParaRPr lang="en-US" sz="2500" b="1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" name="그림 2" descr="도표, 텍스트, 라인, 그래프이(가) 표시된 사진&#10;&#10;자동 생성된 설명">
            <a:extLst>
              <a:ext uri="{FF2B5EF4-FFF2-40B4-BE49-F238E27FC236}">
                <a16:creationId xmlns:a16="http://schemas.microsoft.com/office/drawing/2014/main" id="{B07A6375-CEB2-43AF-4458-A7CD0E694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768" y="1800890"/>
            <a:ext cx="7056784" cy="29081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81BDFB-B1CA-6725-3DD9-682A46BEC58E}"/>
              </a:ext>
            </a:extLst>
          </p:cNvPr>
          <p:cNvSpPr txBox="1"/>
          <p:nvPr/>
        </p:nvSpPr>
        <p:spPr>
          <a:xfrm>
            <a:off x="5562722" y="1484121"/>
            <a:ext cx="2289408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에포크 </a:t>
            </a:r>
            <a:r>
              <a:rPr lang="en-US" altLang="ko-KR" sz="16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- </a:t>
            </a:r>
            <a:r>
              <a:rPr lang="ko-KR" altLang="en-US" sz="16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손실률 변화 추이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DF37FF-082B-A006-D8C5-FEE3E6B86447}"/>
              </a:ext>
            </a:extLst>
          </p:cNvPr>
          <p:cNvSpPr txBox="1"/>
          <p:nvPr/>
        </p:nvSpPr>
        <p:spPr>
          <a:xfrm>
            <a:off x="9136515" y="1517637"/>
            <a:ext cx="2289408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에포크 </a:t>
            </a:r>
            <a:r>
              <a:rPr lang="en-US" altLang="ko-KR" sz="16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- </a:t>
            </a:r>
            <a:r>
              <a:rPr lang="ko-KR" altLang="en-US" sz="16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정확도 변화 추이 </a:t>
            </a:r>
          </a:p>
        </p:txBody>
      </p:sp>
      <p:pic>
        <p:nvPicPr>
          <p:cNvPr id="8" name="그림 7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E12904AC-C17E-9534-B57F-B040110636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104" y="2020778"/>
            <a:ext cx="1226216" cy="5757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4EF91C5-C0A6-4829-EE84-613B1E087878}"/>
              </a:ext>
            </a:extLst>
          </p:cNvPr>
          <p:cNvSpPr txBox="1"/>
          <p:nvPr/>
        </p:nvSpPr>
        <p:spPr>
          <a:xfrm>
            <a:off x="7426826" y="2020778"/>
            <a:ext cx="831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훈련손실</a:t>
            </a:r>
            <a:endParaRPr lang="en-US" altLang="ko-KR" sz="14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14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검증손실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4A2FC3-1072-0BF7-2E53-478F1AE05750}"/>
              </a:ext>
            </a:extLst>
          </p:cNvPr>
          <p:cNvSpPr txBox="1"/>
          <p:nvPr/>
        </p:nvSpPr>
        <p:spPr>
          <a:xfrm>
            <a:off x="4796788" y="1804754"/>
            <a:ext cx="65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손실률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0CC266-629F-D08D-0939-CEC2B8E51943}"/>
              </a:ext>
            </a:extLst>
          </p:cNvPr>
          <p:cNvSpPr txBox="1"/>
          <p:nvPr/>
        </p:nvSpPr>
        <p:spPr>
          <a:xfrm>
            <a:off x="7896200" y="4449305"/>
            <a:ext cx="65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에포크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5493D8-F727-539C-CD58-598848A1506F}"/>
              </a:ext>
            </a:extLst>
          </p:cNvPr>
          <p:cNvSpPr txBox="1"/>
          <p:nvPr/>
        </p:nvSpPr>
        <p:spPr>
          <a:xfrm>
            <a:off x="8325180" y="1713001"/>
            <a:ext cx="65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정확도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9D551B-ACFC-F765-E380-E6B8574472B0}"/>
              </a:ext>
            </a:extLst>
          </p:cNvPr>
          <p:cNvSpPr txBox="1"/>
          <p:nvPr/>
        </p:nvSpPr>
        <p:spPr>
          <a:xfrm>
            <a:off x="11352584" y="3553271"/>
            <a:ext cx="65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에포크</a:t>
            </a:r>
          </a:p>
        </p:txBody>
      </p: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947D8C99-96E0-2A1E-ED41-D4604FA485E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28696" y="3193866"/>
            <a:ext cx="457200" cy="304800"/>
          </a:xfrm>
          <a:prstGeom prst="curved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75C0A0B-E3A8-EC15-5624-3710C1D73A78}"/>
              </a:ext>
            </a:extLst>
          </p:cNvPr>
          <p:cNvSpPr txBox="1"/>
          <p:nvPr/>
        </p:nvSpPr>
        <p:spPr>
          <a:xfrm>
            <a:off x="6876296" y="2812866"/>
            <a:ext cx="1595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Overfitting</a:t>
            </a:r>
            <a:endParaRPr lang="ko-KR" altLang="en-US" sz="14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063EE6-9081-3FBE-F4EC-AA6C1766894D}"/>
              </a:ext>
            </a:extLst>
          </p:cNvPr>
          <p:cNvSpPr txBox="1"/>
          <p:nvPr/>
        </p:nvSpPr>
        <p:spPr>
          <a:xfrm>
            <a:off x="10303772" y="3019598"/>
            <a:ext cx="1120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Overfitting</a:t>
            </a:r>
            <a:endParaRPr lang="ko-KR" altLang="en-US" sz="14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58C4948E-1F89-8678-FCC2-6BC00BF83F98}"/>
              </a:ext>
            </a:extLst>
          </p:cNvPr>
          <p:cNvCxnSpPr/>
          <p:nvPr/>
        </p:nvCxnSpPr>
        <p:spPr>
          <a:xfrm rot="16200000" flipH="1">
            <a:off x="10404479" y="2656849"/>
            <a:ext cx="515481" cy="228600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8" name="그림 27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E9F25390-6C19-B7FF-9FA9-997AEA3F87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64" y="1268761"/>
            <a:ext cx="3555012" cy="448777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4CBC955-647E-1016-6AF5-B9A5F2F8F8B1}"/>
              </a:ext>
            </a:extLst>
          </p:cNvPr>
          <p:cNvSpPr txBox="1"/>
          <p:nvPr/>
        </p:nvSpPr>
        <p:spPr>
          <a:xfrm>
            <a:off x="5665794" y="5045114"/>
            <a:ext cx="5943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하이퍼 파라미터 조정 </a:t>
            </a:r>
            <a:r>
              <a:rPr lang="en-US" altLang="ko-KR" sz="20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 </a:t>
            </a:r>
            <a:r>
              <a:rPr lang="en-US" altLang="ko-KR" sz="2000">
                <a:solidFill>
                  <a:srgbClr val="FFC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LSTM </a:t>
            </a:r>
            <a:r>
              <a:rPr lang="ko-KR" altLang="en-US" sz="2000">
                <a:solidFill>
                  <a:srgbClr val="FFC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선택 모델 </a:t>
            </a:r>
            <a:r>
              <a:rPr lang="en-US" altLang="ko-KR" sz="2000">
                <a:solidFill>
                  <a:srgbClr val="FFC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: </a:t>
            </a:r>
            <a:r>
              <a:rPr lang="en-US" altLang="ko-KR" sz="2000" b="1" u="sng">
                <a:solidFill>
                  <a:srgbClr val="FFC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Epoch = 4</a:t>
            </a:r>
            <a:endParaRPr lang="ko-KR" altLang="en-US" sz="2000" b="1" u="sng">
              <a:solidFill>
                <a:srgbClr val="FFC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00445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01685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4.5 AI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모델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모델 평가</a:t>
            </a:r>
            <a:endParaRPr lang="en-US" sz="2500" b="1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4A2FC3-1072-0BF7-2E53-478F1AE05750}"/>
              </a:ext>
            </a:extLst>
          </p:cNvPr>
          <p:cNvSpPr txBox="1"/>
          <p:nvPr/>
        </p:nvSpPr>
        <p:spPr>
          <a:xfrm>
            <a:off x="4796788" y="908720"/>
            <a:ext cx="65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손실률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0CC266-629F-D08D-0939-CEC2B8E51943}"/>
              </a:ext>
            </a:extLst>
          </p:cNvPr>
          <p:cNvSpPr txBox="1"/>
          <p:nvPr/>
        </p:nvSpPr>
        <p:spPr>
          <a:xfrm>
            <a:off x="7896200" y="3553271"/>
            <a:ext cx="65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에포크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9D551B-ACFC-F765-E380-E6B8574472B0}"/>
              </a:ext>
            </a:extLst>
          </p:cNvPr>
          <p:cNvSpPr txBox="1"/>
          <p:nvPr/>
        </p:nvSpPr>
        <p:spPr>
          <a:xfrm>
            <a:off x="11352584" y="3553271"/>
            <a:ext cx="65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에포크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5C0A0B-E3A8-EC15-5624-3710C1D73A78}"/>
              </a:ext>
            </a:extLst>
          </p:cNvPr>
          <p:cNvSpPr txBox="1"/>
          <p:nvPr/>
        </p:nvSpPr>
        <p:spPr>
          <a:xfrm>
            <a:off x="6876296" y="1916832"/>
            <a:ext cx="1595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Overfitting</a:t>
            </a:r>
            <a:endParaRPr lang="ko-KR" altLang="en-US" sz="14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pic>
        <p:nvPicPr>
          <p:cNvPr id="27" name="그림 26" descr="텍스트, 스크린샷, 폰트, 디스플레이이(가) 표시된 사진&#10;&#10;자동 생성된 설명">
            <a:extLst>
              <a:ext uri="{FF2B5EF4-FFF2-40B4-BE49-F238E27FC236}">
                <a16:creationId xmlns:a16="http://schemas.microsoft.com/office/drawing/2014/main" id="{C88BD484-302A-6C09-2574-590754CDF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4" y="1851258"/>
            <a:ext cx="5095340" cy="200979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51ABC39-735B-FE05-3301-84385022C7D1}"/>
              </a:ext>
            </a:extLst>
          </p:cNvPr>
          <p:cNvSpPr txBox="1"/>
          <p:nvPr/>
        </p:nvSpPr>
        <p:spPr>
          <a:xfrm>
            <a:off x="311724" y="4005064"/>
            <a:ext cx="36960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테스트 평가</a:t>
            </a:r>
            <a:endParaRPr lang="en-US" altLang="ko-KR" sz="240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2400" b="1" u="sng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테스트 손실  </a:t>
            </a:r>
            <a:r>
              <a:rPr lang="en-US" altLang="ko-KR" sz="2400" b="1" u="sng">
                <a:solidFill>
                  <a:srgbClr val="FFBD5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10.39%</a:t>
            </a:r>
          </a:p>
          <a:p>
            <a:r>
              <a:rPr lang="ko-KR" altLang="en-US" sz="2400" b="1" u="sng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테스트 정확도 </a:t>
            </a:r>
            <a:r>
              <a:rPr lang="en-US" altLang="ko-KR" sz="2400" b="1" u="sng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: </a:t>
            </a:r>
            <a:r>
              <a:rPr lang="en-US" altLang="ko-KR" sz="2400" b="1" u="sng">
                <a:solidFill>
                  <a:srgbClr val="FFBD5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96.55%</a:t>
            </a:r>
            <a:endParaRPr lang="ko-KR" altLang="en-US" sz="2400" b="1" u="sng">
              <a:solidFill>
                <a:srgbClr val="FFBD59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89E48DA-D074-0231-5394-7DEA8990A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968" y="1820749"/>
            <a:ext cx="5734092" cy="20097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44EB1F-0EA4-0089-0939-7217A094A0E0}"/>
              </a:ext>
            </a:extLst>
          </p:cNvPr>
          <p:cNvSpPr txBox="1"/>
          <p:nvPr/>
        </p:nvSpPr>
        <p:spPr>
          <a:xfrm>
            <a:off x="6096000" y="3957131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모델 성능 평가</a:t>
            </a:r>
            <a:endParaRPr lang="en-US" altLang="ko-KR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99CD65-C7BF-94AB-0571-2442EA23AD70}"/>
              </a:ext>
            </a:extLst>
          </p:cNvPr>
          <p:cNvSpPr txBox="1"/>
          <p:nvPr/>
        </p:nvSpPr>
        <p:spPr>
          <a:xfrm>
            <a:off x="6084208" y="4404891"/>
            <a:ext cx="137994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accent2">
                    <a:lumMod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정밀도</a:t>
            </a:r>
            <a:endParaRPr lang="en-US" altLang="ko-KR" sz="1600">
              <a:solidFill>
                <a:schemeClr val="accent2">
                  <a:lumMod val="7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0 (</a:t>
            </a:r>
            <a:r>
              <a:rPr lang="ko-KR" altLang="en-US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부정</a:t>
            </a:r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  <a:r>
              <a:rPr lang="ko-KR" altLang="en-US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 </a:t>
            </a:r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96%</a:t>
            </a:r>
          </a:p>
          <a:p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 (</a:t>
            </a:r>
            <a:r>
              <a:rPr lang="ko-KR" altLang="en-US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긍정</a:t>
            </a:r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  97%</a:t>
            </a:r>
          </a:p>
          <a:p>
            <a:endParaRPr lang="en-US" altLang="ko-KR" sz="140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1600">
                <a:solidFill>
                  <a:schemeClr val="accent6">
                    <a:lumMod val="60000"/>
                    <a:lumOff val="4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재현율</a:t>
            </a:r>
            <a:endParaRPr lang="en-US" altLang="ko-KR" sz="1600">
              <a:solidFill>
                <a:schemeClr val="accent6">
                  <a:lumMod val="60000"/>
                  <a:lumOff val="4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0 (</a:t>
            </a:r>
            <a:r>
              <a:rPr lang="ko-KR" altLang="en-US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부정</a:t>
            </a:r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  <a:r>
              <a:rPr lang="ko-KR" altLang="en-US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 </a:t>
            </a:r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96%</a:t>
            </a:r>
          </a:p>
          <a:p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 (</a:t>
            </a:r>
            <a:r>
              <a:rPr lang="ko-KR" altLang="en-US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긍정</a:t>
            </a:r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  97%</a:t>
            </a:r>
          </a:p>
          <a:p>
            <a:endParaRPr lang="ko-KR" alt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A23481-4537-8850-6F2B-E1E373004F40}"/>
              </a:ext>
            </a:extLst>
          </p:cNvPr>
          <p:cNvSpPr txBox="1"/>
          <p:nvPr/>
        </p:nvSpPr>
        <p:spPr>
          <a:xfrm>
            <a:off x="7464152" y="4404891"/>
            <a:ext cx="137994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chemeClr val="accent4">
                    <a:lumMod val="60000"/>
                    <a:lumOff val="4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F1-score</a:t>
            </a:r>
          </a:p>
          <a:p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0 (</a:t>
            </a:r>
            <a:r>
              <a:rPr lang="ko-KR" altLang="en-US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부정</a:t>
            </a:r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  <a:r>
              <a:rPr lang="ko-KR" altLang="en-US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 </a:t>
            </a:r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97%</a:t>
            </a:r>
          </a:p>
          <a:p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 (</a:t>
            </a:r>
            <a:r>
              <a:rPr lang="ko-KR" altLang="en-US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긍정</a:t>
            </a:r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   97%</a:t>
            </a:r>
          </a:p>
          <a:p>
            <a:endParaRPr lang="en-US" altLang="ko-KR" sz="160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1600">
                <a:solidFill>
                  <a:schemeClr val="tx2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정확도</a:t>
            </a:r>
            <a:endParaRPr lang="en-US" altLang="ko-KR" sz="1600">
              <a:solidFill>
                <a:schemeClr val="tx2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0 (</a:t>
            </a:r>
            <a:r>
              <a:rPr lang="ko-KR" altLang="en-US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부정</a:t>
            </a:r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  <a:r>
              <a:rPr lang="ko-KR" altLang="en-US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 </a:t>
            </a:r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97%</a:t>
            </a:r>
          </a:p>
          <a:p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 (</a:t>
            </a:r>
            <a:r>
              <a:rPr lang="ko-KR" altLang="en-US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긍정</a:t>
            </a:r>
            <a:r>
              <a:rPr lang="en-US" altLang="ko-KR" sz="14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   97%</a:t>
            </a:r>
          </a:p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2109321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08097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4.5 AI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모델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-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모델 적용</a:t>
            </a:r>
            <a:endParaRPr lang="en-US" sz="2500" b="1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91F0E309-5F87-2A47-F9D8-CEE67AE43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41" y="1988839"/>
            <a:ext cx="5371420" cy="215041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0" name="그림 9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E0922CE6-DC48-0E7E-568F-A4D33BD21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88840"/>
            <a:ext cx="5731459" cy="215041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8033CB-8F72-712C-1917-B0C9C05AD8D5}"/>
              </a:ext>
            </a:extLst>
          </p:cNvPr>
          <p:cNvSpPr txBox="1"/>
          <p:nvPr/>
        </p:nvSpPr>
        <p:spPr>
          <a:xfrm>
            <a:off x="364540" y="4437112"/>
            <a:ext cx="486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학습한 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AI 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모델기반 뉴스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커뮤니티 긍정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부정 라벨링 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</a:t>
            </a:r>
            <a:r>
              <a:rPr lang="ko-KR" altLang="en-US">
                <a:solidFill>
                  <a:schemeClr val="accent5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긍정 </a:t>
            </a:r>
            <a:r>
              <a:rPr lang="en-US" altLang="ko-KR">
                <a:solidFill>
                  <a:schemeClr val="accent5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: 1 </a:t>
            </a:r>
            <a:r>
              <a:rPr lang="ko-KR" altLang="en-US">
                <a:solidFill>
                  <a:srgbClr val="FF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부정 </a:t>
            </a:r>
            <a:r>
              <a:rPr lang="en-US" altLang="ko-KR">
                <a:solidFill>
                  <a:srgbClr val="FF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: 0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A5BA6E-F25A-3C80-6664-690120215E27}"/>
              </a:ext>
            </a:extLst>
          </p:cNvPr>
          <p:cNvSpPr txBox="1"/>
          <p:nvPr/>
        </p:nvSpPr>
        <p:spPr>
          <a:xfrm>
            <a:off x="6096000" y="4437111"/>
            <a:ext cx="5616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전체 뉴스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커뮤니티 긍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부정 라벨중 </a:t>
            </a:r>
            <a:r>
              <a:rPr lang="ko-KR" altLang="en-US" u="sng">
                <a:solidFill>
                  <a:srgbClr val="FFBD5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긍정 라벨의 비율을 기반으로 긍정점수 산출</a:t>
            </a:r>
            <a:r>
              <a:rPr lang="ko-KR" altLang="en-US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(0~100)</a:t>
            </a:r>
          </a:p>
        </p:txBody>
      </p:sp>
    </p:spTree>
    <p:extLst>
      <p:ext uri="{BB962C8B-B14F-4D97-AF65-F5344CB8AC3E}">
        <p14:creationId xmlns:p14="http://schemas.microsoft.com/office/powerpoint/2010/main" val="37449660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1843453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4.6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소요 기술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0289BB9-03A2-8CFD-ED9F-0FFFF1550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413195"/>
              </p:ext>
            </p:extLst>
          </p:nvPr>
        </p:nvGraphicFramePr>
        <p:xfrm>
          <a:off x="695400" y="1772816"/>
          <a:ext cx="10945217" cy="3760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8259">
                  <a:extLst>
                    <a:ext uri="{9D8B030D-6E8A-4147-A177-3AD203B41FA5}">
                      <a16:colId xmlns:a16="http://schemas.microsoft.com/office/drawing/2014/main" val="1953802706"/>
                    </a:ext>
                  </a:extLst>
                </a:gridCol>
                <a:gridCol w="3788479">
                  <a:extLst>
                    <a:ext uri="{9D8B030D-6E8A-4147-A177-3AD203B41FA5}">
                      <a16:colId xmlns:a16="http://schemas.microsoft.com/office/drawing/2014/main" val="701092128"/>
                    </a:ext>
                  </a:extLst>
                </a:gridCol>
                <a:gridCol w="3788479">
                  <a:extLst>
                    <a:ext uri="{9D8B030D-6E8A-4147-A177-3AD203B41FA5}">
                      <a16:colId xmlns:a16="http://schemas.microsoft.com/office/drawing/2014/main" val="1033245786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분류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내용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499170"/>
                  </a:ext>
                </a:extLst>
              </a:tr>
              <a:tr h="178680"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언어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백엔드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Java 17.0.13, Python 3.12.7, Thymeleaf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265190"/>
                  </a:ext>
                </a:extLst>
              </a:tr>
              <a:tr h="1786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프론트 엔드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HTML, CSS, Javascript, ES6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070497"/>
                  </a:ext>
                </a:extLst>
              </a:tr>
              <a:tr h="431405"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서버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DB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Oracle 18c XE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823623"/>
                  </a:ext>
                </a:extLst>
              </a:tr>
              <a:tr h="4314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DB 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연동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Spring JDBC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999996"/>
                  </a:ext>
                </a:extLst>
              </a:tr>
              <a:tr h="1808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프레임워크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백엔드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SpringBoot 3.4.2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992203"/>
                  </a:ext>
                </a:extLst>
              </a:tr>
              <a:tr h="3331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FastAPI 0.112.2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780136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데이터 교환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프론트 엔드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AJAX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282022"/>
                  </a:ext>
                </a:extLst>
              </a:tr>
              <a:tr h="2382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백엔드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REST API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1240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데이터 포맷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JSON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115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9556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1843453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4.6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소요 기술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0289BB9-03A2-8CFD-ED9F-0FFFF1550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76236"/>
              </p:ext>
            </p:extLst>
          </p:nvPr>
        </p:nvGraphicFramePr>
        <p:xfrm>
          <a:off x="695400" y="1447616"/>
          <a:ext cx="4248472" cy="496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866">
                  <a:extLst>
                    <a:ext uri="{9D8B030D-6E8A-4147-A177-3AD203B41FA5}">
                      <a16:colId xmlns:a16="http://schemas.microsoft.com/office/drawing/2014/main" val="1953802706"/>
                    </a:ext>
                  </a:extLst>
                </a:gridCol>
                <a:gridCol w="2709606">
                  <a:extLst>
                    <a:ext uri="{9D8B030D-6E8A-4147-A177-3AD203B41FA5}">
                      <a16:colId xmlns:a16="http://schemas.microsoft.com/office/drawing/2014/main" val="1033245786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내용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499170"/>
                  </a:ext>
                </a:extLst>
              </a:tr>
              <a:tr h="4169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프런트엔드 기술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Bef>
                          <a:spcPts val="5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HTML, CSS, JavaScript, ES6, CSR, Tailwind CSS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265190"/>
                  </a:ext>
                </a:extLst>
              </a:tr>
              <a:tr h="86281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백엔드 기술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Java 17.0.13, Python 3.12.7, Thymeleaf, SpringBoot 3.4.2, FastAPI 0.112.2, Spring MVC, Spring JDBC, REST API, SSR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823623"/>
                  </a:ext>
                </a:extLst>
              </a:tr>
              <a:tr h="5140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데이터베이스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Bef>
                          <a:spcPts val="100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Oracle 18c XE, SQL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992203"/>
                  </a:ext>
                </a:extLst>
              </a:tr>
              <a:tr h="238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통신 및 데이터 포맷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AJAX, HTTP, JSON, XML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282022"/>
                  </a:ext>
                </a:extLst>
              </a:tr>
              <a:tr h="287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분석 모델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LSTM, BERT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43382"/>
                  </a:ext>
                </a:extLst>
              </a:tr>
              <a:tr h="287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외부모듈연계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KRX </a:t>
                      </a: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한국거래소 정보데이터 시스템</a:t>
                      </a:r>
                      <a:endParaRPr lang="en-US" altLang="ko-KR" sz="1400" b="1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토스 증권 종목 커뮤니티</a:t>
                      </a:r>
                      <a:endParaRPr lang="en-US" altLang="ko-KR" sz="1400" b="1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네이버 증권 종목 뉴스</a:t>
                      </a:r>
                      <a:endParaRPr lang="en-US" altLang="ko-KR" sz="1400" b="1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831433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9F02117-70CA-7E80-E5F7-B2AA87F8F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822965"/>
              </p:ext>
            </p:extLst>
          </p:nvPr>
        </p:nvGraphicFramePr>
        <p:xfrm>
          <a:off x="5699066" y="1447616"/>
          <a:ext cx="6157574" cy="464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1953802706"/>
                    </a:ext>
                  </a:extLst>
                </a:gridCol>
                <a:gridCol w="1719449">
                  <a:extLst>
                    <a:ext uri="{9D8B030D-6E8A-4147-A177-3AD203B41FA5}">
                      <a16:colId xmlns:a16="http://schemas.microsoft.com/office/drawing/2014/main" val="701092128"/>
                    </a:ext>
                  </a:extLst>
                </a:gridCol>
                <a:gridCol w="2709933">
                  <a:extLst>
                    <a:ext uri="{9D8B030D-6E8A-4147-A177-3AD203B41FA5}">
                      <a16:colId xmlns:a16="http://schemas.microsoft.com/office/drawing/2014/main" val="181213971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분류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모델 및 버전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499170"/>
                  </a:ext>
                </a:extLst>
              </a:tr>
              <a:tr h="326880">
                <a:tc rowSpan="13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사용 라이브러리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데이터 분석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Pandas 2.2.2</a:t>
                      </a:r>
                      <a:endParaRPr lang="ko-KR" altLang="en-US" sz="12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265190"/>
                  </a:ext>
                </a:extLst>
              </a:tr>
              <a:tr h="32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NumPy 1.26.4</a:t>
                      </a:r>
                      <a:endParaRPr lang="ko-KR" altLang="en-US" sz="12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888378"/>
                  </a:ext>
                </a:extLst>
              </a:tr>
              <a:tr h="326880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데이터베이스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데이터 수집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Requests 2.32.3</a:t>
                      </a:r>
                      <a:endParaRPr lang="ko-KR" altLang="en-US" sz="12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823623"/>
                  </a:ext>
                </a:extLst>
              </a:tr>
              <a:tr h="32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Selenium 4.31.1</a:t>
                      </a:r>
                      <a:endParaRPr lang="ko-KR" altLang="en-US" sz="12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466186"/>
                  </a:ext>
                </a:extLst>
              </a:tr>
              <a:tr h="32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데이터 시각화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Matplotlib 3.9.2</a:t>
                      </a:r>
                      <a:endParaRPr lang="ko-KR" altLang="en-US" sz="12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999996"/>
                  </a:ext>
                </a:extLst>
              </a:tr>
              <a:tr h="32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Seaborn 0.13.2</a:t>
                      </a:r>
                      <a:endParaRPr lang="ko-KR" altLang="en-US" sz="12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130816"/>
                  </a:ext>
                </a:extLst>
              </a:tr>
              <a:tr h="32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Plotly 5.24.1</a:t>
                      </a:r>
                      <a:endParaRPr lang="ko-KR" altLang="en-US" sz="12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09419"/>
                  </a:ext>
                </a:extLst>
              </a:tr>
              <a:tr h="32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WordCloud 1.9.3</a:t>
                      </a:r>
                      <a:endParaRPr lang="ko-KR" altLang="en-US" sz="12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118176"/>
                  </a:ext>
                </a:extLst>
              </a:tr>
              <a:tr h="32688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SW 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개발도구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머신 러닝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TenserFlow 2.17.1</a:t>
                      </a:r>
                      <a:endParaRPr lang="ko-KR" altLang="en-US" sz="12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992203"/>
                  </a:ext>
                </a:extLst>
              </a:tr>
              <a:tr h="32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Scikit-learn 1.5.1</a:t>
                      </a:r>
                      <a:endParaRPr lang="ko-KR" altLang="en-US" sz="12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244736"/>
                  </a:ext>
                </a:extLst>
              </a:tr>
              <a:tr h="32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0"/>
                        </a:spcBef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Transformers 4.48.0</a:t>
                      </a:r>
                      <a:endParaRPr lang="ko-KR" altLang="en-US" sz="12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979949"/>
                  </a:ext>
                </a:extLst>
              </a:tr>
              <a:tr h="32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오픈소스 라이브러리</a:t>
                      </a:r>
                      <a:endParaRPr lang="en-US" altLang="ko-KR" sz="1400" b="1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FinanceDataReader 0.9.94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780136"/>
                  </a:ext>
                </a:extLst>
              </a:tr>
              <a:tr h="32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400">
                        <a:solidFill>
                          <a:schemeClr val="bg1"/>
                        </a:solidFill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Torch 2.5.1</a:t>
                      </a:r>
                    </a:p>
                  </a:txBody>
                  <a:tcPr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079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9730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9674801" y="147993"/>
            <a:ext cx="2478243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4.7 S/W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아키텍처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B554EB-75A5-5258-8C42-418D6C5701A1}"/>
              </a:ext>
            </a:extLst>
          </p:cNvPr>
          <p:cNvSpPr/>
          <p:nvPr/>
        </p:nvSpPr>
        <p:spPr>
          <a:xfrm>
            <a:off x="2999656" y="720900"/>
            <a:ext cx="1584176" cy="11521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3AD7217-F4C3-49CB-F712-01DEE191768A}"/>
              </a:ext>
            </a:extLst>
          </p:cNvPr>
          <p:cNvSpPr/>
          <p:nvPr/>
        </p:nvSpPr>
        <p:spPr>
          <a:xfrm>
            <a:off x="2999656" y="720901"/>
            <a:ext cx="1584176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2A8C0C-4959-8C01-D150-C8135625075F}"/>
              </a:ext>
            </a:extLst>
          </p:cNvPr>
          <p:cNvSpPr txBox="1"/>
          <p:nvPr/>
        </p:nvSpPr>
        <p:spPr>
          <a:xfrm>
            <a:off x="3575720" y="698108"/>
            <a:ext cx="4283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회원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B7043B-A7D6-C711-25C1-9A9F68633498}"/>
              </a:ext>
            </a:extLst>
          </p:cNvPr>
          <p:cNvSpPr txBox="1"/>
          <p:nvPr/>
        </p:nvSpPr>
        <p:spPr>
          <a:xfrm>
            <a:off x="2999656" y="936925"/>
            <a:ext cx="15841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joinForm.html</a:t>
            </a:r>
          </a:p>
          <a:p>
            <a:r>
              <a:rPr lang="en-US" altLang="ko-KR" sz="7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memberInfo.html</a:t>
            </a:r>
          </a:p>
          <a:p>
            <a:r>
              <a:rPr lang="en-US" altLang="ko-KR" sz="7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memberInfoIndex.html</a:t>
            </a:r>
          </a:p>
          <a:p>
            <a:r>
              <a:rPr lang="en-US" altLang="ko-KR" sz="7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memberInfoModify.html</a:t>
            </a:r>
          </a:p>
          <a:p>
            <a:r>
              <a:rPr lang="en-US" altLang="ko-KR" sz="7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memberInfoModifyAuth.html</a:t>
            </a:r>
          </a:p>
          <a:p>
            <a:r>
              <a:rPr lang="en-US" altLang="ko-KR" sz="7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searchMember.html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0F30188-D3D0-E521-9B08-4E5DBB8DB9CD}"/>
              </a:ext>
            </a:extLst>
          </p:cNvPr>
          <p:cNvSpPr/>
          <p:nvPr/>
        </p:nvSpPr>
        <p:spPr>
          <a:xfrm>
            <a:off x="4871864" y="717621"/>
            <a:ext cx="1584176" cy="1155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8389E0D-5AEB-D119-B789-950A9DC2BE1E}"/>
              </a:ext>
            </a:extLst>
          </p:cNvPr>
          <p:cNvSpPr/>
          <p:nvPr/>
        </p:nvSpPr>
        <p:spPr>
          <a:xfrm>
            <a:off x="4871864" y="717622"/>
            <a:ext cx="1584176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0C088C-1D15-0423-8662-CA2C6635D959}"/>
              </a:ext>
            </a:extLst>
          </p:cNvPr>
          <p:cNvSpPr txBox="1"/>
          <p:nvPr/>
        </p:nvSpPr>
        <p:spPr>
          <a:xfrm>
            <a:off x="5111557" y="692696"/>
            <a:ext cx="11047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추천 서비스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DCC16B-EC6D-73F8-6F39-7A3CF294D721}"/>
              </a:ext>
            </a:extLst>
          </p:cNvPr>
          <p:cNvSpPr txBox="1"/>
          <p:nvPr/>
        </p:nvSpPr>
        <p:spPr>
          <a:xfrm>
            <a:off x="4871864" y="936923"/>
            <a:ext cx="1584176" cy="1064010"/>
          </a:xfrm>
          <a:prstGeom prst="rect">
            <a:avLst/>
          </a:prstGeom>
          <a:noFill/>
        </p:spPr>
        <p:txBody>
          <a:bodyPr wrap="square" tIns="46800" bIns="46800" rtlCol="0">
            <a:spAutoFit/>
          </a:bodyPr>
          <a:lstStyle/>
          <a:p>
            <a:r>
              <a:rPr lang="en-US" altLang="ko-KR" sz="7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testInfo.html, riskTest.html</a:t>
            </a:r>
          </a:p>
          <a:p>
            <a:r>
              <a:rPr lang="en-US" altLang="ko-KR" sz="7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interestSectors.html, setMinReturn.html</a:t>
            </a:r>
          </a:p>
          <a:p>
            <a:r>
              <a:rPr lang="en-US" altLang="ko-KR" sz="7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testFinish.html, myPage.html</a:t>
            </a:r>
          </a:p>
          <a:p>
            <a:r>
              <a:rPr lang="en-US" altLang="ko-KR" sz="7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risk.html, traitSectors.html</a:t>
            </a:r>
          </a:p>
          <a:p>
            <a:r>
              <a:rPr lang="en-US" altLang="ko-KR" sz="7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expReturn.html,modifyTraits.html stockRecommendation.html</a:t>
            </a:r>
          </a:p>
          <a:p>
            <a:r>
              <a:rPr lang="en-US" altLang="ko-KR" sz="7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recommendList.html</a:t>
            </a:r>
          </a:p>
          <a:p>
            <a:endParaRPr lang="ko-KR" altLang="en-US" sz="70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398730B-97EB-8AFA-BBEA-172B4B3B8A7F}"/>
              </a:ext>
            </a:extLst>
          </p:cNvPr>
          <p:cNvSpPr/>
          <p:nvPr/>
        </p:nvSpPr>
        <p:spPr>
          <a:xfrm>
            <a:off x="6888088" y="720900"/>
            <a:ext cx="1584176" cy="11521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DBEBBA2-D4C4-8C7F-7574-FAE0AA3E9959}"/>
              </a:ext>
            </a:extLst>
          </p:cNvPr>
          <p:cNvSpPr/>
          <p:nvPr/>
        </p:nvSpPr>
        <p:spPr>
          <a:xfrm>
            <a:off x="6888088" y="720901"/>
            <a:ext cx="1584176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E00C69-0CEF-43BE-9ADE-2EC8F5FFF001}"/>
              </a:ext>
            </a:extLst>
          </p:cNvPr>
          <p:cNvSpPr txBox="1"/>
          <p:nvPr/>
        </p:nvSpPr>
        <p:spPr>
          <a:xfrm>
            <a:off x="7127781" y="692696"/>
            <a:ext cx="11047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주식 정보 서비스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A63CA7-8F89-B1DD-4FA9-5A07FC6153E2}"/>
              </a:ext>
            </a:extLst>
          </p:cNvPr>
          <p:cNvSpPr txBox="1"/>
          <p:nvPr/>
        </p:nvSpPr>
        <p:spPr>
          <a:xfrm>
            <a:off x="6888088" y="936925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stockList.html</a:t>
            </a:r>
          </a:p>
          <a:p>
            <a:r>
              <a:rPr lang="en-US" altLang="ko-KR" sz="7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stockDetail.html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999E08-1456-1719-A4F0-DA81AE4617D8}"/>
              </a:ext>
            </a:extLst>
          </p:cNvPr>
          <p:cNvSpPr/>
          <p:nvPr/>
        </p:nvSpPr>
        <p:spPr>
          <a:xfrm>
            <a:off x="8832304" y="720900"/>
            <a:ext cx="1584176" cy="11521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A9E676A-D78F-ECB1-751D-B5C268902119}"/>
              </a:ext>
            </a:extLst>
          </p:cNvPr>
          <p:cNvSpPr/>
          <p:nvPr/>
        </p:nvSpPr>
        <p:spPr>
          <a:xfrm>
            <a:off x="8832304" y="720901"/>
            <a:ext cx="1584176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55A170-2B7C-C53C-D74C-4A21FDF45626}"/>
              </a:ext>
            </a:extLst>
          </p:cNvPr>
          <p:cNvSpPr txBox="1"/>
          <p:nvPr/>
        </p:nvSpPr>
        <p:spPr>
          <a:xfrm>
            <a:off x="8872423" y="692696"/>
            <a:ext cx="15039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한눈에 보는 시장 트렌드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E0E2E6-5D9E-CD64-ADA1-992F4A414A87}"/>
              </a:ext>
            </a:extLst>
          </p:cNvPr>
          <p:cNvSpPr txBox="1"/>
          <p:nvPr/>
        </p:nvSpPr>
        <p:spPr>
          <a:xfrm>
            <a:off x="8832304" y="936925"/>
            <a:ext cx="158417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trend.html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31C5C47-DF0A-E1C5-27F9-0BE8B9D49BC0}"/>
              </a:ext>
            </a:extLst>
          </p:cNvPr>
          <p:cNvSpPr/>
          <p:nvPr/>
        </p:nvSpPr>
        <p:spPr>
          <a:xfrm>
            <a:off x="5591944" y="2161883"/>
            <a:ext cx="2304256" cy="2190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Dispatcher Sevlet</a:t>
            </a:r>
            <a:endParaRPr lang="ko-KR" altLang="en-US" sz="14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0177F40A-82E5-EA7B-58CE-CB8C6BCAF121}"/>
              </a:ext>
            </a:extLst>
          </p:cNvPr>
          <p:cNvCxnSpPr>
            <a:cxnSpLocks/>
            <a:stCxn id="24" idx="2"/>
            <a:endCxn id="33" idx="0"/>
          </p:cNvCxnSpPr>
          <p:nvPr/>
        </p:nvCxnSpPr>
        <p:spPr>
          <a:xfrm rot="5400000">
            <a:off x="7067696" y="1549403"/>
            <a:ext cx="288856" cy="936104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F4A7C1FF-7EE2-ABC0-9BD6-1AEED3521692}"/>
              </a:ext>
            </a:extLst>
          </p:cNvPr>
          <p:cNvCxnSpPr>
            <a:cxnSpLocks/>
            <a:stCxn id="15" idx="2"/>
            <a:endCxn id="33" idx="0"/>
          </p:cNvCxnSpPr>
          <p:nvPr/>
        </p:nvCxnSpPr>
        <p:spPr>
          <a:xfrm rot="16200000" flipH="1">
            <a:off x="6059584" y="1477394"/>
            <a:ext cx="288857" cy="1080120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110F7032-6999-3E35-1166-CC956C9367DE}"/>
              </a:ext>
            </a:extLst>
          </p:cNvPr>
          <p:cNvCxnSpPr>
            <a:cxnSpLocks/>
            <a:stCxn id="8" idx="2"/>
            <a:endCxn id="33" idx="1"/>
          </p:cNvCxnSpPr>
          <p:nvPr/>
        </p:nvCxnSpPr>
        <p:spPr>
          <a:xfrm rot="16200000" flipH="1">
            <a:off x="4492647" y="1172124"/>
            <a:ext cx="398394" cy="1800200"/>
          </a:xfrm>
          <a:prstGeom prst="bentConnector2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7C651456-6FA2-BF59-CD69-4ADA9BC96F13}"/>
              </a:ext>
            </a:extLst>
          </p:cNvPr>
          <p:cNvCxnSpPr>
            <a:cxnSpLocks/>
            <a:stCxn id="28" idx="2"/>
            <a:endCxn id="33" idx="3"/>
          </p:cNvCxnSpPr>
          <p:nvPr/>
        </p:nvCxnSpPr>
        <p:spPr>
          <a:xfrm rot="5400000">
            <a:off x="8561099" y="1208128"/>
            <a:ext cx="398394" cy="1728192"/>
          </a:xfrm>
          <a:prstGeom prst="bentConnector2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769EBB-5E70-7EA7-5849-02592CB12B29}"/>
              </a:ext>
            </a:extLst>
          </p:cNvPr>
          <p:cNvSpPr/>
          <p:nvPr/>
        </p:nvSpPr>
        <p:spPr>
          <a:xfrm>
            <a:off x="5591944" y="2521099"/>
            <a:ext cx="2304256" cy="19728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Interceptor</a:t>
            </a:r>
            <a:endParaRPr lang="ko-KR" altLang="en-US" sz="14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AA9BA6A-07B4-10AC-6CCF-4F0FDE1C0677}"/>
              </a:ext>
            </a:extLst>
          </p:cNvPr>
          <p:cNvSpPr/>
          <p:nvPr/>
        </p:nvSpPr>
        <p:spPr>
          <a:xfrm>
            <a:off x="1703512" y="2919328"/>
            <a:ext cx="792088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Index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Controller</a:t>
            </a:r>
            <a:endParaRPr lang="ko-KR" altLang="en-US" sz="9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9AC0612-640E-D05C-CDC7-FFE2BF230596}"/>
              </a:ext>
            </a:extLst>
          </p:cNvPr>
          <p:cNvSpPr/>
          <p:nvPr/>
        </p:nvSpPr>
        <p:spPr>
          <a:xfrm>
            <a:off x="2567608" y="2919328"/>
            <a:ext cx="792088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ApiIndex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Controller</a:t>
            </a:r>
            <a:endParaRPr lang="ko-KR" altLang="en-US" sz="9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268E94E-563C-8707-FB1B-D67019B61355}"/>
              </a:ext>
            </a:extLst>
          </p:cNvPr>
          <p:cNvSpPr/>
          <p:nvPr/>
        </p:nvSpPr>
        <p:spPr>
          <a:xfrm>
            <a:off x="5015880" y="2919328"/>
            <a:ext cx="828092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ApiMember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Controller</a:t>
            </a:r>
            <a:endParaRPr lang="ko-KR" altLang="en-US" sz="9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387C327-8EF4-CD2E-E3C0-F5DC3A6D21C7}"/>
              </a:ext>
            </a:extLst>
          </p:cNvPr>
          <p:cNvSpPr/>
          <p:nvPr/>
        </p:nvSpPr>
        <p:spPr>
          <a:xfrm>
            <a:off x="10632502" y="2919328"/>
            <a:ext cx="1440162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StockRecommendation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Controller</a:t>
            </a:r>
            <a:endParaRPr lang="ko-KR" altLang="en-US" sz="9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F49F7C0-7F72-E2E6-8E01-78A4113A93B0}"/>
              </a:ext>
            </a:extLst>
          </p:cNvPr>
          <p:cNvSpPr/>
          <p:nvPr/>
        </p:nvSpPr>
        <p:spPr>
          <a:xfrm>
            <a:off x="4223792" y="2919328"/>
            <a:ext cx="72008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Member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Controller</a:t>
            </a:r>
            <a:endParaRPr lang="ko-KR" altLang="en-US" sz="9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80CC11C-FA0B-60FB-18FE-72CD76D3D489}"/>
              </a:ext>
            </a:extLst>
          </p:cNvPr>
          <p:cNvSpPr/>
          <p:nvPr/>
        </p:nvSpPr>
        <p:spPr>
          <a:xfrm>
            <a:off x="5914516" y="2919328"/>
            <a:ext cx="757548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Login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Controller</a:t>
            </a:r>
            <a:endParaRPr lang="ko-KR" altLang="en-US" sz="9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3850BC6-7125-4683-8ACF-C3F8F51DA212}"/>
              </a:ext>
            </a:extLst>
          </p:cNvPr>
          <p:cNvSpPr/>
          <p:nvPr/>
        </p:nvSpPr>
        <p:spPr>
          <a:xfrm>
            <a:off x="6739208" y="2919328"/>
            <a:ext cx="1012976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PropensityTest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Controller</a:t>
            </a:r>
            <a:endParaRPr lang="ko-KR" altLang="en-US" sz="9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EF26EB3-5E85-5E34-5483-5DC25E8F98C4}"/>
              </a:ext>
            </a:extLst>
          </p:cNvPr>
          <p:cNvSpPr/>
          <p:nvPr/>
        </p:nvSpPr>
        <p:spPr>
          <a:xfrm>
            <a:off x="3431704" y="2917227"/>
            <a:ext cx="72008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ApiAuth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Controller</a:t>
            </a:r>
            <a:endParaRPr lang="ko-KR" altLang="en-US" sz="9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67F3BC9-F9F0-B17F-6F3F-C70E48BD9469}"/>
              </a:ext>
            </a:extLst>
          </p:cNvPr>
          <p:cNvSpPr/>
          <p:nvPr/>
        </p:nvSpPr>
        <p:spPr>
          <a:xfrm>
            <a:off x="7821760" y="2918245"/>
            <a:ext cx="1008112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ApiSearchInfo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Controller</a:t>
            </a:r>
            <a:endParaRPr lang="ko-KR" altLang="en-US" sz="9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E56C1DC-04F0-E5EE-CA0F-D8ACA0986A7C}"/>
              </a:ext>
            </a:extLst>
          </p:cNvPr>
          <p:cNvSpPr/>
          <p:nvPr/>
        </p:nvSpPr>
        <p:spPr>
          <a:xfrm>
            <a:off x="9696400" y="2919328"/>
            <a:ext cx="864096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ApiStockList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Controller</a:t>
            </a:r>
            <a:endParaRPr lang="ko-KR" altLang="en-US" sz="9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92D6C9A-ABA8-69AB-704B-36C397BAFDF9}"/>
              </a:ext>
            </a:extLst>
          </p:cNvPr>
          <p:cNvSpPr/>
          <p:nvPr/>
        </p:nvSpPr>
        <p:spPr>
          <a:xfrm>
            <a:off x="8904311" y="2919328"/>
            <a:ext cx="72008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ApiTrend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Controller</a:t>
            </a:r>
            <a:endParaRPr lang="ko-KR" altLang="en-US" sz="9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61525978-7DE0-1D00-7FF5-E1B3A618C3C7}"/>
              </a:ext>
            </a:extLst>
          </p:cNvPr>
          <p:cNvCxnSpPr>
            <a:cxnSpLocks/>
            <a:stCxn id="51" idx="3"/>
            <a:endCxn id="57" idx="0"/>
          </p:cNvCxnSpPr>
          <p:nvPr/>
        </p:nvCxnSpPr>
        <p:spPr>
          <a:xfrm>
            <a:off x="7896200" y="2619743"/>
            <a:ext cx="3456383" cy="299585"/>
          </a:xfrm>
          <a:prstGeom prst="bentConnector2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F3E3E749-7552-D387-11A6-928BB01561AC}"/>
              </a:ext>
            </a:extLst>
          </p:cNvPr>
          <p:cNvCxnSpPr>
            <a:cxnSpLocks/>
            <a:stCxn id="51" idx="2"/>
            <a:endCxn id="61" idx="0"/>
          </p:cNvCxnSpPr>
          <p:nvPr/>
        </p:nvCxnSpPr>
        <p:spPr>
          <a:xfrm rot="16200000" flipH="1">
            <a:off x="6894413" y="2568045"/>
            <a:ext cx="200942" cy="501624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8402BDB0-22A1-65E1-A52E-9EE5E6CBC579}"/>
              </a:ext>
            </a:extLst>
          </p:cNvPr>
          <p:cNvCxnSpPr>
            <a:cxnSpLocks/>
            <a:stCxn id="51" idx="1"/>
            <a:endCxn id="56" idx="0"/>
          </p:cNvCxnSpPr>
          <p:nvPr/>
        </p:nvCxnSpPr>
        <p:spPr>
          <a:xfrm rot="10800000" flipV="1">
            <a:off x="5429926" y="2619742"/>
            <a:ext cx="162018" cy="299585"/>
          </a:xfrm>
          <a:prstGeom prst="bentConnector2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767CA0AA-4BF9-2B82-BDF9-10797E7C3F4D}"/>
              </a:ext>
            </a:extLst>
          </p:cNvPr>
          <p:cNvCxnSpPr>
            <a:cxnSpLocks/>
            <a:stCxn id="51" idx="1"/>
            <a:endCxn id="59" idx="0"/>
          </p:cNvCxnSpPr>
          <p:nvPr/>
        </p:nvCxnSpPr>
        <p:spPr>
          <a:xfrm rot="10800000" flipV="1">
            <a:off x="4583832" y="2619742"/>
            <a:ext cx="1008112" cy="299585"/>
          </a:xfrm>
          <a:prstGeom prst="bentConnector2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66A16FEE-CEA8-96CC-E238-D4F952C68A5B}"/>
              </a:ext>
            </a:extLst>
          </p:cNvPr>
          <p:cNvSpPr/>
          <p:nvPr/>
        </p:nvSpPr>
        <p:spPr>
          <a:xfrm>
            <a:off x="3287688" y="4102774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MemberSVC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Impl</a:t>
            </a:r>
            <a:endParaRPr lang="ko-KR" altLang="en-US" sz="9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760A747-4873-97D3-6C1B-742E2734B74D}"/>
              </a:ext>
            </a:extLst>
          </p:cNvPr>
          <p:cNvSpPr/>
          <p:nvPr/>
        </p:nvSpPr>
        <p:spPr>
          <a:xfrm>
            <a:off x="3287688" y="3645024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MemberSVC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5308ADA-BE35-DDFE-2A8F-141440673E5C}"/>
              </a:ext>
            </a:extLst>
          </p:cNvPr>
          <p:cNvSpPr/>
          <p:nvPr/>
        </p:nvSpPr>
        <p:spPr>
          <a:xfrm>
            <a:off x="3287688" y="4573546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MemberDAO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18B28B9-ACA1-AA4C-2BEB-145CCAEE75C4}"/>
              </a:ext>
            </a:extLst>
          </p:cNvPr>
          <p:cNvSpPr/>
          <p:nvPr/>
        </p:nvSpPr>
        <p:spPr>
          <a:xfrm>
            <a:off x="3287688" y="5013176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MemberDAO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Impl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5C9E19AB-3B84-F2B0-CBA4-D5C5C2598D19}"/>
              </a:ext>
            </a:extLst>
          </p:cNvPr>
          <p:cNvSpPr/>
          <p:nvPr/>
        </p:nvSpPr>
        <p:spPr>
          <a:xfrm>
            <a:off x="5303912" y="3649524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PropensityTestSVC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3B1691D-DDBB-F62E-5EBA-50F5DD69AF09}"/>
              </a:ext>
            </a:extLst>
          </p:cNvPr>
          <p:cNvSpPr/>
          <p:nvPr/>
        </p:nvSpPr>
        <p:spPr>
          <a:xfrm>
            <a:off x="5303912" y="4101029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PropensityTestSVCImpl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D11529F-2E29-86DD-70F6-80B7FFBF39AD}"/>
              </a:ext>
            </a:extLst>
          </p:cNvPr>
          <p:cNvSpPr/>
          <p:nvPr/>
        </p:nvSpPr>
        <p:spPr>
          <a:xfrm>
            <a:off x="5303912" y="4571801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PropensityTestDAO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11D7D52-33BD-41A1-90BC-3C0FDF16D05C}"/>
              </a:ext>
            </a:extLst>
          </p:cNvPr>
          <p:cNvSpPr/>
          <p:nvPr/>
        </p:nvSpPr>
        <p:spPr>
          <a:xfrm>
            <a:off x="5303912" y="5011431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PropensityTestDAOImpl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5A34C10A-5C09-F289-9D72-441884378624}"/>
              </a:ext>
            </a:extLst>
          </p:cNvPr>
          <p:cNvSpPr/>
          <p:nvPr/>
        </p:nvSpPr>
        <p:spPr>
          <a:xfrm>
            <a:off x="9336360" y="3645024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StockListSVC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72D07DE5-714C-614B-DAB4-61DFB09536FB}"/>
              </a:ext>
            </a:extLst>
          </p:cNvPr>
          <p:cNvSpPr/>
          <p:nvPr/>
        </p:nvSpPr>
        <p:spPr>
          <a:xfrm>
            <a:off x="9336360" y="4096529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StockListSVCImpl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478A1D60-7713-C35C-1B9A-C6C856A6348A}"/>
              </a:ext>
            </a:extLst>
          </p:cNvPr>
          <p:cNvSpPr/>
          <p:nvPr/>
        </p:nvSpPr>
        <p:spPr>
          <a:xfrm>
            <a:off x="9336360" y="4567301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StockListDAO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30C6D5F-788E-579B-6CD2-C7C3E13223EC}"/>
              </a:ext>
            </a:extLst>
          </p:cNvPr>
          <p:cNvSpPr/>
          <p:nvPr/>
        </p:nvSpPr>
        <p:spPr>
          <a:xfrm>
            <a:off x="9336360" y="5006931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StockListDAOImpl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FA8754D-5C0D-018D-9DFD-8B704BAC75A0}"/>
              </a:ext>
            </a:extLst>
          </p:cNvPr>
          <p:cNvSpPr/>
          <p:nvPr/>
        </p:nvSpPr>
        <p:spPr>
          <a:xfrm>
            <a:off x="4295800" y="3645024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StockDetailSVC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B890EF6-7637-F517-2CFA-2FC3E92FD513}"/>
              </a:ext>
            </a:extLst>
          </p:cNvPr>
          <p:cNvSpPr/>
          <p:nvPr/>
        </p:nvSpPr>
        <p:spPr>
          <a:xfrm>
            <a:off x="4295800" y="4096529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StockDetailSVCImpl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834715A-F8DF-0804-8680-1F5239C9754D}"/>
              </a:ext>
            </a:extLst>
          </p:cNvPr>
          <p:cNvSpPr/>
          <p:nvPr/>
        </p:nvSpPr>
        <p:spPr>
          <a:xfrm>
            <a:off x="4295800" y="4567301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StockDetailDAO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6490CFE-0ABA-A119-7556-F76AE623CAE1}"/>
              </a:ext>
            </a:extLst>
          </p:cNvPr>
          <p:cNvSpPr/>
          <p:nvPr/>
        </p:nvSpPr>
        <p:spPr>
          <a:xfrm>
            <a:off x="4295800" y="5006931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StockDetailDAOImpl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5CEF43BA-6972-8748-E07E-6114B387EB27}"/>
              </a:ext>
            </a:extLst>
          </p:cNvPr>
          <p:cNvSpPr/>
          <p:nvPr/>
        </p:nvSpPr>
        <p:spPr>
          <a:xfrm>
            <a:off x="10380475" y="3645024"/>
            <a:ext cx="972107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StockRecommendationSVC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74F97D73-27E3-348E-5220-FDA49E2993AE}"/>
              </a:ext>
            </a:extLst>
          </p:cNvPr>
          <p:cNvSpPr/>
          <p:nvPr/>
        </p:nvSpPr>
        <p:spPr>
          <a:xfrm>
            <a:off x="10380476" y="4096529"/>
            <a:ext cx="972106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StockRecommendationSVCImpl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B4E25D91-3B45-C54F-BDBC-0A4B88274CB0}"/>
              </a:ext>
            </a:extLst>
          </p:cNvPr>
          <p:cNvSpPr/>
          <p:nvPr/>
        </p:nvSpPr>
        <p:spPr>
          <a:xfrm>
            <a:off x="10380476" y="4567301"/>
            <a:ext cx="98080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StockRecommendationDAO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176ED96A-BD88-937F-9C10-6C43DBD8BCB6}"/>
              </a:ext>
            </a:extLst>
          </p:cNvPr>
          <p:cNvSpPr/>
          <p:nvPr/>
        </p:nvSpPr>
        <p:spPr>
          <a:xfrm>
            <a:off x="10380476" y="5006931"/>
            <a:ext cx="98080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StockRecommendationDAOImpl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B1566967-8B59-34CD-024D-08B151332394}"/>
              </a:ext>
            </a:extLst>
          </p:cNvPr>
          <p:cNvSpPr/>
          <p:nvPr/>
        </p:nvSpPr>
        <p:spPr>
          <a:xfrm>
            <a:off x="2279576" y="3645024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EmailAuthSVC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D210124-2632-18B1-CE89-F1AF5425EBF5}"/>
              </a:ext>
            </a:extLst>
          </p:cNvPr>
          <p:cNvSpPr/>
          <p:nvPr/>
        </p:nvSpPr>
        <p:spPr>
          <a:xfrm>
            <a:off x="2279576" y="4096529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EmailAuthSVCImpl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4F6FA474-FCE4-95C8-41FF-FE9AE0BE6034}"/>
              </a:ext>
            </a:extLst>
          </p:cNvPr>
          <p:cNvSpPr/>
          <p:nvPr/>
        </p:nvSpPr>
        <p:spPr>
          <a:xfrm>
            <a:off x="2279576" y="4567301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EmailAuthDAO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11D3CEA3-2954-1717-2DA3-09075408EC46}"/>
              </a:ext>
            </a:extLst>
          </p:cNvPr>
          <p:cNvSpPr/>
          <p:nvPr/>
        </p:nvSpPr>
        <p:spPr>
          <a:xfrm>
            <a:off x="2279576" y="5006931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EmailAuthDAOImpl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0FD37684-D95C-E19E-B063-865C3E3ECE53}"/>
              </a:ext>
            </a:extLst>
          </p:cNvPr>
          <p:cNvSpPr/>
          <p:nvPr/>
        </p:nvSpPr>
        <p:spPr>
          <a:xfrm>
            <a:off x="8332598" y="3645024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TrendSVC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988E92A2-D1E9-5D2B-27CE-4E2218E48236}"/>
              </a:ext>
            </a:extLst>
          </p:cNvPr>
          <p:cNvSpPr/>
          <p:nvPr/>
        </p:nvSpPr>
        <p:spPr>
          <a:xfrm>
            <a:off x="8332598" y="4096529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TrendSVC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Impl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074C4EC0-2905-31B2-BEC5-303EDF61C6A0}"/>
              </a:ext>
            </a:extLst>
          </p:cNvPr>
          <p:cNvSpPr/>
          <p:nvPr/>
        </p:nvSpPr>
        <p:spPr>
          <a:xfrm>
            <a:off x="8332598" y="4567301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TrendDAO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E273529B-6A79-A472-3D4A-BF1F9BAC8721}"/>
              </a:ext>
            </a:extLst>
          </p:cNvPr>
          <p:cNvSpPr/>
          <p:nvPr/>
        </p:nvSpPr>
        <p:spPr>
          <a:xfrm>
            <a:off x="8332598" y="5006931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TrendDAO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Impl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4CDCE86C-9427-BF6B-494E-E19EBDB9C9D1}"/>
              </a:ext>
            </a:extLst>
          </p:cNvPr>
          <p:cNvSpPr/>
          <p:nvPr/>
        </p:nvSpPr>
        <p:spPr>
          <a:xfrm>
            <a:off x="6312024" y="3633603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TopPricesStocksSVC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D5367D34-605D-0585-7A89-A74FB0B25872}"/>
              </a:ext>
            </a:extLst>
          </p:cNvPr>
          <p:cNvSpPr/>
          <p:nvPr/>
        </p:nvSpPr>
        <p:spPr>
          <a:xfrm>
            <a:off x="6312024" y="4085108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TopPricesStocksSVCImpl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BB5051CD-DF16-F04D-E5EB-BC26513338E8}"/>
              </a:ext>
            </a:extLst>
          </p:cNvPr>
          <p:cNvSpPr/>
          <p:nvPr/>
        </p:nvSpPr>
        <p:spPr>
          <a:xfrm>
            <a:off x="6312024" y="4555880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TopPricesStocksDAO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BB3D4438-F0CD-D87D-6627-344BAEFB4F7D}"/>
              </a:ext>
            </a:extLst>
          </p:cNvPr>
          <p:cNvSpPr/>
          <p:nvPr/>
        </p:nvSpPr>
        <p:spPr>
          <a:xfrm>
            <a:off x="6312024" y="4995510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TopPricesStocksDAOImpl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D488E89-4CA7-E133-FAC5-3F5E31DD5B13}"/>
              </a:ext>
            </a:extLst>
          </p:cNvPr>
          <p:cNvSpPr/>
          <p:nvPr/>
        </p:nvSpPr>
        <p:spPr>
          <a:xfrm>
            <a:off x="7320136" y="3643624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TopTradedStocksSVC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DD89738D-0E31-A877-0FD6-4C1795B4BDC7}"/>
              </a:ext>
            </a:extLst>
          </p:cNvPr>
          <p:cNvSpPr/>
          <p:nvPr/>
        </p:nvSpPr>
        <p:spPr>
          <a:xfrm>
            <a:off x="7320136" y="4095129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TopTradedStocksSVCImpl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9CB9D7AB-1C92-1EA9-509F-5ABC4631FA6A}"/>
              </a:ext>
            </a:extLst>
          </p:cNvPr>
          <p:cNvSpPr/>
          <p:nvPr/>
        </p:nvSpPr>
        <p:spPr>
          <a:xfrm>
            <a:off x="7320136" y="4565901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TopTradedStocksDAO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364CAE30-EA3C-61AB-7446-E1D44D7E9196}"/>
              </a:ext>
            </a:extLst>
          </p:cNvPr>
          <p:cNvSpPr/>
          <p:nvPr/>
        </p:nvSpPr>
        <p:spPr>
          <a:xfrm>
            <a:off x="7320136" y="5005531"/>
            <a:ext cx="9361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TopTradedStocksDAOImpl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7A74ACDF-1F53-92C7-C15C-A7F38D9EC96E}"/>
              </a:ext>
            </a:extLst>
          </p:cNvPr>
          <p:cNvSpPr/>
          <p:nvPr/>
        </p:nvSpPr>
        <p:spPr>
          <a:xfrm>
            <a:off x="5593829" y="5705470"/>
            <a:ext cx="2304256" cy="1842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JDBC Template</a:t>
            </a:r>
            <a:endParaRPr lang="ko-KR" altLang="en-US" sz="14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C49CC28E-FF45-9B57-B591-1A53CB3F745D}"/>
              </a:ext>
            </a:extLst>
          </p:cNvPr>
          <p:cNvSpPr/>
          <p:nvPr/>
        </p:nvSpPr>
        <p:spPr>
          <a:xfrm>
            <a:off x="5591944" y="6015106"/>
            <a:ext cx="2304256" cy="20832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Data Source</a:t>
            </a:r>
            <a:endParaRPr lang="ko-KR" altLang="en-US" sz="140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92C024E3-1684-B335-3113-D0CA925B39F6}"/>
              </a:ext>
            </a:extLst>
          </p:cNvPr>
          <p:cNvSpPr/>
          <p:nvPr/>
        </p:nvSpPr>
        <p:spPr>
          <a:xfrm>
            <a:off x="1847528" y="6525344"/>
            <a:ext cx="936104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MEMBER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A1222C9-CF57-1840-5916-C0AA6A60E1E2}"/>
              </a:ext>
            </a:extLst>
          </p:cNvPr>
          <p:cNvSpPr/>
          <p:nvPr/>
        </p:nvSpPr>
        <p:spPr>
          <a:xfrm>
            <a:off x="2927648" y="6525344"/>
            <a:ext cx="936104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MEMBER_TRAITS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96EC1863-3E08-28E4-D33C-F63307C44137}"/>
              </a:ext>
            </a:extLst>
          </p:cNvPr>
          <p:cNvSpPr/>
          <p:nvPr/>
        </p:nvSpPr>
        <p:spPr>
          <a:xfrm>
            <a:off x="5087888" y="6525344"/>
            <a:ext cx="936104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TRAIT_REC_SEC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76F1CAEA-0E58-944C-5843-CD9C59314213}"/>
              </a:ext>
            </a:extLst>
          </p:cNvPr>
          <p:cNvSpPr/>
          <p:nvPr/>
        </p:nvSpPr>
        <p:spPr>
          <a:xfrm>
            <a:off x="6168008" y="6525344"/>
            <a:ext cx="936104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RT_STK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59DC16EF-F1E5-194E-69A9-CC9E9F992EE7}"/>
              </a:ext>
            </a:extLst>
          </p:cNvPr>
          <p:cNvSpPr/>
          <p:nvPr/>
        </p:nvSpPr>
        <p:spPr>
          <a:xfrm>
            <a:off x="7248128" y="6525344"/>
            <a:ext cx="936104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NEWS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42DED5BF-403C-C5EF-FB37-5D15C35F8F74}"/>
              </a:ext>
            </a:extLst>
          </p:cNvPr>
          <p:cNvSpPr/>
          <p:nvPr/>
        </p:nvSpPr>
        <p:spPr>
          <a:xfrm>
            <a:off x="8328248" y="6525344"/>
            <a:ext cx="936104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COMMUNITY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6F268E5-EE69-EDFF-559D-589A52A22A74}"/>
              </a:ext>
            </a:extLst>
          </p:cNvPr>
          <p:cNvSpPr/>
          <p:nvPr/>
        </p:nvSpPr>
        <p:spPr>
          <a:xfrm>
            <a:off x="4007768" y="6525344"/>
            <a:ext cx="936104" cy="2160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AUTH_CODE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74CA2FA4-E10E-29D1-5F52-D9FA8E986D38}"/>
              </a:ext>
            </a:extLst>
          </p:cNvPr>
          <p:cNvSpPr/>
          <p:nvPr/>
        </p:nvSpPr>
        <p:spPr>
          <a:xfrm>
            <a:off x="9408368" y="6525344"/>
            <a:ext cx="936104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DOMESTIC_INDECES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F03D1992-7C93-DE3B-D6B2-6B70A6002584}"/>
              </a:ext>
            </a:extLst>
          </p:cNvPr>
          <p:cNvSpPr/>
          <p:nvPr/>
        </p:nvSpPr>
        <p:spPr>
          <a:xfrm>
            <a:off x="10488488" y="6525344"/>
            <a:ext cx="936104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REC_STK</a:t>
            </a:r>
          </a:p>
        </p:txBody>
      </p:sp>
      <p:sp>
        <p:nvSpPr>
          <p:cNvPr id="121" name="순서도: 처리 120">
            <a:extLst>
              <a:ext uri="{FF2B5EF4-FFF2-40B4-BE49-F238E27FC236}">
                <a16:creationId xmlns:a16="http://schemas.microsoft.com/office/drawing/2014/main" id="{15A12E6A-7AAE-8272-579E-434309A3B8B6}"/>
              </a:ext>
            </a:extLst>
          </p:cNvPr>
          <p:cNvSpPr/>
          <p:nvPr/>
        </p:nvSpPr>
        <p:spPr>
          <a:xfrm>
            <a:off x="1775520" y="6458704"/>
            <a:ext cx="9721080" cy="354671"/>
          </a:xfrm>
          <a:prstGeom prst="flowChartProcess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F292ADC7-C9A0-AD03-C0EE-36A9CF21ECC2}"/>
              </a:ext>
            </a:extLst>
          </p:cNvPr>
          <p:cNvSpPr/>
          <p:nvPr/>
        </p:nvSpPr>
        <p:spPr>
          <a:xfrm>
            <a:off x="173342" y="6129300"/>
            <a:ext cx="1224136" cy="64807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DataBase</a:t>
            </a:r>
            <a:endParaRPr lang="ko-KR" altLang="en-US" sz="11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229B8C90-6163-06B3-0633-6AB6D910345F}"/>
              </a:ext>
            </a:extLst>
          </p:cNvPr>
          <p:cNvSpPr/>
          <p:nvPr/>
        </p:nvSpPr>
        <p:spPr>
          <a:xfrm>
            <a:off x="186994" y="4609550"/>
            <a:ext cx="1224136" cy="64807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Data Access Layer</a:t>
            </a:r>
            <a:endParaRPr lang="ko-KR" altLang="en-US" sz="11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2217A58C-6D02-C5CD-03BC-8DF9DD73E0E3}"/>
              </a:ext>
            </a:extLst>
          </p:cNvPr>
          <p:cNvSpPr/>
          <p:nvPr/>
        </p:nvSpPr>
        <p:spPr>
          <a:xfrm>
            <a:off x="150990" y="3717032"/>
            <a:ext cx="1224136" cy="6480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Business Layer</a:t>
            </a:r>
            <a:endParaRPr lang="ko-KR" altLang="en-US" sz="11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4E6FB582-367D-310B-7185-354B44119868}"/>
              </a:ext>
            </a:extLst>
          </p:cNvPr>
          <p:cNvSpPr/>
          <p:nvPr/>
        </p:nvSpPr>
        <p:spPr>
          <a:xfrm>
            <a:off x="191344" y="712916"/>
            <a:ext cx="1224136" cy="64807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Presentation Layer</a:t>
            </a:r>
            <a:endParaRPr lang="ko-KR" altLang="en-US" sz="11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AB575724-5921-1D20-31AF-0B108AA82F87}"/>
              </a:ext>
            </a:extLst>
          </p:cNvPr>
          <p:cNvSpPr/>
          <p:nvPr/>
        </p:nvSpPr>
        <p:spPr>
          <a:xfrm>
            <a:off x="173342" y="2804596"/>
            <a:ext cx="1224136" cy="64807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Controller Layer</a:t>
            </a:r>
            <a:endParaRPr lang="ko-KR" altLang="en-US" sz="11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3A77E895-4451-0FF3-8BFA-519C6F3B1738}"/>
              </a:ext>
            </a:extLst>
          </p:cNvPr>
          <p:cNvCxnSpPr>
            <a:cxnSpLocks/>
            <a:stCxn id="57" idx="2"/>
            <a:endCxn id="90" idx="0"/>
          </p:cNvCxnSpPr>
          <p:nvPr/>
        </p:nvCxnSpPr>
        <p:spPr>
          <a:xfrm rot="5400000">
            <a:off x="10962732" y="3255173"/>
            <a:ext cx="293648" cy="486054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2570D498-2978-67BA-8232-09415E9837AD}"/>
              </a:ext>
            </a:extLst>
          </p:cNvPr>
          <p:cNvCxnSpPr>
            <a:stCxn id="64" idx="2"/>
            <a:endCxn id="82" idx="0"/>
          </p:cNvCxnSpPr>
          <p:nvPr/>
        </p:nvCxnSpPr>
        <p:spPr>
          <a:xfrm rot="5400000">
            <a:off x="9819606" y="3336182"/>
            <a:ext cx="293648" cy="324036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2355813C-393A-8377-E081-BFF536B2875B}"/>
              </a:ext>
            </a:extLst>
          </p:cNvPr>
          <p:cNvCxnSpPr>
            <a:stCxn id="65" idx="2"/>
            <a:endCxn id="98" idx="0"/>
          </p:cNvCxnSpPr>
          <p:nvPr/>
        </p:nvCxnSpPr>
        <p:spPr>
          <a:xfrm rot="5400000">
            <a:off x="8885677" y="3266350"/>
            <a:ext cx="293648" cy="463701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EE7E2728-CA8D-D83C-6EF0-2C6CE5933316}"/>
              </a:ext>
            </a:extLst>
          </p:cNvPr>
          <p:cNvCxnSpPr>
            <a:stCxn id="65" idx="2"/>
            <a:endCxn id="106" idx="0"/>
          </p:cNvCxnSpPr>
          <p:nvPr/>
        </p:nvCxnSpPr>
        <p:spPr>
          <a:xfrm rot="5400000">
            <a:off x="8380146" y="2759419"/>
            <a:ext cx="292248" cy="1476163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F2724722-C07F-BB44-DC14-9EC1FFED0D97}"/>
              </a:ext>
            </a:extLst>
          </p:cNvPr>
          <p:cNvCxnSpPr>
            <a:stCxn id="65" idx="2"/>
            <a:endCxn id="102" idx="0"/>
          </p:cNvCxnSpPr>
          <p:nvPr/>
        </p:nvCxnSpPr>
        <p:spPr>
          <a:xfrm rot="5400000">
            <a:off x="7881101" y="2250352"/>
            <a:ext cx="282227" cy="2484275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4400620F-1BF0-CFC6-54B5-6BFAF0CA41AD}"/>
              </a:ext>
            </a:extLst>
          </p:cNvPr>
          <p:cNvCxnSpPr>
            <a:stCxn id="62" idx="2"/>
            <a:endCxn id="94" idx="0"/>
          </p:cNvCxnSpPr>
          <p:nvPr/>
        </p:nvCxnSpPr>
        <p:spPr>
          <a:xfrm rot="5400000">
            <a:off x="3121812" y="2975091"/>
            <a:ext cx="295749" cy="1044116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DD04F686-BC0C-8627-8800-5FAC06E80B7D}"/>
              </a:ext>
            </a:extLst>
          </p:cNvPr>
          <p:cNvCxnSpPr>
            <a:stCxn id="61" idx="2"/>
            <a:endCxn id="78" idx="0"/>
          </p:cNvCxnSpPr>
          <p:nvPr/>
        </p:nvCxnSpPr>
        <p:spPr>
          <a:xfrm rot="5400000">
            <a:off x="6359756" y="2763584"/>
            <a:ext cx="298148" cy="1473732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F62F3354-1908-3CB9-A349-480F70325C6D}"/>
              </a:ext>
            </a:extLst>
          </p:cNvPr>
          <p:cNvCxnSpPr>
            <a:stCxn id="64" idx="2"/>
            <a:endCxn id="86" idx="0"/>
          </p:cNvCxnSpPr>
          <p:nvPr/>
        </p:nvCxnSpPr>
        <p:spPr>
          <a:xfrm rot="5400000">
            <a:off x="7299326" y="815902"/>
            <a:ext cx="293648" cy="5364596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C58BE5B1-BB76-B821-26F1-F00E773A0089}"/>
              </a:ext>
            </a:extLst>
          </p:cNvPr>
          <p:cNvCxnSpPr>
            <a:stCxn id="59" idx="2"/>
            <a:endCxn id="75" idx="0"/>
          </p:cNvCxnSpPr>
          <p:nvPr/>
        </p:nvCxnSpPr>
        <p:spPr>
          <a:xfrm rot="5400000">
            <a:off x="4022962" y="3084154"/>
            <a:ext cx="293648" cy="828092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BB17ABCE-7296-81AD-AF84-16E70F021069}"/>
              </a:ext>
            </a:extLst>
          </p:cNvPr>
          <p:cNvCxnSpPr>
            <a:stCxn id="56" idx="2"/>
            <a:endCxn id="75" idx="0"/>
          </p:cNvCxnSpPr>
          <p:nvPr/>
        </p:nvCxnSpPr>
        <p:spPr>
          <a:xfrm rot="5400000">
            <a:off x="4446009" y="2661107"/>
            <a:ext cx="293648" cy="1674186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58870A42-E191-9D4B-0E6E-D4629FAF1662}"/>
              </a:ext>
            </a:extLst>
          </p:cNvPr>
          <p:cNvCxnSpPr>
            <a:stCxn id="60" idx="2"/>
            <a:endCxn id="75" idx="0"/>
          </p:cNvCxnSpPr>
          <p:nvPr/>
        </p:nvCxnSpPr>
        <p:spPr>
          <a:xfrm rot="5400000">
            <a:off x="4877691" y="2229425"/>
            <a:ext cx="293648" cy="2537550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B2E97A70-4D00-EB4C-8498-D5B5E89F1229}"/>
              </a:ext>
            </a:extLst>
          </p:cNvPr>
          <p:cNvCxnSpPr>
            <a:cxnSpLocks/>
            <a:stCxn id="97" idx="2"/>
            <a:endCxn id="110" idx="0"/>
          </p:cNvCxnSpPr>
          <p:nvPr/>
        </p:nvCxnSpPr>
        <p:spPr>
          <a:xfrm rot="16200000" flipH="1">
            <a:off x="4577543" y="3537055"/>
            <a:ext cx="338499" cy="3998329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960F40C3-21D7-89F2-0818-003BE72AFC84}"/>
              </a:ext>
            </a:extLst>
          </p:cNvPr>
          <p:cNvCxnSpPr>
            <a:cxnSpLocks/>
            <a:stCxn id="105" idx="2"/>
            <a:endCxn id="110" idx="0"/>
          </p:cNvCxnSpPr>
          <p:nvPr/>
        </p:nvCxnSpPr>
        <p:spPr>
          <a:xfrm rot="5400000">
            <a:off x="6588057" y="5513451"/>
            <a:ext cx="349920" cy="34119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연결선: 꺾임 133">
            <a:extLst>
              <a:ext uri="{FF2B5EF4-FFF2-40B4-BE49-F238E27FC236}">
                <a16:creationId xmlns:a16="http://schemas.microsoft.com/office/drawing/2014/main" id="{09077D4D-6ED4-B2CC-4BBC-348BF60EA2C3}"/>
              </a:ext>
            </a:extLst>
          </p:cNvPr>
          <p:cNvCxnSpPr>
            <a:stCxn id="81" idx="2"/>
            <a:endCxn id="110" idx="0"/>
          </p:cNvCxnSpPr>
          <p:nvPr/>
        </p:nvCxnSpPr>
        <p:spPr>
          <a:xfrm rot="16200000" flipH="1">
            <a:off x="6091961" y="5051473"/>
            <a:ext cx="333999" cy="973993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251F02AB-5CAD-774B-F434-FEA78C4318FD}"/>
              </a:ext>
            </a:extLst>
          </p:cNvPr>
          <p:cNvCxnSpPr>
            <a:stCxn id="89" idx="2"/>
            <a:endCxn id="110" idx="0"/>
          </p:cNvCxnSpPr>
          <p:nvPr/>
        </p:nvCxnSpPr>
        <p:spPr>
          <a:xfrm rot="16200000" flipH="1">
            <a:off x="5585655" y="4545167"/>
            <a:ext cx="338499" cy="1982105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연결선: 꺾임 137">
            <a:extLst>
              <a:ext uri="{FF2B5EF4-FFF2-40B4-BE49-F238E27FC236}">
                <a16:creationId xmlns:a16="http://schemas.microsoft.com/office/drawing/2014/main" id="{7601A377-CA5E-5B10-8BEA-965F99D1B34F}"/>
              </a:ext>
            </a:extLst>
          </p:cNvPr>
          <p:cNvCxnSpPr>
            <a:stCxn id="77" idx="2"/>
            <a:endCxn id="110" idx="0"/>
          </p:cNvCxnSpPr>
          <p:nvPr/>
        </p:nvCxnSpPr>
        <p:spPr>
          <a:xfrm rot="16200000" flipH="1">
            <a:off x="5084721" y="4044234"/>
            <a:ext cx="332254" cy="2990217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연결선: 꺾임 139">
            <a:extLst>
              <a:ext uri="{FF2B5EF4-FFF2-40B4-BE49-F238E27FC236}">
                <a16:creationId xmlns:a16="http://schemas.microsoft.com/office/drawing/2014/main" id="{1E2105FF-5255-12C8-43EE-204D9657D819}"/>
              </a:ext>
            </a:extLst>
          </p:cNvPr>
          <p:cNvCxnSpPr>
            <a:stCxn id="109" idx="2"/>
            <a:endCxn id="110" idx="0"/>
          </p:cNvCxnSpPr>
          <p:nvPr/>
        </p:nvCxnSpPr>
        <p:spPr>
          <a:xfrm rot="5400000">
            <a:off x="7097124" y="5014405"/>
            <a:ext cx="339899" cy="1042231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연결선: 꺾임 141">
            <a:extLst>
              <a:ext uri="{FF2B5EF4-FFF2-40B4-BE49-F238E27FC236}">
                <a16:creationId xmlns:a16="http://schemas.microsoft.com/office/drawing/2014/main" id="{B9C15518-8DA9-5A0C-8016-2A8C835FA98E}"/>
              </a:ext>
            </a:extLst>
          </p:cNvPr>
          <p:cNvCxnSpPr>
            <a:stCxn id="101" idx="2"/>
            <a:endCxn id="110" idx="0"/>
          </p:cNvCxnSpPr>
          <p:nvPr/>
        </p:nvCxnSpPr>
        <p:spPr>
          <a:xfrm rot="5400000">
            <a:off x="7604055" y="4508874"/>
            <a:ext cx="338499" cy="2054693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연결선: 꺾임 143">
            <a:extLst>
              <a:ext uri="{FF2B5EF4-FFF2-40B4-BE49-F238E27FC236}">
                <a16:creationId xmlns:a16="http://schemas.microsoft.com/office/drawing/2014/main" id="{56A79376-AE1A-9F93-FFC5-79F41E944FB8}"/>
              </a:ext>
            </a:extLst>
          </p:cNvPr>
          <p:cNvCxnSpPr>
            <a:stCxn id="85" idx="2"/>
            <a:endCxn id="110" idx="0"/>
          </p:cNvCxnSpPr>
          <p:nvPr/>
        </p:nvCxnSpPr>
        <p:spPr>
          <a:xfrm rot="5400000">
            <a:off x="8105936" y="4006993"/>
            <a:ext cx="338499" cy="3058455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꺾임 145">
            <a:extLst>
              <a:ext uri="{FF2B5EF4-FFF2-40B4-BE49-F238E27FC236}">
                <a16:creationId xmlns:a16="http://schemas.microsoft.com/office/drawing/2014/main" id="{328969C6-C060-3B78-B379-A15611745EEF}"/>
              </a:ext>
            </a:extLst>
          </p:cNvPr>
          <p:cNvCxnSpPr>
            <a:cxnSpLocks/>
            <a:stCxn id="93" idx="2"/>
            <a:endCxn id="110" idx="0"/>
          </p:cNvCxnSpPr>
          <p:nvPr/>
        </p:nvCxnSpPr>
        <p:spPr>
          <a:xfrm rot="5400000">
            <a:off x="8639170" y="3473759"/>
            <a:ext cx="338499" cy="4124923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C8F762C1-EF3C-7037-10D9-66524CE844D3}"/>
              </a:ext>
            </a:extLst>
          </p:cNvPr>
          <p:cNvCxnSpPr>
            <a:stCxn id="110" idx="2"/>
            <a:endCxn id="111" idx="0"/>
          </p:cNvCxnSpPr>
          <p:nvPr/>
        </p:nvCxnSpPr>
        <p:spPr>
          <a:xfrm flipH="1">
            <a:off x="6744072" y="5889681"/>
            <a:ext cx="1885" cy="125425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4EAA96A4-20CF-81A8-DD80-887B84CDAE9F}"/>
              </a:ext>
            </a:extLst>
          </p:cNvPr>
          <p:cNvCxnSpPr>
            <a:stCxn id="111" idx="2"/>
          </p:cNvCxnSpPr>
          <p:nvPr/>
        </p:nvCxnSpPr>
        <p:spPr>
          <a:xfrm>
            <a:off x="6744072" y="6223428"/>
            <a:ext cx="0" cy="229908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41A41C3-C5D0-E125-581E-DD1C2F4BAB3D}"/>
              </a:ext>
            </a:extLst>
          </p:cNvPr>
          <p:cNvSpPr/>
          <p:nvPr/>
        </p:nvSpPr>
        <p:spPr>
          <a:xfrm>
            <a:off x="191344" y="5392211"/>
            <a:ext cx="1224136" cy="64807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External Service</a:t>
            </a:r>
          </a:p>
          <a:p>
            <a:pPr algn="ctr"/>
            <a:r>
              <a:rPr lang="en-US" altLang="ko-KR" sz="900">
                <a:solidFill>
                  <a:srgbClr val="FFFF0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(JavaMailSender)</a:t>
            </a:r>
            <a:endParaRPr lang="ko-KR" altLang="en-US" sz="900">
              <a:solidFill>
                <a:srgbClr val="FFFF00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88E02ED3-17CD-7C96-2F0C-23115DC3FA2F}"/>
              </a:ext>
            </a:extLst>
          </p:cNvPr>
          <p:cNvCxnSpPr>
            <a:stCxn id="3" idx="3"/>
            <a:endCxn id="95" idx="1"/>
          </p:cNvCxnSpPr>
          <p:nvPr/>
        </p:nvCxnSpPr>
        <p:spPr>
          <a:xfrm flipV="1">
            <a:off x="1415480" y="4276549"/>
            <a:ext cx="864096" cy="1439698"/>
          </a:xfrm>
          <a:prstGeom prst="bentConnector3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D3F888E0-3C1F-3016-443D-737C7F73DD81}"/>
              </a:ext>
            </a:extLst>
          </p:cNvPr>
          <p:cNvCxnSpPr>
            <a:stCxn id="94" idx="2"/>
            <a:endCxn id="95" idx="0"/>
          </p:cNvCxnSpPr>
          <p:nvPr/>
        </p:nvCxnSpPr>
        <p:spPr>
          <a:xfrm>
            <a:off x="2747628" y="4005064"/>
            <a:ext cx="0" cy="91465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2F7828F6-31DD-9DB9-DA9C-6D2505E8AA03}"/>
              </a:ext>
            </a:extLst>
          </p:cNvPr>
          <p:cNvCxnSpPr>
            <a:stCxn id="95" idx="2"/>
            <a:endCxn id="96" idx="0"/>
          </p:cNvCxnSpPr>
          <p:nvPr/>
        </p:nvCxnSpPr>
        <p:spPr>
          <a:xfrm>
            <a:off x="2747628" y="4456569"/>
            <a:ext cx="0" cy="110732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7F1E41E6-2529-FF5E-E13B-659A5EF67A41}"/>
              </a:ext>
            </a:extLst>
          </p:cNvPr>
          <p:cNvCxnSpPr>
            <a:stCxn id="96" idx="2"/>
            <a:endCxn id="97" idx="0"/>
          </p:cNvCxnSpPr>
          <p:nvPr/>
        </p:nvCxnSpPr>
        <p:spPr>
          <a:xfrm>
            <a:off x="2747628" y="4927341"/>
            <a:ext cx="0" cy="7959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6A2830DC-4448-D3BA-5417-B87A2F8A9E16}"/>
              </a:ext>
            </a:extLst>
          </p:cNvPr>
          <p:cNvCxnSpPr>
            <a:stCxn id="75" idx="2"/>
            <a:endCxn id="74" idx="0"/>
          </p:cNvCxnSpPr>
          <p:nvPr/>
        </p:nvCxnSpPr>
        <p:spPr>
          <a:xfrm>
            <a:off x="3755740" y="4005064"/>
            <a:ext cx="0" cy="9771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8345FE5-7CE9-699E-4100-851A217EAF33}"/>
              </a:ext>
            </a:extLst>
          </p:cNvPr>
          <p:cNvCxnSpPr>
            <a:stCxn id="74" idx="2"/>
            <a:endCxn id="76" idx="0"/>
          </p:cNvCxnSpPr>
          <p:nvPr/>
        </p:nvCxnSpPr>
        <p:spPr>
          <a:xfrm>
            <a:off x="3755740" y="4462814"/>
            <a:ext cx="0" cy="110732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CAFFF009-CBFB-5339-0143-33634DA9788B}"/>
              </a:ext>
            </a:extLst>
          </p:cNvPr>
          <p:cNvCxnSpPr>
            <a:stCxn id="76" idx="2"/>
            <a:endCxn id="77" idx="0"/>
          </p:cNvCxnSpPr>
          <p:nvPr/>
        </p:nvCxnSpPr>
        <p:spPr>
          <a:xfrm>
            <a:off x="3755740" y="4933586"/>
            <a:ext cx="0" cy="7959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D75C040D-980C-727E-D502-EF098B94842F}"/>
              </a:ext>
            </a:extLst>
          </p:cNvPr>
          <p:cNvCxnSpPr>
            <a:stCxn id="86" idx="2"/>
            <a:endCxn id="87" idx="0"/>
          </p:cNvCxnSpPr>
          <p:nvPr/>
        </p:nvCxnSpPr>
        <p:spPr>
          <a:xfrm>
            <a:off x="4763852" y="4005064"/>
            <a:ext cx="0" cy="91465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764A2E5B-4AB6-07F4-EB1A-AB340BE64D34}"/>
              </a:ext>
            </a:extLst>
          </p:cNvPr>
          <p:cNvCxnSpPr>
            <a:stCxn id="87" idx="2"/>
            <a:endCxn id="88" idx="0"/>
          </p:cNvCxnSpPr>
          <p:nvPr/>
        </p:nvCxnSpPr>
        <p:spPr>
          <a:xfrm>
            <a:off x="4763852" y="4456569"/>
            <a:ext cx="0" cy="110732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6205CF70-A6A1-886F-974D-77680046EB48}"/>
              </a:ext>
            </a:extLst>
          </p:cNvPr>
          <p:cNvCxnSpPr>
            <a:stCxn id="88" idx="2"/>
            <a:endCxn id="89" idx="0"/>
          </p:cNvCxnSpPr>
          <p:nvPr/>
        </p:nvCxnSpPr>
        <p:spPr>
          <a:xfrm>
            <a:off x="4763852" y="4927341"/>
            <a:ext cx="0" cy="7959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AD3DA21C-AD7C-E577-7A6E-95A737C7121E}"/>
              </a:ext>
            </a:extLst>
          </p:cNvPr>
          <p:cNvCxnSpPr>
            <a:stCxn id="78" idx="2"/>
            <a:endCxn id="79" idx="0"/>
          </p:cNvCxnSpPr>
          <p:nvPr/>
        </p:nvCxnSpPr>
        <p:spPr>
          <a:xfrm>
            <a:off x="5771964" y="4009564"/>
            <a:ext cx="0" cy="91465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85F8D2B0-B863-1D8B-27C4-A414D978D399}"/>
              </a:ext>
            </a:extLst>
          </p:cNvPr>
          <p:cNvCxnSpPr>
            <a:stCxn id="79" idx="2"/>
            <a:endCxn id="80" idx="0"/>
          </p:cNvCxnSpPr>
          <p:nvPr/>
        </p:nvCxnSpPr>
        <p:spPr>
          <a:xfrm>
            <a:off x="5771964" y="4461069"/>
            <a:ext cx="0" cy="110732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8F8080A0-8EB6-F68E-277D-80077C7E08EE}"/>
              </a:ext>
            </a:extLst>
          </p:cNvPr>
          <p:cNvCxnSpPr>
            <a:stCxn id="80" idx="2"/>
            <a:endCxn id="81" idx="0"/>
          </p:cNvCxnSpPr>
          <p:nvPr/>
        </p:nvCxnSpPr>
        <p:spPr>
          <a:xfrm>
            <a:off x="5771964" y="4931841"/>
            <a:ext cx="0" cy="7959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2F7E2A62-BBED-139A-B555-C4902A5A7DFA}"/>
              </a:ext>
            </a:extLst>
          </p:cNvPr>
          <p:cNvCxnSpPr>
            <a:stCxn id="102" idx="2"/>
            <a:endCxn id="103" idx="0"/>
          </p:cNvCxnSpPr>
          <p:nvPr/>
        </p:nvCxnSpPr>
        <p:spPr>
          <a:xfrm>
            <a:off x="6780076" y="3993643"/>
            <a:ext cx="0" cy="91465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2644DA5F-B93D-5258-FC1E-A7F1A6F52847}"/>
              </a:ext>
            </a:extLst>
          </p:cNvPr>
          <p:cNvCxnSpPr>
            <a:stCxn id="103" idx="2"/>
            <a:endCxn id="104" idx="0"/>
          </p:cNvCxnSpPr>
          <p:nvPr/>
        </p:nvCxnSpPr>
        <p:spPr>
          <a:xfrm>
            <a:off x="6780076" y="4445148"/>
            <a:ext cx="0" cy="110732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AAA20B70-F83B-690E-BEF8-A2BF450413B9}"/>
              </a:ext>
            </a:extLst>
          </p:cNvPr>
          <p:cNvCxnSpPr>
            <a:stCxn id="104" idx="2"/>
            <a:endCxn id="105" idx="0"/>
          </p:cNvCxnSpPr>
          <p:nvPr/>
        </p:nvCxnSpPr>
        <p:spPr>
          <a:xfrm>
            <a:off x="6780076" y="4915920"/>
            <a:ext cx="0" cy="7959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DAC489DB-B709-0D51-DADB-2E24CE2833EA}"/>
              </a:ext>
            </a:extLst>
          </p:cNvPr>
          <p:cNvCxnSpPr>
            <a:stCxn id="106" idx="2"/>
            <a:endCxn id="107" idx="0"/>
          </p:cNvCxnSpPr>
          <p:nvPr/>
        </p:nvCxnSpPr>
        <p:spPr>
          <a:xfrm>
            <a:off x="7788188" y="4003664"/>
            <a:ext cx="0" cy="91465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1C346D6D-AEBC-A81D-9E78-3E89EF02FC6E}"/>
              </a:ext>
            </a:extLst>
          </p:cNvPr>
          <p:cNvCxnSpPr>
            <a:stCxn id="107" idx="2"/>
            <a:endCxn id="108" idx="0"/>
          </p:cNvCxnSpPr>
          <p:nvPr/>
        </p:nvCxnSpPr>
        <p:spPr>
          <a:xfrm>
            <a:off x="7788188" y="4455169"/>
            <a:ext cx="0" cy="110732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0AD6B01E-D87B-9741-D0B3-CC379080EDDF}"/>
              </a:ext>
            </a:extLst>
          </p:cNvPr>
          <p:cNvCxnSpPr>
            <a:stCxn id="108" idx="2"/>
            <a:endCxn id="109" idx="0"/>
          </p:cNvCxnSpPr>
          <p:nvPr/>
        </p:nvCxnSpPr>
        <p:spPr>
          <a:xfrm>
            <a:off x="7788188" y="4925941"/>
            <a:ext cx="0" cy="7959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FC152882-D28F-AB6F-9B8E-754D985233AF}"/>
              </a:ext>
            </a:extLst>
          </p:cNvPr>
          <p:cNvCxnSpPr>
            <a:stCxn id="98" idx="2"/>
            <a:endCxn id="99" idx="0"/>
          </p:cNvCxnSpPr>
          <p:nvPr/>
        </p:nvCxnSpPr>
        <p:spPr>
          <a:xfrm>
            <a:off x="8800650" y="4005064"/>
            <a:ext cx="0" cy="91465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E8F10804-2243-97CE-E996-77A7DCA80B8E}"/>
              </a:ext>
            </a:extLst>
          </p:cNvPr>
          <p:cNvCxnSpPr>
            <a:stCxn id="99" idx="2"/>
            <a:endCxn id="100" idx="0"/>
          </p:cNvCxnSpPr>
          <p:nvPr/>
        </p:nvCxnSpPr>
        <p:spPr>
          <a:xfrm>
            <a:off x="8800650" y="4456569"/>
            <a:ext cx="0" cy="110732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6A836F6E-1DDB-0321-178C-3A7484D14172}"/>
              </a:ext>
            </a:extLst>
          </p:cNvPr>
          <p:cNvCxnSpPr>
            <a:stCxn id="100" idx="2"/>
            <a:endCxn id="101" idx="0"/>
          </p:cNvCxnSpPr>
          <p:nvPr/>
        </p:nvCxnSpPr>
        <p:spPr>
          <a:xfrm>
            <a:off x="8800650" y="4927341"/>
            <a:ext cx="0" cy="7959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05C6B471-CFF9-AD67-009D-6C6ED076580F}"/>
              </a:ext>
            </a:extLst>
          </p:cNvPr>
          <p:cNvCxnSpPr>
            <a:stCxn id="82" idx="2"/>
            <a:endCxn id="83" idx="0"/>
          </p:cNvCxnSpPr>
          <p:nvPr/>
        </p:nvCxnSpPr>
        <p:spPr>
          <a:xfrm>
            <a:off x="9804412" y="4005064"/>
            <a:ext cx="0" cy="91465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C10BE5A2-CB17-D37D-D8DE-2F86951CAA99}"/>
              </a:ext>
            </a:extLst>
          </p:cNvPr>
          <p:cNvCxnSpPr>
            <a:stCxn id="83" idx="2"/>
            <a:endCxn id="84" idx="0"/>
          </p:cNvCxnSpPr>
          <p:nvPr/>
        </p:nvCxnSpPr>
        <p:spPr>
          <a:xfrm>
            <a:off x="9804412" y="4456569"/>
            <a:ext cx="0" cy="110732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9E771DBE-BC80-2C2F-E442-14824F7FDE74}"/>
              </a:ext>
            </a:extLst>
          </p:cNvPr>
          <p:cNvCxnSpPr>
            <a:stCxn id="84" idx="2"/>
            <a:endCxn id="85" idx="0"/>
          </p:cNvCxnSpPr>
          <p:nvPr/>
        </p:nvCxnSpPr>
        <p:spPr>
          <a:xfrm>
            <a:off x="9804412" y="4927341"/>
            <a:ext cx="0" cy="7959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D9E32D1E-136C-2E4E-795C-A0930CE5155B}"/>
              </a:ext>
            </a:extLst>
          </p:cNvPr>
          <p:cNvCxnSpPr>
            <a:cxnSpLocks/>
            <a:stCxn id="90" idx="2"/>
            <a:endCxn id="91" idx="0"/>
          </p:cNvCxnSpPr>
          <p:nvPr/>
        </p:nvCxnSpPr>
        <p:spPr>
          <a:xfrm>
            <a:off x="10866529" y="4005064"/>
            <a:ext cx="0" cy="91465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AF1A4854-2FCD-90AC-25EF-81EC686A3BD3}"/>
              </a:ext>
            </a:extLst>
          </p:cNvPr>
          <p:cNvCxnSpPr>
            <a:cxnSpLocks/>
            <a:stCxn id="91" idx="2"/>
            <a:endCxn id="92" idx="0"/>
          </p:cNvCxnSpPr>
          <p:nvPr/>
        </p:nvCxnSpPr>
        <p:spPr>
          <a:xfrm>
            <a:off x="10866529" y="4456569"/>
            <a:ext cx="4351" cy="110732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431CAB8A-9069-9149-60C9-5785BFD9D271}"/>
              </a:ext>
            </a:extLst>
          </p:cNvPr>
          <p:cNvCxnSpPr>
            <a:cxnSpLocks/>
            <a:stCxn id="92" idx="2"/>
            <a:endCxn id="93" idx="0"/>
          </p:cNvCxnSpPr>
          <p:nvPr/>
        </p:nvCxnSpPr>
        <p:spPr>
          <a:xfrm>
            <a:off x="10870880" y="4927341"/>
            <a:ext cx="0" cy="79590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18CA4E2C-B09A-B9BB-E4DF-75C0610ACC9F}"/>
              </a:ext>
            </a:extLst>
          </p:cNvPr>
          <p:cNvCxnSpPr>
            <a:cxnSpLocks/>
          </p:cNvCxnSpPr>
          <p:nvPr/>
        </p:nvCxnSpPr>
        <p:spPr>
          <a:xfrm>
            <a:off x="11361284" y="3573016"/>
            <a:ext cx="830716" cy="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9416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4B1D2488-5B13-1FB0-77DD-C26D263FDD7C}"/>
              </a:ext>
            </a:extLst>
          </p:cNvPr>
          <p:cNvSpPr/>
          <p:nvPr/>
        </p:nvSpPr>
        <p:spPr>
          <a:xfrm>
            <a:off x="3143672" y="4418241"/>
            <a:ext cx="246044" cy="3943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9854125-71EF-705C-FDCD-85540B943A34}"/>
              </a:ext>
            </a:extLst>
          </p:cNvPr>
          <p:cNvSpPr/>
          <p:nvPr/>
        </p:nvSpPr>
        <p:spPr>
          <a:xfrm>
            <a:off x="3143672" y="4471383"/>
            <a:ext cx="318052" cy="288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4512454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4.7 S/W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아키텍처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투자 성향 검사</a:t>
            </a:r>
            <a:endParaRPr lang="en-US" sz="2500" b="1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C9EF4A45-A113-4400-E329-E6E3A61E7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656245"/>
              </p:ext>
            </p:extLst>
          </p:nvPr>
        </p:nvGraphicFramePr>
        <p:xfrm>
          <a:off x="344264" y="1412776"/>
          <a:ext cx="11512375" cy="4680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5392">
                  <a:extLst>
                    <a:ext uri="{9D8B030D-6E8A-4147-A177-3AD203B41FA5}">
                      <a16:colId xmlns:a16="http://schemas.microsoft.com/office/drawing/2014/main" val="1788413164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3744216838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1402549859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943072878"/>
                    </a:ext>
                  </a:extLst>
                </a:gridCol>
                <a:gridCol w="1656183">
                  <a:extLst>
                    <a:ext uri="{9D8B030D-6E8A-4147-A177-3AD203B41FA5}">
                      <a16:colId xmlns:a16="http://schemas.microsoft.com/office/drawing/2014/main" val="144377123"/>
                    </a:ext>
                  </a:extLst>
                </a:gridCol>
              </a:tblGrid>
              <a:tr h="298660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투자 성향 검사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867544"/>
                  </a:ext>
                </a:extLst>
              </a:tr>
              <a:tr h="2844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Presentaion Layer</a:t>
                      </a:r>
                      <a:endParaRPr lang="ko-KR" altLang="en-US" sz="120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>
                    <a:lnR w="1905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Controller Layer</a:t>
                      </a:r>
                      <a:endParaRPr lang="ko-KR" altLang="en-US" sz="120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Business Layer</a:t>
                      </a:r>
                      <a:endParaRPr lang="ko-KR" altLang="en-US" sz="120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Data Access Layer</a:t>
                      </a:r>
                      <a:endParaRPr lang="ko-KR" altLang="en-US" sz="120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DataBase</a:t>
                      </a:r>
                      <a:endParaRPr lang="ko-KR" altLang="en-US" sz="120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065637"/>
                  </a:ext>
                </a:extLst>
              </a:tr>
              <a:tr h="4097416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28575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139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E6DD61-07E6-B289-57A5-2CCBAEECB654}"/>
              </a:ext>
            </a:extLst>
          </p:cNvPr>
          <p:cNvSpPr txBox="1"/>
          <p:nvPr/>
        </p:nvSpPr>
        <p:spPr>
          <a:xfrm>
            <a:off x="374304" y="2100508"/>
            <a:ext cx="2193304" cy="2033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tIns="46800" bIns="46800" rtlCol="0">
            <a:spAutoFit/>
          </a:bodyPr>
          <a:lstStyle/>
          <a:p>
            <a:r>
              <a:rPr lang="en-US" altLang="ko-KR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testInfo.html : </a:t>
            </a:r>
            <a:r>
              <a:rPr lang="ko-KR" altLang="en-US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성향 검사 소개</a:t>
            </a:r>
            <a:r>
              <a:rPr lang="en-US" altLang="ko-KR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riskTest.html : </a:t>
            </a:r>
            <a:r>
              <a:rPr lang="ko-KR" altLang="en-US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위험 단계 설정</a:t>
            </a:r>
            <a:endParaRPr lang="en-US" altLang="ko-KR" sz="105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r>
              <a:rPr lang="en-US" altLang="ko-KR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interestSectors.html : </a:t>
            </a:r>
            <a:r>
              <a:rPr lang="ko-KR" altLang="en-US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관심 업종 선택</a:t>
            </a:r>
            <a:endParaRPr lang="en-US" altLang="ko-KR" sz="105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r>
              <a:rPr lang="en-US" altLang="ko-KR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setMinReturn.html : </a:t>
            </a:r>
            <a:r>
              <a:rPr lang="ko-KR" altLang="en-US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희망 수익률 설정</a:t>
            </a:r>
            <a:endParaRPr lang="en-US" altLang="ko-KR" sz="105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r>
              <a:rPr lang="en-US" altLang="ko-KR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testFinish.html : </a:t>
            </a:r>
            <a:r>
              <a:rPr lang="ko-KR" altLang="en-US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성향 검사 완료</a:t>
            </a:r>
            <a:r>
              <a:rPr lang="en-US" altLang="ko-KR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myPage.html : </a:t>
            </a:r>
            <a:r>
              <a:rPr lang="ko-KR" altLang="en-US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투자 성향 조회</a:t>
            </a:r>
            <a:endParaRPr lang="en-US" altLang="ko-KR" sz="105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r>
              <a:rPr lang="en-US" altLang="ko-KR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modifyTraits : </a:t>
            </a:r>
            <a:r>
              <a:rPr lang="ko-KR" altLang="en-US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투자 성향 수정</a:t>
            </a:r>
            <a:endParaRPr lang="en-US" altLang="ko-KR" sz="105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r>
              <a:rPr lang="en-US" altLang="ko-KR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Risk.html : </a:t>
            </a:r>
            <a:r>
              <a:rPr lang="ko-KR" altLang="en-US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위험 단계 수정</a:t>
            </a:r>
            <a:endParaRPr lang="en-US" altLang="ko-KR" sz="105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r>
              <a:rPr lang="en-US" altLang="ko-KR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traitSectors.html : </a:t>
            </a:r>
            <a:r>
              <a:rPr lang="ko-KR" altLang="en-US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관심 업종 수정</a:t>
            </a:r>
            <a:endParaRPr lang="en-US" altLang="ko-KR" sz="105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r>
              <a:rPr lang="en-US" altLang="ko-KR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expReturn.html : </a:t>
            </a:r>
            <a:r>
              <a:rPr lang="ko-KR" altLang="en-US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희망 수익률 수정</a:t>
            </a:r>
            <a:endParaRPr lang="ko-KR" altLang="en-US" sz="70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6ECDAD-EF36-F52F-497B-53864DD0D48A}"/>
              </a:ext>
            </a:extLst>
          </p:cNvPr>
          <p:cNvSpPr/>
          <p:nvPr/>
        </p:nvSpPr>
        <p:spPr>
          <a:xfrm>
            <a:off x="922630" y="4440213"/>
            <a:ext cx="1096652" cy="3503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Dispatcher Servlet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2EB255B-D104-870A-D086-99D684D9721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1470956" y="4134014"/>
            <a:ext cx="0" cy="3061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E628E4-9F75-F5D4-C269-05881F09A617}"/>
              </a:ext>
            </a:extLst>
          </p:cNvPr>
          <p:cNvSpPr/>
          <p:nvPr/>
        </p:nvSpPr>
        <p:spPr>
          <a:xfrm>
            <a:off x="2567608" y="4418242"/>
            <a:ext cx="966123" cy="3943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Interceptor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2F3A33C-2903-1194-72F8-95989F87568A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>
            <a:off x="2019282" y="4615395"/>
            <a:ext cx="548326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188A249-CD19-DF7E-4E75-2F4EA83C5899}"/>
              </a:ext>
            </a:extLst>
          </p:cNvPr>
          <p:cNvSpPr/>
          <p:nvPr/>
        </p:nvSpPr>
        <p:spPr>
          <a:xfrm>
            <a:off x="3264624" y="5445224"/>
            <a:ext cx="121385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LoginController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EF7BC6E3-A23B-8A6A-0072-135F98DF0D61}"/>
              </a:ext>
            </a:extLst>
          </p:cNvPr>
          <p:cNvCxnSpPr>
            <a:cxnSpLocks/>
            <a:stCxn id="20" idx="2"/>
            <a:endCxn id="8" idx="2"/>
          </p:cNvCxnSpPr>
          <p:nvPr/>
        </p:nvCxnSpPr>
        <p:spPr>
          <a:xfrm rot="5400000" flipH="1">
            <a:off x="2163911" y="4097622"/>
            <a:ext cx="1014688" cy="2400597"/>
          </a:xfrm>
          <a:prstGeom prst="bentConnector3">
            <a:avLst>
              <a:gd name="adj1" fmla="val -2252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C080AE0-913C-85A3-51A0-9A31CB637E62}"/>
              </a:ext>
            </a:extLst>
          </p:cNvPr>
          <p:cNvSpPr/>
          <p:nvPr/>
        </p:nvSpPr>
        <p:spPr>
          <a:xfrm>
            <a:off x="3863752" y="2193444"/>
            <a:ext cx="1152128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PropensityTestController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6C94EFFB-E25E-5EB2-1286-5481FBE3A5C4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 flipV="1">
            <a:off x="3533731" y="2409468"/>
            <a:ext cx="330021" cy="220592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0CFCE30-0F72-64CB-651C-DD169D4756D5}"/>
              </a:ext>
            </a:extLst>
          </p:cNvPr>
          <p:cNvSpPr/>
          <p:nvPr/>
        </p:nvSpPr>
        <p:spPr>
          <a:xfrm>
            <a:off x="5591944" y="2193444"/>
            <a:ext cx="1152128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PropensityTestSVC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5508E98-65F0-38A4-CCAF-719B30375299}"/>
              </a:ext>
            </a:extLst>
          </p:cNvPr>
          <p:cNvSpPr/>
          <p:nvPr/>
        </p:nvSpPr>
        <p:spPr>
          <a:xfrm>
            <a:off x="6996099" y="2193443"/>
            <a:ext cx="1152128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PropensityTestSVCImpl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A5403E1-E290-D0AA-87DD-4D1F86AD4628}"/>
              </a:ext>
            </a:extLst>
          </p:cNvPr>
          <p:cNvSpPr/>
          <p:nvPr/>
        </p:nvSpPr>
        <p:spPr>
          <a:xfrm>
            <a:off x="3996562" y="3701836"/>
            <a:ext cx="963842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ApiMember Controller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72A38F24-6318-B18D-D27F-81CDFCC3E3B9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 rot="16200000" flipH="1">
            <a:off x="3144775" y="4718446"/>
            <a:ext cx="632672" cy="820883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3310237A-0E7E-F4C1-5E72-4E1C45A73BAD}"/>
              </a:ext>
            </a:extLst>
          </p:cNvPr>
          <p:cNvCxnSpPr>
            <a:cxnSpLocks/>
            <a:stCxn id="58" idx="2"/>
            <a:endCxn id="28" idx="2"/>
          </p:cNvCxnSpPr>
          <p:nvPr/>
        </p:nvCxnSpPr>
        <p:spPr>
          <a:xfrm rot="5400000" flipH="1" flipV="1">
            <a:off x="3533255" y="3867322"/>
            <a:ext cx="678666" cy="1211789"/>
          </a:xfrm>
          <a:prstGeom prst="bentConnector3">
            <a:avLst>
              <a:gd name="adj1" fmla="val -3368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7F7E4537-698E-B9DF-2CAB-64DF430B6946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 flipV="1">
            <a:off x="5015880" y="2409464"/>
            <a:ext cx="576064" cy="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EB311E3B-3611-588C-7794-245B341F247D}"/>
              </a:ext>
            </a:extLst>
          </p:cNvPr>
          <p:cNvCxnSpPr>
            <a:stCxn id="28" idx="3"/>
            <a:endCxn id="26" idx="2"/>
          </p:cNvCxnSpPr>
          <p:nvPr/>
        </p:nvCxnSpPr>
        <p:spPr>
          <a:xfrm flipV="1">
            <a:off x="4960404" y="2625483"/>
            <a:ext cx="1207604" cy="129237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8C285740-03FE-42AE-7DF9-7B24FFA2E0C0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44072" y="2409463"/>
            <a:ext cx="2520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5E2FE42-91A1-4E6A-E94D-FD10DB9F325A}"/>
              </a:ext>
            </a:extLst>
          </p:cNvPr>
          <p:cNvSpPr/>
          <p:nvPr/>
        </p:nvSpPr>
        <p:spPr>
          <a:xfrm>
            <a:off x="8400256" y="2196652"/>
            <a:ext cx="1152128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PropensityTestDAO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048D9B72-70AF-5FBE-8231-6C8F4F0363F7}"/>
              </a:ext>
            </a:extLst>
          </p:cNvPr>
          <p:cNvSpPr/>
          <p:nvPr/>
        </p:nvSpPr>
        <p:spPr>
          <a:xfrm>
            <a:off x="8400256" y="3068969"/>
            <a:ext cx="1152128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PropensityTestDAOImpl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3D55760-6A44-3C1C-CCD6-6A40649A563C}"/>
              </a:ext>
            </a:extLst>
          </p:cNvPr>
          <p:cNvSpPr/>
          <p:nvPr/>
        </p:nvSpPr>
        <p:spPr>
          <a:xfrm>
            <a:off x="8400256" y="3861057"/>
            <a:ext cx="1152128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JDBC Template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CDB5E7CE-3207-6430-60E9-71705EA4AA44}"/>
              </a:ext>
            </a:extLst>
          </p:cNvPr>
          <p:cNvSpPr/>
          <p:nvPr/>
        </p:nvSpPr>
        <p:spPr>
          <a:xfrm>
            <a:off x="10416480" y="3861048"/>
            <a:ext cx="1152128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Data Source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2" name="순서도: 자기 디스크 101">
            <a:extLst>
              <a:ext uri="{FF2B5EF4-FFF2-40B4-BE49-F238E27FC236}">
                <a16:creationId xmlns:a16="http://schemas.microsoft.com/office/drawing/2014/main" id="{5DD1FEA3-5938-AF91-DE58-818902EAFECA}"/>
              </a:ext>
            </a:extLst>
          </p:cNvPr>
          <p:cNvSpPr/>
          <p:nvPr/>
        </p:nvSpPr>
        <p:spPr>
          <a:xfrm>
            <a:off x="10326469" y="2380525"/>
            <a:ext cx="1332149" cy="432039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MEMBER_TRAITS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59B25F33-C406-13BB-64D5-1669079E22E3}"/>
              </a:ext>
            </a:extLst>
          </p:cNvPr>
          <p:cNvCxnSpPr>
            <a:stCxn id="101" idx="0"/>
            <a:endCxn id="102" idx="3"/>
          </p:cNvCxnSpPr>
          <p:nvPr/>
        </p:nvCxnSpPr>
        <p:spPr>
          <a:xfrm flipV="1">
            <a:off x="10992544" y="2812564"/>
            <a:ext cx="0" cy="10484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4FD992D9-8BA6-6B75-A9BF-A08907AC6804}"/>
              </a:ext>
            </a:extLst>
          </p:cNvPr>
          <p:cNvCxnSpPr>
            <a:cxnSpLocks/>
            <a:stCxn id="100" idx="3"/>
            <a:endCxn id="101" idx="1"/>
          </p:cNvCxnSpPr>
          <p:nvPr/>
        </p:nvCxnSpPr>
        <p:spPr>
          <a:xfrm flipV="1">
            <a:off x="9552384" y="4077068"/>
            <a:ext cx="864096" cy="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CC71E44D-8BF9-6BD9-BC3B-98991DD5F891}"/>
              </a:ext>
            </a:extLst>
          </p:cNvPr>
          <p:cNvCxnSpPr>
            <a:stCxn id="99" idx="2"/>
            <a:endCxn id="100" idx="0"/>
          </p:cNvCxnSpPr>
          <p:nvPr/>
        </p:nvCxnSpPr>
        <p:spPr>
          <a:xfrm>
            <a:off x="8976320" y="3501008"/>
            <a:ext cx="0" cy="3600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B74725A8-B89C-3F1E-BB8D-058B8EB06E7B}"/>
              </a:ext>
            </a:extLst>
          </p:cNvPr>
          <p:cNvCxnSpPr>
            <a:stCxn id="98" idx="2"/>
            <a:endCxn id="99" idx="0"/>
          </p:cNvCxnSpPr>
          <p:nvPr/>
        </p:nvCxnSpPr>
        <p:spPr>
          <a:xfrm>
            <a:off x="8976320" y="2628691"/>
            <a:ext cx="0" cy="4402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5D620991-5E7E-72A5-C230-B3546112A1D7}"/>
              </a:ext>
            </a:extLst>
          </p:cNvPr>
          <p:cNvCxnSpPr>
            <a:stCxn id="27" idx="3"/>
            <a:endCxn id="98" idx="1"/>
          </p:cNvCxnSpPr>
          <p:nvPr/>
        </p:nvCxnSpPr>
        <p:spPr>
          <a:xfrm>
            <a:off x="8148227" y="2409463"/>
            <a:ext cx="252029" cy="32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5476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4B1D2488-5B13-1FB0-77DD-C26D263FDD7C}"/>
              </a:ext>
            </a:extLst>
          </p:cNvPr>
          <p:cNvSpPr/>
          <p:nvPr/>
        </p:nvSpPr>
        <p:spPr>
          <a:xfrm>
            <a:off x="3143672" y="4418241"/>
            <a:ext cx="246044" cy="3943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9854125-71EF-705C-FDCD-85540B943A34}"/>
              </a:ext>
            </a:extLst>
          </p:cNvPr>
          <p:cNvSpPr/>
          <p:nvPr/>
        </p:nvSpPr>
        <p:spPr>
          <a:xfrm>
            <a:off x="3143672" y="4471383"/>
            <a:ext cx="318052" cy="288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5416547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4.7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S/W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아키텍처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투자 성향별 종목 추천</a:t>
            </a:r>
            <a:endParaRPr lang="en-US" sz="2500" b="1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C9EF4A45-A113-4400-E329-E6E3A61E7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010204"/>
              </p:ext>
            </p:extLst>
          </p:nvPr>
        </p:nvGraphicFramePr>
        <p:xfrm>
          <a:off x="344264" y="1412776"/>
          <a:ext cx="11512375" cy="4680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7360">
                  <a:extLst>
                    <a:ext uri="{9D8B030D-6E8A-4147-A177-3AD203B41FA5}">
                      <a16:colId xmlns:a16="http://schemas.microsoft.com/office/drawing/2014/main" val="1788413164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374421683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1402549859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943072878"/>
                    </a:ext>
                  </a:extLst>
                </a:gridCol>
                <a:gridCol w="1656183">
                  <a:extLst>
                    <a:ext uri="{9D8B030D-6E8A-4147-A177-3AD203B41FA5}">
                      <a16:colId xmlns:a16="http://schemas.microsoft.com/office/drawing/2014/main" val="144377123"/>
                    </a:ext>
                  </a:extLst>
                </a:gridCol>
              </a:tblGrid>
              <a:tr h="298660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투자 성향별 종목 추천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867544"/>
                  </a:ext>
                </a:extLst>
              </a:tr>
              <a:tr h="2844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Presentaion Layer</a:t>
                      </a:r>
                      <a:endParaRPr lang="ko-KR" altLang="en-US" sz="120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>
                    <a:lnR w="1905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Controller Layer</a:t>
                      </a:r>
                      <a:endParaRPr lang="ko-KR" altLang="en-US" sz="120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Business Layer</a:t>
                      </a:r>
                      <a:endParaRPr lang="ko-KR" altLang="en-US" sz="120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Data Access Layer</a:t>
                      </a:r>
                      <a:endParaRPr lang="ko-KR" altLang="en-US" sz="120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DataBase</a:t>
                      </a:r>
                      <a:endParaRPr lang="ko-KR" altLang="en-US" sz="120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065637"/>
                  </a:ext>
                </a:extLst>
              </a:tr>
              <a:tr h="4097416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28575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13902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B86ECDAD-EF36-F52F-497B-53864DD0D48A}"/>
              </a:ext>
            </a:extLst>
          </p:cNvPr>
          <p:cNvSpPr/>
          <p:nvPr/>
        </p:nvSpPr>
        <p:spPr>
          <a:xfrm>
            <a:off x="922630" y="4440213"/>
            <a:ext cx="1096652" cy="3503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Dispatcher Servlet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2EB255B-D104-870A-D086-99D684D97214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 flipH="1">
            <a:off x="1470956" y="3002936"/>
            <a:ext cx="9215" cy="14372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E628E4-9F75-F5D4-C269-05881F09A617}"/>
              </a:ext>
            </a:extLst>
          </p:cNvPr>
          <p:cNvSpPr/>
          <p:nvPr/>
        </p:nvSpPr>
        <p:spPr>
          <a:xfrm>
            <a:off x="2351584" y="4418242"/>
            <a:ext cx="966123" cy="3943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Interceptor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2F3A33C-2903-1194-72F8-95989F87568A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>
            <a:off x="2019282" y="4615395"/>
            <a:ext cx="332302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188A249-CD19-DF7E-4E75-2F4EA83C5899}"/>
              </a:ext>
            </a:extLst>
          </p:cNvPr>
          <p:cNvSpPr/>
          <p:nvPr/>
        </p:nvSpPr>
        <p:spPr>
          <a:xfrm>
            <a:off x="3264624" y="5445224"/>
            <a:ext cx="121385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LoginController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EF7BC6E3-A23B-8A6A-0072-135F98DF0D61}"/>
              </a:ext>
            </a:extLst>
          </p:cNvPr>
          <p:cNvCxnSpPr>
            <a:cxnSpLocks/>
            <a:stCxn id="20" idx="2"/>
            <a:endCxn id="8" idx="2"/>
          </p:cNvCxnSpPr>
          <p:nvPr/>
        </p:nvCxnSpPr>
        <p:spPr>
          <a:xfrm rot="5400000" flipH="1">
            <a:off x="2163911" y="4097622"/>
            <a:ext cx="1014688" cy="2400597"/>
          </a:xfrm>
          <a:prstGeom prst="bentConnector3">
            <a:avLst>
              <a:gd name="adj1" fmla="val -2252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C080AE0-913C-85A3-51A0-9A31CB637E62}"/>
              </a:ext>
            </a:extLst>
          </p:cNvPr>
          <p:cNvSpPr/>
          <p:nvPr/>
        </p:nvSpPr>
        <p:spPr>
          <a:xfrm>
            <a:off x="3640411" y="3861048"/>
            <a:ext cx="1663731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StockRecommendation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Controller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6C94EFFB-E25E-5EB2-1286-5481FBE3A5C4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 flipV="1">
            <a:off x="3317707" y="4077072"/>
            <a:ext cx="322704" cy="538325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0CFCE30-0F72-64CB-651C-DD169D4756D5}"/>
              </a:ext>
            </a:extLst>
          </p:cNvPr>
          <p:cNvSpPr/>
          <p:nvPr/>
        </p:nvSpPr>
        <p:spPr>
          <a:xfrm>
            <a:off x="5591944" y="3861057"/>
            <a:ext cx="1301010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Stock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Recommendation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SVC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5508E98-65F0-38A4-CCAF-719B30375299}"/>
              </a:ext>
            </a:extLst>
          </p:cNvPr>
          <p:cNvSpPr/>
          <p:nvPr/>
        </p:nvSpPr>
        <p:spPr>
          <a:xfrm>
            <a:off x="7068107" y="3861056"/>
            <a:ext cx="1260141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Stock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Recommendation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SVCImpl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72A38F24-6318-B18D-D27F-81CDFCC3E3B9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 rot="16200000" flipH="1">
            <a:off x="3036763" y="4610434"/>
            <a:ext cx="632672" cy="1036907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7F7E4537-698E-B9DF-2CAB-64DF430B6946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5304142" y="4077072"/>
            <a:ext cx="287802" cy="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8C285740-03FE-42AE-7DF9-7B24FFA2E0C0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 flipV="1">
            <a:off x="6892954" y="4077076"/>
            <a:ext cx="175153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5E2FE42-91A1-4E6A-E94D-FD10DB9F325A}"/>
              </a:ext>
            </a:extLst>
          </p:cNvPr>
          <p:cNvSpPr/>
          <p:nvPr/>
        </p:nvSpPr>
        <p:spPr>
          <a:xfrm>
            <a:off x="8760295" y="3861057"/>
            <a:ext cx="1331917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Stock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RecommendationDAO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048D9B72-70AF-5FBE-8231-6C8F4F0363F7}"/>
              </a:ext>
            </a:extLst>
          </p:cNvPr>
          <p:cNvSpPr/>
          <p:nvPr/>
        </p:nvSpPr>
        <p:spPr>
          <a:xfrm>
            <a:off x="8760296" y="4725153"/>
            <a:ext cx="1328340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Stock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Recommendation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DAOImpl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3D55760-6A44-3C1C-CCD6-6A40649A563C}"/>
              </a:ext>
            </a:extLst>
          </p:cNvPr>
          <p:cNvSpPr/>
          <p:nvPr/>
        </p:nvSpPr>
        <p:spPr>
          <a:xfrm>
            <a:off x="8760296" y="5517241"/>
            <a:ext cx="1152128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JDBC Template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CDB5E7CE-3207-6430-60E9-71705EA4AA44}"/>
              </a:ext>
            </a:extLst>
          </p:cNvPr>
          <p:cNvSpPr/>
          <p:nvPr/>
        </p:nvSpPr>
        <p:spPr>
          <a:xfrm>
            <a:off x="10414692" y="5517241"/>
            <a:ext cx="1152128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Data Source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2" name="순서도: 자기 디스크 101">
            <a:extLst>
              <a:ext uri="{FF2B5EF4-FFF2-40B4-BE49-F238E27FC236}">
                <a16:creationId xmlns:a16="http://schemas.microsoft.com/office/drawing/2014/main" id="{5DD1FEA3-5938-AF91-DE58-818902EAFECA}"/>
              </a:ext>
            </a:extLst>
          </p:cNvPr>
          <p:cNvSpPr/>
          <p:nvPr/>
        </p:nvSpPr>
        <p:spPr>
          <a:xfrm>
            <a:off x="10326469" y="2380525"/>
            <a:ext cx="1332149" cy="432039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REC_STK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59B25F33-C406-13BB-64D5-1669079E22E3}"/>
              </a:ext>
            </a:extLst>
          </p:cNvPr>
          <p:cNvCxnSpPr>
            <a:stCxn id="101" idx="0"/>
            <a:endCxn id="102" idx="3"/>
          </p:cNvCxnSpPr>
          <p:nvPr/>
        </p:nvCxnSpPr>
        <p:spPr>
          <a:xfrm flipV="1">
            <a:off x="10990756" y="2812564"/>
            <a:ext cx="1788" cy="27046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4FD992D9-8BA6-6B75-A9BF-A08907AC6804}"/>
              </a:ext>
            </a:extLst>
          </p:cNvPr>
          <p:cNvCxnSpPr>
            <a:cxnSpLocks/>
            <a:stCxn id="100" idx="3"/>
            <a:endCxn id="101" idx="1"/>
          </p:cNvCxnSpPr>
          <p:nvPr/>
        </p:nvCxnSpPr>
        <p:spPr>
          <a:xfrm>
            <a:off x="9912424" y="5733261"/>
            <a:ext cx="50226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CC71E44D-8BF9-6BD9-BC3B-98991DD5F891}"/>
              </a:ext>
            </a:extLst>
          </p:cNvPr>
          <p:cNvCxnSpPr>
            <a:cxnSpLocks/>
            <a:stCxn id="99" idx="2"/>
          </p:cNvCxnSpPr>
          <p:nvPr/>
        </p:nvCxnSpPr>
        <p:spPr>
          <a:xfrm>
            <a:off x="9424466" y="5157192"/>
            <a:ext cx="0" cy="3600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B74725A8-B89C-3F1E-BB8D-058B8EB06E7B}"/>
              </a:ext>
            </a:extLst>
          </p:cNvPr>
          <p:cNvCxnSpPr>
            <a:cxnSpLocks/>
            <a:stCxn id="98" idx="2"/>
            <a:endCxn id="99" idx="0"/>
          </p:cNvCxnSpPr>
          <p:nvPr/>
        </p:nvCxnSpPr>
        <p:spPr>
          <a:xfrm flipH="1">
            <a:off x="9424466" y="4293096"/>
            <a:ext cx="1788" cy="4320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5D620991-5E7E-72A5-C230-B3546112A1D7}"/>
              </a:ext>
            </a:extLst>
          </p:cNvPr>
          <p:cNvCxnSpPr>
            <a:cxnSpLocks/>
            <a:stCxn id="27" idx="3"/>
            <a:endCxn id="98" idx="1"/>
          </p:cNvCxnSpPr>
          <p:nvPr/>
        </p:nvCxnSpPr>
        <p:spPr>
          <a:xfrm>
            <a:off x="8328248" y="4077076"/>
            <a:ext cx="43204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FD36A67-54F6-52FB-F6D1-0033C1910766}"/>
              </a:ext>
            </a:extLst>
          </p:cNvPr>
          <p:cNvSpPr txBox="1"/>
          <p:nvPr/>
        </p:nvSpPr>
        <p:spPr>
          <a:xfrm>
            <a:off x="374304" y="2100508"/>
            <a:ext cx="2211734" cy="902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tIns="46800" bIns="46800" rtlCol="0">
            <a:spAutoFit/>
          </a:bodyPr>
          <a:lstStyle/>
          <a:p>
            <a:r>
              <a:rPr lang="en-US" altLang="ko-KR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stockRecommendation.html : </a:t>
            </a:r>
            <a:r>
              <a:rPr lang="ko-KR" altLang="en-US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투자 성향별 종목 추천 기간 입력</a:t>
            </a:r>
            <a:endParaRPr lang="en-US" altLang="ko-KR" sz="105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endParaRPr lang="en-US" altLang="ko-KR" sz="105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r>
              <a:rPr lang="en-US" altLang="ko-KR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recommendList.html : </a:t>
            </a:r>
            <a:r>
              <a:rPr lang="ko-KR" altLang="en-US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투자 성향별 종목 추천 리스트</a:t>
            </a:r>
            <a:endParaRPr lang="en-US" altLang="ko-KR" sz="105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C78B5D4-665D-94CD-C79C-BBF6470E0C4B}"/>
              </a:ext>
            </a:extLst>
          </p:cNvPr>
          <p:cNvCxnSpPr>
            <a:cxnSpLocks/>
            <a:stCxn id="102" idx="2"/>
            <a:endCxn id="3" idx="3"/>
          </p:cNvCxnSpPr>
          <p:nvPr/>
        </p:nvCxnSpPr>
        <p:spPr>
          <a:xfrm flipH="1" flipV="1">
            <a:off x="2586038" y="2551722"/>
            <a:ext cx="7740431" cy="448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AE8941-253B-9D18-5985-DAB3D017AB25}"/>
              </a:ext>
            </a:extLst>
          </p:cNvPr>
          <p:cNvSpPr/>
          <p:nvPr/>
        </p:nvSpPr>
        <p:spPr>
          <a:xfrm>
            <a:off x="2855640" y="3140968"/>
            <a:ext cx="1152128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PropensityTestController</a:t>
            </a:r>
            <a:endParaRPr lang="ko-KR" altLang="en-US" sz="1000" b="1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21F658BC-6DB3-8EB0-96F1-CC13B4F0B0F6}"/>
              </a:ext>
            </a:extLst>
          </p:cNvPr>
          <p:cNvCxnSpPr>
            <a:stCxn id="17" idx="0"/>
            <a:endCxn id="13" idx="2"/>
          </p:cNvCxnSpPr>
          <p:nvPr/>
        </p:nvCxnSpPr>
        <p:spPr>
          <a:xfrm rot="5400000" flipH="1" flipV="1">
            <a:off x="2710562" y="3697100"/>
            <a:ext cx="845226" cy="597058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1CF33EC9-6690-A0CE-5DBE-748A61DCC77A}"/>
              </a:ext>
            </a:extLst>
          </p:cNvPr>
          <p:cNvCxnSpPr>
            <a:stCxn id="13" idx="1"/>
            <a:endCxn id="8" idx="0"/>
          </p:cNvCxnSpPr>
          <p:nvPr/>
        </p:nvCxnSpPr>
        <p:spPr>
          <a:xfrm rot="10800000" flipV="1">
            <a:off x="1470956" y="3356991"/>
            <a:ext cx="1384684" cy="108322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0807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4B1D2488-5B13-1FB0-77DD-C26D263FDD7C}"/>
              </a:ext>
            </a:extLst>
          </p:cNvPr>
          <p:cNvSpPr/>
          <p:nvPr/>
        </p:nvSpPr>
        <p:spPr>
          <a:xfrm>
            <a:off x="3143672" y="4418241"/>
            <a:ext cx="246044" cy="3943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9854125-71EF-705C-FDCD-85540B943A34}"/>
              </a:ext>
            </a:extLst>
          </p:cNvPr>
          <p:cNvSpPr/>
          <p:nvPr/>
        </p:nvSpPr>
        <p:spPr>
          <a:xfrm>
            <a:off x="3143672" y="4471383"/>
            <a:ext cx="318052" cy="288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4861908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4.7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S/W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아키텍처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실시간 이슈 정보 </a:t>
            </a:r>
            <a:endParaRPr lang="en-US" sz="2500" b="1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C9EF4A45-A113-4400-E329-E6E3A61E7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743009"/>
              </p:ext>
            </p:extLst>
          </p:nvPr>
        </p:nvGraphicFramePr>
        <p:xfrm>
          <a:off x="344264" y="1412776"/>
          <a:ext cx="11512375" cy="4680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5392">
                  <a:extLst>
                    <a:ext uri="{9D8B030D-6E8A-4147-A177-3AD203B41FA5}">
                      <a16:colId xmlns:a16="http://schemas.microsoft.com/office/drawing/2014/main" val="1788413164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744216838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1402549859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943072878"/>
                    </a:ext>
                  </a:extLst>
                </a:gridCol>
                <a:gridCol w="2016223">
                  <a:extLst>
                    <a:ext uri="{9D8B030D-6E8A-4147-A177-3AD203B41FA5}">
                      <a16:colId xmlns:a16="http://schemas.microsoft.com/office/drawing/2014/main" val="144377123"/>
                    </a:ext>
                  </a:extLst>
                </a:gridCol>
              </a:tblGrid>
              <a:tr h="298660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실시간 이슈 정보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867544"/>
                  </a:ext>
                </a:extLst>
              </a:tr>
              <a:tr h="2844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Presentaion Layer</a:t>
                      </a:r>
                      <a:endParaRPr lang="ko-KR" altLang="en-US" sz="120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>
                    <a:lnR w="1905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Controller Layer</a:t>
                      </a:r>
                      <a:endParaRPr lang="ko-KR" altLang="en-US" sz="120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Business Layer</a:t>
                      </a:r>
                      <a:endParaRPr lang="ko-KR" altLang="en-US" sz="120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Data Access Layer</a:t>
                      </a:r>
                      <a:endParaRPr lang="ko-KR" altLang="en-US" sz="120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DataBase</a:t>
                      </a:r>
                      <a:endParaRPr lang="ko-KR" altLang="en-US" sz="120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065637"/>
                  </a:ext>
                </a:extLst>
              </a:tr>
              <a:tr h="4097416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28575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13902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B86ECDAD-EF36-F52F-497B-53864DD0D48A}"/>
              </a:ext>
            </a:extLst>
          </p:cNvPr>
          <p:cNvSpPr/>
          <p:nvPr/>
        </p:nvSpPr>
        <p:spPr>
          <a:xfrm>
            <a:off x="1538982" y="4446789"/>
            <a:ext cx="1096652" cy="3503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Dispatcher Servlet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2EB255B-D104-870A-D086-99D684D97214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 flipH="1">
            <a:off x="2087308" y="2694551"/>
            <a:ext cx="1991" cy="17522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C080AE0-913C-85A3-51A0-9A31CB637E62}"/>
              </a:ext>
            </a:extLst>
          </p:cNvPr>
          <p:cNvSpPr/>
          <p:nvPr/>
        </p:nvSpPr>
        <p:spPr>
          <a:xfrm>
            <a:off x="3719736" y="2780928"/>
            <a:ext cx="1028704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Trend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Controller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0CFCE30-0F72-64CB-651C-DD169D4756D5}"/>
              </a:ext>
            </a:extLst>
          </p:cNvPr>
          <p:cNvSpPr/>
          <p:nvPr/>
        </p:nvSpPr>
        <p:spPr>
          <a:xfrm>
            <a:off x="6163142" y="2780928"/>
            <a:ext cx="1301010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Trend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SVC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5508E98-65F0-38A4-CCAF-719B30375299}"/>
              </a:ext>
            </a:extLst>
          </p:cNvPr>
          <p:cNvSpPr/>
          <p:nvPr/>
        </p:nvSpPr>
        <p:spPr>
          <a:xfrm>
            <a:off x="6199145" y="3501008"/>
            <a:ext cx="1260141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Trend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SVCImpl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7F7E4537-698E-B9DF-2CAB-64DF430B6946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 flipV="1">
            <a:off x="4748440" y="2996948"/>
            <a:ext cx="1414702" cy="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5E2FE42-91A1-4E6A-E94D-FD10DB9F325A}"/>
              </a:ext>
            </a:extLst>
          </p:cNvPr>
          <p:cNvSpPr/>
          <p:nvPr/>
        </p:nvSpPr>
        <p:spPr>
          <a:xfrm>
            <a:off x="8184232" y="3501008"/>
            <a:ext cx="1152128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TrendDAO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048D9B72-70AF-5FBE-8231-6C8F4F0363F7}"/>
              </a:ext>
            </a:extLst>
          </p:cNvPr>
          <p:cNvSpPr/>
          <p:nvPr/>
        </p:nvSpPr>
        <p:spPr>
          <a:xfrm>
            <a:off x="8184232" y="4403041"/>
            <a:ext cx="1152128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TrendDAOImpl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3D55760-6A44-3C1C-CCD6-6A40649A563C}"/>
              </a:ext>
            </a:extLst>
          </p:cNvPr>
          <p:cNvSpPr/>
          <p:nvPr/>
        </p:nvSpPr>
        <p:spPr>
          <a:xfrm>
            <a:off x="8184232" y="5195129"/>
            <a:ext cx="1152128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JDBC Template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CDB5E7CE-3207-6430-60E9-71705EA4AA44}"/>
              </a:ext>
            </a:extLst>
          </p:cNvPr>
          <p:cNvSpPr/>
          <p:nvPr/>
        </p:nvSpPr>
        <p:spPr>
          <a:xfrm>
            <a:off x="10414692" y="5195129"/>
            <a:ext cx="1152128" cy="4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Data Source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2" name="순서도: 자기 디스크 101">
            <a:extLst>
              <a:ext uri="{FF2B5EF4-FFF2-40B4-BE49-F238E27FC236}">
                <a16:creationId xmlns:a16="http://schemas.microsoft.com/office/drawing/2014/main" id="{5DD1FEA3-5938-AF91-DE58-818902EAFECA}"/>
              </a:ext>
            </a:extLst>
          </p:cNvPr>
          <p:cNvSpPr/>
          <p:nvPr/>
        </p:nvSpPr>
        <p:spPr>
          <a:xfrm>
            <a:off x="9912424" y="2852945"/>
            <a:ext cx="738083" cy="432039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NEWS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4FD992D9-8BA6-6B75-A9BF-A08907AC6804}"/>
              </a:ext>
            </a:extLst>
          </p:cNvPr>
          <p:cNvCxnSpPr>
            <a:cxnSpLocks/>
            <a:stCxn id="100" idx="3"/>
            <a:endCxn id="101" idx="1"/>
          </p:cNvCxnSpPr>
          <p:nvPr/>
        </p:nvCxnSpPr>
        <p:spPr>
          <a:xfrm>
            <a:off x="9336360" y="5411149"/>
            <a:ext cx="10783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CC71E44D-8BF9-6BD9-BC3B-98991DD5F891}"/>
              </a:ext>
            </a:extLst>
          </p:cNvPr>
          <p:cNvCxnSpPr>
            <a:stCxn id="99" idx="2"/>
            <a:endCxn id="100" idx="0"/>
          </p:cNvCxnSpPr>
          <p:nvPr/>
        </p:nvCxnSpPr>
        <p:spPr>
          <a:xfrm>
            <a:off x="8760296" y="4835080"/>
            <a:ext cx="0" cy="3600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B74725A8-B89C-3F1E-BB8D-058B8EB06E7B}"/>
              </a:ext>
            </a:extLst>
          </p:cNvPr>
          <p:cNvCxnSpPr>
            <a:stCxn id="98" idx="2"/>
            <a:endCxn id="99" idx="0"/>
          </p:cNvCxnSpPr>
          <p:nvPr/>
        </p:nvCxnSpPr>
        <p:spPr>
          <a:xfrm>
            <a:off x="8760296" y="3933047"/>
            <a:ext cx="0" cy="4699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5D620991-5E7E-72A5-C230-B3546112A1D7}"/>
              </a:ext>
            </a:extLst>
          </p:cNvPr>
          <p:cNvCxnSpPr>
            <a:cxnSpLocks/>
            <a:stCxn id="27" idx="3"/>
            <a:endCxn id="98" idx="1"/>
          </p:cNvCxnSpPr>
          <p:nvPr/>
        </p:nvCxnSpPr>
        <p:spPr>
          <a:xfrm>
            <a:off x="7459286" y="3717028"/>
            <a:ext cx="72494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FD36A67-54F6-52FB-F6D1-0033C1910766}"/>
              </a:ext>
            </a:extLst>
          </p:cNvPr>
          <p:cNvSpPr txBox="1"/>
          <p:nvPr/>
        </p:nvSpPr>
        <p:spPr>
          <a:xfrm>
            <a:off x="1415480" y="2276872"/>
            <a:ext cx="1347638" cy="4176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tIns="46800" bIns="46800" rtlCol="0">
            <a:spAutoFit/>
          </a:bodyPr>
          <a:lstStyle/>
          <a:p>
            <a:r>
              <a:rPr lang="en-US" altLang="ko-KR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trend.html :</a:t>
            </a:r>
          </a:p>
          <a:p>
            <a:r>
              <a:rPr lang="en-US" altLang="ko-KR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r>
              <a:rPr lang="ko-KR" altLang="en-US" sz="105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실시간 트렌드 페이지</a:t>
            </a:r>
            <a:endParaRPr lang="en-US" altLang="ko-KR" sz="105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295A2ECE-2529-39FC-85FC-A9C25F92D8C6}"/>
              </a:ext>
            </a:extLst>
          </p:cNvPr>
          <p:cNvCxnSpPr>
            <a:stCxn id="8" idx="3"/>
            <a:endCxn id="23" idx="1"/>
          </p:cNvCxnSpPr>
          <p:nvPr/>
        </p:nvCxnSpPr>
        <p:spPr>
          <a:xfrm flipV="1">
            <a:off x="2635634" y="2996952"/>
            <a:ext cx="1084102" cy="162501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순서도: 자기 디스크 39">
            <a:extLst>
              <a:ext uri="{FF2B5EF4-FFF2-40B4-BE49-F238E27FC236}">
                <a16:creationId xmlns:a16="http://schemas.microsoft.com/office/drawing/2014/main" id="{8DA890BE-1BC5-CB68-15F9-AE570C3D91F8}"/>
              </a:ext>
            </a:extLst>
          </p:cNvPr>
          <p:cNvSpPr/>
          <p:nvPr/>
        </p:nvSpPr>
        <p:spPr>
          <a:xfrm>
            <a:off x="11046549" y="2852945"/>
            <a:ext cx="738083" cy="432039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COMMUNITY</a:t>
            </a:r>
            <a:endParaRPr lang="ko-KR" altLang="en-US" sz="10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989B0873-C968-0672-B559-EE37F307134B}"/>
              </a:ext>
            </a:extLst>
          </p:cNvPr>
          <p:cNvCxnSpPr>
            <a:stCxn id="26" idx="2"/>
          </p:cNvCxnSpPr>
          <p:nvPr/>
        </p:nvCxnSpPr>
        <p:spPr>
          <a:xfrm flipH="1">
            <a:off x="6811214" y="3212967"/>
            <a:ext cx="2433" cy="2880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3FA0D26E-CB12-58B8-583C-D21FD8EC154C}"/>
              </a:ext>
            </a:extLst>
          </p:cNvPr>
          <p:cNvCxnSpPr>
            <a:stCxn id="101" idx="0"/>
            <a:endCxn id="102" idx="3"/>
          </p:cNvCxnSpPr>
          <p:nvPr/>
        </p:nvCxnSpPr>
        <p:spPr>
          <a:xfrm rot="16200000" flipV="1">
            <a:off x="9681039" y="3885412"/>
            <a:ext cx="1910145" cy="709290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559B48E1-1DDB-0D05-E087-39BE7F2EE2A4}"/>
              </a:ext>
            </a:extLst>
          </p:cNvPr>
          <p:cNvCxnSpPr>
            <a:stCxn id="101" idx="0"/>
            <a:endCxn id="40" idx="3"/>
          </p:cNvCxnSpPr>
          <p:nvPr/>
        </p:nvCxnSpPr>
        <p:spPr>
          <a:xfrm rot="5400000" flipH="1" flipV="1">
            <a:off x="10248101" y="4027640"/>
            <a:ext cx="1910145" cy="424835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06539780-87F7-10C7-6943-031B838340F4}"/>
              </a:ext>
            </a:extLst>
          </p:cNvPr>
          <p:cNvCxnSpPr>
            <a:stCxn id="40" idx="1"/>
            <a:endCxn id="3" idx="3"/>
          </p:cNvCxnSpPr>
          <p:nvPr/>
        </p:nvCxnSpPr>
        <p:spPr>
          <a:xfrm rot="16200000" flipV="1">
            <a:off x="6905739" y="-1656908"/>
            <a:ext cx="367233" cy="865247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6B4D4790-2260-8C38-86C1-F802B4A470BC}"/>
              </a:ext>
            </a:extLst>
          </p:cNvPr>
          <p:cNvCxnSpPr>
            <a:stCxn id="102" idx="1"/>
            <a:endCxn id="3" idx="3"/>
          </p:cNvCxnSpPr>
          <p:nvPr/>
        </p:nvCxnSpPr>
        <p:spPr>
          <a:xfrm rot="16200000" flipV="1">
            <a:off x="6338676" y="-1089845"/>
            <a:ext cx="367233" cy="75183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2998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267541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4.8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시스템 아키텍처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6E61B4-0E61-E4AC-A64D-9C53476C87CE}"/>
              </a:ext>
            </a:extLst>
          </p:cNvPr>
          <p:cNvSpPr/>
          <p:nvPr/>
        </p:nvSpPr>
        <p:spPr>
          <a:xfrm>
            <a:off x="311724" y="1412776"/>
            <a:ext cx="11544916" cy="446449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pic>
        <p:nvPicPr>
          <p:cNvPr id="16" name="그림 15" descr="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9A951EAC-13F2-3168-B67D-82411647E5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2348880"/>
            <a:ext cx="1080120" cy="1080120"/>
          </a:xfrm>
          <a:prstGeom prst="rect">
            <a:avLst/>
          </a:prstGeom>
        </p:spPr>
      </p:pic>
      <p:pic>
        <p:nvPicPr>
          <p:cNvPr id="18" name="그림 17" descr="상징, 로고, 폰트이(가) 표시된 사진&#10;&#10;자동 생성된 설명">
            <a:extLst>
              <a:ext uri="{FF2B5EF4-FFF2-40B4-BE49-F238E27FC236}">
                <a16:creationId xmlns:a16="http://schemas.microsoft.com/office/drawing/2014/main" id="{9FE640CD-DADA-8C82-8A8D-BC5664808B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043" y="2655750"/>
            <a:ext cx="1224136" cy="623508"/>
          </a:xfrm>
          <a:prstGeom prst="rect">
            <a:avLst/>
          </a:prstGeom>
        </p:spPr>
      </p:pic>
      <p:pic>
        <p:nvPicPr>
          <p:cNvPr id="22" name="그림 21" descr="원, 로고, 텍스트, 스크린샷이(가) 표시된 사진&#10;&#10;자동 생성된 설명">
            <a:extLst>
              <a:ext uri="{FF2B5EF4-FFF2-40B4-BE49-F238E27FC236}">
                <a16:creationId xmlns:a16="http://schemas.microsoft.com/office/drawing/2014/main" id="{E3BCC958-E3BD-B15D-AAF6-AF3AADE33D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63778" y1="67279" x2="63778" y2="67279"/>
                        <a14:foregroundMark x1="68889" y1="68934" x2="46778" y2="66912"/>
                        <a14:foregroundMark x1="46778" y1="66912" x2="61556" y2="63419"/>
                        <a14:foregroundMark x1="61556" y1="63419" x2="69889" y2="69853"/>
                        <a14:foregroundMark x1="71222" y1="72794" x2="45889" y2="65257"/>
                        <a14:foregroundMark x1="45889" y1="65257" x2="61667" y2="59191"/>
                        <a14:foregroundMark x1="61667" y1="59191" x2="70778" y2="68566"/>
                        <a14:foregroundMark x1="70222" y1="73346" x2="46667" y2="72978"/>
                        <a14:foregroundMark x1="46667" y1="72978" x2="55444" y2="60662"/>
                        <a14:foregroundMark x1="55444" y1="60662" x2="67222" y2="69485"/>
                        <a14:foregroundMark x1="67222" y1="69485" x2="66556" y2="75184"/>
                        <a14:foregroundMark x1="57000" y1="71324" x2="43778" y2="68199"/>
                        <a14:foregroundMark x1="43778" y1="68199" x2="50222" y2="70956"/>
                        <a14:foregroundMark x1="49667" y1="62684" x2="44667" y2="70772"/>
                        <a14:foregroundMark x1="49889" y1="57721" x2="44111" y2="67831"/>
                        <a14:foregroundMark x1="48111" y1="63603" x2="46778" y2="71507"/>
                        <a14:foregroundMark x1="60556" y1="57537" x2="67667" y2="64706"/>
                        <a14:foregroundMark x1="68667" y1="61765" x2="66000" y2="57904"/>
                        <a14:foregroundMark x1="62000" y1="52390" x2="65333" y2="70772"/>
                        <a14:foregroundMark x1="65333" y1="70772" x2="72000" y2="64522"/>
                        <a14:foregroundMark x1="71556" y1="63971" x2="70222" y2="705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434" y="4396045"/>
            <a:ext cx="2016224" cy="1378277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E8B9EE0-103F-082F-92A1-50CAF32D1EE9}"/>
              </a:ext>
            </a:extLst>
          </p:cNvPr>
          <p:cNvSpPr/>
          <p:nvPr/>
        </p:nvSpPr>
        <p:spPr>
          <a:xfrm>
            <a:off x="2864966" y="2089288"/>
            <a:ext cx="3063407" cy="1555736"/>
          </a:xfrm>
          <a:prstGeom prst="roundRect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3336F24-18D5-FDB7-57E0-0D77CAB7FB2E}"/>
              </a:ext>
            </a:extLst>
          </p:cNvPr>
          <p:cNvSpPr/>
          <p:nvPr/>
        </p:nvSpPr>
        <p:spPr>
          <a:xfrm>
            <a:off x="3435316" y="1791625"/>
            <a:ext cx="1220524" cy="64807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pic>
        <p:nvPicPr>
          <p:cNvPr id="20" name="그림 19" descr="폰트, 그래픽, 로고, 상징이(가) 표시된 사진&#10;&#10;자동 생성된 설명">
            <a:extLst>
              <a:ext uri="{FF2B5EF4-FFF2-40B4-BE49-F238E27FC236}">
                <a16:creationId xmlns:a16="http://schemas.microsoft.com/office/drawing/2014/main" id="{B0C15AE4-C1B9-1EAB-4F59-75E8646AE3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704" y="1796440"/>
            <a:ext cx="1217260" cy="63844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DC94201D-280A-07A9-0374-B8DA899D7960}"/>
              </a:ext>
            </a:extLst>
          </p:cNvPr>
          <p:cNvSpPr/>
          <p:nvPr/>
        </p:nvSpPr>
        <p:spPr>
          <a:xfrm>
            <a:off x="3719736" y="2060848"/>
            <a:ext cx="1224136" cy="64807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pic>
        <p:nvPicPr>
          <p:cNvPr id="28" name="그림 27" descr="폰트, 그래픽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1D3DD782-E3B4-C0C2-AE2D-6DCB209FC4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120" y="2635488"/>
            <a:ext cx="2351584" cy="434492"/>
          </a:xfrm>
          <a:prstGeom prst="rect">
            <a:avLst/>
          </a:prstGeom>
        </p:spPr>
      </p:pic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73BFAFD-10A3-F908-AC7B-4C0651517F4C}"/>
              </a:ext>
            </a:extLst>
          </p:cNvPr>
          <p:cNvCxnSpPr>
            <a:cxnSpLocks/>
          </p:cNvCxnSpPr>
          <p:nvPr/>
        </p:nvCxnSpPr>
        <p:spPr>
          <a:xfrm flipH="1">
            <a:off x="7001591" y="3093500"/>
            <a:ext cx="777844" cy="18461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E7B7223-8C13-5ED8-140C-ED97D253A1A3}"/>
              </a:ext>
            </a:extLst>
          </p:cNvPr>
          <p:cNvCxnSpPr>
            <a:cxnSpLocks/>
          </p:cNvCxnSpPr>
          <p:nvPr/>
        </p:nvCxnSpPr>
        <p:spPr>
          <a:xfrm flipV="1">
            <a:off x="7160615" y="3093500"/>
            <a:ext cx="814352" cy="18689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77BF004-E15E-2936-0A9B-326216B099D9}"/>
              </a:ext>
            </a:extLst>
          </p:cNvPr>
          <p:cNvCxnSpPr>
            <a:cxnSpLocks/>
          </p:cNvCxnSpPr>
          <p:nvPr/>
        </p:nvCxnSpPr>
        <p:spPr>
          <a:xfrm flipH="1" flipV="1">
            <a:off x="5559707" y="3629553"/>
            <a:ext cx="737309" cy="11887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E2C83102-1048-4F84-F6F2-59674D615CE7}"/>
              </a:ext>
            </a:extLst>
          </p:cNvPr>
          <p:cNvCxnSpPr>
            <a:cxnSpLocks/>
          </p:cNvCxnSpPr>
          <p:nvPr/>
        </p:nvCxnSpPr>
        <p:spPr>
          <a:xfrm>
            <a:off x="5283111" y="3652512"/>
            <a:ext cx="1022011" cy="15017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그림 46" descr="그래픽, 로고, 폰트, 아쿠아이(가) 표시된 사진&#10;&#10;자동 생성된 설명">
            <a:extLst>
              <a:ext uri="{FF2B5EF4-FFF2-40B4-BE49-F238E27FC236}">
                <a16:creationId xmlns:a16="http://schemas.microsoft.com/office/drawing/2014/main" id="{A3012482-EE04-486C-2530-2EF9A7273D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3174" y="1643225"/>
            <a:ext cx="835246" cy="835246"/>
          </a:xfrm>
          <a:prstGeom prst="rect">
            <a:avLst/>
          </a:prstGeom>
        </p:spPr>
      </p:pic>
      <p:pic>
        <p:nvPicPr>
          <p:cNvPr id="49" name="그림 48" descr="그린, 로고, 폰트, 그래픽이(가) 표시된 사진&#10;&#10;자동 생성된 설명">
            <a:extLst>
              <a:ext uri="{FF2B5EF4-FFF2-40B4-BE49-F238E27FC236}">
                <a16:creationId xmlns:a16="http://schemas.microsoft.com/office/drawing/2014/main" id="{ABB71588-0E9C-D49E-4D24-F4B2E6AFBE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848" y="2593650"/>
            <a:ext cx="878351" cy="878351"/>
          </a:xfrm>
          <a:prstGeom prst="rect">
            <a:avLst/>
          </a:prstGeom>
        </p:spPr>
      </p:pic>
      <p:pic>
        <p:nvPicPr>
          <p:cNvPr id="51" name="그림 50" descr="일렉트릭 블루, 폰트, 로고, 스크린샷이(가) 표시된 사진&#10;&#10;자동 생성된 설명">
            <a:extLst>
              <a:ext uri="{FF2B5EF4-FFF2-40B4-BE49-F238E27FC236}">
                <a16:creationId xmlns:a16="http://schemas.microsoft.com/office/drawing/2014/main" id="{01290CF5-884E-A6C0-0C15-38FDEBA772E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3422" y="3678963"/>
            <a:ext cx="878351" cy="878351"/>
          </a:xfrm>
          <a:prstGeom prst="rect">
            <a:avLst/>
          </a:prstGeom>
        </p:spPr>
      </p:pic>
      <p:pic>
        <p:nvPicPr>
          <p:cNvPr id="55" name="그림 54" descr="그래픽, 스크린샷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85F8EAC8-E467-9A96-B733-4C0CA28A74C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3422" y="4714032"/>
            <a:ext cx="878351" cy="886320"/>
          </a:xfrm>
          <a:prstGeom prst="rect">
            <a:avLst/>
          </a:prstGeom>
        </p:spPr>
      </p:pic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C294FFA2-DB03-6752-DD86-5690EB8A82E8}"/>
              </a:ext>
            </a:extLst>
          </p:cNvPr>
          <p:cNvCxnSpPr>
            <a:cxnSpLocks/>
            <a:stCxn id="47" idx="1"/>
            <a:endCxn id="28" idx="3"/>
          </p:cNvCxnSpPr>
          <p:nvPr/>
        </p:nvCxnSpPr>
        <p:spPr>
          <a:xfrm rot="10800000" flipV="1">
            <a:off x="9527704" y="2060848"/>
            <a:ext cx="1305470" cy="791886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01C9B00A-64F9-B9B1-1A92-15473242F965}"/>
              </a:ext>
            </a:extLst>
          </p:cNvPr>
          <p:cNvCxnSpPr>
            <a:stCxn id="49" idx="1"/>
            <a:endCxn id="28" idx="3"/>
          </p:cNvCxnSpPr>
          <p:nvPr/>
        </p:nvCxnSpPr>
        <p:spPr>
          <a:xfrm rot="10800000">
            <a:off x="9527704" y="2852734"/>
            <a:ext cx="1296144" cy="180092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1D64E85A-8AAF-0328-BD5E-3570C68BEED5}"/>
              </a:ext>
            </a:extLst>
          </p:cNvPr>
          <p:cNvCxnSpPr>
            <a:cxnSpLocks/>
            <a:stCxn id="51" idx="1"/>
            <a:endCxn id="28" idx="3"/>
          </p:cNvCxnSpPr>
          <p:nvPr/>
        </p:nvCxnSpPr>
        <p:spPr>
          <a:xfrm rot="10800000">
            <a:off x="9527704" y="2852735"/>
            <a:ext cx="1255718" cy="126540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C8852CCA-01EC-F906-0F22-9F665868A5E1}"/>
              </a:ext>
            </a:extLst>
          </p:cNvPr>
          <p:cNvCxnSpPr>
            <a:stCxn id="55" idx="1"/>
            <a:endCxn id="28" idx="3"/>
          </p:cNvCxnSpPr>
          <p:nvPr/>
        </p:nvCxnSpPr>
        <p:spPr>
          <a:xfrm rot="10800000">
            <a:off x="9527704" y="2852734"/>
            <a:ext cx="1255718" cy="2304458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2399AACB-8808-3E0D-4C08-5FA1E1FDE97A}"/>
              </a:ext>
            </a:extLst>
          </p:cNvPr>
          <p:cNvCxnSpPr>
            <a:cxnSpLocks/>
          </p:cNvCxnSpPr>
          <p:nvPr/>
        </p:nvCxnSpPr>
        <p:spPr>
          <a:xfrm>
            <a:off x="1489257" y="2797651"/>
            <a:ext cx="13757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F0A67A73-37B8-321F-2039-432829ECF2A9}"/>
              </a:ext>
            </a:extLst>
          </p:cNvPr>
          <p:cNvCxnSpPr>
            <a:cxnSpLocks/>
          </p:cNvCxnSpPr>
          <p:nvPr/>
        </p:nvCxnSpPr>
        <p:spPr>
          <a:xfrm flipH="1" flipV="1">
            <a:off x="1409700" y="3068960"/>
            <a:ext cx="1454043" cy="55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81FB2E73-FC4A-6A2B-C6AB-4BF1BE28AF7E}"/>
              </a:ext>
            </a:extLst>
          </p:cNvPr>
          <p:cNvCxnSpPr>
            <a:cxnSpLocks/>
          </p:cNvCxnSpPr>
          <p:nvPr/>
        </p:nvCxnSpPr>
        <p:spPr>
          <a:xfrm>
            <a:off x="5910222" y="2786301"/>
            <a:ext cx="130318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5262F1A0-E80E-A857-AD70-35A50D4B3024}"/>
              </a:ext>
            </a:extLst>
          </p:cNvPr>
          <p:cNvCxnSpPr>
            <a:cxnSpLocks/>
          </p:cNvCxnSpPr>
          <p:nvPr/>
        </p:nvCxnSpPr>
        <p:spPr>
          <a:xfrm flipH="1">
            <a:off x="5935605" y="2924944"/>
            <a:ext cx="12405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그림 86" descr="그래픽, 디자인이(가) 표시된 사진&#10;&#10;자동 생성된 설명">
            <a:extLst>
              <a:ext uri="{FF2B5EF4-FFF2-40B4-BE49-F238E27FC236}">
                <a16:creationId xmlns:a16="http://schemas.microsoft.com/office/drawing/2014/main" id="{2B0759C9-B0CA-596C-BCF0-5C9E26AC67C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938" y="2594531"/>
            <a:ext cx="1861307" cy="650183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8FD57425-AFB5-5FFE-0D4E-67D2A4880213}"/>
              </a:ext>
            </a:extLst>
          </p:cNvPr>
          <p:cNvSpPr txBox="1"/>
          <p:nvPr/>
        </p:nvSpPr>
        <p:spPr>
          <a:xfrm>
            <a:off x="5999575" y="2966585"/>
            <a:ext cx="10743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JSON </a:t>
            </a:r>
            <a:r>
              <a:rPr lang="ko-KR" altLang="en-US" sz="15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응답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F46C76B-F3B9-C4EC-E350-2F50C1C327F4}"/>
              </a:ext>
            </a:extLst>
          </p:cNvPr>
          <p:cNvSpPr txBox="1"/>
          <p:nvPr/>
        </p:nvSpPr>
        <p:spPr>
          <a:xfrm>
            <a:off x="6020344" y="2225546"/>
            <a:ext cx="1328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HTTP</a:t>
            </a:r>
            <a:r>
              <a:rPr lang="ko-KR" altLang="en-US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요청</a:t>
            </a:r>
            <a:endParaRPr lang="en-US" altLang="ko-KR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r>
              <a:rPr lang="en-US" altLang="ko-KR" sz="14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GET/POST</a:t>
            </a:r>
            <a:endParaRPr lang="ko-KR" altLang="en-US" sz="14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DE29FD3-F353-616E-00E9-3214E7886F4C}"/>
              </a:ext>
            </a:extLst>
          </p:cNvPr>
          <p:cNvSpPr txBox="1"/>
          <p:nvPr/>
        </p:nvSpPr>
        <p:spPr>
          <a:xfrm>
            <a:off x="1358826" y="2448103"/>
            <a:ext cx="16213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HTTP Request</a:t>
            </a:r>
            <a:endParaRPr lang="ko-KR" altLang="en-US" sz="15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8D43817-1433-ACA3-A8E3-4B0565AC7152}"/>
              </a:ext>
            </a:extLst>
          </p:cNvPr>
          <p:cNvSpPr txBox="1"/>
          <p:nvPr/>
        </p:nvSpPr>
        <p:spPr>
          <a:xfrm>
            <a:off x="1590804" y="3140968"/>
            <a:ext cx="112082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HTTP 200</a:t>
            </a:r>
          </a:p>
          <a:p>
            <a:pPr algn="ctr"/>
            <a:r>
              <a:rPr lang="en-US" altLang="ko-KR" sz="12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JSON</a:t>
            </a:r>
            <a:r>
              <a:rPr lang="ko-KR" altLang="en-US" sz="12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응답</a:t>
            </a:r>
            <a:endParaRPr lang="en-US" altLang="ko-KR" sz="12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4F16EC0-66E0-D403-3E05-2285A364E21D}"/>
              </a:ext>
            </a:extLst>
          </p:cNvPr>
          <p:cNvSpPr/>
          <p:nvPr/>
        </p:nvSpPr>
        <p:spPr>
          <a:xfrm>
            <a:off x="10673239" y="1484784"/>
            <a:ext cx="1096754" cy="428953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B2FB9B2-B40E-2DF2-C774-78C7E15B01B1}"/>
              </a:ext>
            </a:extLst>
          </p:cNvPr>
          <p:cNvSpPr txBox="1"/>
          <p:nvPr/>
        </p:nvSpPr>
        <p:spPr>
          <a:xfrm>
            <a:off x="7680176" y="2267580"/>
            <a:ext cx="1328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REST</a:t>
            </a:r>
            <a:r>
              <a:rPr lang="ko-KR" altLang="en-US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r>
              <a:rPr lang="en-US" altLang="ko-KR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API</a:t>
            </a:r>
            <a:endParaRPr lang="ko-KR" altLang="en-US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69B2B6D-0C88-AA8E-F39E-4D20564341C7}"/>
              </a:ext>
            </a:extLst>
          </p:cNvPr>
          <p:cNvSpPr txBox="1"/>
          <p:nvPr/>
        </p:nvSpPr>
        <p:spPr>
          <a:xfrm>
            <a:off x="8315824" y="4283180"/>
            <a:ext cx="18599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HTML Parsing</a:t>
            </a:r>
          </a:p>
          <a:p>
            <a:pPr algn="ctr"/>
            <a:r>
              <a:rPr lang="ko-KR" altLang="en-US" sz="1200">
                <a:solidFill>
                  <a:schemeClr val="accent6">
                    <a:lumMod val="7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뉴스기사</a:t>
            </a:r>
            <a:r>
              <a:rPr lang="en-US" altLang="ko-KR" sz="1200">
                <a:solidFill>
                  <a:schemeClr val="accent6">
                    <a:lumMod val="7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lang="ko-KR" altLang="en-US" sz="1200">
                <a:solidFill>
                  <a:schemeClr val="accent6">
                    <a:lumMod val="7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커뮤니티 스크래핑</a:t>
            </a: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0C6FE704-C506-F966-C25E-66F4D68E55BC}"/>
              </a:ext>
            </a:extLst>
          </p:cNvPr>
          <p:cNvSpPr/>
          <p:nvPr/>
        </p:nvSpPr>
        <p:spPr>
          <a:xfrm>
            <a:off x="8528636" y="1439416"/>
            <a:ext cx="1944216" cy="35464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오픈소스 라이브러리</a:t>
            </a: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6DC532BC-B641-2734-3559-8817EBBAE74D}"/>
              </a:ext>
            </a:extLst>
          </p:cNvPr>
          <p:cNvSpPr/>
          <p:nvPr/>
        </p:nvSpPr>
        <p:spPr>
          <a:xfrm>
            <a:off x="10758967" y="1235429"/>
            <a:ext cx="1008112" cy="31916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외부 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8485E41-44D3-F7B7-6BF1-EA47FD41823F}"/>
              </a:ext>
            </a:extLst>
          </p:cNvPr>
          <p:cNvSpPr txBox="1"/>
          <p:nvPr/>
        </p:nvSpPr>
        <p:spPr>
          <a:xfrm>
            <a:off x="8328248" y="1619508"/>
            <a:ext cx="2351584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5">
                    <a:lumMod val="7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FinanceDataReader</a:t>
            </a:r>
          </a:p>
          <a:p>
            <a:pPr algn="ctr"/>
            <a:r>
              <a:rPr lang="ko-KR" altLang="en-US" sz="1300">
                <a:solidFill>
                  <a:schemeClr val="accent5">
                    <a:lumMod val="7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주식 데이터 수집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B9722011-C276-BD72-B178-95B1AD32C544}"/>
              </a:ext>
            </a:extLst>
          </p:cNvPr>
          <p:cNvSpPr/>
          <p:nvPr/>
        </p:nvSpPr>
        <p:spPr>
          <a:xfrm>
            <a:off x="4453012" y="1050014"/>
            <a:ext cx="2672206" cy="6764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스마트투자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59E792F-F40A-FCBA-F851-89E976D0C79B}"/>
              </a:ext>
            </a:extLst>
          </p:cNvPr>
          <p:cNvSpPr txBox="1"/>
          <p:nvPr/>
        </p:nvSpPr>
        <p:spPr>
          <a:xfrm>
            <a:off x="6384032" y="3471391"/>
            <a:ext cx="1249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수집 데이터 분석 및 결과 저장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41C93C1-CD96-4BD6-EDDD-6B4B88670964}"/>
              </a:ext>
            </a:extLst>
          </p:cNvPr>
          <p:cNvSpPr txBox="1"/>
          <p:nvPr/>
        </p:nvSpPr>
        <p:spPr>
          <a:xfrm>
            <a:off x="4449974" y="4113586"/>
            <a:ext cx="1172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회원정보 </a:t>
            </a:r>
            <a:r>
              <a:rPr lang="en-US" altLang="ko-KR" sz="12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CRUD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D008AA7-810F-0B2C-79E1-EE02C84B066D}"/>
              </a:ext>
            </a:extLst>
          </p:cNvPr>
          <p:cNvSpPr txBox="1"/>
          <p:nvPr/>
        </p:nvSpPr>
        <p:spPr>
          <a:xfrm>
            <a:off x="5928361" y="4003545"/>
            <a:ext cx="1172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주식</a:t>
            </a:r>
            <a:r>
              <a:rPr lang="en-US" altLang="ko-KR" sz="12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lang="ko-KR" altLang="en-US" sz="12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뉴스</a:t>
            </a:r>
            <a:r>
              <a:rPr lang="en-US" altLang="ko-KR" sz="12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lang="ko-KR" altLang="en-US" sz="12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커뮤니티 데이터 조회</a:t>
            </a:r>
            <a:endParaRPr lang="en-US" altLang="ko-KR" sz="120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52BFD0-3162-1FF4-E205-6E60FB11EE36}"/>
              </a:ext>
            </a:extLst>
          </p:cNvPr>
          <p:cNvSpPr txBox="1"/>
          <p:nvPr/>
        </p:nvSpPr>
        <p:spPr>
          <a:xfrm>
            <a:off x="8396994" y="3842578"/>
            <a:ext cx="1397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chemeClr val="accent2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Requests </a:t>
            </a:r>
          </a:p>
          <a:p>
            <a:r>
              <a:rPr lang="en-US" altLang="ko-KR" sz="1400">
                <a:solidFill>
                  <a:schemeClr val="accent2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BeautifulSoup</a:t>
            </a:r>
            <a:endParaRPr lang="ko-KR" altLang="en-US" sz="1400">
              <a:solidFill>
                <a:schemeClr val="accent2">
                  <a:lumMod val="50000"/>
                </a:schemeClr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03623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1771319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4.9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화면 설계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426326E2-8E38-9EA9-65A3-05CECCAC7228}"/>
              </a:ext>
            </a:extLst>
          </p:cNvPr>
          <p:cNvSpPr/>
          <p:nvPr/>
        </p:nvSpPr>
        <p:spPr>
          <a:xfrm>
            <a:off x="5015880" y="1519336"/>
            <a:ext cx="1440160" cy="504057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스마트투자</a:t>
            </a: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F6B23B95-1234-A0B5-85FA-938BBF781569}"/>
              </a:ext>
            </a:extLst>
          </p:cNvPr>
          <p:cNvSpPr/>
          <p:nvPr/>
        </p:nvSpPr>
        <p:spPr>
          <a:xfrm>
            <a:off x="3215680" y="2714920"/>
            <a:ext cx="1440160" cy="36004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3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2.2 </a:t>
            </a:r>
            <a:r>
              <a:rPr lang="ko-KR" altLang="en-US" sz="13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주식 정보 서비스</a:t>
            </a: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956FFB16-7ABF-D7C4-6967-5CC15BBAAD67}"/>
              </a:ext>
            </a:extLst>
          </p:cNvPr>
          <p:cNvSpPr/>
          <p:nvPr/>
        </p:nvSpPr>
        <p:spPr>
          <a:xfrm>
            <a:off x="623392" y="2712989"/>
            <a:ext cx="1440160" cy="36004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3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2.1 </a:t>
            </a:r>
            <a:r>
              <a:rPr lang="ko-KR" altLang="en-US" sz="13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추천 서비스</a:t>
            </a:r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94397518-997C-1889-252A-A8DE3DDBB392}"/>
              </a:ext>
            </a:extLst>
          </p:cNvPr>
          <p:cNvSpPr/>
          <p:nvPr/>
        </p:nvSpPr>
        <p:spPr>
          <a:xfrm>
            <a:off x="6456040" y="2708920"/>
            <a:ext cx="1440160" cy="36004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2.3 </a:t>
            </a:r>
            <a:r>
              <a:rPr lang="ko-KR" altLang="en-US" sz="13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한눈에 보는 시장 트렌드</a:t>
            </a: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3FF7A223-56AF-7F6E-321D-1D313647BBC3}"/>
              </a:ext>
            </a:extLst>
          </p:cNvPr>
          <p:cNvCxnSpPr>
            <a:stCxn id="3" idx="2"/>
            <a:endCxn id="11" idx="0"/>
          </p:cNvCxnSpPr>
          <p:nvPr/>
        </p:nvCxnSpPr>
        <p:spPr>
          <a:xfrm rot="16200000" flipH="1">
            <a:off x="6113277" y="1646076"/>
            <a:ext cx="685527" cy="1440160"/>
          </a:xfrm>
          <a:prstGeom prst="bentConnector3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5AF1F6E-B1AE-648E-70D0-3A7A3E41C117}"/>
              </a:ext>
            </a:extLst>
          </p:cNvPr>
          <p:cNvSpPr txBox="1"/>
          <p:nvPr/>
        </p:nvSpPr>
        <p:spPr>
          <a:xfrm>
            <a:off x="1049619" y="3769709"/>
            <a:ext cx="1080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2.1.2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로그인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646719-A346-77B7-BC78-CABFF9B94F0F}"/>
              </a:ext>
            </a:extLst>
          </p:cNvPr>
          <p:cNvSpPr txBox="1"/>
          <p:nvPr/>
        </p:nvSpPr>
        <p:spPr>
          <a:xfrm>
            <a:off x="1048667" y="4271170"/>
            <a:ext cx="1080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2.1.3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로그아웃</a:t>
            </a: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8D3F82A-8026-66E4-C0E2-E58381612D82}"/>
              </a:ext>
            </a:extLst>
          </p:cNvPr>
          <p:cNvSpPr/>
          <p:nvPr/>
        </p:nvSpPr>
        <p:spPr>
          <a:xfrm>
            <a:off x="3575720" y="3277472"/>
            <a:ext cx="2016224" cy="29302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5A7D15-9B52-F4AA-6716-EA64A57F4A94}"/>
              </a:ext>
            </a:extLst>
          </p:cNvPr>
          <p:cNvSpPr txBox="1"/>
          <p:nvPr/>
        </p:nvSpPr>
        <p:spPr>
          <a:xfrm>
            <a:off x="3574768" y="3293177"/>
            <a:ext cx="1449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2.2.1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리스트 조회</a:t>
            </a: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C7DEDAA3-DC65-2DE4-7146-94D5299B1E06}"/>
              </a:ext>
            </a:extLst>
          </p:cNvPr>
          <p:cNvSpPr/>
          <p:nvPr/>
        </p:nvSpPr>
        <p:spPr>
          <a:xfrm>
            <a:off x="3575720" y="3754004"/>
            <a:ext cx="2016224" cy="293020"/>
          </a:xfrm>
          <a:prstGeom prst="flowChartProcess">
            <a:avLst/>
          </a:prstGeom>
          <a:solidFill>
            <a:srgbClr val="FFBD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89FA88-C648-EFD7-081B-34B690835252}"/>
              </a:ext>
            </a:extLst>
          </p:cNvPr>
          <p:cNvSpPr txBox="1"/>
          <p:nvPr/>
        </p:nvSpPr>
        <p:spPr>
          <a:xfrm>
            <a:off x="3574768" y="3775170"/>
            <a:ext cx="162576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2.2.2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종목 상세 지표 조회</a:t>
            </a:r>
          </a:p>
        </p:txBody>
      </p:sp>
      <p:sp>
        <p:nvSpPr>
          <p:cNvPr id="34" name="순서도: 처리 33">
            <a:extLst>
              <a:ext uri="{FF2B5EF4-FFF2-40B4-BE49-F238E27FC236}">
                <a16:creationId xmlns:a16="http://schemas.microsoft.com/office/drawing/2014/main" id="{263DE5E7-27BC-0AF9-73AA-943D1783F746}"/>
              </a:ext>
            </a:extLst>
          </p:cNvPr>
          <p:cNvSpPr/>
          <p:nvPr/>
        </p:nvSpPr>
        <p:spPr>
          <a:xfrm>
            <a:off x="983432" y="3282490"/>
            <a:ext cx="2016224" cy="293020"/>
          </a:xfrm>
          <a:prstGeom prst="flowChartProcess">
            <a:avLst/>
          </a:prstGeom>
          <a:solidFill>
            <a:srgbClr val="FFBD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D372A2-DAC6-C89C-F3F0-B9220CCE1119}"/>
              </a:ext>
            </a:extLst>
          </p:cNvPr>
          <p:cNvSpPr txBox="1"/>
          <p:nvPr/>
        </p:nvSpPr>
        <p:spPr>
          <a:xfrm>
            <a:off x="982480" y="3298195"/>
            <a:ext cx="13067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2.1.1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투자 성향 검사</a:t>
            </a:r>
          </a:p>
        </p:txBody>
      </p:sp>
      <p:sp>
        <p:nvSpPr>
          <p:cNvPr id="36" name="순서도: 처리 35">
            <a:extLst>
              <a:ext uri="{FF2B5EF4-FFF2-40B4-BE49-F238E27FC236}">
                <a16:creationId xmlns:a16="http://schemas.microsoft.com/office/drawing/2014/main" id="{2598D007-8B9E-2017-95EB-55E6079003FC}"/>
              </a:ext>
            </a:extLst>
          </p:cNvPr>
          <p:cNvSpPr/>
          <p:nvPr/>
        </p:nvSpPr>
        <p:spPr>
          <a:xfrm>
            <a:off x="983432" y="3754652"/>
            <a:ext cx="2016224" cy="293020"/>
          </a:xfrm>
          <a:prstGeom prst="flowChartProcess">
            <a:avLst/>
          </a:prstGeom>
          <a:solidFill>
            <a:srgbClr val="FFBD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75E37A-8385-AE48-EE2D-EDA54C151C07}"/>
              </a:ext>
            </a:extLst>
          </p:cNvPr>
          <p:cNvSpPr txBox="1"/>
          <p:nvPr/>
        </p:nvSpPr>
        <p:spPr>
          <a:xfrm>
            <a:off x="982480" y="3770357"/>
            <a:ext cx="17267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2.1.2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투자 성향별 종목 추천</a:t>
            </a:r>
          </a:p>
        </p:txBody>
      </p:sp>
      <p:sp>
        <p:nvSpPr>
          <p:cNvPr id="38" name="순서도: 처리 37">
            <a:extLst>
              <a:ext uri="{FF2B5EF4-FFF2-40B4-BE49-F238E27FC236}">
                <a16:creationId xmlns:a16="http://schemas.microsoft.com/office/drawing/2014/main" id="{1199732F-BC09-B7B8-8CDD-D2DF6EF67897}"/>
              </a:ext>
            </a:extLst>
          </p:cNvPr>
          <p:cNvSpPr/>
          <p:nvPr/>
        </p:nvSpPr>
        <p:spPr>
          <a:xfrm>
            <a:off x="983432" y="4249242"/>
            <a:ext cx="2016224" cy="29302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0AA424-3D79-0C3D-DDB4-BAC7046A531A}"/>
              </a:ext>
            </a:extLst>
          </p:cNvPr>
          <p:cNvSpPr txBox="1"/>
          <p:nvPr/>
        </p:nvSpPr>
        <p:spPr>
          <a:xfrm>
            <a:off x="982480" y="4264947"/>
            <a:ext cx="19046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2.1.3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성향 검사 결과 조회</a:t>
            </a:r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수정</a:t>
            </a:r>
          </a:p>
        </p:txBody>
      </p:sp>
      <p:sp>
        <p:nvSpPr>
          <p:cNvPr id="42" name="순서도: 처리 41">
            <a:extLst>
              <a:ext uri="{FF2B5EF4-FFF2-40B4-BE49-F238E27FC236}">
                <a16:creationId xmlns:a16="http://schemas.microsoft.com/office/drawing/2014/main" id="{7F2B4DB4-8E9A-FFC7-9695-EBDC6208E045}"/>
              </a:ext>
            </a:extLst>
          </p:cNvPr>
          <p:cNvSpPr/>
          <p:nvPr/>
        </p:nvSpPr>
        <p:spPr>
          <a:xfrm>
            <a:off x="6816080" y="3277302"/>
            <a:ext cx="2016224" cy="293020"/>
          </a:xfrm>
          <a:prstGeom prst="flowChartProcess">
            <a:avLst/>
          </a:prstGeom>
          <a:solidFill>
            <a:srgbClr val="FFBD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2.3.1 </a:t>
            </a:r>
            <a:r>
              <a:rPr lang="ko-KR" altLang="en-US" sz="11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실시간 이슈 정보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F14381-4539-2C15-106F-92D9C2BD3D68}"/>
              </a:ext>
            </a:extLst>
          </p:cNvPr>
          <p:cNvSpPr txBox="1"/>
          <p:nvPr/>
        </p:nvSpPr>
        <p:spPr>
          <a:xfrm>
            <a:off x="10055488" y="3293007"/>
            <a:ext cx="17331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2.4.1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실시간 이슈 정보 제공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95BD0BA-022C-AEC4-D618-0C1421C78745}"/>
              </a:ext>
            </a:extLst>
          </p:cNvPr>
          <p:cNvSpPr/>
          <p:nvPr/>
        </p:nvSpPr>
        <p:spPr>
          <a:xfrm>
            <a:off x="710620" y="2708920"/>
            <a:ext cx="337095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059EB72-47ED-BDC7-4010-30EFF8226B20}"/>
              </a:ext>
            </a:extLst>
          </p:cNvPr>
          <p:cNvSpPr/>
          <p:nvPr/>
        </p:nvSpPr>
        <p:spPr>
          <a:xfrm>
            <a:off x="3215680" y="2708920"/>
            <a:ext cx="337095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655738C-0023-2135-DC78-35F95CB7C177}"/>
              </a:ext>
            </a:extLst>
          </p:cNvPr>
          <p:cNvSpPr/>
          <p:nvPr/>
        </p:nvSpPr>
        <p:spPr>
          <a:xfrm>
            <a:off x="623392" y="2708920"/>
            <a:ext cx="337095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3B1E08E-77C4-F2F1-E865-4E66616A4F40}"/>
              </a:ext>
            </a:extLst>
          </p:cNvPr>
          <p:cNvSpPr/>
          <p:nvPr/>
        </p:nvSpPr>
        <p:spPr>
          <a:xfrm>
            <a:off x="9336360" y="2708920"/>
            <a:ext cx="337095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0599BD85-44EF-D9BB-9DA7-878C2B4C426A}"/>
              </a:ext>
            </a:extLst>
          </p:cNvPr>
          <p:cNvCxnSpPr>
            <a:stCxn id="30" idx="1"/>
            <a:endCxn id="65" idx="2"/>
          </p:cNvCxnSpPr>
          <p:nvPr/>
        </p:nvCxnSpPr>
        <p:spPr>
          <a:xfrm rot="10800000">
            <a:off x="3384228" y="3068960"/>
            <a:ext cx="190540" cy="355022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E0D5D5C8-C82D-691D-3AC3-6C7CDB449683}"/>
              </a:ext>
            </a:extLst>
          </p:cNvPr>
          <p:cNvCxnSpPr>
            <a:stCxn id="32" idx="1"/>
            <a:endCxn id="65" idx="2"/>
          </p:cNvCxnSpPr>
          <p:nvPr/>
        </p:nvCxnSpPr>
        <p:spPr>
          <a:xfrm rot="10800000">
            <a:off x="3384228" y="3068961"/>
            <a:ext cx="190540" cy="837015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C063C98D-E984-D552-4811-5B30D3DCD56B}"/>
              </a:ext>
            </a:extLst>
          </p:cNvPr>
          <p:cNvCxnSpPr>
            <a:stCxn id="35" idx="1"/>
            <a:endCxn id="66" idx="2"/>
          </p:cNvCxnSpPr>
          <p:nvPr/>
        </p:nvCxnSpPr>
        <p:spPr>
          <a:xfrm rot="10800000">
            <a:off x="791940" y="3068960"/>
            <a:ext cx="190540" cy="360040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7FB20A76-DB1D-9930-105C-FD314B73B8AF}"/>
              </a:ext>
            </a:extLst>
          </p:cNvPr>
          <p:cNvCxnSpPr>
            <a:stCxn id="37" idx="1"/>
            <a:endCxn id="66" idx="2"/>
          </p:cNvCxnSpPr>
          <p:nvPr/>
        </p:nvCxnSpPr>
        <p:spPr>
          <a:xfrm rot="10800000">
            <a:off x="791940" y="3068960"/>
            <a:ext cx="190540" cy="832202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22CB0856-8FC3-940B-3122-0FF274B7947A}"/>
              </a:ext>
            </a:extLst>
          </p:cNvPr>
          <p:cNvCxnSpPr>
            <a:stCxn id="39" idx="1"/>
            <a:endCxn id="66" idx="2"/>
          </p:cNvCxnSpPr>
          <p:nvPr/>
        </p:nvCxnSpPr>
        <p:spPr>
          <a:xfrm rot="10800000">
            <a:off x="791940" y="3068960"/>
            <a:ext cx="190540" cy="1326792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CE6FE9C4-C5B7-00AE-AF28-7DEA12D2950A}"/>
              </a:ext>
            </a:extLst>
          </p:cNvPr>
          <p:cNvCxnSpPr>
            <a:stCxn id="8" idx="0"/>
            <a:endCxn id="3" idx="2"/>
          </p:cNvCxnSpPr>
          <p:nvPr/>
        </p:nvCxnSpPr>
        <p:spPr>
          <a:xfrm rot="5400000" flipH="1" flipV="1">
            <a:off x="4490097" y="1469057"/>
            <a:ext cx="691527" cy="1800200"/>
          </a:xfrm>
          <a:prstGeom prst="bentConnector3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9F11BD46-8818-9D3D-9599-11D6C245E53C}"/>
              </a:ext>
            </a:extLst>
          </p:cNvPr>
          <p:cNvCxnSpPr>
            <a:stCxn id="10" idx="0"/>
            <a:endCxn id="3" idx="2"/>
          </p:cNvCxnSpPr>
          <p:nvPr/>
        </p:nvCxnSpPr>
        <p:spPr>
          <a:xfrm rot="5400000" flipH="1" flipV="1">
            <a:off x="3194918" y="171947"/>
            <a:ext cx="689596" cy="4392488"/>
          </a:xfrm>
          <a:prstGeom prst="bentConnector3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">
            <a:extLst>
              <a:ext uri="{FF2B5EF4-FFF2-40B4-BE49-F238E27FC236}">
                <a16:creationId xmlns:a16="http://schemas.microsoft.com/office/drawing/2014/main" id="{1DFA0CC9-3379-F066-9E12-4A4870966D5D}"/>
              </a:ext>
            </a:extLst>
          </p:cNvPr>
          <p:cNvSpPr txBox="1"/>
          <p:nvPr/>
        </p:nvSpPr>
        <p:spPr>
          <a:xfrm>
            <a:off x="899772" y="1282551"/>
            <a:ext cx="942566" cy="307777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ko-KR" altLang="en-US" sz="20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사이트 맵</a:t>
            </a:r>
            <a:endParaRPr lang="en-US" sz="2000" b="1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46AB0593-B330-E8B5-42C2-90AF591FC8FB}"/>
              </a:ext>
            </a:extLst>
          </p:cNvPr>
          <p:cNvSpPr/>
          <p:nvPr/>
        </p:nvSpPr>
        <p:spPr>
          <a:xfrm>
            <a:off x="9336360" y="2708920"/>
            <a:ext cx="1440160" cy="36004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2.4 </a:t>
            </a:r>
            <a:r>
              <a:rPr lang="ko-KR" altLang="en-US" sz="13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마이페이지</a:t>
            </a:r>
          </a:p>
        </p:txBody>
      </p: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CDF8F6D2-7A69-3D74-E0B5-BEF34D28A1C7}"/>
              </a:ext>
            </a:extLst>
          </p:cNvPr>
          <p:cNvSpPr/>
          <p:nvPr/>
        </p:nvSpPr>
        <p:spPr>
          <a:xfrm>
            <a:off x="9696400" y="3261597"/>
            <a:ext cx="1628020" cy="29302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49D615-3ABF-A5B5-272D-6FDBE814FDA7}"/>
              </a:ext>
            </a:extLst>
          </p:cNvPr>
          <p:cNvSpPr txBox="1"/>
          <p:nvPr/>
        </p:nvSpPr>
        <p:spPr>
          <a:xfrm>
            <a:off x="9695448" y="3277302"/>
            <a:ext cx="16289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2.4.1 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회원 정보 조회</a:t>
            </a:r>
            <a:r>
              <a:rPr lang="en-US" altLang="ko-KR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 sz="11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수정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7C6EF98-9ACD-972D-4078-7BD3D3F5488D}"/>
              </a:ext>
            </a:extLst>
          </p:cNvPr>
          <p:cNvSpPr/>
          <p:nvPr/>
        </p:nvSpPr>
        <p:spPr>
          <a:xfrm>
            <a:off x="6456040" y="2708920"/>
            <a:ext cx="337095" cy="3600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7403E73F-F0C1-BD6B-C409-8D23397AF6A5}"/>
              </a:ext>
            </a:extLst>
          </p:cNvPr>
          <p:cNvCxnSpPr>
            <a:stCxn id="49" idx="2"/>
            <a:endCxn id="42" idx="1"/>
          </p:cNvCxnSpPr>
          <p:nvPr/>
        </p:nvCxnSpPr>
        <p:spPr>
          <a:xfrm rot="16200000" flipH="1">
            <a:off x="6542908" y="3150640"/>
            <a:ext cx="354852" cy="191492"/>
          </a:xfrm>
          <a:prstGeom prst="bentConnector2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0EBCD94A-F436-266A-13A9-1CFE9E69F8F9}"/>
              </a:ext>
            </a:extLst>
          </p:cNvPr>
          <p:cNvCxnSpPr>
            <a:stCxn id="3" idx="2"/>
            <a:endCxn id="12" idx="0"/>
          </p:cNvCxnSpPr>
          <p:nvPr/>
        </p:nvCxnSpPr>
        <p:spPr>
          <a:xfrm rot="16200000" flipH="1">
            <a:off x="7553437" y="205916"/>
            <a:ext cx="685527" cy="4320480"/>
          </a:xfrm>
          <a:prstGeom prst="bentConnector3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6D8CF42-3E31-EC22-2A37-CB927C49B3EF}"/>
              </a:ext>
            </a:extLst>
          </p:cNvPr>
          <p:cNvSpPr/>
          <p:nvPr/>
        </p:nvSpPr>
        <p:spPr>
          <a:xfrm>
            <a:off x="9336360" y="2708920"/>
            <a:ext cx="359088" cy="37573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3A62C4D5-E560-18D1-2788-277A5FD6C492}"/>
              </a:ext>
            </a:extLst>
          </p:cNvPr>
          <p:cNvCxnSpPr>
            <a:stCxn id="63" idx="2"/>
            <a:endCxn id="33" idx="1"/>
          </p:cNvCxnSpPr>
          <p:nvPr/>
        </p:nvCxnSpPr>
        <p:spPr>
          <a:xfrm rot="16200000" flipH="1">
            <a:off x="9443952" y="3156611"/>
            <a:ext cx="323448" cy="179544"/>
          </a:xfrm>
          <a:prstGeom prst="bentConnector2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7277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4021935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4.9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핵심 화면 설계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메인 화면  </a:t>
            </a:r>
            <a:endParaRPr lang="en-US" sz="2500" b="1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" name="그림 3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E793F768-7D31-3135-9D35-3AC9E4324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20" y="1340768"/>
            <a:ext cx="8640960" cy="47439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F623C67-8FE6-58A0-2895-A733F4DDE8EE}"/>
              </a:ext>
            </a:extLst>
          </p:cNvPr>
          <p:cNvSpPr/>
          <p:nvPr/>
        </p:nvSpPr>
        <p:spPr>
          <a:xfrm>
            <a:off x="1775520" y="1340759"/>
            <a:ext cx="792088" cy="2160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EB038BD-0DA3-84E1-8B8D-FF7DB87B6CF9}"/>
              </a:ext>
            </a:extLst>
          </p:cNvPr>
          <p:cNvSpPr/>
          <p:nvPr/>
        </p:nvSpPr>
        <p:spPr>
          <a:xfrm>
            <a:off x="9336360" y="1340759"/>
            <a:ext cx="1080120" cy="2160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C0998B7-44B5-D46B-D195-AC409621EAC7}"/>
              </a:ext>
            </a:extLst>
          </p:cNvPr>
          <p:cNvSpPr/>
          <p:nvPr/>
        </p:nvSpPr>
        <p:spPr>
          <a:xfrm>
            <a:off x="2279576" y="1916822"/>
            <a:ext cx="7848872" cy="3600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D9CAF15-BC10-07EA-D498-FE45BBDC0F21}"/>
              </a:ext>
            </a:extLst>
          </p:cNvPr>
          <p:cNvSpPr/>
          <p:nvPr/>
        </p:nvSpPr>
        <p:spPr>
          <a:xfrm>
            <a:off x="2423592" y="2420888"/>
            <a:ext cx="7416824" cy="9361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42EF32-93CE-F1CF-B57D-D1FB3A31E97D}"/>
              </a:ext>
            </a:extLst>
          </p:cNvPr>
          <p:cNvSpPr/>
          <p:nvPr/>
        </p:nvSpPr>
        <p:spPr>
          <a:xfrm>
            <a:off x="1775520" y="3500998"/>
            <a:ext cx="8568952" cy="19442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BAEFAC6E-45A6-056B-9920-A1A5DFD15556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1055440" y="1448776"/>
            <a:ext cx="720081" cy="106518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F7D8FDB-AFB1-926D-404D-D8A2E716AF57}"/>
              </a:ext>
            </a:extLst>
          </p:cNvPr>
          <p:cNvSpPr/>
          <p:nvPr/>
        </p:nvSpPr>
        <p:spPr>
          <a:xfrm>
            <a:off x="119336" y="1484784"/>
            <a:ext cx="1296144" cy="33872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로고</a:t>
            </a:r>
            <a:endParaRPr lang="en-US" altLang="ko-KR" sz="12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algn="ctr"/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(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메인으로 이동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)</a:t>
            </a:r>
            <a:endParaRPr lang="ko-KR" altLang="en-US" sz="12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485E72-8EA1-0EFE-5351-F92F649FCA5D}"/>
              </a:ext>
            </a:extLst>
          </p:cNvPr>
          <p:cNvSpPr/>
          <p:nvPr/>
        </p:nvSpPr>
        <p:spPr>
          <a:xfrm>
            <a:off x="10155913" y="796667"/>
            <a:ext cx="1296144" cy="33872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로그인 메뉴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7D7402B1-6F16-CEE2-88EA-D47D3CD7BC19}"/>
              </a:ext>
            </a:extLst>
          </p:cNvPr>
          <p:cNvCxnSpPr>
            <a:cxnSpLocks/>
            <a:stCxn id="10" idx="0"/>
          </p:cNvCxnSpPr>
          <p:nvPr/>
        </p:nvCxnSpPr>
        <p:spPr>
          <a:xfrm rot="5400000" flipH="1" flipV="1">
            <a:off x="9923083" y="919368"/>
            <a:ext cx="374728" cy="468054"/>
          </a:xfrm>
          <a:prstGeom prst="bentConnector2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E5D6562-119C-94A1-CF97-F4AE7ED1B89E}"/>
              </a:ext>
            </a:extLst>
          </p:cNvPr>
          <p:cNvSpPr/>
          <p:nvPr/>
        </p:nvSpPr>
        <p:spPr>
          <a:xfrm>
            <a:off x="1775520" y="1556793"/>
            <a:ext cx="8640960" cy="35853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9376050-1150-21B2-87A0-1D67DFFC2C3C}"/>
              </a:ext>
            </a:extLst>
          </p:cNvPr>
          <p:cNvSpPr/>
          <p:nvPr/>
        </p:nvSpPr>
        <p:spPr>
          <a:xfrm>
            <a:off x="10848528" y="1578104"/>
            <a:ext cx="1296144" cy="33872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종목명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종목코드로 종목 검색</a:t>
            </a:r>
            <a:endParaRPr lang="en-US" altLang="ko-KR" sz="12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8ED5DB5-C639-6673-45F5-29D927A5C9B9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10416480" y="1736058"/>
            <a:ext cx="432048" cy="1141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F3C30F6-F1E1-7640-B8DB-0C4811614AC8}"/>
              </a:ext>
            </a:extLst>
          </p:cNvPr>
          <p:cNvSpPr/>
          <p:nvPr/>
        </p:nvSpPr>
        <p:spPr>
          <a:xfrm>
            <a:off x="407368" y="2420888"/>
            <a:ext cx="1296144" cy="33872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네비게이션 메뉴</a:t>
            </a:r>
            <a:endParaRPr lang="en-US" altLang="ko-KR" sz="12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F4DBAC99-12AD-8D4B-A65E-86F062B3FCAB}"/>
              </a:ext>
            </a:extLst>
          </p:cNvPr>
          <p:cNvCxnSpPr>
            <a:stCxn id="12" idx="1"/>
            <a:endCxn id="27" idx="0"/>
          </p:cNvCxnSpPr>
          <p:nvPr/>
        </p:nvCxnSpPr>
        <p:spPr>
          <a:xfrm rot="10800000" flipV="1">
            <a:off x="1055440" y="2096846"/>
            <a:ext cx="1224136" cy="324041"/>
          </a:xfrm>
          <a:prstGeom prst="bentConnector2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38850FA-F34C-FF09-C029-2A5B6A7AD8D3}"/>
              </a:ext>
            </a:extLst>
          </p:cNvPr>
          <p:cNvSpPr/>
          <p:nvPr/>
        </p:nvSpPr>
        <p:spPr>
          <a:xfrm>
            <a:off x="10704512" y="2701574"/>
            <a:ext cx="1296144" cy="33872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실시간 국내 지수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89BFBD52-68D5-9F45-34A9-FFC8201C45FB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9840416" y="2852936"/>
            <a:ext cx="864096" cy="18002"/>
          </a:xfrm>
          <a:prstGeom prst="straightConnector1">
            <a:avLst/>
          </a:prstGeom>
          <a:ln w="38100">
            <a:solidFill>
              <a:srgbClr val="FFBD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BD41D9A-F161-7B78-8464-E8D38F418B93}"/>
              </a:ext>
            </a:extLst>
          </p:cNvPr>
          <p:cNvSpPr/>
          <p:nvPr/>
        </p:nvSpPr>
        <p:spPr>
          <a:xfrm>
            <a:off x="-24680" y="4314408"/>
            <a:ext cx="1440160" cy="33872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실시간 상위종목</a:t>
            </a:r>
            <a:endParaRPr lang="en-US" altLang="ko-KR" sz="12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algn="ctr"/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(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가격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거래량 등락률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)</a:t>
            </a:r>
            <a:endParaRPr lang="ko-KR" altLang="en-US" sz="12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8ADC7773-3F33-D104-D6A7-F2E40A104C79}"/>
              </a:ext>
            </a:extLst>
          </p:cNvPr>
          <p:cNvCxnSpPr>
            <a:stCxn id="14" idx="1"/>
            <a:endCxn id="36" idx="3"/>
          </p:cNvCxnSpPr>
          <p:nvPr/>
        </p:nvCxnSpPr>
        <p:spPr>
          <a:xfrm flipH="1">
            <a:off x="1415480" y="4473111"/>
            <a:ext cx="360040" cy="1066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5859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5132815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4.9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핵심 화면 설계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투자 성향 검사 </a:t>
            </a:r>
            <a:r>
              <a:rPr lang="en-US" altLang="ko-KR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1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/3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</a:t>
            </a:r>
            <a:endParaRPr lang="en-US" sz="2500" b="1">
              <a:solidFill>
                <a:srgbClr val="FFBD59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" name="그림 3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941B29E6-C1EF-8E8D-CF21-E2692B5C0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350" y="1504737"/>
            <a:ext cx="6294819" cy="451317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E81CD22-C225-3A22-9EA3-36600E58058A}"/>
              </a:ext>
            </a:extLst>
          </p:cNvPr>
          <p:cNvSpPr/>
          <p:nvPr/>
        </p:nvSpPr>
        <p:spPr>
          <a:xfrm>
            <a:off x="2598408" y="3212966"/>
            <a:ext cx="6161888" cy="15121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524188-3F46-65C7-386A-7CE7E27B310B}"/>
              </a:ext>
            </a:extLst>
          </p:cNvPr>
          <p:cNvSpPr/>
          <p:nvPr/>
        </p:nvSpPr>
        <p:spPr>
          <a:xfrm>
            <a:off x="7392144" y="5301208"/>
            <a:ext cx="1440160" cy="4697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0650E25-58B6-75D0-CA0D-341B5F4C3699}"/>
              </a:ext>
            </a:extLst>
          </p:cNvPr>
          <p:cNvCxnSpPr>
            <a:cxnSpLocks/>
          </p:cNvCxnSpPr>
          <p:nvPr/>
        </p:nvCxnSpPr>
        <p:spPr>
          <a:xfrm flipH="1">
            <a:off x="1672712" y="3969055"/>
            <a:ext cx="89489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C074E9-1269-5BAC-9B05-803AF8C8B5F1}"/>
              </a:ext>
            </a:extLst>
          </p:cNvPr>
          <p:cNvSpPr/>
          <p:nvPr/>
        </p:nvSpPr>
        <p:spPr>
          <a:xfrm>
            <a:off x="369081" y="3861048"/>
            <a:ext cx="1440160" cy="33872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위험 단계 설정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en-US" altLang="ko-KR" sz="1200">
                <a:solidFill>
                  <a:srgbClr val="FF000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3</a:t>
            </a:r>
            <a:r>
              <a:rPr lang="ko-KR" altLang="en-US" sz="1200">
                <a:solidFill>
                  <a:srgbClr val="FF000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단계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로 구성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0B6148A-D8ED-5971-E313-C1BE36EB58FC}"/>
              </a:ext>
            </a:extLst>
          </p:cNvPr>
          <p:cNvSpPr/>
          <p:nvPr/>
        </p:nvSpPr>
        <p:spPr>
          <a:xfrm>
            <a:off x="9624392" y="5394528"/>
            <a:ext cx="1440160" cy="33872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위험 단계를 결정하고 다음단계로 이동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6297353-D96F-7A30-9EA9-7BBEE2128D13}"/>
              </a:ext>
            </a:extLst>
          </p:cNvPr>
          <p:cNvCxnSpPr>
            <a:stCxn id="8" idx="3"/>
            <a:endCxn id="16" idx="1"/>
          </p:cNvCxnSpPr>
          <p:nvPr/>
        </p:nvCxnSpPr>
        <p:spPr>
          <a:xfrm>
            <a:off x="8832304" y="5536086"/>
            <a:ext cx="792088" cy="2780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9170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5177699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4.9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핵심 화면 설계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투자 성향 검사 </a:t>
            </a:r>
            <a:r>
              <a:rPr lang="en-US" altLang="ko-KR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2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/3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" name="그림 3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086B3A6B-53AD-BB5C-080E-472AD3D36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25" y="1431689"/>
            <a:ext cx="5787953" cy="4157545"/>
          </a:xfrm>
          <a:prstGeom prst="rect">
            <a:avLst/>
          </a:prstGeom>
        </p:spPr>
      </p:pic>
      <p:pic>
        <p:nvPicPr>
          <p:cNvPr id="8" name="그림 7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id="{118B4E43-58D0-A8F5-F565-1619DC3310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349" y="1431689"/>
            <a:ext cx="5465755" cy="415754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4BDC963-1DA7-3C76-1E6E-E1AA07F3C4B5}"/>
              </a:ext>
            </a:extLst>
          </p:cNvPr>
          <p:cNvSpPr/>
          <p:nvPr/>
        </p:nvSpPr>
        <p:spPr>
          <a:xfrm>
            <a:off x="335360" y="3068950"/>
            <a:ext cx="792088" cy="2160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E8DB6C-13E8-2A5F-0EE0-EFFCFF229E64}"/>
              </a:ext>
            </a:extLst>
          </p:cNvPr>
          <p:cNvSpPr/>
          <p:nvPr/>
        </p:nvSpPr>
        <p:spPr>
          <a:xfrm>
            <a:off x="344525" y="3356992"/>
            <a:ext cx="5423127" cy="22322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C374CE7-EA34-5E8D-44C3-590E2FB2888B}"/>
              </a:ext>
            </a:extLst>
          </p:cNvPr>
          <p:cNvSpPr/>
          <p:nvPr/>
        </p:nvSpPr>
        <p:spPr>
          <a:xfrm>
            <a:off x="2927648" y="2924944"/>
            <a:ext cx="1440160" cy="33872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앞서 선택한 위험단계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A371A7B-778E-F5C3-3782-72689260E1CC}"/>
              </a:ext>
            </a:extLst>
          </p:cNvPr>
          <p:cNvCxnSpPr>
            <a:stCxn id="10" idx="3"/>
          </p:cNvCxnSpPr>
          <p:nvPr/>
        </p:nvCxnSpPr>
        <p:spPr>
          <a:xfrm flipV="1">
            <a:off x="1127448" y="3140968"/>
            <a:ext cx="1872208" cy="359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45D6A48-6F80-9466-A6B9-DD972184856F}"/>
              </a:ext>
            </a:extLst>
          </p:cNvPr>
          <p:cNvSpPr/>
          <p:nvPr/>
        </p:nvSpPr>
        <p:spPr>
          <a:xfrm>
            <a:off x="3503712" y="5826576"/>
            <a:ext cx="1440160" cy="55475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앞서 선택한 </a:t>
            </a:r>
            <a:r>
              <a:rPr lang="ko-KR" altLang="en-US" sz="1200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위험단계 이하의 시장별 업종 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리스트</a:t>
            </a: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FA70F555-7350-C544-8D87-FD80689915B8}"/>
              </a:ext>
            </a:extLst>
          </p:cNvPr>
          <p:cNvCxnSpPr>
            <a:cxnSpLocks/>
            <a:stCxn id="11" idx="2"/>
            <a:endCxn id="15" idx="1"/>
          </p:cNvCxnSpPr>
          <p:nvPr/>
        </p:nvCxnSpPr>
        <p:spPr>
          <a:xfrm rot="16200000" flipH="1">
            <a:off x="3022541" y="5622781"/>
            <a:ext cx="514718" cy="447623"/>
          </a:xfrm>
          <a:prstGeom prst="bentConnector2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04D5378-84D9-09CE-F817-28822A8D2CE8}"/>
              </a:ext>
            </a:extLst>
          </p:cNvPr>
          <p:cNvSpPr/>
          <p:nvPr/>
        </p:nvSpPr>
        <p:spPr>
          <a:xfrm>
            <a:off x="7104112" y="1412776"/>
            <a:ext cx="288032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4C37D56-FD68-9B70-66FE-C7DE7C450C7F}"/>
              </a:ext>
            </a:extLst>
          </p:cNvPr>
          <p:cNvSpPr/>
          <p:nvPr/>
        </p:nvSpPr>
        <p:spPr>
          <a:xfrm>
            <a:off x="7032104" y="1957057"/>
            <a:ext cx="1440160" cy="823871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시장내에서 </a:t>
            </a:r>
            <a:r>
              <a:rPr lang="ko-KR" altLang="en-US" sz="1200">
                <a:solidFill>
                  <a:srgbClr val="FF000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최근 한달기준 가장 수익률이 높은 상위 </a:t>
            </a:r>
            <a:r>
              <a:rPr lang="en-US" altLang="ko-KR" sz="1200">
                <a:solidFill>
                  <a:srgbClr val="FF000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3</a:t>
            </a:r>
            <a:r>
              <a:rPr lang="ko-KR" altLang="en-US" sz="1200">
                <a:solidFill>
                  <a:srgbClr val="FF000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업종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에 추천 표시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C2019544-2037-B0D1-BC79-DAA2B711B743}"/>
              </a:ext>
            </a:extLst>
          </p:cNvPr>
          <p:cNvCxnSpPr>
            <a:stCxn id="18" idx="3"/>
          </p:cNvCxnSpPr>
          <p:nvPr/>
        </p:nvCxnSpPr>
        <p:spPr>
          <a:xfrm>
            <a:off x="7392144" y="1520788"/>
            <a:ext cx="360040" cy="46805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43E551B-ED51-F31E-4B08-86DF1C1DA198}"/>
              </a:ext>
            </a:extLst>
          </p:cNvPr>
          <p:cNvSpPr/>
          <p:nvPr/>
        </p:nvSpPr>
        <p:spPr>
          <a:xfrm>
            <a:off x="10640888" y="4581128"/>
            <a:ext cx="1249216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7422283-916E-B6C3-0A2D-21B7C492ACCE}"/>
              </a:ext>
            </a:extLst>
          </p:cNvPr>
          <p:cNvSpPr/>
          <p:nvPr/>
        </p:nvSpPr>
        <p:spPr>
          <a:xfrm>
            <a:off x="8832304" y="4585650"/>
            <a:ext cx="1440160" cy="55475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관심 업종을 결정하고 다음단계로 진행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27008F4-52DB-F1F8-202F-631C12F6E773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10200456" y="4833156"/>
            <a:ext cx="4404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0045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5185715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4.9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핵심 화면 설계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투자 성향 검사 </a:t>
            </a:r>
            <a:r>
              <a:rPr lang="en-US" altLang="ko-KR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3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/3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</a:t>
            </a:r>
            <a:endParaRPr lang="en-US" altLang="ko-KR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" name="그림 3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14D6D30D-45AF-CD70-25D7-E438F5B89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1412776"/>
            <a:ext cx="6224288" cy="446122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82E26EE-849E-369E-E295-A5E54D1FB230}"/>
              </a:ext>
            </a:extLst>
          </p:cNvPr>
          <p:cNvSpPr/>
          <p:nvPr/>
        </p:nvSpPr>
        <p:spPr>
          <a:xfrm>
            <a:off x="2423592" y="3284984"/>
            <a:ext cx="1512168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435AFA-2DDE-D3FB-3825-BA9E3FE92A0A}"/>
              </a:ext>
            </a:extLst>
          </p:cNvPr>
          <p:cNvSpPr/>
          <p:nvPr/>
        </p:nvSpPr>
        <p:spPr>
          <a:xfrm>
            <a:off x="2495600" y="3573016"/>
            <a:ext cx="1440160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1BF7F30-0BCF-A52C-9EB0-3DDAF2F0D49A}"/>
              </a:ext>
            </a:extLst>
          </p:cNvPr>
          <p:cNvSpPr/>
          <p:nvPr/>
        </p:nvSpPr>
        <p:spPr>
          <a:xfrm>
            <a:off x="3431704" y="4005064"/>
            <a:ext cx="1584176" cy="4219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2E6C79-659C-9D07-9FCC-34DDF209B511}"/>
              </a:ext>
            </a:extLst>
          </p:cNvPr>
          <p:cNvSpPr/>
          <p:nvPr/>
        </p:nvSpPr>
        <p:spPr>
          <a:xfrm>
            <a:off x="7248128" y="5157192"/>
            <a:ext cx="1512168" cy="4421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18BFFD-FC33-863C-A3AE-C5C3335820FA}"/>
              </a:ext>
            </a:extLst>
          </p:cNvPr>
          <p:cNvSpPr/>
          <p:nvPr/>
        </p:nvSpPr>
        <p:spPr>
          <a:xfrm>
            <a:off x="695400" y="2852936"/>
            <a:ext cx="1440160" cy="30966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앞서 선택한 위험단계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5A17F7FE-5086-D69E-DDC6-AB47B24ADE00}"/>
              </a:ext>
            </a:extLst>
          </p:cNvPr>
          <p:cNvCxnSpPr>
            <a:stCxn id="5" idx="1"/>
            <a:endCxn id="12" idx="2"/>
          </p:cNvCxnSpPr>
          <p:nvPr/>
        </p:nvCxnSpPr>
        <p:spPr>
          <a:xfrm rot="10800000">
            <a:off x="1415480" y="3162604"/>
            <a:ext cx="1008112" cy="266396"/>
          </a:xfrm>
          <a:prstGeom prst="bentConnector2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A56116-1720-2D1D-8B35-62783B231D13}"/>
              </a:ext>
            </a:extLst>
          </p:cNvPr>
          <p:cNvSpPr/>
          <p:nvPr/>
        </p:nvSpPr>
        <p:spPr>
          <a:xfrm>
            <a:off x="695400" y="4055436"/>
            <a:ext cx="1440160" cy="66970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앞서 선택한 위험단계 내 종목들중 </a:t>
            </a:r>
            <a:r>
              <a:rPr lang="ko-KR" altLang="en-US" sz="1200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최고 수익률로 제한</a:t>
            </a: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1FA2541A-E3CA-E7A9-6517-11D620BEF67F}"/>
              </a:ext>
            </a:extLst>
          </p:cNvPr>
          <p:cNvCxnSpPr>
            <a:stCxn id="8" idx="1"/>
            <a:endCxn id="15" idx="0"/>
          </p:cNvCxnSpPr>
          <p:nvPr/>
        </p:nvCxnSpPr>
        <p:spPr>
          <a:xfrm rot="10800000" flipV="1">
            <a:off x="1415480" y="3717032"/>
            <a:ext cx="1080120" cy="338404"/>
          </a:xfrm>
          <a:prstGeom prst="bentConnector2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E9E69A-9E02-5614-918D-692AAC357DC0}"/>
              </a:ext>
            </a:extLst>
          </p:cNvPr>
          <p:cNvSpPr/>
          <p:nvPr/>
        </p:nvSpPr>
        <p:spPr>
          <a:xfrm>
            <a:off x="5231904" y="4077072"/>
            <a:ext cx="1440160" cy="2667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희망수익률 입력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7AA5602-4901-B84D-CD16-16F5917F3599}"/>
              </a:ext>
            </a:extLst>
          </p:cNvPr>
          <p:cNvCxnSpPr>
            <a:stCxn id="10" idx="3"/>
          </p:cNvCxnSpPr>
          <p:nvPr/>
        </p:nvCxnSpPr>
        <p:spPr>
          <a:xfrm>
            <a:off x="5015880" y="4216026"/>
            <a:ext cx="360040" cy="50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AC681B0-8811-9F1C-ED31-6B6FFE453C2A}"/>
              </a:ext>
            </a:extLst>
          </p:cNvPr>
          <p:cNvSpPr/>
          <p:nvPr/>
        </p:nvSpPr>
        <p:spPr>
          <a:xfrm>
            <a:off x="5303912" y="5106496"/>
            <a:ext cx="1440160" cy="55475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희망수익률을 입력하고 검사를 마침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289F857-239A-DD4D-A3FF-14242F9348F5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6672064" y="5378278"/>
            <a:ext cx="57606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6341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547746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4.9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핵심 화면 설계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투자 성향별 종목 추천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</a:t>
            </a:r>
            <a:endParaRPr lang="en-US" altLang="ko-KR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" name="그림 3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41F7B81D-1100-EB0D-0172-95EB740C1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1412776"/>
            <a:ext cx="6264696" cy="452177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2C765B6-9A50-D642-7166-E3AC8FF763E6}"/>
              </a:ext>
            </a:extLst>
          </p:cNvPr>
          <p:cNvSpPr/>
          <p:nvPr/>
        </p:nvSpPr>
        <p:spPr>
          <a:xfrm>
            <a:off x="2567608" y="2780928"/>
            <a:ext cx="3312368" cy="10081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99EADEB-D853-DD0B-1D2D-0F1AC93C0D14}"/>
              </a:ext>
            </a:extLst>
          </p:cNvPr>
          <p:cNvSpPr/>
          <p:nvPr/>
        </p:nvSpPr>
        <p:spPr>
          <a:xfrm>
            <a:off x="3791744" y="3933056"/>
            <a:ext cx="1800200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802A65C-093E-14F2-179C-AC681836C563}"/>
              </a:ext>
            </a:extLst>
          </p:cNvPr>
          <p:cNvSpPr/>
          <p:nvPr/>
        </p:nvSpPr>
        <p:spPr>
          <a:xfrm>
            <a:off x="3503712" y="4221088"/>
            <a:ext cx="2196048" cy="42192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0A3C55-9CBD-B20D-D6E0-63C75854785C}"/>
              </a:ext>
            </a:extLst>
          </p:cNvPr>
          <p:cNvSpPr/>
          <p:nvPr/>
        </p:nvSpPr>
        <p:spPr>
          <a:xfrm>
            <a:off x="6528048" y="3068960"/>
            <a:ext cx="1440160" cy="42728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고객의 성향정보를 다시 확인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CBE3396-452F-695A-D415-A3039679B0F8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879976" y="3284984"/>
            <a:ext cx="6480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816C00-F5CA-A81F-19F1-D4E01A69372E}"/>
              </a:ext>
            </a:extLst>
          </p:cNvPr>
          <p:cNvSpPr/>
          <p:nvPr/>
        </p:nvSpPr>
        <p:spPr>
          <a:xfrm>
            <a:off x="6096000" y="3933056"/>
            <a:ext cx="1440160" cy="2667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빠른 기간 입력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3670527-B67E-6DD9-6E1D-DE9A6E5C64B8}"/>
              </a:ext>
            </a:extLst>
          </p:cNvPr>
          <p:cNvCxnSpPr>
            <a:stCxn id="8" idx="3"/>
          </p:cNvCxnSpPr>
          <p:nvPr/>
        </p:nvCxnSpPr>
        <p:spPr>
          <a:xfrm>
            <a:off x="5591944" y="4077072"/>
            <a:ext cx="5760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7D2116F-E987-12AD-6512-892679BA73C7}"/>
              </a:ext>
            </a:extLst>
          </p:cNvPr>
          <p:cNvSpPr/>
          <p:nvPr/>
        </p:nvSpPr>
        <p:spPr>
          <a:xfrm>
            <a:off x="3719736" y="5023296"/>
            <a:ext cx="1728192" cy="42192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지표 산출 기간 입력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캘린더 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UI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로도 입력가능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E39A498-7302-1AD7-E946-5A8D9F41EB12}"/>
              </a:ext>
            </a:extLst>
          </p:cNvPr>
          <p:cNvCxnSpPr>
            <a:stCxn id="10" idx="2"/>
            <a:endCxn id="21" idx="0"/>
          </p:cNvCxnSpPr>
          <p:nvPr/>
        </p:nvCxnSpPr>
        <p:spPr>
          <a:xfrm flipH="1">
            <a:off x="4583832" y="4643016"/>
            <a:ext cx="17904" cy="3802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BF36B5D-415B-59DD-7505-5808A674EACC}"/>
              </a:ext>
            </a:extLst>
          </p:cNvPr>
          <p:cNvSpPr/>
          <p:nvPr/>
        </p:nvSpPr>
        <p:spPr>
          <a:xfrm>
            <a:off x="7248128" y="5219075"/>
            <a:ext cx="1512168" cy="4421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6DA4E08-2C80-0F33-E893-4465DC4B57B7}"/>
              </a:ext>
            </a:extLst>
          </p:cNvPr>
          <p:cNvSpPr/>
          <p:nvPr/>
        </p:nvSpPr>
        <p:spPr>
          <a:xfrm>
            <a:off x="9336360" y="5301208"/>
            <a:ext cx="1440160" cy="30966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산출기간을 결정하고 종목을 추천 받기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A3E202A-DE36-8AAC-50C1-52FF57494DB0}"/>
              </a:ext>
            </a:extLst>
          </p:cNvPr>
          <p:cNvCxnSpPr>
            <a:stCxn id="24" idx="3"/>
            <a:endCxn id="26" idx="1"/>
          </p:cNvCxnSpPr>
          <p:nvPr/>
        </p:nvCxnSpPr>
        <p:spPr>
          <a:xfrm>
            <a:off x="8760296" y="5440162"/>
            <a:ext cx="576064" cy="1588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2235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547746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4.9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핵심 화면 설계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투자 성향별 종목 추천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</a:t>
            </a:r>
            <a:endParaRPr lang="en-US" altLang="ko-KR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EEF61CF-9822-91EA-5BB8-29B7FAF68BEB}"/>
              </a:ext>
            </a:extLst>
          </p:cNvPr>
          <p:cNvCxnSpPr>
            <a:cxnSpLocks/>
          </p:cNvCxnSpPr>
          <p:nvPr/>
        </p:nvCxnSpPr>
        <p:spPr>
          <a:xfrm>
            <a:off x="8976320" y="3140968"/>
            <a:ext cx="50405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9A0B3A-9378-DA29-169B-9D8ECF9B9D41}"/>
              </a:ext>
            </a:extLst>
          </p:cNvPr>
          <p:cNvSpPr/>
          <p:nvPr/>
        </p:nvSpPr>
        <p:spPr>
          <a:xfrm>
            <a:off x="9408368" y="2996952"/>
            <a:ext cx="1152128" cy="30966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지표 산출기간이 표시됨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D9DA784-926F-FB34-55D3-002997378254}"/>
              </a:ext>
            </a:extLst>
          </p:cNvPr>
          <p:cNvCxnSpPr>
            <a:cxnSpLocks/>
          </p:cNvCxnSpPr>
          <p:nvPr/>
        </p:nvCxnSpPr>
        <p:spPr>
          <a:xfrm>
            <a:off x="8987840" y="4473116"/>
            <a:ext cx="636552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D16BE6F-8AA2-FD6B-B996-8513A87969D3}"/>
              </a:ext>
            </a:extLst>
          </p:cNvPr>
          <p:cNvSpPr/>
          <p:nvPr/>
        </p:nvSpPr>
        <p:spPr>
          <a:xfrm>
            <a:off x="9480376" y="4221088"/>
            <a:ext cx="1152128" cy="50405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고객 성향별 추천 종목 리스트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74EC51E-4F46-AE34-3D02-AEA19F22DD0B}"/>
              </a:ext>
            </a:extLst>
          </p:cNvPr>
          <p:cNvCxnSpPr>
            <a:cxnSpLocks/>
          </p:cNvCxnSpPr>
          <p:nvPr/>
        </p:nvCxnSpPr>
        <p:spPr>
          <a:xfrm>
            <a:off x="8987840" y="5625244"/>
            <a:ext cx="636552" cy="794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58F218B-647F-D6EF-176A-C762990B67ED}"/>
              </a:ext>
            </a:extLst>
          </p:cNvPr>
          <p:cNvSpPr/>
          <p:nvPr/>
        </p:nvSpPr>
        <p:spPr>
          <a:xfrm>
            <a:off x="9408368" y="5373216"/>
            <a:ext cx="1152128" cy="50405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pic>
        <p:nvPicPr>
          <p:cNvPr id="23" name="그림 22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513D9E05-F0A2-42B4-51C0-267336905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094" y="1360663"/>
            <a:ext cx="6553786" cy="4727574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248F32F6-D6E0-32F8-562A-0C55B1BBF1A9}"/>
              </a:ext>
            </a:extLst>
          </p:cNvPr>
          <p:cNvSpPr/>
          <p:nvPr/>
        </p:nvSpPr>
        <p:spPr>
          <a:xfrm>
            <a:off x="7464152" y="2780928"/>
            <a:ext cx="1481728" cy="5760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5FA73D5-889C-F794-9C91-EDE4F7BC785A}"/>
              </a:ext>
            </a:extLst>
          </p:cNvPr>
          <p:cNvSpPr/>
          <p:nvPr/>
        </p:nvSpPr>
        <p:spPr>
          <a:xfrm>
            <a:off x="2361654" y="3645024"/>
            <a:ext cx="6553786" cy="1800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F87C900-0083-992D-6374-048AD0D068D2}"/>
              </a:ext>
            </a:extLst>
          </p:cNvPr>
          <p:cNvSpPr/>
          <p:nvPr/>
        </p:nvSpPr>
        <p:spPr>
          <a:xfrm>
            <a:off x="7464152" y="5445224"/>
            <a:ext cx="1481728" cy="3079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C6893AA-6DCB-20D5-4D86-9180F1F6FAD1}"/>
              </a:ext>
            </a:extLst>
          </p:cNvPr>
          <p:cNvSpPr/>
          <p:nvPr/>
        </p:nvSpPr>
        <p:spPr>
          <a:xfrm>
            <a:off x="4439816" y="4005064"/>
            <a:ext cx="936104" cy="144016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145B491-3566-EF67-BA4C-E7BA75CB3222}"/>
              </a:ext>
            </a:extLst>
          </p:cNvPr>
          <p:cNvCxnSpPr/>
          <p:nvPr/>
        </p:nvCxnSpPr>
        <p:spPr>
          <a:xfrm flipV="1">
            <a:off x="4943872" y="3212976"/>
            <a:ext cx="0" cy="79208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5FF26BC-7B4C-1A10-04DC-23C8FFB8E01F}"/>
              </a:ext>
            </a:extLst>
          </p:cNvPr>
          <p:cNvSpPr/>
          <p:nvPr/>
        </p:nvSpPr>
        <p:spPr>
          <a:xfrm>
            <a:off x="4352059" y="2483121"/>
            <a:ext cx="1152128" cy="72008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종목명을 클릭해 해당 종목의 상세지표로 즉시 이동가능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53CD7C2-7C3F-49A9-C748-9688EBCF9874}"/>
              </a:ext>
            </a:extLst>
          </p:cNvPr>
          <p:cNvSpPr/>
          <p:nvPr/>
        </p:nvSpPr>
        <p:spPr>
          <a:xfrm>
            <a:off x="9480376" y="5301207"/>
            <a:ext cx="1656184" cy="72007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지표 산출기간을 재입력해 다시 추천받거나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메인화면으로 이동</a:t>
            </a:r>
          </a:p>
        </p:txBody>
      </p:sp>
    </p:spTree>
    <p:extLst>
      <p:ext uri="{BB962C8B-B14F-4D97-AF65-F5344CB8AC3E}">
        <p14:creationId xmlns:p14="http://schemas.microsoft.com/office/powerpoint/2010/main" val="23261222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4504438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4.9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핵심 화면 설계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종목 상세 지표</a:t>
            </a:r>
            <a:endParaRPr lang="en-US" altLang="ko-KR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" name="그림 3" descr="텍스트, 도표, 스크린샷, 그래프이(가) 표시된 사진&#10;&#10;자동 생성된 설명">
            <a:extLst>
              <a:ext uri="{FF2B5EF4-FFF2-40B4-BE49-F238E27FC236}">
                <a16:creationId xmlns:a16="http://schemas.microsoft.com/office/drawing/2014/main" id="{BBBE3768-835A-BFE2-D31C-1F7F26999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7" y="1556792"/>
            <a:ext cx="5753093" cy="3865229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CF7200D7-4575-5A72-6739-BFBF5AEF5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016" y="1541916"/>
            <a:ext cx="5841717" cy="386522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C6F02F-60A5-AE27-17DF-0D9EFCB00FD2}"/>
              </a:ext>
            </a:extLst>
          </p:cNvPr>
          <p:cNvSpPr/>
          <p:nvPr/>
        </p:nvSpPr>
        <p:spPr>
          <a:xfrm>
            <a:off x="5159896" y="5157192"/>
            <a:ext cx="936104" cy="2499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6C7B54-AB6C-0678-27F8-68226BEE4F43}"/>
              </a:ext>
            </a:extLst>
          </p:cNvPr>
          <p:cNvSpPr/>
          <p:nvPr/>
        </p:nvSpPr>
        <p:spPr>
          <a:xfrm>
            <a:off x="342907" y="1844824"/>
            <a:ext cx="5681085" cy="273630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8275075-8D4B-7C8E-512E-06E68258A42B}"/>
              </a:ext>
            </a:extLst>
          </p:cNvPr>
          <p:cNvCxnSpPr/>
          <p:nvPr/>
        </p:nvCxnSpPr>
        <p:spPr>
          <a:xfrm>
            <a:off x="1487563" y="4581128"/>
            <a:ext cx="0" cy="12961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42828D-0236-6525-E415-BB6A0300FCFF}"/>
              </a:ext>
            </a:extLst>
          </p:cNvPr>
          <p:cNvSpPr/>
          <p:nvPr/>
        </p:nvSpPr>
        <p:spPr>
          <a:xfrm>
            <a:off x="-96688" y="5877272"/>
            <a:ext cx="3168352" cy="54005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해당종목의 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3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개월간 고가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저가 캔들차트를 베이스로 긍정점수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수익률 라인그래프를 함께 볼 수 있음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DD0EE0-297E-6361-BEDB-64F26BF53359}"/>
              </a:ext>
            </a:extLst>
          </p:cNvPr>
          <p:cNvSpPr/>
          <p:nvPr/>
        </p:nvSpPr>
        <p:spPr>
          <a:xfrm>
            <a:off x="3305691" y="5473023"/>
            <a:ext cx="1944216" cy="24995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캔들차트와 같이 볼 지표 선택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CA4E81-95D7-082C-82E1-716690230370}"/>
              </a:ext>
            </a:extLst>
          </p:cNvPr>
          <p:cNvSpPr/>
          <p:nvPr/>
        </p:nvSpPr>
        <p:spPr>
          <a:xfrm>
            <a:off x="6240016" y="3284984"/>
            <a:ext cx="5841717" cy="7200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4819713-A9DA-2327-2BF4-407F601AADA2}"/>
              </a:ext>
            </a:extLst>
          </p:cNvPr>
          <p:cNvCxnSpPr/>
          <p:nvPr/>
        </p:nvCxnSpPr>
        <p:spPr>
          <a:xfrm flipV="1">
            <a:off x="10056440" y="2780928"/>
            <a:ext cx="0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5B5C45-E897-05EC-7B7A-1EE15ABBCA33}"/>
              </a:ext>
            </a:extLst>
          </p:cNvPr>
          <p:cNvSpPr/>
          <p:nvPr/>
        </p:nvSpPr>
        <p:spPr>
          <a:xfrm>
            <a:off x="8688288" y="2392927"/>
            <a:ext cx="2736300" cy="34663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해당종목의 현재 지표 및 위험도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(1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달 기준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)</a:t>
            </a:r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4082063-68D5-96CC-EDEF-F4F3BE69CDDB}"/>
              </a:ext>
            </a:extLst>
          </p:cNvPr>
          <p:cNvSpPr/>
          <p:nvPr/>
        </p:nvSpPr>
        <p:spPr>
          <a:xfrm>
            <a:off x="6312024" y="4005062"/>
            <a:ext cx="5753092" cy="141695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BD7C97BC-6AE6-CF8D-427E-1304322B3FB2}"/>
              </a:ext>
            </a:extLst>
          </p:cNvPr>
          <p:cNvCxnSpPr/>
          <p:nvPr/>
        </p:nvCxnSpPr>
        <p:spPr>
          <a:xfrm>
            <a:off x="8328248" y="5422021"/>
            <a:ext cx="432048" cy="383243"/>
          </a:xfrm>
          <a:prstGeom prst="bentConnector3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F963D95-1AEB-DD15-A3C9-05280C2B947D}"/>
              </a:ext>
            </a:extLst>
          </p:cNvPr>
          <p:cNvSpPr/>
          <p:nvPr/>
        </p:nvSpPr>
        <p:spPr>
          <a:xfrm>
            <a:off x="8688288" y="5661247"/>
            <a:ext cx="1944216" cy="59690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해당종목과 관련된 최신 뉴스 기사 제공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제목을 클릭하면 기사 링크로 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연결</a:t>
            </a: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12EE13D4-E94F-CB02-5A5B-1F0534B5AF02}"/>
              </a:ext>
            </a:extLst>
          </p:cNvPr>
          <p:cNvCxnSpPr>
            <a:cxnSpLocks/>
            <a:stCxn id="11" idx="2"/>
            <a:endCxn id="18" idx="3"/>
          </p:cNvCxnSpPr>
          <p:nvPr/>
        </p:nvCxnSpPr>
        <p:spPr>
          <a:xfrm rot="5400000">
            <a:off x="5343501" y="5313551"/>
            <a:ext cx="190855" cy="378041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5858B33-CCFE-A00C-E72F-788D52DD6C80}"/>
              </a:ext>
            </a:extLst>
          </p:cNvPr>
          <p:cNvSpPr/>
          <p:nvPr/>
        </p:nvSpPr>
        <p:spPr>
          <a:xfrm>
            <a:off x="2139335" y="2317626"/>
            <a:ext cx="2088227" cy="1430659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긍정점수란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? : 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해당종목 관련 뉴스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커뮤니티 내용을 해당 종목에 대한 </a:t>
            </a:r>
            <a:r>
              <a:rPr lang="ko-KR" altLang="en-US" sz="1200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긍정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lang="ko-KR" altLang="en-US" sz="1200">
                <a:solidFill>
                  <a:srgbClr val="FF000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부정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으로 구분해 특정 기간내 </a:t>
            </a:r>
            <a:r>
              <a:rPr lang="ko-KR" altLang="en-US" sz="1200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긍정의 비율을 수치화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하여 해당 종목의 시장 분위기를 파악할 수 있는 지수</a:t>
            </a:r>
          </a:p>
        </p:txBody>
      </p:sp>
    </p:spTree>
    <p:extLst>
      <p:ext uri="{BB962C8B-B14F-4D97-AF65-F5344CB8AC3E}">
        <p14:creationId xmlns:p14="http://schemas.microsoft.com/office/powerpoint/2010/main" val="151654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4781758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4.9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핵심 화면 설계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–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실시간 이슈 정보</a:t>
            </a:r>
            <a:endParaRPr lang="en-US" altLang="ko-KR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8" name="그림 7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EC0B667F-6494-5E6E-DDE8-699D9EC78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92" y="1481341"/>
            <a:ext cx="6552728" cy="449951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237AF0F-AA08-4D36-EC94-55FE519BABBE}"/>
              </a:ext>
            </a:extLst>
          </p:cNvPr>
          <p:cNvSpPr/>
          <p:nvPr/>
        </p:nvSpPr>
        <p:spPr>
          <a:xfrm>
            <a:off x="2495600" y="2636912"/>
            <a:ext cx="3096344" cy="2376264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51E7775-022B-DCFF-47BF-CBD9D572B604}"/>
              </a:ext>
            </a:extLst>
          </p:cNvPr>
          <p:cNvCxnSpPr/>
          <p:nvPr/>
        </p:nvCxnSpPr>
        <p:spPr>
          <a:xfrm flipH="1">
            <a:off x="1631504" y="3861048"/>
            <a:ext cx="86409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2B3E934-5B59-3331-F48D-714047458D2C}"/>
              </a:ext>
            </a:extLst>
          </p:cNvPr>
          <p:cNvSpPr/>
          <p:nvPr/>
        </p:nvSpPr>
        <p:spPr>
          <a:xfrm>
            <a:off x="47328" y="3573017"/>
            <a:ext cx="1667150" cy="79208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뉴스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커뮤니티에서 가장 자주 언급되는 단어 들의 워드 클라우드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2643B4-78E0-A843-86D5-F7C3989069DA}"/>
              </a:ext>
            </a:extLst>
          </p:cNvPr>
          <p:cNvSpPr/>
          <p:nvPr/>
        </p:nvSpPr>
        <p:spPr>
          <a:xfrm>
            <a:off x="5663952" y="3645024"/>
            <a:ext cx="3312368" cy="10081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1877A3F-1C38-0470-EB06-AC3A34EC99D8}"/>
              </a:ext>
            </a:extLst>
          </p:cNvPr>
          <p:cNvSpPr/>
          <p:nvPr/>
        </p:nvSpPr>
        <p:spPr>
          <a:xfrm>
            <a:off x="5699760" y="3356992"/>
            <a:ext cx="1116320" cy="216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783A6E-DD93-B73F-1263-D97163424A79}"/>
              </a:ext>
            </a:extLst>
          </p:cNvPr>
          <p:cNvSpPr/>
          <p:nvPr/>
        </p:nvSpPr>
        <p:spPr>
          <a:xfrm>
            <a:off x="6816080" y="2996952"/>
            <a:ext cx="1440160" cy="2667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시장별 업종 전환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758C13BC-9691-9F1F-57A1-249E8E2F4A2D}"/>
              </a:ext>
            </a:extLst>
          </p:cNvPr>
          <p:cNvCxnSpPr>
            <a:stCxn id="15" idx="3"/>
          </p:cNvCxnSpPr>
          <p:nvPr/>
        </p:nvCxnSpPr>
        <p:spPr>
          <a:xfrm flipV="1">
            <a:off x="6816080" y="3212976"/>
            <a:ext cx="720080" cy="252029"/>
          </a:xfrm>
          <a:prstGeom prst="bentConnector3">
            <a:avLst>
              <a:gd name="adj1" fmla="val 10125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5C3289B-74AA-98DF-34B9-69AB9848D69E}"/>
              </a:ext>
            </a:extLst>
          </p:cNvPr>
          <p:cNvCxnSpPr>
            <a:stCxn id="14" idx="3"/>
          </p:cNvCxnSpPr>
          <p:nvPr/>
        </p:nvCxnSpPr>
        <p:spPr>
          <a:xfrm>
            <a:off x="8976320" y="4149080"/>
            <a:ext cx="50405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330DB0A-40DE-8C73-14B0-410CBD8CA5B2}"/>
              </a:ext>
            </a:extLst>
          </p:cNvPr>
          <p:cNvSpPr/>
          <p:nvPr/>
        </p:nvSpPr>
        <p:spPr>
          <a:xfrm>
            <a:off x="9336360" y="3861048"/>
            <a:ext cx="1667150" cy="54005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어제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-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오늘 기준 뉴스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커뮤니티 게시 증가율 상위 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5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업종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E351ED3-1661-0107-E259-F10D03ED5C52}"/>
              </a:ext>
            </a:extLst>
          </p:cNvPr>
          <p:cNvSpPr/>
          <p:nvPr/>
        </p:nvSpPr>
        <p:spPr>
          <a:xfrm>
            <a:off x="2423592" y="5229200"/>
            <a:ext cx="6552728" cy="781969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528E8EC-BEA7-6C1B-AD73-A342D2FB34E5}"/>
              </a:ext>
            </a:extLst>
          </p:cNvPr>
          <p:cNvCxnSpPr/>
          <p:nvPr/>
        </p:nvCxnSpPr>
        <p:spPr>
          <a:xfrm>
            <a:off x="8976320" y="5625245"/>
            <a:ext cx="50405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043E7FF-8851-8339-E747-C942714C9D28}"/>
              </a:ext>
            </a:extLst>
          </p:cNvPr>
          <p:cNvSpPr/>
          <p:nvPr/>
        </p:nvSpPr>
        <p:spPr>
          <a:xfrm>
            <a:off x="9336360" y="5337213"/>
            <a:ext cx="1667150" cy="54005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어제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-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오늘 기준 뉴스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커뮤니티 게시 증가율 상위 </a:t>
            </a:r>
            <a:r>
              <a:rPr lang="en-US" altLang="ko-KR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10</a:t>
            </a:r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종목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6D384EF-9222-1E4A-D5B9-8028C40C4CB9}"/>
              </a:ext>
            </a:extLst>
          </p:cNvPr>
          <p:cNvSpPr/>
          <p:nvPr/>
        </p:nvSpPr>
        <p:spPr>
          <a:xfrm>
            <a:off x="2495600" y="5373216"/>
            <a:ext cx="720080" cy="5624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7749AAC-8630-6E14-0BD7-F0055099BCE8}"/>
              </a:ext>
            </a:extLst>
          </p:cNvPr>
          <p:cNvCxnSpPr>
            <a:stCxn id="29" idx="1"/>
          </p:cNvCxnSpPr>
          <p:nvPr/>
        </p:nvCxnSpPr>
        <p:spPr>
          <a:xfrm flipH="1">
            <a:off x="1714478" y="5654464"/>
            <a:ext cx="781122" cy="678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EE8461D-C1FD-BEB9-4E2C-9BE3E99C373A}"/>
              </a:ext>
            </a:extLst>
          </p:cNvPr>
          <p:cNvSpPr/>
          <p:nvPr/>
        </p:nvSpPr>
        <p:spPr>
          <a:xfrm>
            <a:off x="140791" y="5409221"/>
            <a:ext cx="1667150" cy="54005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종목명 클릭을 통해 해당 종목의 상세 지표 페이지 이동</a:t>
            </a:r>
          </a:p>
        </p:txBody>
      </p:sp>
    </p:spTree>
    <p:extLst>
      <p:ext uri="{BB962C8B-B14F-4D97-AF65-F5344CB8AC3E}">
        <p14:creationId xmlns:p14="http://schemas.microsoft.com/office/powerpoint/2010/main" val="24229556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2559996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4.10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시연 시나리오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A215275-BB9C-D870-1AA6-2732BFBC61E7}"/>
              </a:ext>
            </a:extLst>
          </p:cNvPr>
          <p:cNvSpPr/>
          <p:nvPr/>
        </p:nvSpPr>
        <p:spPr>
          <a:xfrm>
            <a:off x="407368" y="1700808"/>
            <a:ext cx="1224136" cy="50405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비회원</a:t>
            </a:r>
            <a:r>
              <a:rPr lang="en-US" altLang="ko-KR" sz="14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lang="ko-KR" altLang="en-US" sz="14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회원</a:t>
            </a:r>
          </a:p>
        </p:txBody>
      </p:sp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C53DA5B3-710F-5C22-685C-DE895A70365B}"/>
              </a:ext>
            </a:extLst>
          </p:cNvPr>
          <p:cNvSpPr/>
          <p:nvPr/>
        </p:nvSpPr>
        <p:spPr>
          <a:xfrm>
            <a:off x="3935760" y="1705830"/>
            <a:ext cx="1512168" cy="481980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회원가입</a:t>
            </a:r>
          </a:p>
        </p:txBody>
      </p:sp>
      <p:sp>
        <p:nvSpPr>
          <p:cNvPr id="5" name="순서도: 수행의 시작/종료 4">
            <a:extLst>
              <a:ext uri="{FF2B5EF4-FFF2-40B4-BE49-F238E27FC236}">
                <a16:creationId xmlns:a16="http://schemas.microsoft.com/office/drawing/2014/main" id="{85907E63-86F5-CBC8-C76A-E13908C8591D}"/>
              </a:ext>
            </a:extLst>
          </p:cNvPr>
          <p:cNvSpPr/>
          <p:nvPr/>
        </p:nvSpPr>
        <p:spPr>
          <a:xfrm>
            <a:off x="7536160" y="1702499"/>
            <a:ext cx="1512168" cy="481980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로그인</a:t>
            </a: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942CC68E-E63B-A6AA-1A21-CB2DEC377741}"/>
              </a:ext>
            </a:extLst>
          </p:cNvPr>
          <p:cNvSpPr/>
          <p:nvPr/>
        </p:nvSpPr>
        <p:spPr>
          <a:xfrm>
            <a:off x="9696400" y="2420888"/>
            <a:ext cx="1512168" cy="481980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투자 성향 검사 시작</a:t>
            </a:r>
          </a:p>
        </p:txBody>
      </p:sp>
      <p:sp>
        <p:nvSpPr>
          <p:cNvPr id="15" name="순서도: 수행의 시작/종료 14">
            <a:extLst>
              <a:ext uri="{FF2B5EF4-FFF2-40B4-BE49-F238E27FC236}">
                <a16:creationId xmlns:a16="http://schemas.microsoft.com/office/drawing/2014/main" id="{72CCA5AB-F0FD-3840-32CE-A88194C069BF}"/>
              </a:ext>
            </a:extLst>
          </p:cNvPr>
          <p:cNvSpPr/>
          <p:nvPr/>
        </p:nvSpPr>
        <p:spPr>
          <a:xfrm>
            <a:off x="7824192" y="2420888"/>
            <a:ext cx="1512168" cy="481980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감당 위험 단계 설정</a:t>
            </a:r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9B1A8271-C3F7-012F-3945-B091EA67C154}"/>
              </a:ext>
            </a:extLst>
          </p:cNvPr>
          <p:cNvSpPr/>
          <p:nvPr/>
        </p:nvSpPr>
        <p:spPr>
          <a:xfrm>
            <a:off x="3935760" y="3163044"/>
            <a:ext cx="1512168" cy="48198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투자 성향별 종목 추천</a:t>
            </a:r>
          </a:p>
        </p:txBody>
      </p:sp>
      <p:sp>
        <p:nvSpPr>
          <p:cNvPr id="19" name="순서도: 수행의 시작/종료 18">
            <a:extLst>
              <a:ext uri="{FF2B5EF4-FFF2-40B4-BE49-F238E27FC236}">
                <a16:creationId xmlns:a16="http://schemas.microsoft.com/office/drawing/2014/main" id="{64495540-22F3-12EC-7B59-0C3B3A1D1BD2}"/>
              </a:ext>
            </a:extLst>
          </p:cNvPr>
          <p:cNvSpPr/>
          <p:nvPr/>
        </p:nvSpPr>
        <p:spPr>
          <a:xfrm>
            <a:off x="7536160" y="3163044"/>
            <a:ext cx="1512168" cy="48198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종목 상세 페이지</a:t>
            </a:r>
          </a:p>
        </p:txBody>
      </p:sp>
      <p:sp>
        <p:nvSpPr>
          <p:cNvPr id="20" name="순서도: 수행의 시작/종료 19">
            <a:extLst>
              <a:ext uri="{FF2B5EF4-FFF2-40B4-BE49-F238E27FC236}">
                <a16:creationId xmlns:a16="http://schemas.microsoft.com/office/drawing/2014/main" id="{CB69486A-4B24-8BCA-A3E8-07C12F50F282}"/>
              </a:ext>
            </a:extLst>
          </p:cNvPr>
          <p:cNvSpPr/>
          <p:nvPr/>
        </p:nvSpPr>
        <p:spPr>
          <a:xfrm>
            <a:off x="7536160" y="4001503"/>
            <a:ext cx="1512168" cy="481980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종목 리스트 페이지</a:t>
            </a:r>
          </a:p>
        </p:txBody>
      </p:sp>
      <p:sp>
        <p:nvSpPr>
          <p:cNvPr id="29" name="순서도: 수행의 시작/종료 28">
            <a:extLst>
              <a:ext uri="{FF2B5EF4-FFF2-40B4-BE49-F238E27FC236}">
                <a16:creationId xmlns:a16="http://schemas.microsoft.com/office/drawing/2014/main" id="{F2E7F050-257C-85CD-B763-56220BE82AA6}"/>
              </a:ext>
            </a:extLst>
          </p:cNvPr>
          <p:cNvSpPr/>
          <p:nvPr/>
        </p:nvSpPr>
        <p:spPr>
          <a:xfrm>
            <a:off x="9696400" y="4796656"/>
            <a:ext cx="1512168" cy="481980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최종 투자 판단</a:t>
            </a:r>
          </a:p>
        </p:txBody>
      </p:sp>
      <p:sp>
        <p:nvSpPr>
          <p:cNvPr id="31" name="순서도: 수행의 시작/종료 30">
            <a:extLst>
              <a:ext uri="{FF2B5EF4-FFF2-40B4-BE49-F238E27FC236}">
                <a16:creationId xmlns:a16="http://schemas.microsoft.com/office/drawing/2014/main" id="{9BA9823C-E518-11E6-12EC-1AFB7FEE71D4}"/>
              </a:ext>
            </a:extLst>
          </p:cNvPr>
          <p:cNvSpPr/>
          <p:nvPr/>
        </p:nvSpPr>
        <p:spPr>
          <a:xfrm>
            <a:off x="2063552" y="4790137"/>
            <a:ext cx="1512168" cy="481980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실시간 이슈 정보 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0092AB21-9627-1FA1-E466-7E15AEC8D1A8}"/>
              </a:ext>
            </a:extLst>
          </p:cNvPr>
          <p:cNvSpPr/>
          <p:nvPr/>
        </p:nvSpPr>
        <p:spPr>
          <a:xfrm>
            <a:off x="407368" y="2420888"/>
            <a:ext cx="1224136" cy="5040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투자 성향 검사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FF1006F-D2C2-8C35-05D4-698405598D8F}"/>
              </a:ext>
            </a:extLst>
          </p:cNvPr>
          <p:cNvSpPr/>
          <p:nvPr/>
        </p:nvSpPr>
        <p:spPr>
          <a:xfrm>
            <a:off x="408574" y="3132810"/>
            <a:ext cx="1224136" cy="504056"/>
          </a:xfrm>
          <a:prstGeom prst="round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투자 성향별 종목 추천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EF3AC8A-A664-55D7-7749-09E84A9795F2}"/>
              </a:ext>
            </a:extLst>
          </p:cNvPr>
          <p:cNvSpPr/>
          <p:nvPr/>
        </p:nvSpPr>
        <p:spPr>
          <a:xfrm>
            <a:off x="404382" y="3833760"/>
            <a:ext cx="1224136" cy="50405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종목 리스트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E1D22C8-F711-EEB0-03D7-A5F86DA54148}"/>
              </a:ext>
            </a:extLst>
          </p:cNvPr>
          <p:cNvSpPr/>
          <p:nvPr/>
        </p:nvSpPr>
        <p:spPr>
          <a:xfrm>
            <a:off x="404382" y="4580599"/>
            <a:ext cx="1224136" cy="504056"/>
          </a:xfrm>
          <a:prstGeom prst="roundRect">
            <a:avLst/>
          </a:prstGeom>
          <a:solidFill>
            <a:srgbClr val="7030A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종목 상세 지표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3AA3F567-9A08-CBE0-F3A5-A817CF55DDE4}"/>
              </a:ext>
            </a:extLst>
          </p:cNvPr>
          <p:cNvSpPr/>
          <p:nvPr/>
        </p:nvSpPr>
        <p:spPr>
          <a:xfrm>
            <a:off x="398508" y="5373216"/>
            <a:ext cx="1224136" cy="504056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실시간 이슈 정보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9F71520-13D8-0AD3-74C4-5EF3CB7A798E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5447928" y="1943489"/>
            <a:ext cx="2088232" cy="333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95E8A26F-7FF5-1ECA-2DCF-4A05C6987CD5}"/>
              </a:ext>
            </a:extLst>
          </p:cNvPr>
          <p:cNvCxnSpPr>
            <a:cxnSpLocks/>
            <a:stCxn id="5" idx="3"/>
            <a:endCxn id="14" idx="3"/>
          </p:cNvCxnSpPr>
          <p:nvPr/>
        </p:nvCxnSpPr>
        <p:spPr>
          <a:xfrm>
            <a:off x="9048328" y="1943489"/>
            <a:ext cx="2160240" cy="718389"/>
          </a:xfrm>
          <a:prstGeom prst="bentConnector3">
            <a:avLst>
              <a:gd name="adj1" fmla="val 110582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287DE167-7B30-3E37-DBA9-1EAF5768293C}"/>
              </a:ext>
            </a:extLst>
          </p:cNvPr>
          <p:cNvCxnSpPr>
            <a:stCxn id="14" idx="1"/>
            <a:endCxn id="15" idx="3"/>
          </p:cNvCxnSpPr>
          <p:nvPr/>
        </p:nvCxnSpPr>
        <p:spPr>
          <a:xfrm flipH="1">
            <a:off x="9336360" y="2661878"/>
            <a:ext cx="36004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F3136855-B9F4-DAF0-1040-0184F6233BFE}"/>
              </a:ext>
            </a:extLst>
          </p:cNvPr>
          <p:cNvCxnSpPr>
            <a:cxnSpLocks/>
            <a:stCxn id="15" idx="1"/>
            <a:endCxn id="49" idx="3"/>
          </p:cNvCxnSpPr>
          <p:nvPr/>
        </p:nvCxnSpPr>
        <p:spPr>
          <a:xfrm flipH="1" flipV="1">
            <a:off x="7392144" y="2658075"/>
            <a:ext cx="432048" cy="380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1374ADAF-BFD1-82E3-E09D-9ADF3108110A}"/>
              </a:ext>
            </a:extLst>
          </p:cNvPr>
          <p:cNvCxnSpPr>
            <a:cxnSpLocks/>
            <a:stCxn id="61" idx="1"/>
            <a:endCxn id="18" idx="1"/>
          </p:cNvCxnSpPr>
          <p:nvPr/>
        </p:nvCxnSpPr>
        <p:spPr>
          <a:xfrm rot="10800000" flipH="1" flipV="1">
            <a:off x="2053990" y="2658074"/>
            <a:ext cx="1881770" cy="745959"/>
          </a:xfrm>
          <a:prstGeom prst="bentConnector3">
            <a:avLst>
              <a:gd name="adj1" fmla="val -12148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C69AE8B6-FCFB-B035-6F9D-43D71B13F47E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5447928" y="3404034"/>
            <a:ext cx="208823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CC4BF418-A488-C9BA-FDB5-1DD859C53891}"/>
              </a:ext>
            </a:extLst>
          </p:cNvPr>
          <p:cNvCxnSpPr>
            <a:cxnSpLocks/>
            <a:stCxn id="19" idx="3"/>
            <a:endCxn id="20" idx="3"/>
          </p:cNvCxnSpPr>
          <p:nvPr/>
        </p:nvCxnSpPr>
        <p:spPr>
          <a:xfrm>
            <a:off x="9048328" y="3404034"/>
            <a:ext cx="12700" cy="838459"/>
          </a:xfrm>
          <a:prstGeom prst="bentConnector3">
            <a:avLst>
              <a:gd name="adj1" fmla="val 1650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순서도: 수행의 시작/종료 46">
            <a:extLst>
              <a:ext uri="{FF2B5EF4-FFF2-40B4-BE49-F238E27FC236}">
                <a16:creationId xmlns:a16="http://schemas.microsoft.com/office/drawing/2014/main" id="{1D08FEDB-8978-1CCD-7010-51C04F604FA4}"/>
              </a:ext>
            </a:extLst>
          </p:cNvPr>
          <p:cNvSpPr/>
          <p:nvPr/>
        </p:nvSpPr>
        <p:spPr>
          <a:xfrm>
            <a:off x="3935760" y="2417258"/>
            <a:ext cx="1512168" cy="481980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희망 수익률 설정</a:t>
            </a:r>
          </a:p>
        </p:txBody>
      </p:sp>
      <p:sp>
        <p:nvSpPr>
          <p:cNvPr id="49" name="순서도: 수행의 시작/종료 48">
            <a:extLst>
              <a:ext uri="{FF2B5EF4-FFF2-40B4-BE49-F238E27FC236}">
                <a16:creationId xmlns:a16="http://schemas.microsoft.com/office/drawing/2014/main" id="{66898768-030B-345C-F0FF-025A00F70D74}"/>
              </a:ext>
            </a:extLst>
          </p:cNvPr>
          <p:cNvSpPr/>
          <p:nvPr/>
        </p:nvSpPr>
        <p:spPr>
          <a:xfrm>
            <a:off x="5879976" y="2417085"/>
            <a:ext cx="1512168" cy="481980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관심 업종 선택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0298377B-233B-C203-2C4E-F5B4E44F8590}"/>
              </a:ext>
            </a:extLst>
          </p:cNvPr>
          <p:cNvCxnSpPr>
            <a:cxnSpLocks/>
            <a:stCxn id="49" idx="1"/>
            <a:endCxn id="47" idx="3"/>
          </p:cNvCxnSpPr>
          <p:nvPr/>
        </p:nvCxnSpPr>
        <p:spPr>
          <a:xfrm flipH="1">
            <a:off x="5447928" y="2658075"/>
            <a:ext cx="432048" cy="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순서도: 수행의 시작/종료 60">
            <a:extLst>
              <a:ext uri="{FF2B5EF4-FFF2-40B4-BE49-F238E27FC236}">
                <a16:creationId xmlns:a16="http://schemas.microsoft.com/office/drawing/2014/main" id="{A6B79B6C-08C4-4A2C-C694-36DBAD19D69D}"/>
              </a:ext>
            </a:extLst>
          </p:cNvPr>
          <p:cNvSpPr/>
          <p:nvPr/>
        </p:nvSpPr>
        <p:spPr>
          <a:xfrm>
            <a:off x="2053990" y="2417085"/>
            <a:ext cx="1512168" cy="481980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투자 성향 검사 완료</a:t>
            </a: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5048B11D-0528-D80D-3628-C1C0EE9EB0FA}"/>
              </a:ext>
            </a:extLst>
          </p:cNvPr>
          <p:cNvCxnSpPr>
            <a:stCxn id="47" idx="1"/>
            <a:endCxn id="61" idx="3"/>
          </p:cNvCxnSpPr>
          <p:nvPr/>
        </p:nvCxnSpPr>
        <p:spPr>
          <a:xfrm flipH="1" flipV="1">
            <a:off x="3566158" y="2658075"/>
            <a:ext cx="369602" cy="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순서도: 수행의 시작/종료 83">
            <a:extLst>
              <a:ext uri="{FF2B5EF4-FFF2-40B4-BE49-F238E27FC236}">
                <a16:creationId xmlns:a16="http://schemas.microsoft.com/office/drawing/2014/main" id="{1097DAC8-637A-E9E8-C867-95AAA95352C1}"/>
              </a:ext>
            </a:extLst>
          </p:cNvPr>
          <p:cNvSpPr/>
          <p:nvPr/>
        </p:nvSpPr>
        <p:spPr>
          <a:xfrm>
            <a:off x="3935760" y="3985783"/>
            <a:ext cx="1512168" cy="48198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종목 상세 페이지</a:t>
            </a: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AD50C080-0D78-EB4D-BACF-828749DC24F9}"/>
              </a:ext>
            </a:extLst>
          </p:cNvPr>
          <p:cNvCxnSpPr>
            <a:stCxn id="20" idx="1"/>
            <a:endCxn id="84" idx="3"/>
          </p:cNvCxnSpPr>
          <p:nvPr/>
        </p:nvCxnSpPr>
        <p:spPr>
          <a:xfrm flipH="1" flipV="1">
            <a:off x="5447928" y="4226773"/>
            <a:ext cx="2088232" cy="1572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9CA86772-F6D1-26CE-DAF0-84990DC3DCC1}"/>
              </a:ext>
            </a:extLst>
          </p:cNvPr>
          <p:cNvCxnSpPr>
            <a:stCxn id="84" idx="1"/>
            <a:endCxn id="31" idx="1"/>
          </p:cNvCxnSpPr>
          <p:nvPr/>
        </p:nvCxnSpPr>
        <p:spPr>
          <a:xfrm rot="10800000" flipV="1">
            <a:off x="2063552" y="4226773"/>
            <a:ext cx="1872208" cy="804354"/>
          </a:xfrm>
          <a:prstGeom prst="bentConnector3">
            <a:avLst>
              <a:gd name="adj1" fmla="val 11221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순서도: 수행의 시작/종료 98">
            <a:extLst>
              <a:ext uri="{FF2B5EF4-FFF2-40B4-BE49-F238E27FC236}">
                <a16:creationId xmlns:a16="http://schemas.microsoft.com/office/drawing/2014/main" id="{B51B765C-1786-101D-1CAF-D51E0A8BD383}"/>
              </a:ext>
            </a:extLst>
          </p:cNvPr>
          <p:cNvSpPr/>
          <p:nvPr/>
        </p:nvSpPr>
        <p:spPr>
          <a:xfrm>
            <a:off x="6023992" y="4803175"/>
            <a:ext cx="1512168" cy="48198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종목 상세 페이지</a:t>
            </a: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4D3843DD-30D4-BBAE-B866-974B7F077A87}"/>
              </a:ext>
            </a:extLst>
          </p:cNvPr>
          <p:cNvCxnSpPr>
            <a:stCxn id="31" idx="3"/>
            <a:endCxn id="99" idx="1"/>
          </p:cNvCxnSpPr>
          <p:nvPr/>
        </p:nvCxnSpPr>
        <p:spPr>
          <a:xfrm>
            <a:off x="3575720" y="5031127"/>
            <a:ext cx="2448272" cy="13038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BAD049AA-7881-5750-272B-F3666B9591C5}"/>
              </a:ext>
            </a:extLst>
          </p:cNvPr>
          <p:cNvCxnSpPr>
            <a:stCxn id="99" idx="3"/>
            <a:endCxn id="29" idx="1"/>
          </p:cNvCxnSpPr>
          <p:nvPr/>
        </p:nvCxnSpPr>
        <p:spPr>
          <a:xfrm flipV="1">
            <a:off x="7536160" y="5037646"/>
            <a:ext cx="2160240" cy="6519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1234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2218556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4.11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동영상 시연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" name="온라인 미디어 2" title="1차 완성본">
            <a:hlinkClick r:id="" action="ppaction://media"/>
            <a:extLst>
              <a:ext uri="{FF2B5EF4-FFF2-40B4-BE49-F238E27FC236}">
                <a16:creationId xmlns:a16="http://schemas.microsoft.com/office/drawing/2014/main" id="{15EA6304-D3F2-F121-A599-576D278D970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775520" y="1492776"/>
            <a:ext cx="8640960" cy="448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16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5203348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수행 절차 및 방법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866443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4.12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세부 산출물 목록 및 첨부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60CC7F-9A52-65B2-3458-CB54D3809CDF}"/>
              </a:ext>
            </a:extLst>
          </p:cNvPr>
          <p:cNvSpPr/>
          <p:nvPr/>
        </p:nvSpPr>
        <p:spPr>
          <a:xfrm>
            <a:off x="407368" y="1628800"/>
            <a:ext cx="10441160" cy="396043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67D029-5235-40C1-4483-0838D5F5940D}"/>
              </a:ext>
            </a:extLst>
          </p:cNvPr>
          <p:cNvCxnSpPr>
            <a:cxnSpLocks/>
          </p:cNvCxnSpPr>
          <p:nvPr/>
        </p:nvCxnSpPr>
        <p:spPr>
          <a:xfrm>
            <a:off x="1801903" y="2708920"/>
            <a:ext cx="7894497" cy="0"/>
          </a:xfrm>
          <a:prstGeom prst="line">
            <a:avLst/>
          </a:prstGeom>
          <a:ln w="127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49D4E9C-620C-F857-49DD-A09D39959ABD}"/>
              </a:ext>
            </a:extLst>
          </p:cNvPr>
          <p:cNvSpPr txBox="1"/>
          <p:nvPr/>
        </p:nvSpPr>
        <p:spPr>
          <a:xfrm>
            <a:off x="1029924" y="2094751"/>
            <a:ext cx="627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분석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0CF15A-1B98-5F3F-850B-17E98D12DB9F}"/>
              </a:ext>
            </a:extLst>
          </p:cNvPr>
          <p:cNvSpPr txBox="1"/>
          <p:nvPr/>
        </p:nvSpPr>
        <p:spPr>
          <a:xfrm>
            <a:off x="1982057" y="2076038"/>
            <a:ext cx="41104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페르소나 기능정의</a:t>
            </a:r>
            <a:r>
              <a:rPr lang="en-US" altLang="ko-KR" sz="2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2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요구사항 정의서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C0DE5EA-3B44-C1BF-B82C-D97C12857078}"/>
              </a:ext>
            </a:extLst>
          </p:cNvPr>
          <p:cNvCxnSpPr>
            <a:cxnSpLocks/>
          </p:cNvCxnSpPr>
          <p:nvPr/>
        </p:nvCxnSpPr>
        <p:spPr>
          <a:xfrm>
            <a:off x="1827419" y="3573016"/>
            <a:ext cx="7868981" cy="0"/>
          </a:xfrm>
          <a:prstGeom prst="line">
            <a:avLst/>
          </a:prstGeom>
          <a:ln w="127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9B4CAF1-6F23-DF0B-563A-9B064287E333}"/>
              </a:ext>
            </a:extLst>
          </p:cNvPr>
          <p:cNvSpPr txBox="1"/>
          <p:nvPr/>
        </p:nvSpPr>
        <p:spPr>
          <a:xfrm>
            <a:off x="1055440" y="2958847"/>
            <a:ext cx="627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설계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A935DE-D6E5-FE53-DDB0-5D189D24F4FD}"/>
              </a:ext>
            </a:extLst>
          </p:cNvPr>
          <p:cNvSpPr txBox="1"/>
          <p:nvPr/>
        </p:nvSpPr>
        <p:spPr>
          <a:xfrm>
            <a:off x="2007573" y="2940134"/>
            <a:ext cx="68967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프로세스 설계서</a:t>
            </a:r>
            <a:r>
              <a:rPr lang="en-US" altLang="ko-KR" sz="2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2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테스크 플로우</a:t>
            </a:r>
            <a:r>
              <a:rPr lang="en-US" altLang="ko-KR" sz="2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2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화면 설계서</a:t>
            </a:r>
            <a:r>
              <a:rPr lang="en-US" altLang="ko-KR" sz="2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2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테이블 레이아웃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26666C3-7EE8-5F1A-C28C-F190B13B90C9}"/>
              </a:ext>
            </a:extLst>
          </p:cNvPr>
          <p:cNvCxnSpPr>
            <a:cxnSpLocks/>
          </p:cNvCxnSpPr>
          <p:nvPr/>
        </p:nvCxnSpPr>
        <p:spPr>
          <a:xfrm>
            <a:off x="1801902" y="4437413"/>
            <a:ext cx="7894498" cy="0"/>
          </a:xfrm>
          <a:prstGeom prst="line">
            <a:avLst/>
          </a:prstGeom>
          <a:ln w="127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10AC28F-B9F3-F513-6D88-67540ABF367E}"/>
              </a:ext>
            </a:extLst>
          </p:cNvPr>
          <p:cNvSpPr txBox="1"/>
          <p:nvPr/>
        </p:nvSpPr>
        <p:spPr>
          <a:xfrm>
            <a:off x="1029923" y="3823244"/>
            <a:ext cx="627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구현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16187A-5267-B6A3-06B4-60B1BDDAF601}"/>
              </a:ext>
            </a:extLst>
          </p:cNvPr>
          <p:cNvSpPr txBox="1"/>
          <p:nvPr/>
        </p:nvSpPr>
        <p:spPr>
          <a:xfrm>
            <a:off x="1982056" y="3804531"/>
            <a:ext cx="22589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개발 프로그램 목록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30C6CA3-C2E6-F796-DDA6-7244F0C9DCB8}"/>
              </a:ext>
            </a:extLst>
          </p:cNvPr>
          <p:cNvCxnSpPr>
            <a:cxnSpLocks/>
          </p:cNvCxnSpPr>
          <p:nvPr/>
        </p:nvCxnSpPr>
        <p:spPr>
          <a:xfrm>
            <a:off x="1827419" y="5302596"/>
            <a:ext cx="7868981" cy="0"/>
          </a:xfrm>
          <a:prstGeom prst="line">
            <a:avLst/>
          </a:prstGeom>
          <a:ln w="127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8FDB79A-1151-EBAE-BA21-B3A412C42ABE}"/>
              </a:ext>
            </a:extLst>
          </p:cNvPr>
          <p:cNvSpPr txBox="1"/>
          <p:nvPr/>
        </p:nvSpPr>
        <p:spPr>
          <a:xfrm>
            <a:off x="839416" y="4688427"/>
            <a:ext cx="843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테스트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0A5FE9-33F6-A497-A7E2-C4B03DF1A3C1}"/>
              </a:ext>
            </a:extLst>
          </p:cNvPr>
          <p:cNvSpPr txBox="1"/>
          <p:nvPr/>
        </p:nvSpPr>
        <p:spPr>
          <a:xfrm>
            <a:off x="1982056" y="4670753"/>
            <a:ext cx="25026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통합 테스트 시나리오</a:t>
            </a:r>
          </a:p>
        </p:txBody>
      </p:sp>
    </p:spTree>
    <p:extLst>
      <p:ext uri="{BB962C8B-B14F-4D97-AF65-F5344CB8AC3E}">
        <p14:creationId xmlns:p14="http://schemas.microsoft.com/office/powerpoint/2010/main" val="33171237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전자제품, 흑백, 모노크롬, 음악이(가) 표시된 사진&#10;&#10;자동 생성된 설명">
            <a:extLst>
              <a:ext uri="{FF2B5EF4-FFF2-40B4-BE49-F238E27FC236}">
                <a16:creationId xmlns:a16="http://schemas.microsoft.com/office/drawing/2014/main" id="{11BAF0EF-267F-B3A4-866F-F5D7B0FE26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51D5D-CF51-F1D8-455F-CF3B3929630A}"/>
              </a:ext>
            </a:extLst>
          </p:cNvPr>
          <p:cNvSpPr txBox="1"/>
          <p:nvPr/>
        </p:nvSpPr>
        <p:spPr>
          <a:xfrm>
            <a:off x="2783632" y="2844223"/>
            <a:ext cx="62776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5.</a:t>
            </a:r>
            <a:r>
              <a:rPr lang="ko-KR" altLang="en-US" sz="70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자체 평가 의견</a:t>
            </a:r>
          </a:p>
        </p:txBody>
      </p:sp>
    </p:spTree>
    <p:extLst>
      <p:ext uri="{BB962C8B-B14F-4D97-AF65-F5344CB8AC3E}">
        <p14:creationId xmlns:p14="http://schemas.microsoft.com/office/powerpoint/2010/main" val="37652104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3048912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5.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자체 평가 의견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4081245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5.1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프로젝트 평가 </a:t>
            </a:r>
            <a:r>
              <a:rPr lang="en-US" altLang="ko-KR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- </a:t>
            </a:r>
            <a:r>
              <a:rPr lang="ko-KR" altLang="en-US" sz="2500" b="1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완성도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 평가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4DC7F756-AB72-1FAA-0099-1BA0DA84D9AD}"/>
              </a:ext>
            </a:extLst>
          </p:cNvPr>
          <p:cNvGrpSpPr>
            <a:grpSpLocks/>
          </p:cNvGrpSpPr>
          <p:nvPr/>
        </p:nvGrpSpPr>
        <p:grpSpPr>
          <a:xfrm>
            <a:off x="1055440" y="2040318"/>
            <a:ext cx="9361040" cy="1388681"/>
            <a:chOff x="0" y="0"/>
            <a:chExt cx="1293710" cy="825345"/>
          </a:xfrm>
          <a:solidFill>
            <a:schemeClr val="tx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A6DB5D3-127B-80CD-5BE1-494505EB4668}"/>
                </a:ext>
              </a:extLst>
            </p:cNvPr>
            <p:cNvSpPr/>
            <p:nvPr/>
          </p:nvSpPr>
          <p:spPr>
            <a:xfrm>
              <a:off x="0" y="0"/>
              <a:ext cx="1293710" cy="825345"/>
            </a:xfrm>
            <a:custGeom>
              <a:avLst/>
              <a:gdLst/>
              <a:ahLst/>
              <a:cxnLst/>
              <a:rect l="l" t="t" r="r" b="b"/>
              <a:pathLst>
                <a:path w="1293710" h="825345">
                  <a:moveTo>
                    <a:pt x="31522" y="0"/>
                  </a:moveTo>
                  <a:lnTo>
                    <a:pt x="1262188" y="0"/>
                  </a:lnTo>
                  <a:cubicBezTo>
                    <a:pt x="1279597" y="0"/>
                    <a:pt x="1293710" y="14113"/>
                    <a:pt x="1293710" y="31522"/>
                  </a:cubicBezTo>
                  <a:lnTo>
                    <a:pt x="1293710" y="793823"/>
                  </a:lnTo>
                  <a:cubicBezTo>
                    <a:pt x="1293710" y="811233"/>
                    <a:pt x="1279597" y="825345"/>
                    <a:pt x="1262188" y="825345"/>
                  </a:cubicBezTo>
                  <a:lnTo>
                    <a:pt x="31522" y="825345"/>
                  </a:lnTo>
                  <a:cubicBezTo>
                    <a:pt x="14113" y="825345"/>
                    <a:pt x="0" y="811233"/>
                    <a:pt x="0" y="793823"/>
                  </a:cubicBezTo>
                  <a:lnTo>
                    <a:pt x="0" y="31522"/>
                  </a:lnTo>
                  <a:cubicBezTo>
                    <a:pt x="0" y="14113"/>
                    <a:pt x="14113" y="0"/>
                    <a:pt x="31522" y="0"/>
                  </a:cubicBezTo>
                  <a:close/>
                </a:path>
              </a:pathLst>
            </a:custGeom>
            <a:grpFill/>
            <a:ln w="25400" cap="rnd">
              <a:solidFill>
                <a:schemeClr val="bg1"/>
              </a:solidFill>
            </a:ln>
          </p:spPr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F7147149-4449-2392-8FEC-C17DE2591FAD}"/>
                </a:ext>
              </a:extLst>
            </p:cNvPr>
            <p:cNvSpPr txBox="1"/>
            <p:nvPr/>
          </p:nvSpPr>
          <p:spPr>
            <a:xfrm>
              <a:off x="0" y="-38100"/>
              <a:ext cx="1293710" cy="863445"/>
            </a:xfrm>
            <a:prstGeom prst="rect">
              <a:avLst/>
            </a:prstGeom>
            <a:grpFill/>
            <a:ln w="25400" cap="rnd"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 lang="en-US" altLang="ko-KR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endParaRPr>
            </a:p>
          </p:txBody>
        </p:sp>
      </p:grpSp>
      <p:grpSp>
        <p:nvGrpSpPr>
          <p:cNvPr id="15" name="Group 4">
            <a:extLst>
              <a:ext uri="{FF2B5EF4-FFF2-40B4-BE49-F238E27FC236}">
                <a16:creationId xmlns:a16="http://schemas.microsoft.com/office/drawing/2014/main" id="{CEAC26B9-FDCE-18D9-D108-CB7B488F0444}"/>
              </a:ext>
            </a:extLst>
          </p:cNvPr>
          <p:cNvGrpSpPr>
            <a:grpSpLocks/>
          </p:cNvGrpSpPr>
          <p:nvPr/>
        </p:nvGrpSpPr>
        <p:grpSpPr>
          <a:xfrm>
            <a:off x="1055440" y="4221088"/>
            <a:ext cx="9361040" cy="1368152"/>
            <a:chOff x="0" y="0"/>
            <a:chExt cx="1293710" cy="825345"/>
          </a:xfrm>
          <a:solidFill>
            <a:schemeClr val="tx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05E0E3D-3B2D-3924-4FF2-B37989F79186}"/>
                </a:ext>
              </a:extLst>
            </p:cNvPr>
            <p:cNvSpPr/>
            <p:nvPr/>
          </p:nvSpPr>
          <p:spPr>
            <a:xfrm>
              <a:off x="0" y="0"/>
              <a:ext cx="1293710" cy="825345"/>
            </a:xfrm>
            <a:custGeom>
              <a:avLst/>
              <a:gdLst/>
              <a:ahLst/>
              <a:cxnLst/>
              <a:rect l="l" t="t" r="r" b="b"/>
              <a:pathLst>
                <a:path w="1293710" h="825345">
                  <a:moveTo>
                    <a:pt x="31522" y="0"/>
                  </a:moveTo>
                  <a:lnTo>
                    <a:pt x="1262188" y="0"/>
                  </a:lnTo>
                  <a:cubicBezTo>
                    <a:pt x="1279597" y="0"/>
                    <a:pt x="1293710" y="14113"/>
                    <a:pt x="1293710" y="31522"/>
                  </a:cubicBezTo>
                  <a:lnTo>
                    <a:pt x="1293710" y="793823"/>
                  </a:lnTo>
                  <a:cubicBezTo>
                    <a:pt x="1293710" y="811233"/>
                    <a:pt x="1279597" y="825345"/>
                    <a:pt x="1262188" y="825345"/>
                  </a:cubicBezTo>
                  <a:lnTo>
                    <a:pt x="31522" y="825345"/>
                  </a:lnTo>
                  <a:cubicBezTo>
                    <a:pt x="14113" y="825345"/>
                    <a:pt x="0" y="811233"/>
                    <a:pt x="0" y="793823"/>
                  </a:cubicBezTo>
                  <a:lnTo>
                    <a:pt x="0" y="31522"/>
                  </a:lnTo>
                  <a:cubicBezTo>
                    <a:pt x="0" y="14113"/>
                    <a:pt x="14113" y="0"/>
                    <a:pt x="31522" y="0"/>
                  </a:cubicBezTo>
                  <a:close/>
                </a:path>
              </a:pathLst>
            </a:custGeom>
            <a:grpFill/>
            <a:ln w="25400" cap="rnd">
              <a:solidFill>
                <a:schemeClr val="bg1"/>
              </a:solidFill>
            </a:ln>
          </p:spPr>
        </p:sp>
        <p:sp>
          <p:nvSpPr>
            <p:cNvPr id="17" name="TextBox 6">
              <a:extLst>
                <a:ext uri="{FF2B5EF4-FFF2-40B4-BE49-F238E27FC236}">
                  <a16:creationId xmlns:a16="http://schemas.microsoft.com/office/drawing/2014/main" id="{C924B73D-FB01-7AC0-6EC1-CA6FAE0A9BE1}"/>
                </a:ext>
              </a:extLst>
            </p:cNvPr>
            <p:cNvSpPr txBox="1"/>
            <p:nvPr/>
          </p:nvSpPr>
          <p:spPr>
            <a:xfrm>
              <a:off x="0" y="-38100"/>
              <a:ext cx="1293710" cy="863445"/>
            </a:xfrm>
            <a:prstGeom prst="rect">
              <a:avLst/>
            </a:prstGeom>
            <a:grpFill/>
            <a:ln w="25400" cap="rnd"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C93E237-FD20-9164-239E-6891AC602195}"/>
              </a:ext>
            </a:extLst>
          </p:cNvPr>
          <p:cNvSpPr txBox="1"/>
          <p:nvPr/>
        </p:nvSpPr>
        <p:spPr>
          <a:xfrm>
            <a:off x="1335444" y="2137373"/>
            <a:ext cx="66327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목표 </a:t>
            </a:r>
            <a:r>
              <a:rPr lang="en-US" altLang="ko-KR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1 : </a:t>
            </a:r>
            <a:r>
              <a:rPr lang="ko-KR" altLang="en-US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과거 지표 기반 사용자의 </a:t>
            </a:r>
            <a:r>
              <a:rPr lang="ko-KR" altLang="en-US" sz="2000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투자 성향에 맞는 종목 추천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1BCE08-CC82-57D1-27F9-93CD43650F75}"/>
              </a:ext>
            </a:extLst>
          </p:cNvPr>
          <p:cNvSpPr txBox="1"/>
          <p:nvPr/>
        </p:nvSpPr>
        <p:spPr>
          <a:xfrm>
            <a:off x="1919536" y="2564904"/>
            <a:ext cx="7344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복잡한 사전 지식 없는 초보 투자자 시점에서도 직관적으로 지표가 좋은 우량 종목 목록을 </a:t>
            </a:r>
            <a:r>
              <a:rPr lang="ko-KR" altLang="en-US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고객 성향에 맞게 추천 </a:t>
            </a:r>
            <a:r>
              <a:rPr lang="ko-KR" altLang="en-US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하는 기능을 심플하지만 확실하게 수행 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2ECE660A-0C2C-2B26-3543-EE79B0D25563}"/>
              </a:ext>
            </a:extLst>
          </p:cNvPr>
          <p:cNvSpPr/>
          <p:nvPr/>
        </p:nvSpPr>
        <p:spPr>
          <a:xfrm>
            <a:off x="1415480" y="2731726"/>
            <a:ext cx="576064" cy="216024"/>
          </a:xfrm>
          <a:prstGeom prst="rightArrow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8045C3-645D-A768-581E-107551730E2B}"/>
              </a:ext>
            </a:extLst>
          </p:cNvPr>
          <p:cNvSpPr txBox="1"/>
          <p:nvPr/>
        </p:nvSpPr>
        <p:spPr>
          <a:xfrm>
            <a:off x="1343472" y="4293096"/>
            <a:ext cx="82089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목표 </a:t>
            </a:r>
            <a:r>
              <a:rPr lang="en-US" altLang="ko-KR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2 : </a:t>
            </a:r>
            <a:r>
              <a:rPr lang="ko-KR" altLang="en-US" sz="2000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기사</a:t>
            </a:r>
            <a:r>
              <a:rPr lang="en-US" altLang="ko-KR" sz="2000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lang="ko-KR" altLang="en-US" sz="2000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커뮤니티 반응 기반 긍정점수</a:t>
            </a:r>
            <a:r>
              <a:rPr lang="ko-KR" altLang="en-US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를 통해 투자 의사 결정 지원 도구 제공</a:t>
            </a:r>
          </a:p>
          <a:p>
            <a:endParaRPr lang="ko-KR" altLang="en-US" sz="220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5E7887-4B2A-7FB6-9B82-B0589A97E813}"/>
              </a:ext>
            </a:extLst>
          </p:cNvPr>
          <p:cNvSpPr txBox="1"/>
          <p:nvPr/>
        </p:nvSpPr>
        <p:spPr>
          <a:xfrm>
            <a:off x="2071936" y="4725144"/>
            <a:ext cx="7192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긍정 점수를 통해 변동성이 큰 트렌드 종목의 </a:t>
            </a:r>
            <a:r>
              <a:rPr lang="ko-KR" altLang="en-US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시장 분위기 추이를 수치로서 제공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407C042A-D4AC-8055-254C-D229D38AFAEE}"/>
              </a:ext>
            </a:extLst>
          </p:cNvPr>
          <p:cNvSpPr/>
          <p:nvPr/>
        </p:nvSpPr>
        <p:spPr>
          <a:xfrm>
            <a:off x="1495872" y="4783110"/>
            <a:ext cx="576064" cy="216024"/>
          </a:xfrm>
          <a:prstGeom prst="rightArrow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D9AE9495-9AC0-41B5-FDF9-D7DFC80C1E32}"/>
              </a:ext>
            </a:extLst>
          </p:cNvPr>
          <p:cNvSpPr/>
          <p:nvPr/>
        </p:nvSpPr>
        <p:spPr>
          <a:xfrm>
            <a:off x="1492176" y="5171130"/>
            <a:ext cx="576064" cy="216024"/>
          </a:xfrm>
          <a:prstGeom prst="rightArrow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115531-A48D-5F01-28A7-8A8E54ED2A00}"/>
              </a:ext>
            </a:extLst>
          </p:cNvPr>
          <p:cNvSpPr txBox="1"/>
          <p:nvPr/>
        </p:nvSpPr>
        <p:spPr>
          <a:xfrm>
            <a:off x="2063552" y="5085184"/>
            <a:ext cx="7560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비인기 종목은 여론형성이 덜되어 긍정점수 산출이 어려워 의사 결정 지원이 어려움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41FB0CA-BEAE-8F7C-2668-1B7791333BB4}"/>
              </a:ext>
            </a:extLst>
          </p:cNvPr>
          <p:cNvSpPr/>
          <p:nvPr/>
        </p:nvSpPr>
        <p:spPr>
          <a:xfrm>
            <a:off x="10416480" y="1976213"/>
            <a:ext cx="1368152" cy="145278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5/5</a:t>
            </a:r>
            <a:endParaRPr lang="ko-KR" altLang="en-US" sz="5000">
              <a:solidFill>
                <a:schemeClr val="bg1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83A5EEC-ABB2-B8AF-0731-FEEBCE6C52C9}"/>
              </a:ext>
            </a:extLst>
          </p:cNvPr>
          <p:cNvSpPr/>
          <p:nvPr/>
        </p:nvSpPr>
        <p:spPr>
          <a:xfrm>
            <a:off x="10416480" y="4157931"/>
            <a:ext cx="1440160" cy="143130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3/5</a:t>
            </a:r>
            <a:endParaRPr lang="ko-KR" altLang="en-US" sz="5000">
              <a:solidFill>
                <a:schemeClr val="bg1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27278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3048912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5.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자체 평가 의견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63080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5.2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잘한 부분과 아쉬운 부분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C02F4F-1350-BA23-D7CA-89B2D9E4425C}"/>
              </a:ext>
            </a:extLst>
          </p:cNvPr>
          <p:cNvSpPr/>
          <p:nvPr/>
        </p:nvSpPr>
        <p:spPr>
          <a:xfrm>
            <a:off x="311724" y="1628800"/>
            <a:ext cx="5640260" cy="43891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핵심 프로세스에 집중해 한정된 자원으로 프로젝트의 핵심 과정을 놓치지 않음</a:t>
            </a:r>
            <a:endParaRPr lang="en-US" altLang="ko-KR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endParaRPr lang="en-US" altLang="ko-KR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실제</a:t>
            </a:r>
            <a:r>
              <a:rPr lang="en-US" altLang="ko-KR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서비스에 문제될 수 있는 요인을 팀원들간 피드백 후 개선점 제시</a:t>
            </a:r>
            <a:endParaRPr lang="en-US" altLang="ko-KR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endParaRPr lang="en-US" altLang="ko-KR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역할 분담이 확실하게 이루어져서 팀원간 업무 혼선이 적었음</a:t>
            </a:r>
            <a:endParaRPr lang="en-US" altLang="ko-KR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endParaRPr lang="en-US" altLang="ko-KR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팀원 의사소통의 원활함으로 팀원간 협업</a:t>
            </a:r>
            <a:r>
              <a:rPr lang="en-US" altLang="ko-KR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커뮤니케이션 과정중 마찰이 발생하지 않음 </a:t>
            </a:r>
            <a:endParaRPr lang="en-US" altLang="ko-KR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56F627-995E-ECEB-10A5-58D3B6078EEF}"/>
              </a:ext>
            </a:extLst>
          </p:cNvPr>
          <p:cNvSpPr/>
          <p:nvPr/>
        </p:nvSpPr>
        <p:spPr>
          <a:xfrm>
            <a:off x="6384032" y="1628800"/>
            <a:ext cx="5496244" cy="43891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팀원들 일정조정에 난항을 겪어 프로젝트 진행 계획이 예정대로 이루어 지지 못함</a:t>
            </a:r>
            <a:endParaRPr lang="en-US" altLang="ko-KR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endParaRPr lang="en-US" altLang="ko-KR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사전 프로젝트 설계과정에서 설계를 완벽하게 하지 못해 후에 변경된 점이 많음</a:t>
            </a:r>
            <a:endParaRPr lang="en-US" altLang="ko-KR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endParaRPr lang="en-US" altLang="ko-KR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핵심과정에 집중하느라 </a:t>
            </a:r>
            <a:r>
              <a:rPr lang="en-US" altLang="ko-KR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UI, </a:t>
            </a:r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예외처리</a:t>
            </a:r>
            <a:r>
              <a:rPr lang="en-US" altLang="ko-KR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보안이슈</a:t>
            </a:r>
            <a:r>
              <a:rPr lang="en-US" altLang="ko-KR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CleanCode </a:t>
            </a:r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와 같은 디테일이 다소 부족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7FC199-F21C-3357-E9B0-D8196240C91F}"/>
              </a:ext>
            </a:extLst>
          </p:cNvPr>
          <p:cNvSpPr/>
          <p:nvPr/>
        </p:nvSpPr>
        <p:spPr>
          <a:xfrm>
            <a:off x="1841964" y="1402745"/>
            <a:ext cx="2808312" cy="504056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잘한 부분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673907-FCEE-95F5-7821-5FCF133CB87A}"/>
              </a:ext>
            </a:extLst>
          </p:cNvPr>
          <p:cNvSpPr/>
          <p:nvPr/>
        </p:nvSpPr>
        <p:spPr>
          <a:xfrm>
            <a:off x="7578100" y="1406000"/>
            <a:ext cx="2808312" cy="504056"/>
          </a:xfrm>
          <a:prstGeom prst="rect">
            <a:avLst/>
          </a:prstGeom>
          <a:solidFill>
            <a:schemeClr val="accent4">
              <a:lumMod val="5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아쉬운 부분</a:t>
            </a:r>
          </a:p>
        </p:txBody>
      </p:sp>
    </p:spTree>
    <p:extLst>
      <p:ext uri="{BB962C8B-B14F-4D97-AF65-F5344CB8AC3E}">
        <p14:creationId xmlns:p14="http://schemas.microsoft.com/office/powerpoint/2010/main" val="33134947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3048912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5.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자체 평가 의견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2806859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5.3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추후 개선 및 보완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16640A0E-DD16-A14F-3679-2B27D87B9997}"/>
              </a:ext>
            </a:extLst>
          </p:cNvPr>
          <p:cNvGrpSpPr/>
          <p:nvPr/>
        </p:nvGrpSpPr>
        <p:grpSpPr>
          <a:xfrm>
            <a:off x="1055440" y="1987132"/>
            <a:ext cx="8568952" cy="792088"/>
            <a:chOff x="0" y="0"/>
            <a:chExt cx="1293710" cy="825345"/>
          </a:xfrm>
          <a:solidFill>
            <a:schemeClr val="tx1"/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AF794203-FDE6-DDF9-59B2-ADA49FB475FF}"/>
                </a:ext>
              </a:extLst>
            </p:cNvPr>
            <p:cNvSpPr/>
            <p:nvPr/>
          </p:nvSpPr>
          <p:spPr>
            <a:xfrm>
              <a:off x="0" y="0"/>
              <a:ext cx="1293710" cy="825345"/>
            </a:xfrm>
            <a:custGeom>
              <a:avLst/>
              <a:gdLst/>
              <a:ahLst/>
              <a:cxnLst/>
              <a:rect l="l" t="t" r="r" b="b"/>
              <a:pathLst>
                <a:path w="1293710" h="825345">
                  <a:moveTo>
                    <a:pt x="31522" y="0"/>
                  </a:moveTo>
                  <a:lnTo>
                    <a:pt x="1262188" y="0"/>
                  </a:lnTo>
                  <a:cubicBezTo>
                    <a:pt x="1279597" y="0"/>
                    <a:pt x="1293710" y="14113"/>
                    <a:pt x="1293710" y="31522"/>
                  </a:cubicBezTo>
                  <a:lnTo>
                    <a:pt x="1293710" y="793823"/>
                  </a:lnTo>
                  <a:cubicBezTo>
                    <a:pt x="1293710" y="811233"/>
                    <a:pt x="1279597" y="825345"/>
                    <a:pt x="1262188" y="825345"/>
                  </a:cubicBezTo>
                  <a:lnTo>
                    <a:pt x="31522" y="825345"/>
                  </a:lnTo>
                  <a:cubicBezTo>
                    <a:pt x="14113" y="825345"/>
                    <a:pt x="0" y="811233"/>
                    <a:pt x="0" y="793823"/>
                  </a:cubicBezTo>
                  <a:lnTo>
                    <a:pt x="0" y="31522"/>
                  </a:lnTo>
                  <a:cubicBezTo>
                    <a:pt x="0" y="14113"/>
                    <a:pt x="14113" y="0"/>
                    <a:pt x="31522" y="0"/>
                  </a:cubicBezTo>
                  <a:close/>
                </a:path>
              </a:pathLst>
            </a:custGeom>
            <a:grpFill/>
            <a:ln w="25400" cap="rnd">
              <a:solidFill>
                <a:schemeClr val="bg1"/>
              </a:solidFill>
            </a:ln>
          </p:spPr>
        </p:sp>
        <p:sp>
          <p:nvSpPr>
            <p:cNvPr id="20" name="TextBox 6">
              <a:extLst>
                <a:ext uri="{FF2B5EF4-FFF2-40B4-BE49-F238E27FC236}">
                  <a16:creationId xmlns:a16="http://schemas.microsoft.com/office/drawing/2014/main" id="{B827AF20-CE98-AA42-4291-786BE88E555B}"/>
                </a:ext>
              </a:extLst>
            </p:cNvPr>
            <p:cNvSpPr txBox="1"/>
            <p:nvPr/>
          </p:nvSpPr>
          <p:spPr>
            <a:xfrm>
              <a:off x="0" y="-38100"/>
              <a:ext cx="1293710" cy="863445"/>
            </a:xfrm>
            <a:prstGeom prst="rect">
              <a:avLst/>
            </a:prstGeom>
            <a:grpFill/>
            <a:ln w="25400" cap="rnd"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>
                <a:lnSpc>
                  <a:spcPts val="2240"/>
                </a:lnSpc>
              </a:pPr>
              <a:r>
                <a:rPr lang="ko-KR" altLang="en-US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긍정</a:t>
              </a:r>
              <a:r>
                <a:rPr lang="en-US" altLang="ko-KR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/</a:t>
              </a:r>
              <a:r>
                <a:rPr lang="ko-KR" altLang="en-US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부정 라벨을 매기는 </a:t>
              </a:r>
              <a:r>
                <a:rPr lang="en-US" altLang="ko-KR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AI </a:t>
              </a:r>
              <a:r>
                <a:rPr lang="ko-KR" altLang="en-US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모델 성능을 더 개선한다면 긍정점수의 신뢰도를 향상시킬 수 있음 </a:t>
              </a:r>
              <a:endPara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84813DC-B617-8119-C7F5-AF0D473916B3}"/>
              </a:ext>
            </a:extLst>
          </p:cNvPr>
          <p:cNvSpPr txBox="1"/>
          <p:nvPr/>
        </p:nvSpPr>
        <p:spPr>
          <a:xfrm>
            <a:off x="311724" y="1540076"/>
            <a:ext cx="4056084" cy="4001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뉴스</a:t>
            </a:r>
            <a:r>
              <a:rPr lang="en-US" altLang="ko-KR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lang="ko-KR" altLang="en-US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커뮤니티 긍정라벨 모델 성능 개선</a:t>
            </a:r>
          </a:p>
        </p:txBody>
      </p:sp>
      <p:grpSp>
        <p:nvGrpSpPr>
          <p:cNvPr id="21" name="Group 4">
            <a:extLst>
              <a:ext uri="{FF2B5EF4-FFF2-40B4-BE49-F238E27FC236}">
                <a16:creationId xmlns:a16="http://schemas.microsoft.com/office/drawing/2014/main" id="{29C4C507-369E-D5CA-176F-9C20B8A316D6}"/>
              </a:ext>
            </a:extLst>
          </p:cNvPr>
          <p:cNvGrpSpPr/>
          <p:nvPr/>
        </p:nvGrpSpPr>
        <p:grpSpPr>
          <a:xfrm>
            <a:off x="1079076" y="3501008"/>
            <a:ext cx="8568952" cy="792088"/>
            <a:chOff x="0" y="0"/>
            <a:chExt cx="1293710" cy="825345"/>
          </a:xfrm>
          <a:solidFill>
            <a:schemeClr val="tx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67A99EA5-FC04-188A-0099-39F801910CE7}"/>
                </a:ext>
              </a:extLst>
            </p:cNvPr>
            <p:cNvSpPr/>
            <p:nvPr/>
          </p:nvSpPr>
          <p:spPr>
            <a:xfrm>
              <a:off x="0" y="0"/>
              <a:ext cx="1293710" cy="825345"/>
            </a:xfrm>
            <a:custGeom>
              <a:avLst/>
              <a:gdLst/>
              <a:ahLst/>
              <a:cxnLst/>
              <a:rect l="l" t="t" r="r" b="b"/>
              <a:pathLst>
                <a:path w="1293710" h="825345">
                  <a:moveTo>
                    <a:pt x="31522" y="0"/>
                  </a:moveTo>
                  <a:lnTo>
                    <a:pt x="1262188" y="0"/>
                  </a:lnTo>
                  <a:cubicBezTo>
                    <a:pt x="1279597" y="0"/>
                    <a:pt x="1293710" y="14113"/>
                    <a:pt x="1293710" y="31522"/>
                  </a:cubicBezTo>
                  <a:lnTo>
                    <a:pt x="1293710" y="793823"/>
                  </a:lnTo>
                  <a:cubicBezTo>
                    <a:pt x="1293710" y="811233"/>
                    <a:pt x="1279597" y="825345"/>
                    <a:pt x="1262188" y="825345"/>
                  </a:cubicBezTo>
                  <a:lnTo>
                    <a:pt x="31522" y="825345"/>
                  </a:lnTo>
                  <a:cubicBezTo>
                    <a:pt x="14113" y="825345"/>
                    <a:pt x="0" y="811233"/>
                    <a:pt x="0" y="793823"/>
                  </a:cubicBezTo>
                  <a:lnTo>
                    <a:pt x="0" y="31522"/>
                  </a:lnTo>
                  <a:cubicBezTo>
                    <a:pt x="0" y="14113"/>
                    <a:pt x="14113" y="0"/>
                    <a:pt x="31522" y="0"/>
                  </a:cubicBezTo>
                  <a:close/>
                </a:path>
              </a:pathLst>
            </a:custGeom>
            <a:grpFill/>
            <a:ln w="25400" cap="rnd">
              <a:solidFill>
                <a:schemeClr val="bg1"/>
              </a:solidFill>
            </a:ln>
          </p:spPr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611EA74B-581E-2FC1-4BBA-AEE0A3ACD175}"/>
                </a:ext>
              </a:extLst>
            </p:cNvPr>
            <p:cNvSpPr txBox="1"/>
            <p:nvPr/>
          </p:nvSpPr>
          <p:spPr>
            <a:xfrm>
              <a:off x="0" y="-38100"/>
              <a:ext cx="1293710" cy="863445"/>
            </a:xfrm>
            <a:prstGeom prst="rect">
              <a:avLst/>
            </a:prstGeom>
            <a:grpFill/>
            <a:ln w="25400" cap="rnd"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>
                <a:lnSpc>
                  <a:spcPts val="2240"/>
                </a:lnSpc>
              </a:pPr>
              <a:r>
                <a:rPr lang="en-US" altLang="ko-KR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DB</a:t>
              </a:r>
              <a:r>
                <a:rPr lang="ko-KR" altLang="en-US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업데이트를 지금 수동으로 진행하는 방식</a:t>
              </a:r>
              <a:endPara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  <a:p>
              <a:pPr>
                <a:lnSpc>
                  <a:spcPts val="2240"/>
                </a:lnSpc>
              </a:pPr>
              <a:r>
                <a:rPr lang="ko-KR" altLang="en-US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정해진 시간에 스케쥴화로 자동 </a:t>
              </a:r>
              <a:r>
                <a:rPr lang="en-US" altLang="ko-KR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DB</a:t>
              </a:r>
              <a:r>
                <a:rPr lang="ko-KR" altLang="en-US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업데이트를 구현한다면 </a:t>
              </a:r>
              <a:r>
                <a:rPr lang="en-US" altLang="ko-KR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DB</a:t>
              </a:r>
              <a:r>
                <a:rPr lang="ko-KR" altLang="en-US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관리적인 측면에서 큰 향상</a:t>
              </a:r>
              <a:endPara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802CB65-5A1D-9BFA-0C0F-DB4A32E2704B}"/>
              </a:ext>
            </a:extLst>
          </p:cNvPr>
          <p:cNvSpPr txBox="1"/>
          <p:nvPr/>
        </p:nvSpPr>
        <p:spPr>
          <a:xfrm>
            <a:off x="335360" y="3053952"/>
            <a:ext cx="3367580" cy="4001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DB</a:t>
            </a:r>
            <a:r>
              <a:rPr lang="ko-KR" altLang="en-US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업데이트 스케쥴화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27C686E3-398E-E711-550B-BFE440D4F311}"/>
              </a:ext>
            </a:extLst>
          </p:cNvPr>
          <p:cNvGrpSpPr/>
          <p:nvPr/>
        </p:nvGrpSpPr>
        <p:grpSpPr>
          <a:xfrm>
            <a:off x="1079076" y="5013176"/>
            <a:ext cx="8568952" cy="792088"/>
            <a:chOff x="0" y="0"/>
            <a:chExt cx="1293710" cy="825345"/>
          </a:xfrm>
          <a:solidFill>
            <a:schemeClr val="tx1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5280213-A83D-A7DA-8416-7B14CCB2E4F3}"/>
                </a:ext>
              </a:extLst>
            </p:cNvPr>
            <p:cNvSpPr/>
            <p:nvPr/>
          </p:nvSpPr>
          <p:spPr>
            <a:xfrm>
              <a:off x="0" y="0"/>
              <a:ext cx="1293710" cy="825345"/>
            </a:xfrm>
            <a:custGeom>
              <a:avLst/>
              <a:gdLst/>
              <a:ahLst/>
              <a:cxnLst/>
              <a:rect l="l" t="t" r="r" b="b"/>
              <a:pathLst>
                <a:path w="1293710" h="825345">
                  <a:moveTo>
                    <a:pt x="31522" y="0"/>
                  </a:moveTo>
                  <a:lnTo>
                    <a:pt x="1262188" y="0"/>
                  </a:lnTo>
                  <a:cubicBezTo>
                    <a:pt x="1279597" y="0"/>
                    <a:pt x="1293710" y="14113"/>
                    <a:pt x="1293710" y="31522"/>
                  </a:cubicBezTo>
                  <a:lnTo>
                    <a:pt x="1293710" y="793823"/>
                  </a:lnTo>
                  <a:cubicBezTo>
                    <a:pt x="1293710" y="811233"/>
                    <a:pt x="1279597" y="825345"/>
                    <a:pt x="1262188" y="825345"/>
                  </a:cubicBezTo>
                  <a:lnTo>
                    <a:pt x="31522" y="825345"/>
                  </a:lnTo>
                  <a:cubicBezTo>
                    <a:pt x="14113" y="825345"/>
                    <a:pt x="0" y="811233"/>
                    <a:pt x="0" y="793823"/>
                  </a:cubicBezTo>
                  <a:lnTo>
                    <a:pt x="0" y="31522"/>
                  </a:lnTo>
                  <a:cubicBezTo>
                    <a:pt x="0" y="14113"/>
                    <a:pt x="14113" y="0"/>
                    <a:pt x="31522" y="0"/>
                  </a:cubicBezTo>
                  <a:close/>
                </a:path>
              </a:pathLst>
            </a:custGeom>
            <a:grpFill/>
            <a:ln w="25400" cap="rnd">
              <a:solidFill>
                <a:schemeClr val="bg1"/>
              </a:solidFill>
            </a:ln>
          </p:spPr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98BA7025-9B6B-AD29-5DFF-4781AEC426E1}"/>
                </a:ext>
              </a:extLst>
            </p:cNvPr>
            <p:cNvSpPr txBox="1"/>
            <p:nvPr/>
          </p:nvSpPr>
          <p:spPr>
            <a:xfrm>
              <a:off x="0" y="-38100"/>
              <a:ext cx="1293710" cy="863445"/>
            </a:xfrm>
            <a:prstGeom prst="rect">
              <a:avLst/>
            </a:prstGeom>
            <a:grpFill/>
            <a:ln w="25400" cap="rnd"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>
                <a:lnSpc>
                  <a:spcPts val="2240"/>
                </a:lnSpc>
              </a:pPr>
              <a:r>
                <a:rPr lang="ko-KR" altLang="en-US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추천받은 종목 중 마음에 드는 종목을 등록해두고 지속적으로 추이를 지켜 볼 수 있도록 북마크 기능을 구현한다면</a:t>
              </a:r>
              <a:r>
                <a:rPr lang="en-US" altLang="ko-KR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, </a:t>
              </a:r>
              <a:r>
                <a:rPr lang="ko-KR" altLang="en-US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사용 경험을 개선 할 수 있을 것이라 판단</a:t>
              </a:r>
              <a:endParaRPr lang="en-US" altLang="ko-KR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128A0CD-91CD-DD81-F844-8E0622C4C7AD}"/>
              </a:ext>
            </a:extLst>
          </p:cNvPr>
          <p:cNvSpPr txBox="1"/>
          <p:nvPr/>
        </p:nvSpPr>
        <p:spPr>
          <a:xfrm>
            <a:off x="335360" y="4566120"/>
            <a:ext cx="3367580" cy="4001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관심종목 북마크 기능</a:t>
            </a:r>
          </a:p>
        </p:txBody>
      </p:sp>
    </p:spTree>
    <p:extLst>
      <p:ext uri="{BB962C8B-B14F-4D97-AF65-F5344CB8AC3E}">
        <p14:creationId xmlns:p14="http://schemas.microsoft.com/office/powerpoint/2010/main" val="17000216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3048912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5.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자체 평가 의견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36951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5.4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느낀점 및 경험한 성과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" name="그림 3" descr="사람, 인간의 얼굴, 벽, 셔츠이(가) 표시된 사진&#10;&#10;자동 생성된 설명">
            <a:extLst>
              <a:ext uri="{FF2B5EF4-FFF2-40B4-BE49-F238E27FC236}">
                <a16:creationId xmlns:a16="http://schemas.microsoft.com/office/drawing/2014/main" id="{9893AE44-1C16-4E80-BCE6-6ECF3746AA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28801"/>
            <a:ext cx="5784276" cy="432048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32A26E9-9E4E-234C-2501-846315E7A32F}"/>
              </a:ext>
            </a:extLst>
          </p:cNvPr>
          <p:cNvSpPr/>
          <p:nvPr/>
        </p:nvSpPr>
        <p:spPr>
          <a:xfrm>
            <a:off x="311724" y="1628800"/>
            <a:ext cx="5784276" cy="432048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이번 프로젝트를 하면서 기능정의 한 것을 실제로 구현하기 위해 다양한 기술들을 접하게 되었습니다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 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생각했던 기능들이 실제 구현단계에 들어가니 고려해야될 사항이 생각보다 정말 많았고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이를 처리하는 과정에서 많은 것을 배울 수 있었습니다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  <a:p>
            <a:pPr algn="ctr"/>
            <a:endParaRPr lang="en-US" altLang="ko-KR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투자성향 검사를 하는 과정중 </a:t>
            </a:r>
            <a:r>
              <a:rPr lang="ko-KR" altLang="en-US" sz="1200" u="sng">
                <a:solidFill>
                  <a:schemeClr val="accent6">
                    <a:lumMod val="7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관심 업종 선택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부분은 구현중 처음 찾아온 고난이었습니다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 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생각했던거보다 고려해야될 점이 매우 많아 쿼리가 복잡해지고 그 와중에 오류도 많이 겪게 되었습니다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 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테이블 설게를 정교하게 하고 쿼리 작성에 대한 학습을 꾸준히 더 해서 발전해야 겠다는 생각이 들었습니다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endParaRPr lang="en-US" altLang="ko-KR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algn="ctr"/>
            <a:endParaRPr lang="en-US" altLang="ko-KR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algn="ctr"/>
            <a:r>
              <a:rPr lang="ko-KR" altLang="en-US" sz="1200" u="sng">
                <a:solidFill>
                  <a:srgbClr val="FF000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뉴스</a:t>
            </a:r>
            <a:r>
              <a:rPr lang="en-US" altLang="ko-KR" sz="1200" u="sng">
                <a:solidFill>
                  <a:srgbClr val="FF000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lang="ko-KR" altLang="en-US" sz="1200" u="sng">
                <a:solidFill>
                  <a:srgbClr val="FF000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커뮤니티 스크래핑 성능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은 트렌드를 꾸준히 업데이트 해야 되는 플랫폼의 기능에 큰 이슈 였습니다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 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동적으로 목록 갱신이 이루어져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바로 </a:t>
            </a:r>
            <a:r>
              <a:rPr lang="en-US" altLang="ko-KR" sz="1200">
                <a:solidFill>
                  <a:srgbClr val="00B05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Selenium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방식으로 접근했는데 성능이 너무 느리고 무거워 서비스를 할 수준이 못되었고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Selenium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의 한계를 느껴 </a:t>
            </a:r>
            <a:r>
              <a:rPr lang="ko-KR" altLang="en-US" sz="1200">
                <a:solidFill>
                  <a:schemeClr val="accent1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토스증권 종목 커뮤니티 </a:t>
            </a:r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API </a:t>
            </a:r>
            <a:r>
              <a:rPr lang="ko-KR" altLang="en-US" sz="1200">
                <a:solidFill>
                  <a:schemeClr val="accent1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을 통해  </a:t>
            </a:r>
            <a:r>
              <a:rPr lang="en-US" altLang="ko-KR" sz="1200">
                <a:solidFill>
                  <a:srgbClr val="FFBD59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Requests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를 어떻게든 사용해야겠다는 생각에 도달했고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이는 성공적으로 적용되어 스크래핑 속도가 비약적으로 상승하는 결과를 이끌어 냈습니다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  <a:p>
            <a:pPr algn="ctr"/>
            <a:endParaRPr lang="en-US" altLang="ko-KR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하지만 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Requests 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요청은 각 플랫폼에서 크롤링 방지 정책 등으로 일시적 차단및 지연으로 인한 문제는 앞으로 개선해야 될 문제 입니다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 </a:t>
            </a: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프록시를 사용해보는 등 여러가지 시도를 해볼 여지가 있다고 느꼈습니다</a:t>
            </a:r>
            <a:r>
              <a:rPr lang="en-US" altLang="ko-KR" sz="12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 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A36C53A-6033-8FF3-0CBF-BC1107FA90E9}"/>
              </a:ext>
            </a:extLst>
          </p:cNvPr>
          <p:cNvSpPr/>
          <p:nvPr/>
        </p:nvSpPr>
        <p:spPr>
          <a:xfrm>
            <a:off x="2447778" y="1376771"/>
            <a:ext cx="1512168" cy="5040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김준우</a:t>
            </a:r>
          </a:p>
        </p:txBody>
      </p:sp>
    </p:spTree>
    <p:extLst>
      <p:ext uri="{BB962C8B-B14F-4D97-AF65-F5344CB8AC3E}">
        <p14:creationId xmlns:p14="http://schemas.microsoft.com/office/powerpoint/2010/main" val="22448874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3048912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5.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자체 평가 의견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36951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5.4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느낀점 및 경험한 성과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2A26E9-9E4E-234C-2501-846315E7A32F}"/>
              </a:ext>
            </a:extLst>
          </p:cNvPr>
          <p:cNvSpPr/>
          <p:nvPr/>
        </p:nvSpPr>
        <p:spPr>
          <a:xfrm>
            <a:off x="311724" y="1628800"/>
            <a:ext cx="5795934" cy="4248471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altLang="ko-KR" sz="1200">
              <a:solidFill>
                <a:schemeClr val="tx1"/>
              </a:solidFill>
              <a:effectLst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algn="ctr" rtl="0"/>
            <a:endParaRPr lang="en-US" altLang="ko-KR" sz="120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algn="ctr" rtl="0"/>
            <a:r>
              <a:rPr lang="ko-KR" altLang="en-US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이 프로젝트를 마치고 나서 제일 먼저 든 생각은 </a:t>
            </a:r>
          </a:p>
          <a:p>
            <a:pPr algn="ctr" rtl="0"/>
            <a:r>
              <a:rPr lang="ko-KR" altLang="en-US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저의 기술적인 역량을 키워야 한다 하는 생각이었습니다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  <a:p>
            <a:pPr algn="ctr" rtl="0"/>
            <a:endParaRPr lang="en-US" altLang="ko-KR" sz="1200">
              <a:solidFill>
                <a:schemeClr val="tx1"/>
              </a:solidFill>
              <a:effectLst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algn="ctr" rtl="0"/>
            <a:r>
              <a:rPr lang="ko-KR" altLang="en-US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처음에는 이 프로젝트를 조금 가벼이 보았던 것 같습니다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  <a:p>
            <a:pPr algn="ctr" rtl="0"/>
            <a:r>
              <a:rPr lang="ko-KR" altLang="en-US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왜냐하면 머릿속으로 어느 정도 프로젝트의 결과물의 </a:t>
            </a:r>
          </a:p>
          <a:p>
            <a:pPr algn="ctr" rtl="0"/>
            <a:r>
              <a:rPr lang="ko-KR" altLang="en-US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전체적인 그림을 그려볼수 있었으니까요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  <a:p>
            <a:pPr algn="ctr" rtl="0"/>
            <a:endParaRPr lang="en-US" altLang="ko-KR" sz="1200">
              <a:solidFill>
                <a:schemeClr val="tx1"/>
              </a:solidFill>
              <a:effectLst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algn="ctr" rtl="0"/>
            <a:r>
              <a:rPr lang="ko-KR" altLang="en-US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하지만 생각과는 조금 다른 진행이 되었습니다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  <a:p>
            <a:pPr algn="ctr" rtl="0"/>
            <a:r>
              <a:rPr lang="ko-KR" altLang="en-US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예상과는 다르게 결과물까지 닿게 되는 과정이 순탄하지만은 않았습니다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  <a:p>
            <a:pPr algn="ctr" rtl="0"/>
            <a:endParaRPr lang="en-US" altLang="ko-KR" sz="1200">
              <a:solidFill>
                <a:schemeClr val="tx1"/>
              </a:solidFill>
              <a:effectLst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algn="ctr" rtl="0"/>
            <a:r>
              <a:rPr lang="ko-KR" altLang="en-US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실제로 생각했던 기능이 실제로 구현하기 위해선 제가 생각했던 것보다 </a:t>
            </a:r>
          </a:p>
          <a:p>
            <a:pPr algn="ctr" rtl="0"/>
            <a:r>
              <a:rPr lang="ko-KR" altLang="en-US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더 높은 수준의 구현 난이도를 가지고 있었던 경우다 다반사였습니다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  <a:p>
            <a:pPr algn="ctr" rtl="0"/>
            <a:endParaRPr lang="en-US" altLang="ko-KR" sz="1200">
              <a:solidFill>
                <a:schemeClr val="tx1"/>
              </a:solidFill>
              <a:effectLst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algn="ctr" rtl="0"/>
            <a:r>
              <a:rPr lang="ko-KR" altLang="en-US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제가 주로 담당했던 뉴스 데이터 감성분석 모델같은 경우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</a:t>
            </a:r>
          </a:p>
          <a:p>
            <a:pPr algn="ctr" rtl="0"/>
            <a:r>
              <a:rPr lang="ko-KR" altLang="en-US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원하는 수준의 모델을 만들기까지의 수차례의 반복시행을 했음에도 불구하고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</a:t>
            </a:r>
          </a:p>
          <a:p>
            <a:pPr algn="ctr" rtl="0"/>
            <a:r>
              <a:rPr lang="ko-KR" altLang="en-US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프로젝트가 마칠때까지 만족할 만한 결과를 만들지 못해 아쉬울 다름입니다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  <a:p>
            <a:pPr algn="ctr" rtl="0"/>
            <a:endParaRPr lang="en-US" altLang="ko-KR" sz="1200">
              <a:solidFill>
                <a:schemeClr val="tx1"/>
              </a:solidFill>
              <a:effectLst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algn="ctr" rtl="0"/>
            <a:r>
              <a:rPr lang="ko-KR" altLang="en-US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그리고 사실 개인적인 사정으로 인해 자리를 오래 비웠음에도 불구하고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 </a:t>
            </a:r>
          </a:p>
          <a:p>
            <a:pPr algn="ctr" rtl="0"/>
            <a:r>
              <a:rPr lang="ko-KR" altLang="en-US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돌아왔을 때 변함없이 믿어주고 따뜻하게 맞아주신 </a:t>
            </a:r>
          </a:p>
          <a:p>
            <a:pPr algn="ctr" rtl="0"/>
            <a:r>
              <a:rPr lang="ko-KR" altLang="en-US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팀원들께 진심으로 죄송하고 감사하다는 말을 전하고 싶습니다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  <a:p>
            <a:pPr algn="ctr" rtl="0"/>
            <a:endParaRPr lang="ko-KR" altLang="en-US" sz="1200">
              <a:solidFill>
                <a:schemeClr val="tx1"/>
              </a:solidFill>
              <a:effectLst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pic>
        <p:nvPicPr>
          <p:cNvPr id="8" name="그림 7" descr="인간의 얼굴, 사람, 의류, 칼라이(가) 표시된 사진&#10;&#10;자동 생성된 설명">
            <a:extLst>
              <a:ext uri="{FF2B5EF4-FFF2-40B4-BE49-F238E27FC236}">
                <a16:creationId xmlns:a16="http://schemas.microsoft.com/office/drawing/2014/main" id="{332C16F6-35A9-FC48-76FB-768D85AA2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658" y="1628800"/>
            <a:ext cx="5772618" cy="424847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FF8B3C4-393E-A2E5-CEBD-B8C7ED5ED586}"/>
              </a:ext>
            </a:extLst>
          </p:cNvPr>
          <p:cNvSpPr/>
          <p:nvPr/>
        </p:nvSpPr>
        <p:spPr>
          <a:xfrm>
            <a:off x="2447778" y="1376771"/>
            <a:ext cx="1512168" cy="5040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김유진</a:t>
            </a:r>
          </a:p>
        </p:txBody>
      </p:sp>
    </p:spTree>
    <p:extLst>
      <p:ext uri="{BB962C8B-B14F-4D97-AF65-F5344CB8AC3E}">
        <p14:creationId xmlns:p14="http://schemas.microsoft.com/office/powerpoint/2010/main" val="32405588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F79D10E8-07A8-1EED-1E06-6566D4E0467C}"/>
              </a:ext>
            </a:extLst>
          </p:cNvPr>
          <p:cNvSpPr txBox="1"/>
          <p:nvPr/>
        </p:nvSpPr>
        <p:spPr>
          <a:xfrm>
            <a:off x="311724" y="20196"/>
            <a:ext cx="3048912" cy="538609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5. </a:t>
            </a:r>
            <a:r>
              <a:rPr lang="ko-KR" altLang="en-US" sz="3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자체 평가 의견</a:t>
            </a:r>
            <a:endParaRPr lang="en-US" sz="3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82ED875-F846-3D96-8020-77D0599566BD}"/>
              </a:ext>
            </a:extLst>
          </p:cNvPr>
          <p:cNvSpPr txBox="1"/>
          <p:nvPr/>
        </p:nvSpPr>
        <p:spPr>
          <a:xfrm>
            <a:off x="311724" y="840090"/>
            <a:ext cx="3369512" cy="384721"/>
          </a:xfrm>
          <a:prstGeom prst="rect">
            <a:avLst/>
          </a:prstGeom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5.4 </a:t>
            </a:r>
            <a:r>
              <a:rPr lang="ko-KR" altLang="en-US" sz="2500" b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TT Hoves Bold"/>
              </a:rPr>
              <a:t>느낀점 및 경험한 성과 </a:t>
            </a:r>
            <a:endParaRPr lang="en-US" sz="2500" b="1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TT Hoves Bold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224A99-3294-B951-5E2B-779946FDB01A}"/>
              </a:ext>
            </a:extLst>
          </p:cNvPr>
          <p:cNvSpPr/>
          <p:nvPr/>
        </p:nvSpPr>
        <p:spPr>
          <a:xfrm>
            <a:off x="0" y="558799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27FB27-E820-291D-0EE2-963FE1F5303F}"/>
              </a:ext>
            </a:extLst>
          </p:cNvPr>
          <p:cNvSpPr/>
          <p:nvPr/>
        </p:nvSpPr>
        <p:spPr>
          <a:xfrm>
            <a:off x="5699760" y="6299201"/>
            <a:ext cx="649224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2A26E9-9E4E-234C-2501-846315E7A32F}"/>
              </a:ext>
            </a:extLst>
          </p:cNvPr>
          <p:cNvSpPr/>
          <p:nvPr/>
        </p:nvSpPr>
        <p:spPr>
          <a:xfrm>
            <a:off x="311724" y="1628800"/>
            <a:ext cx="5784276" cy="432048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프로젝트를 진행하게 되면서 많은 시행착오도 겪었지만</a:t>
            </a:r>
            <a:r>
              <a:rPr lang="en-US" altLang="ko-KR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그만큼 더 성장할 수 있었던 계기가 되었던 것 같습니다</a:t>
            </a:r>
            <a:r>
              <a:rPr lang="en-US" altLang="ko-KR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같은 팀원분들과 함께 의견을 나누면서 만들어 나아가다보니</a:t>
            </a:r>
          </a:p>
          <a:p>
            <a:pPr algn="ctr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자신의 부족한 점을 함께 고민하다 해결하였을때</a:t>
            </a:r>
          </a:p>
          <a:p>
            <a:pPr algn="ctr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받아들이는 성취감이 좋았던것 같습니다</a:t>
            </a:r>
            <a:r>
              <a:rPr lang="en-US" altLang="ko-KR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좋은 팀원분들과 함께 프로젝트를 만들게 되어서 </a:t>
            </a:r>
          </a:p>
          <a:p>
            <a:pPr algn="ctr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조금 더 성장할 수 있었던 것 같습니다</a:t>
            </a:r>
            <a:r>
              <a:rPr lang="en-US" altLang="ko-KR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</p:txBody>
      </p:sp>
      <p:pic>
        <p:nvPicPr>
          <p:cNvPr id="8" name="그림 7" descr="의류, 사람, 인간의 얼굴, 실내이(가) 표시된 사진&#10;&#10;자동 생성된 설명">
            <a:extLst>
              <a:ext uri="{FF2B5EF4-FFF2-40B4-BE49-F238E27FC236}">
                <a16:creationId xmlns:a16="http://schemas.microsoft.com/office/drawing/2014/main" id="{306B387C-FE07-A8C8-EA40-6D3947D2E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24111"/>
            <a:ext cx="5760640" cy="4320479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D4F9B07-2467-949B-B7F0-DA243A59C287}"/>
              </a:ext>
            </a:extLst>
          </p:cNvPr>
          <p:cNvSpPr/>
          <p:nvPr/>
        </p:nvSpPr>
        <p:spPr>
          <a:xfrm>
            <a:off x="2447778" y="1376771"/>
            <a:ext cx="1512168" cy="5040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박이담</a:t>
            </a:r>
          </a:p>
        </p:txBody>
      </p:sp>
    </p:spTree>
    <p:extLst>
      <p:ext uri="{BB962C8B-B14F-4D97-AF65-F5344CB8AC3E}">
        <p14:creationId xmlns:p14="http://schemas.microsoft.com/office/powerpoint/2010/main" val="7889628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F17C8F-8D57-5742-CC4C-BE762C032DC4}"/>
              </a:ext>
            </a:extLst>
          </p:cNvPr>
          <p:cNvSpPr txBox="1"/>
          <p:nvPr/>
        </p:nvSpPr>
        <p:spPr>
          <a:xfrm>
            <a:off x="2783632" y="2844223"/>
            <a:ext cx="62776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Q&amp;A</a:t>
            </a:r>
            <a:endParaRPr lang="ko-KR" altLang="en-US" sz="7000">
              <a:solidFill>
                <a:schemeClr val="bg1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74761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흑백, 라인, 모노크롬, 웹이(가) 표시된 사진&#10;&#10;자동 생성된 설명">
            <a:extLst>
              <a:ext uri="{FF2B5EF4-FFF2-40B4-BE49-F238E27FC236}">
                <a16:creationId xmlns:a16="http://schemas.microsoft.com/office/drawing/2014/main" id="{D276F824-B4C9-F07D-AF20-2D2E8F5CD908}"/>
              </a:ext>
            </a:extLst>
          </p:cNvPr>
          <p:cNvPicPr>
            <a:picLocks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7818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C33395-2F18-5753-D01E-C63666FF5FE0}"/>
              </a:ext>
            </a:extLst>
          </p:cNvPr>
          <p:cNvSpPr txBox="1"/>
          <p:nvPr/>
        </p:nvSpPr>
        <p:spPr>
          <a:xfrm>
            <a:off x="2351584" y="2460249"/>
            <a:ext cx="7566495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0" spc="20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367092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28575">
          <a:solidFill>
            <a:schemeClr val="accent2"/>
          </a:solidFill>
        </a:ln>
      </a:spPr>
      <a:bodyPr rtlCol="0" anchor="ctr"/>
      <a:lstStyle>
        <a:defPPr algn="ctr">
          <a:defRPr sz="1200" smtClean="0">
            <a:solidFill>
              <a:schemeClr val="tx1"/>
            </a:solidFill>
            <a:latin typeface="Pretendard ExtraBold" panose="02000903000000020004" pitchFamily="2" charset="-127"/>
            <a:ea typeface="Pretendard ExtraBold" panose="02000903000000020004" pitchFamily="2" charset="-127"/>
            <a:cs typeface="Pretendard ExtraBold" panose="02000903000000020004" pitchFamily="2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3062</TotalTime>
  <Words>4628</Words>
  <Application>Microsoft Office PowerPoint</Application>
  <PresentationFormat>와이드스크린</PresentationFormat>
  <Paragraphs>1155</Paragraphs>
  <Slides>63</Slides>
  <Notes>13</Notes>
  <HiddenSlides>0</HiddenSlides>
  <MMClips>1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75" baseType="lpstr">
      <vt:lpstr>Pretendard Black</vt:lpstr>
      <vt:lpstr>Pretendard ExtraBold</vt:lpstr>
      <vt:lpstr>Pretendard Light</vt:lpstr>
      <vt:lpstr>Pretendard Medium</vt:lpstr>
      <vt:lpstr>Pretendard SemiBold</vt:lpstr>
      <vt:lpstr>TT Hoves Bold</vt:lpstr>
      <vt:lpstr>맑은 고딕</vt:lpstr>
      <vt:lpstr>Arial</vt:lpstr>
      <vt:lpstr>Calibri</vt:lpstr>
      <vt:lpstr>Calibri Light</vt:lpstr>
      <vt:lpstr>Symbol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June K</dc:creator>
  <cp:lastModifiedBy>June K</cp:lastModifiedBy>
  <cp:revision>59</cp:revision>
  <dcterms:created xsi:type="dcterms:W3CDTF">2025-02-22T07:11:00Z</dcterms:created>
  <dcterms:modified xsi:type="dcterms:W3CDTF">2025-03-04T02:53:21Z</dcterms:modified>
</cp:coreProperties>
</file>