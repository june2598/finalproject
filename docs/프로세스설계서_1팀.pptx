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906000" cy="6858000" type="A4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1071">
          <p15:clr>
            <a:srgbClr val="A4A3A4"/>
          </p15:clr>
        </p15:guide>
        <p15:guide id="3" orient="horz" pos="4020">
          <p15:clr>
            <a:srgbClr val="A4A3A4"/>
          </p15:clr>
        </p15:guide>
        <p15:guide id="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iuyjSTCY/fjM2zlotC76dealfj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B3EBDF-DF07-436B-B3B1-3076790EFC67}">
  <a:tblStyle styleId="{4AB3EBDF-DF07-436B-B3B1-3076790EFC6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7E0325D-62F2-44B3-AD58-C6639B92C28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9F9F9"/>
          </a:solidFill>
        </a:fill>
      </a:tcStyle>
    </a:wholeTbl>
    <a:band1H>
      <a:tcTxStyle b="off" i="off"/>
      <a:tcStyle>
        <a:tcBdr/>
        <a:fill>
          <a:solidFill>
            <a:srgbClr val="F2F2F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2F2F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5" y="54"/>
      </p:cViewPr>
      <p:guideLst>
        <p:guide orient="horz"/>
        <p:guide orient="horz" pos="1071"/>
        <p:guide orient="horz" pos="4020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6"/>
            <a:ext cx="2946400" cy="49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96" y="6"/>
            <a:ext cx="2946400" cy="49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75" cy="44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428171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96" y="9428171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dadc9c1130_1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48" name="Google Shape;48;g2dadc9c1130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75" cy="44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7" name="Google Shape;147;p3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2" name="Google Shape;192;p13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e24b2c370_5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9" name="Google Shape;199;g32e24b2c370_5_57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93c47a66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6" name="Google Shape;206;g3293c47a664_0_82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2e24b2c370_5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2" name="Google Shape;242;g32e24b2c370_5_42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2e24b2c37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9" name="Google Shape;249;g32e24b2c370_0_5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282f99512f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6" name="Google Shape;256;g3282f99512f_1_43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282f99512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8" name="Google Shape;298;g3282f99512f_2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93c47a6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5" name="Google Shape;305;g3293c47a664_0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293c47a66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2" name="Google Shape;312;g3293c47a664_0_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293c47a66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9" name="Google Shape;349;g3293c47a664_0_39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2afbaa4e5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56" name="Google Shape;356;g32afbaa4e51_0_12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2afbaa4e5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3" name="Google Shape;363;g32afbaa4e51_0_18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2afbaa4e5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3" name="Google Shape;383;g32afbaa4e51_0_51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2b500151c7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0" name="Google Shape;390;g32b500151c7_0_23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2b500151c7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7" name="Google Shape;397;g32b500151c7_0_281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2b500151c7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1" name="Google Shape;421;g32b500151c7_0_275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29880e83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8" name="Google Shape;428;g329880e8390_0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29880e839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35" name="Google Shape;435;g329880e8390_0_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29880e8390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0" name="Google Shape;480;g329880e8390_0_43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29e16ad93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7" name="Google Shape;487;g329e16ad932_1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29e16ad932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4" name="Google Shape;494;g329e16ad932_1_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29e16ad932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7" name="Google Shape;517;g329e16ad932_1_28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9e16ad932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24" name="Google Shape;524;g329e16ad932_1_34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29e16ad932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31" name="Google Shape;531;g329e16ad932_1_4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29e16ad932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9" name="Google Shape;549;g329e16ad932_1_57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2b500151c7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6" name="Google Shape;556;g32b500151c7_0_42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2b500151c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63" name="Google Shape;563;g32b500151c7_0_48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2b500151c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88" name="Google Shape;588;g32b500151c7_0_7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2b500151c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95" name="Google Shape;595;g32b500151c7_0_7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2b500151c7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02" name="Google Shape;602;g32b500151c7_0_82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2b500151c7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9" name="Google Shape;639;g32b500151c7_0_108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29eb54e5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46" name="Google Shape;646;g329eb54e5bd_0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29eb54e5b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53" name="Google Shape;653;g329eb54e5bd_0_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29eb54e5b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86" name="Google Shape;686;g329eb54e5bd_0_38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2b500151c7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93" name="Google Shape;693;g32b500151c7_0_149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2b500151c7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0" name="Google Shape;700;g32b500151c7_0_155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2b500151c7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24" name="Google Shape;724;g32b500151c7_0_177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2b500151c7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31" name="Google Shape;731;g32b500151c7_0_191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2b500151c7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38" name="Google Shape;738;g32b500151c7_0_197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2b500151c7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64" name="Google Shape;764;g32b500151c7_0_218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1" name="Google Shape;771;p75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75" cy="44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02" name="Google Shape;802;p7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75" cy="44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g2dadc9c1130_1_101"/>
          <p:cNvCxnSpPr/>
          <p:nvPr/>
        </p:nvCxnSpPr>
        <p:spPr>
          <a:xfrm>
            <a:off x="742952" y="2133600"/>
            <a:ext cx="8423400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g2dadc9c1130_1_101"/>
          <p:cNvCxnSpPr/>
          <p:nvPr/>
        </p:nvCxnSpPr>
        <p:spPr>
          <a:xfrm>
            <a:off x="742952" y="3886200"/>
            <a:ext cx="8423400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g2dadc9c1130_1_101"/>
          <p:cNvSpPr txBox="1">
            <a:spLocks noGrp="1"/>
          </p:cNvSpPr>
          <p:nvPr>
            <p:ph type="subTitle" idx="1"/>
          </p:nvPr>
        </p:nvSpPr>
        <p:spPr>
          <a:xfrm>
            <a:off x="715644" y="4511675"/>
            <a:ext cx="8485800" cy="10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None/>
              <a:defRPr sz="216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g2dadc9c1130_1_101"/>
          <p:cNvSpPr/>
          <p:nvPr/>
        </p:nvSpPr>
        <p:spPr>
          <a:xfrm rot="10800000" flipH="1">
            <a:off x="0" y="6237169"/>
            <a:ext cx="9906000" cy="193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7"/>
              <a:buFont typeface="Gulim"/>
              <a:buNone/>
            </a:pPr>
            <a:endParaRPr sz="1517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2dadc9c1130_1_101"/>
          <p:cNvSpPr txBox="1">
            <a:spLocks noGrp="1"/>
          </p:cNvSpPr>
          <p:nvPr>
            <p:ph type="ctrTitle"/>
          </p:nvPr>
        </p:nvSpPr>
        <p:spPr>
          <a:xfrm>
            <a:off x="1463714" y="2317754"/>
            <a:ext cx="68946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sz="3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s">
  <p:cSld name="3_Conten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8"/>
          <p:cNvSpPr txBox="1">
            <a:spLocks noGrp="1"/>
          </p:cNvSpPr>
          <p:nvPr>
            <p:ph type="body" idx="1"/>
          </p:nvPr>
        </p:nvSpPr>
        <p:spPr>
          <a:xfrm>
            <a:off x="351284" y="1618042"/>
            <a:ext cx="9180000" cy="461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8" name="Google Shape;18;p78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78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392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" name="Google Shape;20;p78"/>
          <p:cNvSpPr txBox="1">
            <a:spLocks noGrp="1"/>
          </p:cNvSpPr>
          <p:nvPr>
            <p:ph type="body" idx="2"/>
          </p:nvPr>
        </p:nvSpPr>
        <p:spPr>
          <a:xfrm>
            <a:off x="351284" y="714212"/>
            <a:ext cx="918000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78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213" cy="36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onten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9"/>
          <p:cNvSpPr txBox="1">
            <a:spLocks noGrp="1"/>
          </p:cNvSpPr>
          <p:nvPr>
            <p:ph type="body" idx="1"/>
          </p:nvPr>
        </p:nvSpPr>
        <p:spPr>
          <a:xfrm>
            <a:off x="351284" y="1618042"/>
            <a:ext cx="9180000" cy="461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" name="Google Shape;24;p79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79"/>
          <p:cNvSpPr txBox="1">
            <a:spLocks noGrp="1"/>
          </p:cNvSpPr>
          <p:nvPr>
            <p:ph type="body" idx="2"/>
          </p:nvPr>
        </p:nvSpPr>
        <p:spPr>
          <a:xfrm>
            <a:off x="351284" y="714212"/>
            <a:ext cx="918000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79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213" cy="36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79"/>
          <p:cNvSpPr txBox="1"/>
          <p:nvPr/>
        </p:nvSpPr>
        <p:spPr>
          <a:xfrm>
            <a:off x="357935" y="116632"/>
            <a:ext cx="206979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프로세스 설계서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79"/>
          <p:cNvSpPr/>
          <p:nvPr/>
        </p:nvSpPr>
        <p:spPr>
          <a:xfrm>
            <a:off x="4800600" y="65532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1">
  <p:cSld name="2_Conten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db1af1e5b4_3_139"/>
          <p:cNvSpPr txBox="1">
            <a:spLocks noGrp="1"/>
          </p:cNvSpPr>
          <p:nvPr>
            <p:ph type="body" idx="1"/>
          </p:nvPr>
        </p:nvSpPr>
        <p:spPr>
          <a:xfrm>
            <a:off x="351284" y="1618042"/>
            <a:ext cx="9180000" cy="4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1" name="Google Shape;31;g2db1af1e5b4_3_139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g2db1af1e5b4_3_139"/>
          <p:cNvSpPr txBox="1">
            <a:spLocks noGrp="1"/>
          </p:cNvSpPr>
          <p:nvPr>
            <p:ph type="body" idx="2"/>
          </p:nvPr>
        </p:nvSpPr>
        <p:spPr>
          <a:xfrm>
            <a:off x="351284" y="714212"/>
            <a:ext cx="91800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g2db1af1e5b4_3_139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g2db1af1e5b4_3_139"/>
          <p:cNvSpPr txBox="1"/>
          <p:nvPr/>
        </p:nvSpPr>
        <p:spPr>
          <a:xfrm>
            <a:off x="357935" y="116632"/>
            <a:ext cx="206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프로세스 설계서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2db1af1e5b4_3_139"/>
          <p:cNvSpPr/>
          <p:nvPr/>
        </p:nvSpPr>
        <p:spPr>
          <a:xfrm>
            <a:off x="4800600" y="65532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">
  <p:cSld name="1_Conten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1"/>
          <p:cNvSpPr txBox="1">
            <a:spLocks noGrp="1"/>
          </p:cNvSpPr>
          <p:nvPr>
            <p:ph type="body" idx="1"/>
          </p:nvPr>
        </p:nvSpPr>
        <p:spPr>
          <a:xfrm>
            <a:off x="351284" y="1618042"/>
            <a:ext cx="9180000" cy="461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8" name="Google Shape;38;p81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81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392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0" name="Google Shape;40;p81"/>
          <p:cNvSpPr txBox="1">
            <a:spLocks noGrp="1"/>
          </p:cNvSpPr>
          <p:nvPr>
            <p:ph type="body" idx="2"/>
          </p:nvPr>
        </p:nvSpPr>
        <p:spPr>
          <a:xfrm>
            <a:off x="351284" y="714212"/>
            <a:ext cx="918000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1"/>
          <p:cNvSpPr txBox="1"/>
          <p:nvPr/>
        </p:nvSpPr>
        <p:spPr>
          <a:xfrm>
            <a:off x="4330174" y="6453188"/>
            <a:ext cx="1224136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80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80"/>
          <p:cNvSpPr txBox="1">
            <a:spLocks noGrp="1"/>
          </p:cNvSpPr>
          <p:nvPr>
            <p:ph type="body" idx="1"/>
          </p:nvPr>
        </p:nvSpPr>
        <p:spPr>
          <a:xfrm>
            <a:off x="3296816" y="1628800"/>
            <a:ext cx="4320480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80"/>
          <p:cNvSpPr txBox="1"/>
          <p:nvPr/>
        </p:nvSpPr>
        <p:spPr>
          <a:xfrm>
            <a:off x="351284" y="0"/>
            <a:ext cx="165618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dadc9c1130_1_58"/>
          <p:cNvSpPr txBox="1">
            <a:spLocks noGrp="1"/>
          </p:cNvSpPr>
          <p:nvPr>
            <p:ph type="ctrTitle"/>
          </p:nvPr>
        </p:nvSpPr>
        <p:spPr>
          <a:xfrm>
            <a:off x="1284390" y="2189344"/>
            <a:ext cx="69747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33"/>
              <a:buFont typeface="Arial"/>
              <a:buNone/>
            </a:pPr>
            <a:r>
              <a:rPr lang="en-US" sz="4333">
                <a:solidFill>
                  <a:schemeClr val="dk1"/>
                </a:solidFill>
              </a:rPr>
              <a:t>프로세스 설계서</a:t>
            </a:r>
            <a:endParaRPr/>
          </a:p>
        </p:txBody>
      </p:sp>
      <p:sp>
        <p:nvSpPr>
          <p:cNvPr id="51" name="Google Shape;51;g2dadc9c1130_1_58"/>
          <p:cNvSpPr txBox="1">
            <a:spLocks noGrp="1"/>
          </p:cNvSpPr>
          <p:nvPr>
            <p:ph type="subTitle" idx="1"/>
          </p:nvPr>
        </p:nvSpPr>
        <p:spPr>
          <a:xfrm>
            <a:off x="5875313" y="4771396"/>
            <a:ext cx="35283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247646" lvl="0" indent="-24764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/>
              <a:t>1팀</a:t>
            </a:r>
            <a:endParaRPr sz="1800"/>
          </a:p>
          <a:p>
            <a:pPr marL="247646" lvl="0" indent="-24764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/>
              <a:t>김준우 김유진 박이담</a:t>
            </a:r>
            <a:endParaRPr sz="1800"/>
          </a:p>
        </p:txBody>
      </p:sp>
      <p:sp>
        <p:nvSpPr>
          <p:cNvPr id="52" name="Google Shape;52;g2dadc9c1130_1_58"/>
          <p:cNvSpPr txBox="1"/>
          <p:nvPr/>
        </p:nvSpPr>
        <p:spPr>
          <a:xfrm>
            <a:off x="4668204" y="3453080"/>
            <a:ext cx="47355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시스템명 : 스마트투자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392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프로세스 맵</a:t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4304506" y="1844824"/>
            <a:ext cx="1184275" cy="360363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27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1. 스마트투자  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9" name="Google Shape;59;p1"/>
          <p:cNvCxnSpPr>
            <a:endCxn id="60" idx="1"/>
          </p:cNvCxnSpPr>
          <p:nvPr/>
        </p:nvCxnSpPr>
        <p:spPr>
          <a:xfrm rot="-5400000" flipH="1">
            <a:off x="5184850" y="3880238"/>
            <a:ext cx="867600" cy="864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61;p1"/>
          <p:cNvCxnSpPr>
            <a:endCxn id="62" idx="1"/>
          </p:cNvCxnSpPr>
          <p:nvPr/>
        </p:nvCxnSpPr>
        <p:spPr>
          <a:xfrm rot="-5400000" flipH="1">
            <a:off x="5429929" y="3635217"/>
            <a:ext cx="377400" cy="864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" name="Google Shape;63;p1"/>
          <p:cNvCxnSpPr>
            <a:stCxn id="64" idx="2"/>
            <a:endCxn id="65" idx="1"/>
          </p:cNvCxnSpPr>
          <p:nvPr/>
        </p:nvCxnSpPr>
        <p:spPr>
          <a:xfrm rot="-5400000" flipH="1">
            <a:off x="259454" y="3580381"/>
            <a:ext cx="401700" cy="162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6" name="Google Shape;66;p1"/>
          <p:cNvGrpSpPr/>
          <p:nvPr/>
        </p:nvGrpSpPr>
        <p:grpSpPr>
          <a:xfrm>
            <a:off x="216456" y="3199677"/>
            <a:ext cx="1399706" cy="269875"/>
            <a:chOff x="4737120" y="3275903"/>
            <a:chExt cx="1399706" cy="269875"/>
          </a:xfrm>
        </p:grpSpPr>
        <p:sp>
          <p:nvSpPr>
            <p:cNvPr id="67" name="Google Shape;67;p1"/>
            <p:cNvSpPr/>
            <p:nvPr/>
          </p:nvSpPr>
          <p:spPr>
            <a:xfrm>
              <a:off x="4737120" y="3275903"/>
              <a:ext cx="1399706" cy="269875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2.1 계정 관리</a:t>
              </a:r>
              <a:endParaRPr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4791506" y="3321506"/>
              <a:ext cx="216024" cy="215701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77800" marR="0" lvl="0" indent="-1016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1"/>
          <p:cNvSpPr txBox="1"/>
          <p:nvPr/>
        </p:nvSpPr>
        <p:spPr>
          <a:xfrm>
            <a:off x="3112214" y="3762913"/>
            <a:ext cx="14400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2.2.1 종목 리스트 조회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1"/>
          <p:cNvCxnSpPr>
            <a:endCxn id="68" idx="1"/>
          </p:cNvCxnSpPr>
          <p:nvPr/>
        </p:nvCxnSpPr>
        <p:spPr>
          <a:xfrm rot="-5400000" flipH="1">
            <a:off x="2836814" y="3595513"/>
            <a:ext cx="410100" cy="1407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"/>
          <p:cNvSpPr/>
          <p:nvPr/>
        </p:nvSpPr>
        <p:spPr>
          <a:xfrm>
            <a:off x="2804585" y="3199601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주식 정보 서비스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7737325" y="3199600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 한눈에 보는 시장 트렌드</a:t>
            </a:r>
            <a:endParaRPr sz="9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8046463" y="3750889"/>
            <a:ext cx="1296000" cy="3603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2.4.1 </a:t>
            </a:r>
            <a:r>
              <a:rPr lang="en-US"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이슈 정보 제공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5661829" y="3759117"/>
            <a:ext cx="1356600" cy="2160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2.3.1 투자 성향 검사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661850" y="4168538"/>
            <a:ext cx="1440000" cy="377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2.3.2 투자 성향별 종목 추천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5415176" y="3212273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 종목 추천 서비스</a:t>
            </a:r>
            <a:endParaRPr sz="9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3103288" y="4148393"/>
            <a:ext cx="1374000" cy="377400"/>
          </a:xfrm>
          <a:prstGeom prst="rect">
            <a:avLst/>
          </a:prstGeom>
          <a:solidFill>
            <a:srgbClr val="FF99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2.2.2 긍정 점수 및 상세 지표 조회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"/>
          <p:cNvCxnSpPr>
            <a:endCxn id="74" idx="1"/>
          </p:cNvCxnSpPr>
          <p:nvPr/>
        </p:nvCxnSpPr>
        <p:spPr>
          <a:xfrm rot="-5400000" flipH="1">
            <a:off x="2599288" y="3833093"/>
            <a:ext cx="876300" cy="1317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"/>
          <p:cNvSpPr txBox="1"/>
          <p:nvPr/>
        </p:nvSpPr>
        <p:spPr>
          <a:xfrm>
            <a:off x="541875" y="3754688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2.1.1 회원가입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541875" y="4136188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2.1.2 로그인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541875" y="5296563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2.1.5 </a:t>
            </a:r>
            <a:r>
              <a:rPr lang="en-US"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정보 수정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8" name="Google Shape;78;p1"/>
          <p:cNvCxnSpPr>
            <a:stCxn id="64" idx="2"/>
            <a:endCxn id="77" idx="1"/>
          </p:cNvCxnSpPr>
          <p:nvPr/>
        </p:nvCxnSpPr>
        <p:spPr>
          <a:xfrm rot="-5400000" flipH="1">
            <a:off x="-511546" y="4351381"/>
            <a:ext cx="1943700" cy="162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" name="Google Shape;79;p1"/>
          <p:cNvSpPr txBox="1"/>
          <p:nvPr/>
        </p:nvSpPr>
        <p:spPr>
          <a:xfrm>
            <a:off x="540850" y="4911313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2.1.4 </a:t>
            </a:r>
            <a:r>
              <a:rPr lang="en-US"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정보 조회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0" name="Google Shape;80;p1"/>
          <p:cNvCxnSpPr>
            <a:stCxn id="64" idx="2"/>
          </p:cNvCxnSpPr>
          <p:nvPr/>
        </p:nvCxnSpPr>
        <p:spPr>
          <a:xfrm rot="-5400000" flipH="1">
            <a:off x="-117796" y="3957631"/>
            <a:ext cx="1148100" cy="154800"/>
          </a:xfrm>
          <a:prstGeom prst="bentConnector3">
            <a:avLst>
              <a:gd name="adj1" fmla="val 102056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1" name="Google Shape;81;p1"/>
          <p:cNvSpPr txBox="1"/>
          <p:nvPr/>
        </p:nvSpPr>
        <p:spPr>
          <a:xfrm>
            <a:off x="533650" y="5681813"/>
            <a:ext cx="15741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2.1.6 아이디/비밀번호 찿기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2" name="Google Shape;82;p1"/>
          <p:cNvCxnSpPr>
            <a:stCxn id="64" idx="2"/>
            <a:endCxn id="81" idx="1"/>
          </p:cNvCxnSpPr>
          <p:nvPr/>
        </p:nvCxnSpPr>
        <p:spPr>
          <a:xfrm rot="-5400000" flipH="1">
            <a:off x="-708196" y="4548031"/>
            <a:ext cx="2328900" cy="1548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3" name="Google Shape;83;p1"/>
          <p:cNvCxnSpPr>
            <a:stCxn id="58" idx="2"/>
            <a:endCxn id="67" idx="0"/>
          </p:cNvCxnSpPr>
          <p:nvPr/>
        </p:nvCxnSpPr>
        <p:spPr>
          <a:xfrm rot="5400000">
            <a:off x="2409193" y="712237"/>
            <a:ext cx="994500" cy="39804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" name="Google Shape;84;p1"/>
          <p:cNvCxnSpPr>
            <a:stCxn id="70" idx="0"/>
          </p:cNvCxnSpPr>
          <p:nvPr/>
        </p:nvCxnSpPr>
        <p:spPr>
          <a:xfrm rot="10800000">
            <a:off x="3524585" y="2699201"/>
            <a:ext cx="0" cy="5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1"/>
          <p:cNvCxnSpPr>
            <a:stCxn id="58" idx="2"/>
            <a:endCxn id="71" idx="0"/>
          </p:cNvCxnSpPr>
          <p:nvPr/>
        </p:nvCxnSpPr>
        <p:spPr>
          <a:xfrm rot="-5400000" flipH="1">
            <a:off x="6179744" y="922087"/>
            <a:ext cx="994500" cy="35607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1"/>
          <p:cNvCxnSpPr>
            <a:endCxn id="72" idx="1"/>
          </p:cNvCxnSpPr>
          <p:nvPr/>
        </p:nvCxnSpPr>
        <p:spPr>
          <a:xfrm rot="-5400000" flipH="1">
            <a:off x="7765513" y="3650089"/>
            <a:ext cx="457800" cy="104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"/>
          <p:cNvSpPr txBox="1"/>
          <p:nvPr/>
        </p:nvSpPr>
        <p:spPr>
          <a:xfrm>
            <a:off x="5661825" y="4739360"/>
            <a:ext cx="13566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2.3.3 성향 검사 결과 조회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>
            <a:stCxn id="87" idx="1"/>
          </p:cNvCxnSpPr>
          <p:nvPr/>
        </p:nvCxnSpPr>
        <p:spPr>
          <a:xfrm rot="10800000">
            <a:off x="5575425" y="3486710"/>
            <a:ext cx="86400" cy="1432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1"/>
          <p:cNvSpPr txBox="1"/>
          <p:nvPr/>
        </p:nvSpPr>
        <p:spPr>
          <a:xfrm>
            <a:off x="5661825" y="5293085"/>
            <a:ext cx="13566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2.3.3 성향 검사 결과 수정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"/>
          <p:cNvCxnSpPr>
            <a:stCxn id="89" idx="1"/>
          </p:cNvCxnSpPr>
          <p:nvPr/>
        </p:nvCxnSpPr>
        <p:spPr>
          <a:xfrm rot="10800000">
            <a:off x="5575425" y="3496535"/>
            <a:ext cx="86400" cy="1976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"/>
          <p:cNvSpPr txBox="1"/>
          <p:nvPr/>
        </p:nvSpPr>
        <p:spPr>
          <a:xfrm>
            <a:off x="8046463" y="4288289"/>
            <a:ext cx="12960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2.4.2 실시간 국내 지수 제공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046463" y="4825689"/>
            <a:ext cx="12960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2.4.3 실시간 상위 종목 제공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1"/>
          <p:cNvCxnSpPr>
            <a:stCxn id="91" idx="1"/>
          </p:cNvCxnSpPr>
          <p:nvPr/>
        </p:nvCxnSpPr>
        <p:spPr>
          <a:xfrm rot="10800000">
            <a:off x="7938463" y="3479939"/>
            <a:ext cx="108000" cy="98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1"/>
          <p:cNvCxnSpPr>
            <a:stCxn id="92" idx="1"/>
          </p:cNvCxnSpPr>
          <p:nvPr/>
        </p:nvCxnSpPr>
        <p:spPr>
          <a:xfrm rot="10800000">
            <a:off x="7938463" y="3480039"/>
            <a:ext cx="108000" cy="1525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1"/>
          <p:cNvSpPr txBox="1"/>
          <p:nvPr/>
        </p:nvSpPr>
        <p:spPr>
          <a:xfrm>
            <a:off x="540850" y="4523750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2.1.3 </a:t>
            </a:r>
            <a:r>
              <a:rPr lang="en-US"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로그아웃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6" name="Google Shape;96;p1"/>
          <p:cNvCxnSpPr>
            <a:stCxn id="76" idx="1"/>
            <a:endCxn id="64" idx="2"/>
          </p:cNvCxnSpPr>
          <p:nvPr/>
        </p:nvCxnSpPr>
        <p:spPr>
          <a:xfrm rot="10800000">
            <a:off x="378975" y="3460888"/>
            <a:ext cx="162900" cy="783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1"/>
          <p:cNvCxnSpPr>
            <a:stCxn id="79" idx="1"/>
            <a:endCxn id="64" idx="2"/>
          </p:cNvCxnSpPr>
          <p:nvPr/>
        </p:nvCxnSpPr>
        <p:spPr>
          <a:xfrm rot="10800000">
            <a:off x="378850" y="3461113"/>
            <a:ext cx="162000" cy="1558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1"/>
          <p:cNvCxnSpPr>
            <a:stCxn id="58" idx="2"/>
            <a:endCxn id="73" idx="0"/>
          </p:cNvCxnSpPr>
          <p:nvPr/>
        </p:nvCxnSpPr>
        <p:spPr>
          <a:xfrm rot="-5400000" flipH="1">
            <a:off x="5012294" y="2089537"/>
            <a:ext cx="1007100" cy="12384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5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정보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.2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리스트 조회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4" name="Google Shape;104;p5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현재 주식 시장에 상장된 종목들을 시장별로 리스트화 시켜서 보여주는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 화면엔 KOSPI 시장의 종목들을 시가총액의 내림차순으로 정렬하여 제공한다.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페이지당 최대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0종목까지 보여준다.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고객의 취사 선택에 따라 정렬 기준과 필터링이 가능하다.,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시장에 상장된 종목들을 모두 보여주고, 고객의 선택에 따라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 기준을 다르게 할 수 있으며, 필터링 할 수 있다.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5" name="Google Shape;105;p5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6"/>
          <p:cNvGraphicFramePr/>
          <p:nvPr/>
        </p:nvGraphicFramePr>
        <p:xfrm>
          <a:off x="273050" y="1781312"/>
          <a:ext cx="936105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461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회원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</a:t>
                      </a:r>
                      <a:endParaRPr sz="12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1" name="Google Shape;111;p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6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정보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리스트 조회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3" name="Google Shape;113;p6"/>
          <p:cNvSpPr/>
          <p:nvPr/>
        </p:nvSpPr>
        <p:spPr>
          <a:xfrm>
            <a:off x="368183" y="2388670"/>
            <a:ext cx="1347000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종목 리스트 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조회 요청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959400" y="3459625"/>
            <a:ext cx="36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6"/>
          <p:cNvCxnSpPr>
            <a:stCxn id="113" idx="3"/>
            <a:endCxn id="116" idx="1"/>
          </p:cNvCxnSpPr>
          <p:nvPr/>
        </p:nvCxnSpPr>
        <p:spPr>
          <a:xfrm rot="10800000" flipH="1">
            <a:off x="1715183" y="2589190"/>
            <a:ext cx="1739700" cy="1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7" name="Google Shape;117;p6"/>
          <p:cNvSpPr/>
          <p:nvPr/>
        </p:nvSpPr>
        <p:spPr>
          <a:xfrm>
            <a:off x="2016773" y="2877300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3.1 결과 확인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3064624" y="3610660"/>
            <a:ext cx="253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2257601" y="4094261"/>
            <a:ext cx="253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16214" y="2360615"/>
            <a:ext cx="702900" cy="4587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주식 DB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455028" y="2313215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시장, 업종, 위험도 선택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970824" y="5290436"/>
            <a:ext cx="1347000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6"/>
          <p:cNvCxnSpPr>
            <a:stCxn id="123" idx="2"/>
            <a:endCxn id="121" idx="0"/>
          </p:cNvCxnSpPr>
          <p:nvPr/>
        </p:nvCxnSpPr>
        <p:spPr>
          <a:xfrm>
            <a:off x="2639874" y="4180729"/>
            <a:ext cx="4500" cy="110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6"/>
          <p:cNvCxnSpPr>
            <a:stCxn id="117" idx="2"/>
            <a:endCxn id="123" idx="0"/>
          </p:cNvCxnSpPr>
          <p:nvPr/>
        </p:nvCxnSpPr>
        <p:spPr>
          <a:xfrm>
            <a:off x="2639873" y="3429000"/>
            <a:ext cx="0" cy="219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5" name="Google Shape;125;p6"/>
          <p:cNvSpPr/>
          <p:nvPr/>
        </p:nvSpPr>
        <p:spPr>
          <a:xfrm>
            <a:off x="5098389" y="4123579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재정렬, 필터링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396588" y="2398565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6"/>
          <p:cNvCxnSpPr>
            <a:stCxn id="126" idx="3"/>
            <a:endCxn id="120" idx="4"/>
          </p:cNvCxnSpPr>
          <p:nvPr/>
        </p:nvCxnSpPr>
        <p:spPr>
          <a:xfrm flipH="1">
            <a:off x="7519088" y="2589065"/>
            <a:ext cx="8775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8" name="Google Shape;128;p6"/>
          <p:cNvSpPr/>
          <p:nvPr/>
        </p:nvSpPr>
        <p:spPr>
          <a:xfrm>
            <a:off x="3470869" y="3638992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정렬, 필터링 입력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6"/>
          <p:cNvCxnSpPr>
            <a:stCxn id="120" idx="3"/>
            <a:endCxn id="130" idx="3"/>
          </p:cNvCxnSpPr>
          <p:nvPr/>
        </p:nvCxnSpPr>
        <p:spPr>
          <a:xfrm rot="5400000">
            <a:off x="6734164" y="2723615"/>
            <a:ext cx="337800" cy="5292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3" name="Google Shape;123;p6"/>
          <p:cNvSpPr/>
          <p:nvPr/>
        </p:nvSpPr>
        <p:spPr>
          <a:xfrm>
            <a:off x="2016774" y="3648955"/>
            <a:ext cx="1246199" cy="531774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필터링,재정렬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6"/>
          <p:cNvCxnSpPr>
            <a:stCxn id="116" idx="3"/>
          </p:cNvCxnSpPr>
          <p:nvPr/>
        </p:nvCxnSpPr>
        <p:spPr>
          <a:xfrm>
            <a:off x="4701228" y="2589065"/>
            <a:ext cx="211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" name="Google Shape;132;p6"/>
          <p:cNvCxnSpPr>
            <a:stCxn id="123" idx="3"/>
            <a:endCxn id="128" idx="1"/>
          </p:cNvCxnSpPr>
          <p:nvPr/>
        </p:nvCxnSpPr>
        <p:spPr>
          <a:xfrm>
            <a:off x="3262973" y="3914842"/>
            <a:ext cx="207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3" name="Google Shape;133;p6"/>
          <p:cNvSpPr/>
          <p:nvPr/>
        </p:nvSpPr>
        <p:spPr>
          <a:xfrm>
            <a:off x="3464277" y="4528677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3.2. 결과 확인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6"/>
          <p:cNvCxnSpPr>
            <a:endCxn id="121" idx="3"/>
          </p:cNvCxnSpPr>
          <p:nvPr/>
        </p:nvCxnSpPr>
        <p:spPr>
          <a:xfrm flipH="1">
            <a:off x="3317824" y="5080256"/>
            <a:ext cx="769500" cy="430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5" name="Google Shape;135;p6"/>
          <p:cNvCxnSpPr>
            <a:stCxn id="128" idx="3"/>
            <a:endCxn id="125" idx="0"/>
          </p:cNvCxnSpPr>
          <p:nvPr/>
        </p:nvCxnSpPr>
        <p:spPr>
          <a:xfrm>
            <a:off x="4717069" y="3914842"/>
            <a:ext cx="1004400" cy="208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" name="Google Shape;136;p6"/>
          <p:cNvCxnSpPr>
            <a:stCxn id="125" idx="2"/>
            <a:endCxn id="133" idx="3"/>
          </p:cNvCxnSpPr>
          <p:nvPr/>
        </p:nvCxnSpPr>
        <p:spPr>
          <a:xfrm rot="5400000">
            <a:off x="5151339" y="4234429"/>
            <a:ext cx="129300" cy="10110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0" name="Google Shape;130;p6"/>
          <p:cNvSpPr/>
          <p:nvPr/>
        </p:nvSpPr>
        <p:spPr>
          <a:xfrm>
            <a:off x="5392121" y="2881318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데이터 시각화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6"/>
          <p:cNvCxnSpPr>
            <a:stCxn id="130" idx="1"/>
            <a:endCxn id="117" idx="3"/>
          </p:cNvCxnSpPr>
          <p:nvPr/>
        </p:nvCxnSpPr>
        <p:spPr>
          <a:xfrm rot="10800000">
            <a:off x="3263021" y="3153268"/>
            <a:ext cx="2129100" cy="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7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정보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리스트 조회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3" name="Google Shape;143;p7"/>
          <p:cNvGraphicFramePr/>
          <p:nvPr/>
        </p:nvGraphicFramePr>
        <p:xfrm>
          <a:off x="272481" y="1700808"/>
          <a:ext cx="9361025" cy="47507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시장, 업종, 종목, 위험도 선택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999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고객의 기준에 맞는 요소들을 취사선택한다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필터링 데이터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필터링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시각화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999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필터링 데이터를 기반으로 주식DB에서 해당되는 데이터들을 시각화한다.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필터링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종목 데이터 테이블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 확인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999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주식 종목의 목록을 확인한다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종목 데이터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테이블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종목 데이터 테이블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결과 확인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  고객의 정렬기준으로 재정렬된 </a:t>
                      </a: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주식 종목의 목록을 확인한다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종목 데이터, 사용자 정렬기준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종목 데이터 테이블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정렬 및 필터링 입력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  고객의 기준에 맞는 정렬 기준과 필터링을 입력한다..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 정렬기준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 정렬기준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재정렬 및 필터링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  고객의 정렬 기준에 따라 기존 데이터를 필터링,재정렬한다.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종목데이터,정렬기준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종목데이터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999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4" name="Google Shape;144;p7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3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정보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.2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긍정 점수 및 상세 지표 제공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0" name="Google Shape;150;p3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고객이 입력한 종목명을 입력 값으로 해당 종목의 긍점 점수와 상세 지표를 그래프로 제공하는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명을 기준으로 1개월 간의 데이터를 기본 제공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고객의 선택에 따라 목표 기간을 수정 가능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고객의 선택에 따라 상세 지표 취사 선택 가능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고객의 원하는 종목의 긍정 점수와 상세 지표를 제공받는다.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1" name="Google Shape;151;p3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Google Shape;156;p4"/>
          <p:cNvGraphicFramePr/>
          <p:nvPr/>
        </p:nvGraphicFramePr>
        <p:xfrm>
          <a:off x="273050" y="1781312"/>
          <a:ext cx="936105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324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회원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</a:t>
                      </a:r>
                      <a:endParaRPr sz="12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7" name="Google Shape;157;p4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4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정보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긍정 점수 및 상세 지표 제공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9" name="Google Shape;159;p4"/>
          <p:cNvSpPr/>
          <p:nvPr/>
        </p:nvSpPr>
        <p:spPr>
          <a:xfrm>
            <a:off x="388748" y="2268444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959400" y="3459625"/>
            <a:ext cx="36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4"/>
          <p:cNvCxnSpPr>
            <a:stCxn id="162" idx="3"/>
            <a:endCxn id="163" idx="1"/>
          </p:cNvCxnSpPr>
          <p:nvPr/>
        </p:nvCxnSpPr>
        <p:spPr>
          <a:xfrm>
            <a:off x="1652744" y="3031350"/>
            <a:ext cx="482400" cy="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4" name="Google Shape;164;p4"/>
          <p:cNvSpPr/>
          <p:nvPr/>
        </p:nvSpPr>
        <p:spPr>
          <a:xfrm>
            <a:off x="1887701" y="4892777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4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결과 확인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285680" y="2262743"/>
            <a:ext cx="725375" cy="461700"/>
          </a:xfrm>
          <a:prstGeom prst="flowChartMagneticDisk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기사 DB</a:t>
            </a:r>
            <a:r>
              <a:rPr lang="en-US"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sz="1300" b="1" i="0" u="none" strike="noStrike" cap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4796509" y="3381088"/>
            <a:ext cx="253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5531850" y="3150372"/>
            <a:ext cx="253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7296918" y="4957140"/>
            <a:ext cx="702900" cy="4587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주식 DB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4"/>
          <p:cNvCxnSpPr>
            <a:stCxn id="165" idx="2"/>
            <a:endCxn id="170" idx="0"/>
          </p:cNvCxnSpPr>
          <p:nvPr/>
        </p:nvCxnSpPr>
        <p:spPr>
          <a:xfrm flipH="1">
            <a:off x="4824480" y="2493593"/>
            <a:ext cx="2461200" cy="227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1" name="Google Shape;171;p4"/>
          <p:cNvSpPr/>
          <p:nvPr/>
        </p:nvSpPr>
        <p:spPr>
          <a:xfrm>
            <a:off x="4201359" y="3652248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2. 긍정 점수 계산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207433" y="4902562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3.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그래프 생성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4"/>
          <p:cNvCxnSpPr>
            <a:stCxn id="172" idx="1"/>
            <a:endCxn id="164" idx="3"/>
          </p:cNvCxnSpPr>
          <p:nvPr/>
        </p:nvCxnSpPr>
        <p:spPr>
          <a:xfrm rot="10800000">
            <a:off x="3134033" y="5168512"/>
            <a:ext cx="1073400" cy="9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4" name="Google Shape;174;p4"/>
          <p:cNvSpPr/>
          <p:nvPr/>
        </p:nvSpPr>
        <p:spPr>
          <a:xfrm>
            <a:off x="1837301" y="5789335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4"/>
          <p:cNvCxnSpPr>
            <a:endCxn id="174" idx="0"/>
          </p:cNvCxnSpPr>
          <p:nvPr/>
        </p:nvCxnSpPr>
        <p:spPr>
          <a:xfrm>
            <a:off x="2510789" y="5444335"/>
            <a:ext cx="0" cy="34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4"/>
          <p:cNvCxnSpPr>
            <a:stCxn id="171" idx="2"/>
            <a:endCxn id="172" idx="0"/>
          </p:cNvCxnSpPr>
          <p:nvPr/>
        </p:nvCxnSpPr>
        <p:spPr>
          <a:xfrm>
            <a:off x="4824459" y="4203948"/>
            <a:ext cx="6000" cy="69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0" name="Google Shape;170;p4"/>
          <p:cNvSpPr/>
          <p:nvPr/>
        </p:nvSpPr>
        <p:spPr>
          <a:xfrm>
            <a:off x="3863841" y="2720822"/>
            <a:ext cx="1921200" cy="619800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긍정 점수 존재 유무</a:t>
            </a:r>
            <a:endParaRPr sz="900" b="0" i="0" u="none" strike="noStrike" cap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177" name="Google Shape;177;p4"/>
          <p:cNvCxnSpPr>
            <a:stCxn id="170" idx="2"/>
            <a:endCxn id="171" idx="0"/>
          </p:cNvCxnSpPr>
          <p:nvPr/>
        </p:nvCxnSpPr>
        <p:spPr>
          <a:xfrm>
            <a:off x="4824441" y="3340621"/>
            <a:ext cx="0" cy="311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3" name="Google Shape;163;p4"/>
          <p:cNvSpPr/>
          <p:nvPr/>
        </p:nvSpPr>
        <p:spPr>
          <a:xfrm>
            <a:off x="2135203" y="2757441"/>
            <a:ext cx="1246200" cy="5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종목명, 기간 입력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4"/>
          <p:cNvCxnSpPr>
            <a:stCxn id="163" idx="3"/>
            <a:endCxn id="170" idx="1"/>
          </p:cNvCxnSpPr>
          <p:nvPr/>
        </p:nvCxnSpPr>
        <p:spPr>
          <a:xfrm rot="10800000" flipH="1">
            <a:off x="3381403" y="3030591"/>
            <a:ext cx="482400" cy="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9" name="Google Shape;179;p4"/>
          <p:cNvSpPr/>
          <p:nvPr/>
        </p:nvSpPr>
        <p:spPr>
          <a:xfrm>
            <a:off x="8396588" y="4995540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8396588" y="2302640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네이버 증권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4"/>
          <p:cNvCxnSpPr>
            <a:stCxn id="179" idx="3"/>
            <a:endCxn id="168" idx="4"/>
          </p:cNvCxnSpPr>
          <p:nvPr/>
        </p:nvCxnSpPr>
        <p:spPr>
          <a:xfrm flipH="1">
            <a:off x="7999688" y="5186040"/>
            <a:ext cx="396900" cy="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4"/>
          <p:cNvCxnSpPr>
            <a:stCxn id="180" idx="3"/>
            <a:endCxn id="165" idx="4"/>
          </p:cNvCxnSpPr>
          <p:nvPr/>
        </p:nvCxnSpPr>
        <p:spPr>
          <a:xfrm flipH="1">
            <a:off x="8011088" y="2493140"/>
            <a:ext cx="385500" cy="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2" name="Google Shape;162;p4"/>
          <p:cNvSpPr/>
          <p:nvPr/>
        </p:nvSpPr>
        <p:spPr>
          <a:xfrm>
            <a:off x="468344" y="2841385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 리스트 조회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4"/>
          <p:cNvCxnSpPr>
            <a:stCxn id="159" idx="2"/>
            <a:endCxn id="162" idx="0"/>
          </p:cNvCxnSpPr>
          <p:nvPr/>
        </p:nvCxnSpPr>
        <p:spPr>
          <a:xfrm flipH="1">
            <a:off x="1060436" y="2709084"/>
            <a:ext cx="1800" cy="1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4"/>
          <p:cNvCxnSpPr>
            <a:stCxn id="168" idx="2"/>
            <a:endCxn id="172" idx="3"/>
          </p:cNvCxnSpPr>
          <p:nvPr/>
        </p:nvCxnSpPr>
        <p:spPr>
          <a:xfrm rot="10800000">
            <a:off x="5453718" y="5178390"/>
            <a:ext cx="18432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4"/>
          <p:cNvCxnSpPr>
            <a:endCxn id="172" idx="3"/>
          </p:cNvCxnSpPr>
          <p:nvPr/>
        </p:nvCxnSpPr>
        <p:spPr>
          <a:xfrm rot="5400000">
            <a:off x="4555433" y="3940612"/>
            <a:ext cx="2136000" cy="339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p4"/>
          <p:cNvSpPr/>
          <p:nvPr/>
        </p:nvSpPr>
        <p:spPr>
          <a:xfrm>
            <a:off x="7164699" y="2872350"/>
            <a:ext cx="922550" cy="461700"/>
          </a:xfrm>
          <a:prstGeom prst="flowChartMagneticDisk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900">
                <a:solidFill>
                  <a:schemeClr val="dk1"/>
                </a:solidFill>
              </a:rPr>
              <a:t>커뮤니티</a:t>
            </a: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DB</a:t>
            </a:r>
            <a:r>
              <a:rPr lang="en-US"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sz="1300" b="1" i="0" u="none" strike="noStrike" cap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396588" y="2912240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토스 증권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4"/>
          <p:cNvCxnSpPr>
            <a:stCxn id="187" idx="3"/>
            <a:endCxn id="186" idx="4"/>
          </p:cNvCxnSpPr>
          <p:nvPr/>
        </p:nvCxnSpPr>
        <p:spPr>
          <a:xfrm flipH="1">
            <a:off x="8087288" y="3102740"/>
            <a:ext cx="309300" cy="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4"/>
          <p:cNvCxnSpPr>
            <a:stCxn id="186" idx="2"/>
            <a:endCxn id="170" idx="0"/>
          </p:cNvCxnSpPr>
          <p:nvPr/>
        </p:nvCxnSpPr>
        <p:spPr>
          <a:xfrm rot="10800000">
            <a:off x="4824399" y="2720700"/>
            <a:ext cx="2340300" cy="382500"/>
          </a:xfrm>
          <a:prstGeom prst="bentConnector4">
            <a:avLst>
              <a:gd name="adj1" fmla="val 29476"/>
              <a:gd name="adj2" fmla="val 16222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13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정보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긍정 점수 및 상세 지표 제공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5" name="Google Shape;195;p13"/>
          <p:cNvGraphicFramePr/>
          <p:nvPr/>
        </p:nvGraphicFramePr>
        <p:xfrm>
          <a:off x="272481" y="1700808"/>
          <a:ext cx="9361025" cy="474900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종목명, 기간 입력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999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고객이 원하는 종목명과 기간을 입력한다.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종목명,기간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종목명,기간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/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긍정 점수 계산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  긍정 점수를 계산 </a:t>
                      </a:r>
                      <a:r>
                        <a:rPr lang="en-US" sz="1000"/>
                        <a:t>모델을 이용하여 입력 데이터의 긍정점수 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감성분석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입력 종목의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일일 긍점점수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/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그래프 생성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  입력 종목의 일별 상세지표와 긍점점수를 기반으로 한 그래프를 생성한다.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종목 일별</a:t>
                      </a:r>
                      <a:endParaRPr sz="10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상세지표,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긍정점수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그래프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/>
                        <a:t>4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결과 확인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  생성된 그래프를 확인한다.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그래프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시각화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999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6" name="Google Shape;196;p13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Google Shape;201;g32e24b2c370_5_57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</a:t>
                      </a: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성향 검사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2" name="Google Shape;202;g32e24b2c370_5_57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고객의 투자 성향을 관심업종, 감당 위험단계, 희망 수익률을 입력받아, 고객 정보에 저장 하는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감당 위험 단계는 1, 2, 3단계중 하나를 선택한다.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457200" marR="0" lvl="0" indent="-2921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위험도 1단계 : 시장 내 종목 변동성의 4분위수에서 0-25% 구간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457200" marR="0" lvl="0" indent="-2921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위험도 2단계 : 시장 내 종목 변동성의 4분위수에서 25%-75% 구간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457200" marR="0" lvl="0" indent="-2921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위험도 3단계 : 시장 내 종목 변동성의 4분위수에서 75% 이상 구간</a:t>
                      </a:r>
                      <a:endParaRPr sz="10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 업종 선택시, 개월 기준 앞서 결정한 위험단계 내 업종중 수익률이 가장좋은 세 업종에 추천 표시를 해준다.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 업종 선택을 원하지 않는다면, 선택 하지 않고 다음 프로세스를 진행할 수 있다.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희망 수익률은 희망하는 최소 수익률값을 입력받는다. 음수는 입력할 수 없다.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 성향 분류 DB 기준에 따라 고객의 투자 성향을 결정 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 성향별 종목 추천을 받기 위해 감당 위험단계, 관심업종, 희망수익률을 기반으로 투자 성향을 결정한다.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3" name="Google Shape;203;g32e24b2c370_5_57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" name="Google Shape;208;g3293c47a664_0_82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475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</a:rPr>
                        <a:t>외부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9" name="Google Shape;209;g3293c47a664_0_82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0" name="Google Shape;210;g3293c47a664_0_82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성향 검사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1" name="Google Shape;211;g3293c47a664_0_82"/>
          <p:cNvSpPr/>
          <p:nvPr/>
        </p:nvSpPr>
        <p:spPr>
          <a:xfrm>
            <a:off x="1295688" y="4461897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5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희망 수익률 범위 설정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293c47a664_0_82"/>
          <p:cNvSpPr/>
          <p:nvPr/>
        </p:nvSpPr>
        <p:spPr>
          <a:xfrm>
            <a:off x="5104806" y="5644499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6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투자 성향 결정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93c47a664_0_82"/>
          <p:cNvSpPr/>
          <p:nvPr/>
        </p:nvSpPr>
        <p:spPr>
          <a:xfrm>
            <a:off x="1295700" y="3042663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위험 단계 설정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93c47a664_0_82"/>
          <p:cNvSpPr/>
          <p:nvPr/>
        </p:nvSpPr>
        <p:spPr>
          <a:xfrm>
            <a:off x="2101446" y="2221835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93c47a664_0_82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93c47a664_0_82"/>
          <p:cNvSpPr/>
          <p:nvPr/>
        </p:nvSpPr>
        <p:spPr>
          <a:xfrm>
            <a:off x="395770" y="2191480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g3293c47a664_0_82"/>
          <p:cNvCxnSpPr>
            <a:stCxn id="216" idx="3"/>
            <a:endCxn id="214" idx="1"/>
          </p:cNvCxnSpPr>
          <p:nvPr/>
        </p:nvCxnSpPr>
        <p:spPr>
          <a:xfrm>
            <a:off x="1742746" y="2411800"/>
            <a:ext cx="35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8" name="Google Shape;218;g3293c47a664_0_82"/>
          <p:cNvSpPr/>
          <p:nvPr/>
        </p:nvSpPr>
        <p:spPr>
          <a:xfrm>
            <a:off x="6461332" y="5644543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정보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g3293c47a664_0_82"/>
          <p:cNvCxnSpPr>
            <a:stCxn id="212" idx="3"/>
            <a:endCxn id="218" idx="2"/>
          </p:cNvCxnSpPr>
          <p:nvPr/>
        </p:nvCxnSpPr>
        <p:spPr>
          <a:xfrm>
            <a:off x="6238806" y="5858249"/>
            <a:ext cx="222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0" name="Google Shape;220;g3293c47a664_0_82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293c47a664_0_82"/>
          <p:cNvSpPr/>
          <p:nvPr/>
        </p:nvSpPr>
        <p:spPr>
          <a:xfrm>
            <a:off x="5181000" y="3715938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3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위험단계별 추천 업종 표기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293c47a664_0_82"/>
          <p:cNvSpPr/>
          <p:nvPr/>
        </p:nvSpPr>
        <p:spPr>
          <a:xfrm>
            <a:off x="6537532" y="3715981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성향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업종 데이터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g3293c47a664_0_82"/>
          <p:cNvCxnSpPr>
            <a:stCxn id="222" idx="2"/>
            <a:endCxn id="221" idx="3"/>
          </p:cNvCxnSpPr>
          <p:nvPr/>
        </p:nvCxnSpPr>
        <p:spPr>
          <a:xfrm rot="10800000">
            <a:off x="6314932" y="3929691"/>
            <a:ext cx="22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4" name="Google Shape;224;g3293c47a664_0_82"/>
          <p:cNvSpPr/>
          <p:nvPr/>
        </p:nvSpPr>
        <p:spPr>
          <a:xfrm>
            <a:off x="3790605" y="219804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1.고객 성향 검사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g3293c47a664_0_82"/>
          <p:cNvCxnSpPr>
            <a:stCxn id="214" idx="3"/>
            <a:endCxn id="224" idx="1"/>
          </p:cNvCxnSpPr>
          <p:nvPr/>
        </p:nvCxnSpPr>
        <p:spPr>
          <a:xfrm>
            <a:off x="3285846" y="2411800"/>
            <a:ext cx="50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g3293c47a664_0_82"/>
          <p:cNvCxnSpPr>
            <a:stCxn id="227" idx="2"/>
            <a:endCxn id="211" idx="0"/>
          </p:cNvCxnSpPr>
          <p:nvPr/>
        </p:nvCxnSpPr>
        <p:spPr>
          <a:xfrm>
            <a:off x="1862705" y="4143438"/>
            <a:ext cx="0" cy="31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7" name="Google Shape;227;g3293c47a664_0_82"/>
          <p:cNvSpPr/>
          <p:nvPr/>
        </p:nvSpPr>
        <p:spPr>
          <a:xfrm>
            <a:off x="1295705" y="3715938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4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관심 업종 설정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g3293c47a664_0_82"/>
          <p:cNvCxnSpPr>
            <a:stCxn id="221" idx="1"/>
            <a:endCxn id="227" idx="3"/>
          </p:cNvCxnSpPr>
          <p:nvPr/>
        </p:nvCxnSpPr>
        <p:spPr>
          <a:xfrm rot="10800000">
            <a:off x="2429700" y="3929688"/>
            <a:ext cx="2751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9" name="Google Shape;229;g3293c47a664_0_82"/>
          <p:cNvCxnSpPr>
            <a:stCxn id="213" idx="3"/>
            <a:endCxn id="221" idx="0"/>
          </p:cNvCxnSpPr>
          <p:nvPr/>
        </p:nvCxnSpPr>
        <p:spPr>
          <a:xfrm>
            <a:off x="2429700" y="3256413"/>
            <a:ext cx="3318300" cy="459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0" name="Google Shape;230;g3293c47a664_0_82"/>
          <p:cNvCxnSpPr>
            <a:stCxn id="224" idx="2"/>
            <a:endCxn id="213" idx="0"/>
          </p:cNvCxnSpPr>
          <p:nvPr/>
        </p:nvCxnSpPr>
        <p:spPr>
          <a:xfrm rot="5400000">
            <a:off x="2901705" y="1586646"/>
            <a:ext cx="417000" cy="24948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1" name="Google Shape;231;g3293c47a664_0_82"/>
          <p:cNvSpPr/>
          <p:nvPr/>
        </p:nvSpPr>
        <p:spPr>
          <a:xfrm>
            <a:off x="2546759" y="5164873"/>
            <a:ext cx="1367982" cy="417922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2.3.3 성향 검사 결과 조회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293c47a664_0_82"/>
          <p:cNvSpPr/>
          <p:nvPr/>
        </p:nvSpPr>
        <p:spPr>
          <a:xfrm>
            <a:off x="2546759" y="5858248"/>
            <a:ext cx="1367982" cy="417922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2.3.2 투자 성향별 종목 추천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g3293c47a664_0_82"/>
          <p:cNvCxnSpPr>
            <a:stCxn id="212" idx="1"/>
            <a:endCxn id="231" idx="3"/>
          </p:cNvCxnSpPr>
          <p:nvPr/>
        </p:nvCxnSpPr>
        <p:spPr>
          <a:xfrm rot="10800000">
            <a:off x="3914706" y="5373749"/>
            <a:ext cx="1190100" cy="4845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" name="Google Shape;234;g3293c47a664_0_82"/>
          <p:cNvCxnSpPr>
            <a:stCxn id="212" idx="1"/>
            <a:endCxn id="232" idx="3"/>
          </p:cNvCxnSpPr>
          <p:nvPr/>
        </p:nvCxnSpPr>
        <p:spPr>
          <a:xfrm flipH="1">
            <a:off x="3914706" y="5858249"/>
            <a:ext cx="1190100" cy="2091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5" name="Google Shape;235;g3293c47a664_0_82"/>
          <p:cNvCxnSpPr>
            <a:stCxn id="211" idx="3"/>
            <a:endCxn id="212" idx="0"/>
          </p:cNvCxnSpPr>
          <p:nvPr/>
        </p:nvCxnSpPr>
        <p:spPr>
          <a:xfrm>
            <a:off x="2429688" y="4675647"/>
            <a:ext cx="3242100" cy="9690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6" name="Google Shape;236;g3293c47a664_0_82"/>
          <p:cNvSpPr/>
          <p:nvPr/>
        </p:nvSpPr>
        <p:spPr>
          <a:xfrm>
            <a:off x="8871250" y="3739200"/>
            <a:ext cx="7617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293c47a664_0_82"/>
          <p:cNvSpPr/>
          <p:nvPr/>
        </p:nvSpPr>
        <p:spPr>
          <a:xfrm>
            <a:off x="8228272" y="3717741"/>
            <a:ext cx="457200" cy="423900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월-금 오전 9시 30분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g3293c47a664_0_82"/>
          <p:cNvCxnSpPr>
            <a:stCxn id="236" idx="3"/>
            <a:endCxn id="237" idx="6"/>
          </p:cNvCxnSpPr>
          <p:nvPr/>
        </p:nvCxnSpPr>
        <p:spPr>
          <a:xfrm rot="10800000">
            <a:off x="8685550" y="3929700"/>
            <a:ext cx="18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" name="Google Shape;239;g3293c47a664_0_82"/>
          <p:cNvCxnSpPr>
            <a:stCxn id="237" idx="2"/>
            <a:endCxn id="222" idx="4"/>
          </p:cNvCxnSpPr>
          <p:nvPr/>
        </p:nvCxnSpPr>
        <p:spPr>
          <a:xfrm rot="10800000">
            <a:off x="7737772" y="3929691"/>
            <a:ext cx="490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g32e24b2c370_5_42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성향 검사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5" name="Google Shape;245;g32e24b2c370_5_42"/>
          <p:cNvGraphicFramePr/>
          <p:nvPr/>
        </p:nvGraphicFramePr>
        <p:xfrm>
          <a:off x="272481" y="1700808"/>
          <a:ext cx="9361025" cy="47524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고객 성향 검사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 시스템에 성향 검사 요청을 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정보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위험단계 설정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  고객이 감당할 위험 단계를 설정한다.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위험 단계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감당 위험 단계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위험 단계별 추천 업종 표기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최근 1개월 기준 설정한 위험 단계 대비 수익률 지표가 가장 좋은 업종을 세개 까지 추천한다.</a:t>
                      </a: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고객의 관심 업종을 입력받는다. 관심업종이 없다면 비우고 넘어갈 수 있다.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관심 업종, 관심 업종 유무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관심 업종 설정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관심 업종을 입력한다. 관심업종이 없다면 비우고 넘어갈 수 있다.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 유무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/>
                        <a:t>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희망 수익률 범위 설정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 희망하는 수익률의 범위를 설정한다.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희망 수익률 범위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희망 수익률 범위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6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투자 성향 결정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검증한 투자 성향을 확정하고, 고객 DB에 투자 성향을 저장한다.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업종,감당 위험단계,,희망 수익률 범위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 투자 성향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7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/>
                        <a:t>8</a:t>
                      </a: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6" name="Google Shape;246;g32e24b2c370_5_42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1" name="Google Shape;251;g32e24b2c370_0_5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성향별 종목 추천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2" name="Google Shape;252;g32e24b2c370_0_5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고객의 투자 성향 정보를 기반으로 종목을 추천해주는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고객의 위험단계, 희망 수익률, 관심 업종을 베이스로 추천 종목 선별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고객의 선택에 따라 지표 관측 기간을 설정 가능하다.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관심업종이 존재한다면, 관심업종 내에서 선별한다.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 업종이 있다면 업종내 수익률 상위 최대 10종목, 없다면 상위 최대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0종목을 추천한다.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추천은 KOSPI, KOSDAQ, ETF 세 시장의 종목에 한정한다.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고객의 투자 성향에 맞는 추천 종목 리스트를 제공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3" name="Google Shape;253;g32e24b2c370_0_5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g3282f99512f_1_43"/>
          <p:cNvGraphicFramePr/>
          <p:nvPr/>
        </p:nvGraphicFramePr>
        <p:xfrm>
          <a:off x="273050" y="1699361"/>
          <a:ext cx="9359925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3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외부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9" name="Google Shape;259;g3282f99512f_1_43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g3282f99512f_1_43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성향별 종목 추천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1" name="Google Shape;261;g3282f99512f_1_43"/>
          <p:cNvSpPr/>
          <p:nvPr/>
        </p:nvSpPr>
        <p:spPr>
          <a:xfrm>
            <a:off x="4434505" y="2912883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고객 성향 불러오기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82f99512f_1_43"/>
          <p:cNvSpPr/>
          <p:nvPr/>
        </p:nvSpPr>
        <p:spPr>
          <a:xfrm>
            <a:off x="4358569" y="4650291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5.관심 업종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82f99512f_1_43"/>
          <p:cNvSpPr/>
          <p:nvPr/>
        </p:nvSpPr>
        <p:spPr>
          <a:xfrm>
            <a:off x="4482500" y="5657659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희망 수익률 종목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82f99512f_1_43"/>
          <p:cNvSpPr/>
          <p:nvPr/>
        </p:nvSpPr>
        <p:spPr>
          <a:xfrm>
            <a:off x="6544556" y="5657874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고객 위험단계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82f99512f_1_43"/>
          <p:cNvSpPr/>
          <p:nvPr/>
        </p:nvSpPr>
        <p:spPr>
          <a:xfrm>
            <a:off x="6511482" y="3931918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 데이터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282f99512f_1_43"/>
          <p:cNvSpPr/>
          <p:nvPr/>
        </p:nvSpPr>
        <p:spPr>
          <a:xfrm>
            <a:off x="6511480" y="2912913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정보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282f99512f_1_43"/>
          <p:cNvSpPr/>
          <p:nvPr/>
        </p:nvSpPr>
        <p:spPr>
          <a:xfrm>
            <a:off x="2467994" y="5657659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종목 리스트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282f99512f_1_43"/>
          <p:cNvSpPr/>
          <p:nvPr/>
        </p:nvSpPr>
        <p:spPr>
          <a:xfrm>
            <a:off x="6544557" y="4800692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5-1. 관심 업종내 종목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282f99512f_1_43"/>
          <p:cNvSpPr/>
          <p:nvPr/>
        </p:nvSpPr>
        <p:spPr>
          <a:xfrm>
            <a:off x="412989" y="5669096"/>
            <a:ext cx="1174500" cy="40505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282f99512f_1_43"/>
          <p:cNvSpPr/>
          <p:nvPr/>
        </p:nvSpPr>
        <p:spPr>
          <a:xfrm>
            <a:off x="4434505" y="3906855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기간별 종목 데이터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282f99512f_1_43"/>
          <p:cNvSpPr/>
          <p:nvPr/>
        </p:nvSpPr>
        <p:spPr>
          <a:xfrm>
            <a:off x="850421" y="2943885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g3282f99512f_1_43"/>
          <p:cNvCxnSpPr>
            <a:stCxn id="266" idx="2"/>
            <a:endCxn id="261" idx="3"/>
          </p:cNvCxnSpPr>
          <p:nvPr/>
        </p:nvCxnSpPr>
        <p:spPr>
          <a:xfrm rot="10800000">
            <a:off x="5568580" y="3126624"/>
            <a:ext cx="942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" name="Google Shape;273;g3282f99512f_1_43"/>
          <p:cNvCxnSpPr/>
          <p:nvPr/>
        </p:nvCxnSpPr>
        <p:spPr>
          <a:xfrm>
            <a:off x="7378153" y="5228188"/>
            <a:ext cx="3600" cy="42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4" name="Google Shape;274;g3282f99512f_1_43"/>
          <p:cNvCxnSpPr>
            <a:endCxn id="269" idx="3"/>
          </p:cNvCxnSpPr>
          <p:nvPr/>
        </p:nvCxnSpPr>
        <p:spPr>
          <a:xfrm rot="10800000">
            <a:off x="1587489" y="5871623"/>
            <a:ext cx="880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5" name="Google Shape;275;g3282f99512f_1_43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82f99512f_1_43"/>
          <p:cNvSpPr txBox="1"/>
          <p:nvPr/>
        </p:nvSpPr>
        <p:spPr>
          <a:xfrm>
            <a:off x="5634132" y="4629693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82f99512f_1_43"/>
          <p:cNvSpPr txBox="1"/>
          <p:nvPr/>
        </p:nvSpPr>
        <p:spPr>
          <a:xfrm>
            <a:off x="4723703" y="5164639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82f99512f_1_43"/>
          <p:cNvSpPr/>
          <p:nvPr/>
        </p:nvSpPr>
        <p:spPr>
          <a:xfrm>
            <a:off x="875625" y="389242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기간 입력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g3282f99512f_1_43"/>
          <p:cNvCxnSpPr>
            <a:stCxn id="278" idx="3"/>
            <a:endCxn id="270" idx="1"/>
          </p:cNvCxnSpPr>
          <p:nvPr/>
        </p:nvCxnSpPr>
        <p:spPr>
          <a:xfrm>
            <a:off x="2009625" y="4106176"/>
            <a:ext cx="2424900" cy="1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0" name="Google Shape;280;g3282f99512f_1_43"/>
          <p:cNvCxnSpPr>
            <a:stCxn id="263" idx="1"/>
            <a:endCxn id="267" idx="3"/>
          </p:cNvCxnSpPr>
          <p:nvPr/>
        </p:nvCxnSpPr>
        <p:spPr>
          <a:xfrm rot="10800000">
            <a:off x="3602000" y="5871409"/>
            <a:ext cx="88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1" name="Google Shape;281;g3282f99512f_1_43"/>
          <p:cNvCxnSpPr>
            <a:stCxn id="261" idx="2"/>
            <a:endCxn id="278" idx="0"/>
          </p:cNvCxnSpPr>
          <p:nvPr/>
        </p:nvCxnSpPr>
        <p:spPr>
          <a:xfrm rot="5400000">
            <a:off x="2946055" y="1836933"/>
            <a:ext cx="552000" cy="35589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2" name="Google Shape;282;g3282f99512f_1_43"/>
          <p:cNvSpPr/>
          <p:nvPr/>
        </p:nvSpPr>
        <p:spPr>
          <a:xfrm>
            <a:off x="769145" y="2231730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g3282f99512f_1_43"/>
          <p:cNvCxnSpPr>
            <a:stCxn id="282" idx="2"/>
            <a:endCxn id="271" idx="0"/>
          </p:cNvCxnSpPr>
          <p:nvPr/>
        </p:nvCxnSpPr>
        <p:spPr>
          <a:xfrm>
            <a:off x="1442633" y="2672370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4" name="Google Shape;284;g3282f99512f_1_43"/>
          <p:cNvSpPr/>
          <p:nvPr/>
        </p:nvSpPr>
        <p:spPr>
          <a:xfrm>
            <a:off x="2468005" y="292009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성향별 종목 추천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g3282f99512f_1_43"/>
          <p:cNvCxnSpPr>
            <a:stCxn id="271" idx="3"/>
            <a:endCxn id="284" idx="1"/>
          </p:cNvCxnSpPr>
          <p:nvPr/>
        </p:nvCxnSpPr>
        <p:spPr>
          <a:xfrm>
            <a:off x="2034821" y="3133850"/>
            <a:ext cx="43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" name="Google Shape;286;g3282f99512f_1_43"/>
          <p:cNvCxnSpPr>
            <a:stCxn id="284" idx="3"/>
            <a:endCxn id="261" idx="1"/>
          </p:cNvCxnSpPr>
          <p:nvPr/>
        </p:nvCxnSpPr>
        <p:spPr>
          <a:xfrm rot="10800000" flipH="1">
            <a:off x="3602005" y="3126646"/>
            <a:ext cx="832500" cy="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7" name="Google Shape;287;g3282f99512f_1_43"/>
          <p:cNvCxnSpPr>
            <a:stCxn id="265" idx="2"/>
            <a:endCxn id="270" idx="3"/>
          </p:cNvCxnSpPr>
          <p:nvPr/>
        </p:nvCxnSpPr>
        <p:spPr>
          <a:xfrm rot="10800000">
            <a:off x="5568582" y="4120728"/>
            <a:ext cx="942900" cy="2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8" name="Google Shape;288;g3282f99512f_1_43"/>
          <p:cNvCxnSpPr>
            <a:stCxn id="262" idx="3"/>
            <a:endCxn id="268" idx="0"/>
          </p:cNvCxnSpPr>
          <p:nvPr/>
        </p:nvCxnSpPr>
        <p:spPr>
          <a:xfrm rot="10800000" flipH="1">
            <a:off x="5644444" y="4800666"/>
            <a:ext cx="1467000" cy="106800"/>
          </a:xfrm>
          <a:prstGeom prst="bentConnector4">
            <a:avLst>
              <a:gd name="adj1" fmla="val 30679"/>
              <a:gd name="adj2" fmla="val 3229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g3282f99512f_1_43"/>
          <p:cNvCxnSpPr>
            <a:stCxn id="262" idx="2"/>
            <a:endCxn id="264" idx="0"/>
          </p:cNvCxnSpPr>
          <p:nvPr/>
        </p:nvCxnSpPr>
        <p:spPr>
          <a:xfrm rot="-5400000" flipH="1">
            <a:off x="5809857" y="4356291"/>
            <a:ext cx="493200" cy="21099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0" name="Google Shape;290;g3282f99512f_1_43"/>
          <p:cNvSpPr/>
          <p:nvPr/>
        </p:nvSpPr>
        <p:spPr>
          <a:xfrm>
            <a:off x="8778496" y="3948500"/>
            <a:ext cx="7113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g3282f99512f_1_43"/>
          <p:cNvCxnSpPr>
            <a:stCxn id="270" idx="2"/>
            <a:endCxn id="262" idx="0"/>
          </p:cNvCxnSpPr>
          <p:nvPr/>
        </p:nvCxnSpPr>
        <p:spPr>
          <a:xfrm>
            <a:off x="5001505" y="4334355"/>
            <a:ext cx="0" cy="3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2" name="Google Shape;292;g3282f99512f_1_43"/>
          <p:cNvCxnSpPr>
            <a:stCxn id="290" idx="3"/>
            <a:endCxn id="293" idx="6"/>
          </p:cNvCxnSpPr>
          <p:nvPr/>
        </p:nvCxnSpPr>
        <p:spPr>
          <a:xfrm flipH="1">
            <a:off x="8549896" y="4139000"/>
            <a:ext cx="228600" cy="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4" name="Google Shape;294;g3282f99512f_1_43"/>
          <p:cNvCxnSpPr>
            <a:stCxn id="264" idx="1"/>
            <a:endCxn id="263" idx="3"/>
          </p:cNvCxnSpPr>
          <p:nvPr/>
        </p:nvCxnSpPr>
        <p:spPr>
          <a:xfrm rot="10800000">
            <a:off x="5616356" y="5871324"/>
            <a:ext cx="9282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3" name="Google Shape;293;g3282f99512f_1_43"/>
          <p:cNvSpPr/>
          <p:nvPr/>
        </p:nvSpPr>
        <p:spPr>
          <a:xfrm>
            <a:off x="8092660" y="3933679"/>
            <a:ext cx="457200" cy="423900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월-금 오전 9시 30분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g3282f99512f_1_43"/>
          <p:cNvCxnSpPr>
            <a:stCxn id="293" idx="2"/>
            <a:endCxn id="265" idx="4"/>
          </p:cNvCxnSpPr>
          <p:nvPr/>
        </p:nvCxnSpPr>
        <p:spPr>
          <a:xfrm rot="10800000">
            <a:off x="7711660" y="4145629"/>
            <a:ext cx="381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Google Shape;300;g3282f99512f_2_0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성향별 종목 추천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1" name="Google Shape;301;g3282f99512f_2_0"/>
          <p:cNvGraphicFramePr/>
          <p:nvPr/>
        </p:nvGraphicFramePr>
        <p:xfrm>
          <a:off x="272481" y="1700808"/>
          <a:ext cx="9361025" cy="45983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성향별 종목 추천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시스템에 성향별 종목 추천 요청을 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정보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성향별 종목 추천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 성향 불러오기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 성향을 고객 정보 DB에서 불러온다.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성향별 종목 추천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 투자 성향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기간 입력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위험단계, 수익률을 어느 기간 동안의 데이터로 설정할지 입력한다.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기간 정보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기간 정보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기간별 종목 데이터 선별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종목 데이터 DB에서 입력받은 기간동안 위험단계, 수익률 데이터를 선별한다. 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기간 정보, 종목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기간별 종목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 투자 성향 에서, 관심 업종의 존재 유무를 판단한다.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 투자 성향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업종, 관심 업종 유무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5.1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업종내 종목 선별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업종이 존재 했다면, 관심 업종 내 종목만 선별 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업종, 종목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관심 업종내 종목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6.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 위험 단계 선별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고객의 위험단계 내의 종목만 선별한다.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감당 위험단계, 종목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감당 위험 단계 내 종목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/>
                        <a:t>7</a:t>
                      </a: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희망 수익률 선별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고객의 희망 수익률 이상의 종목만 선별한다.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희망 수익률, 종목 데이터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추천 종목 리스트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2" name="Google Shape;302;g3282f99512f_2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" name="Google Shape;307;g3293c47a664_0_0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이슈 정보 제공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8" name="Google Shape;308;g3293c47a664_0_0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뉴스기사, 커뮤니티글 내용 및 증가율 기반 실시간 이슈 정보를 제공하는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전날 대비 당일의 뉴스기사 수, 커뮤니티 글 수 의 증가율로 이슈 업종, 종목을 파악한다.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기사 수 증가율과, 커뮤니티 글 수의 증가율을 평균 낸 증가율로 판단한다.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당일 뉴스기사, 커뮤니티에 많이 언급된 단어 빈도 기반 워드 클라우드로 당일 이슈 키워드를 선정한다.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이슈 업종은 증가율 상위 5업종, 이슈 종목은 증가율 상위 10종목을 증가율과 같이 제공한다.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당일 이슈가 되고있는 업종, 종목, 키워드를 제공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9" name="Google Shape;309;g3293c47a664_0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g3293c47a664_0_6"/>
          <p:cNvGraphicFramePr/>
          <p:nvPr/>
        </p:nvGraphicFramePr>
        <p:xfrm>
          <a:off x="273050" y="1699361"/>
          <a:ext cx="9359925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34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외부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5" name="Google Shape;315;g3293c47a664_0_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" name="Google Shape;316;g3293c47a664_0_6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이슈 정보 제공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" name="Google Shape;317;g3293c47a664_0_6"/>
          <p:cNvSpPr/>
          <p:nvPr/>
        </p:nvSpPr>
        <p:spPr>
          <a:xfrm>
            <a:off x="6391970" y="2288783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뉴스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293c47a664_0_6"/>
          <p:cNvSpPr/>
          <p:nvPr/>
        </p:nvSpPr>
        <p:spPr>
          <a:xfrm>
            <a:off x="5360613" y="4600574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실시간 이슈 키워드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293c47a664_0_6"/>
          <p:cNvSpPr/>
          <p:nvPr/>
        </p:nvSpPr>
        <p:spPr>
          <a:xfrm>
            <a:off x="412989" y="5669096"/>
            <a:ext cx="1174500" cy="40505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293c47a664_0_6"/>
          <p:cNvSpPr/>
          <p:nvPr/>
        </p:nvSpPr>
        <p:spPr>
          <a:xfrm>
            <a:off x="3870095" y="3644030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실시간 뉴스, 커뮤니티 글 증가율 계산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g3293c47a664_0_6"/>
          <p:cNvCxnSpPr>
            <a:stCxn id="317" idx="2"/>
            <a:endCxn id="322" idx="3"/>
          </p:cNvCxnSpPr>
          <p:nvPr/>
        </p:nvCxnSpPr>
        <p:spPr>
          <a:xfrm rot="10800000">
            <a:off x="5479970" y="2502493"/>
            <a:ext cx="91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3" name="Google Shape;323;g3293c47a664_0_6"/>
          <p:cNvCxnSpPr>
            <a:endCxn id="319" idx="3"/>
          </p:cNvCxnSpPr>
          <p:nvPr/>
        </p:nvCxnSpPr>
        <p:spPr>
          <a:xfrm rot="10800000">
            <a:off x="1587489" y="5871623"/>
            <a:ext cx="880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4" name="Google Shape;324;g3293c47a664_0_6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293c47a664_0_6"/>
          <p:cNvSpPr/>
          <p:nvPr/>
        </p:nvSpPr>
        <p:spPr>
          <a:xfrm>
            <a:off x="4345834" y="2288783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뉴스, 커뮤니티 글 불러오기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293c47a664_0_6"/>
          <p:cNvSpPr/>
          <p:nvPr/>
        </p:nvSpPr>
        <p:spPr>
          <a:xfrm>
            <a:off x="569111" y="2275643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293c47a664_0_6"/>
          <p:cNvSpPr/>
          <p:nvPr/>
        </p:nvSpPr>
        <p:spPr>
          <a:xfrm>
            <a:off x="2342616" y="2288783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실시간 이슈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g3293c47a664_0_6"/>
          <p:cNvCxnSpPr>
            <a:endCxn id="326" idx="1"/>
          </p:cNvCxnSpPr>
          <p:nvPr/>
        </p:nvCxnSpPr>
        <p:spPr>
          <a:xfrm>
            <a:off x="1909416" y="2502533"/>
            <a:ext cx="43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8" name="Google Shape;328;g3293c47a664_0_6"/>
          <p:cNvSpPr/>
          <p:nvPr/>
        </p:nvSpPr>
        <p:spPr>
          <a:xfrm>
            <a:off x="6391970" y="2802051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커뮤니티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93c47a664_0_6"/>
          <p:cNvSpPr/>
          <p:nvPr/>
        </p:nvSpPr>
        <p:spPr>
          <a:xfrm>
            <a:off x="8510993" y="2311993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네이버 뉴스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93c47a664_0_6"/>
          <p:cNvSpPr/>
          <p:nvPr/>
        </p:nvSpPr>
        <p:spPr>
          <a:xfrm>
            <a:off x="8511018" y="2836936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토스 커뮤니티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g3293c47a664_0_6"/>
          <p:cNvCxnSpPr>
            <a:stCxn id="330" idx="3"/>
            <a:endCxn id="332" idx="6"/>
          </p:cNvCxnSpPr>
          <p:nvPr/>
        </p:nvCxnSpPr>
        <p:spPr>
          <a:xfrm rot="10800000">
            <a:off x="8356218" y="2759236"/>
            <a:ext cx="154800" cy="26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3" name="Google Shape;333;g3293c47a664_0_6"/>
          <p:cNvCxnSpPr>
            <a:stCxn id="328" idx="2"/>
            <a:endCxn id="322" idx="3"/>
          </p:cNvCxnSpPr>
          <p:nvPr/>
        </p:nvCxnSpPr>
        <p:spPr>
          <a:xfrm rot="10800000">
            <a:off x="5479970" y="2502461"/>
            <a:ext cx="912000" cy="5133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4" name="Google Shape;334;g3293c47a664_0_6"/>
          <p:cNvSpPr/>
          <p:nvPr/>
        </p:nvSpPr>
        <p:spPr>
          <a:xfrm>
            <a:off x="5369696" y="3642394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4.실시간 뉴스, 커뮤니티 내용 자연어 처리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g3293c47a664_0_6"/>
          <p:cNvCxnSpPr>
            <a:stCxn id="322" idx="2"/>
            <a:endCxn id="320" idx="0"/>
          </p:cNvCxnSpPr>
          <p:nvPr/>
        </p:nvCxnSpPr>
        <p:spPr>
          <a:xfrm rot="5400000">
            <a:off x="4211134" y="2942183"/>
            <a:ext cx="927600" cy="4758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6" name="Google Shape;336;g3293c47a664_0_6"/>
          <p:cNvCxnSpPr>
            <a:stCxn id="322" idx="2"/>
            <a:endCxn id="334" idx="0"/>
          </p:cNvCxnSpPr>
          <p:nvPr/>
        </p:nvCxnSpPr>
        <p:spPr>
          <a:xfrm rot="-5400000" flipH="1">
            <a:off x="4961734" y="2667383"/>
            <a:ext cx="926100" cy="10239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7" name="Google Shape;337;g3293c47a664_0_6"/>
          <p:cNvCxnSpPr>
            <a:stCxn id="334" idx="2"/>
            <a:endCxn id="318" idx="0"/>
          </p:cNvCxnSpPr>
          <p:nvPr/>
        </p:nvCxnSpPr>
        <p:spPr>
          <a:xfrm flipH="1">
            <a:off x="5927696" y="4069894"/>
            <a:ext cx="9000" cy="53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8" name="Google Shape;338;g3293c47a664_0_6"/>
          <p:cNvSpPr/>
          <p:nvPr/>
        </p:nvSpPr>
        <p:spPr>
          <a:xfrm>
            <a:off x="3870095" y="4600574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실시간 이슈 업종,종목 선별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g3293c47a664_0_6"/>
          <p:cNvCxnSpPr>
            <a:stCxn id="320" idx="2"/>
            <a:endCxn id="338" idx="0"/>
          </p:cNvCxnSpPr>
          <p:nvPr/>
        </p:nvCxnSpPr>
        <p:spPr>
          <a:xfrm>
            <a:off x="4437095" y="4071530"/>
            <a:ext cx="0" cy="52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0" name="Google Shape;340;g3293c47a664_0_6"/>
          <p:cNvSpPr/>
          <p:nvPr/>
        </p:nvSpPr>
        <p:spPr>
          <a:xfrm>
            <a:off x="2163189" y="5642734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 이슈 정보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g3293c47a664_0_6"/>
          <p:cNvCxnSpPr>
            <a:stCxn id="338" idx="2"/>
            <a:endCxn id="340" idx="3"/>
          </p:cNvCxnSpPr>
          <p:nvPr/>
        </p:nvCxnSpPr>
        <p:spPr>
          <a:xfrm rot="5400000">
            <a:off x="3452945" y="4872224"/>
            <a:ext cx="828300" cy="11400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2" name="Google Shape;342;g3293c47a664_0_6"/>
          <p:cNvCxnSpPr>
            <a:stCxn id="318" idx="2"/>
            <a:endCxn id="340" idx="3"/>
          </p:cNvCxnSpPr>
          <p:nvPr/>
        </p:nvCxnSpPr>
        <p:spPr>
          <a:xfrm rot="5400000">
            <a:off x="4198263" y="4127024"/>
            <a:ext cx="828300" cy="2630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3" name="Google Shape;343;g3293c47a664_0_6"/>
          <p:cNvCxnSpPr>
            <a:stCxn id="326" idx="3"/>
            <a:endCxn id="322" idx="1"/>
          </p:cNvCxnSpPr>
          <p:nvPr/>
        </p:nvCxnSpPr>
        <p:spPr>
          <a:xfrm>
            <a:off x="3476616" y="2502533"/>
            <a:ext cx="86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2" name="Google Shape;332;g3293c47a664_0_6"/>
          <p:cNvSpPr/>
          <p:nvPr/>
        </p:nvSpPr>
        <p:spPr>
          <a:xfrm>
            <a:off x="7899160" y="2547154"/>
            <a:ext cx="457200" cy="423900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매일 오전 9시 30분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g3293c47a664_0_6"/>
          <p:cNvCxnSpPr>
            <a:stCxn id="332" idx="2"/>
            <a:endCxn id="328" idx="4"/>
          </p:cNvCxnSpPr>
          <p:nvPr/>
        </p:nvCxnSpPr>
        <p:spPr>
          <a:xfrm flipH="1">
            <a:off x="7592260" y="2759104"/>
            <a:ext cx="306900" cy="25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5" name="Google Shape;345;g3293c47a664_0_6"/>
          <p:cNvCxnSpPr>
            <a:stCxn id="329" idx="3"/>
            <a:endCxn id="332" idx="6"/>
          </p:cNvCxnSpPr>
          <p:nvPr/>
        </p:nvCxnSpPr>
        <p:spPr>
          <a:xfrm flipH="1">
            <a:off x="8356493" y="2502493"/>
            <a:ext cx="154500" cy="25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" name="Google Shape;346;g3293c47a664_0_6"/>
          <p:cNvCxnSpPr>
            <a:stCxn id="332" idx="2"/>
            <a:endCxn id="317" idx="4"/>
          </p:cNvCxnSpPr>
          <p:nvPr/>
        </p:nvCxnSpPr>
        <p:spPr>
          <a:xfrm rot="10800000">
            <a:off x="7592260" y="2502604"/>
            <a:ext cx="306900" cy="25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" name="Google Shape;351;g3293c47a664_0_39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이슈 정보 제공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2" name="Google Shape;352;g3293c47a664_0_39"/>
          <p:cNvGraphicFramePr/>
          <p:nvPr/>
        </p:nvGraphicFramePr>
        <p:xfrm>
          <a:off x="272481" y="1700808"/>
          <a:ext cx="9361025" cy="370267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실시간 이슈 정보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시스템에 실시간 이슈 정보 요청을 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이슈 정보 요청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이슈 정보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뉴스, 커뮤니티 글 불러오기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실시간 기준 일주일치 뉴스, 커뮤니티 등록글을 DB에서 가져온다.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실시간 이슈 정보 요청,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뉴스기사, 커뮤니티 글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뉴스, 커뮤니티글 증가율 계산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일주일 전 대비 실시간 뉴스기사 수, 커뮤니티 글 의 증가율을 계산한다.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뉴스기사, 커뮤니티 글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뉴스기사 수, 커뮤니티 글의 증가율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실시간 뉴스기사 ,커뮤니티글 자연어 처리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실시간 기준 일주일간 뉴스, 커뮤니티 등록글을 자연어 처리를 통해 단어 빈도수 기반 워드 클라우드를 그릴 준비를 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당일 뉴스, 커뮤니티글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자연어 처리가 완료된 당일 뉴스, 커뮤니티글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실시간 이슈 업종, 종목 선별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실시간 뉴스기사수, 커뮤니티 글 수 증가율이 높은 상위 5업종, 10종목을 선별한다.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뉴스기사 수, 커뮤니티 글의 증가율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증가율 상위 업종, 종목 리스트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실시간 이슈 키워드 선별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뉴스, 커뮤니티에서 많이 언급되는 단어 빈도수를 기반으로 워드 클라우드를 작성하여 당일 이슈 키워드를 시각화 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당일 뉴스, 커뮤니티 글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단어 빈도수 기반 워드 클라우드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3" name="Google Shape;353;g3293c47a664_0_39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" name="Google Shape;358;g32afbaa4e51_0_12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국내 지수 제공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9" name="Google Shape;359;g32afbaa4e51_0_12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실시간 KOSPI, KOSDAQ 지수를 제공하는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KOSPI, KOSDAQ 지수를 한국거래소(KRX)로 부터 받아온다.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메인화면에 일일 국내지수 변화를 시각화한 차트를 제공한다.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KOSPI, KOSDAQ 지수 변화 추이 차트를 제공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0" name="Google Shape;360;g32afbaa4e51_0_12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" name="Google Shape;365;g32afbaa4e51_0_18"/>
          <p:cNvGraphicFramePr/>
          <p:nvPr/>
        </p:nvGraphicFramePr>
        <p:xfrm>
          <a:off x="273050" y="1699361"/>
          <a:ext cx="9359925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3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외부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6" name="Google Shape;366;g32afbaa4e51_0_18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7" name="Google Shape;367;g32afbaa4e51_0_18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국내 지수 제공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8" name="Google Shape;368;g32afbaa4e51_0_18"/>
          <p:cNvSpPr/>
          <p:nvPr/>
        </p:nvSpPr>
        <p:spPr>
          <a:xfrm>
            <a:off x="2341202" y="4559021"/>
            <a:ext cx="1174500" cy="40505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2afbaa4e51_0_18"/>
          <p:cNvSpPr/>
          <p:nvPr/>
        </p:nvSpPr>
        <p:spPr>
          <a:xfrm>
            <a:off x="6165300" y="2288750"/>
            <a:ext cx="1247400" cy="47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실시간 KOSPI, KOSDAQ 지수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2afbaa4e51_0_18"/>
          <p:cNvSpPr/>
          <p:nvPr/>
        </p:nvSpPr>
        <p:spPr>
          <a:xfrm>
            <a:off x="2254986" y="2303631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2afbaa4e51_0_18"/>
          <p:cNvSpPr/>
          <p:nvPr/>
        </p:nvSpPr>
        <p:spPr>
          <a:xfrm>
            <a:off x="8446068" y="2333443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2afbaa4e51_0_18"/>
          <p:cNvSpPr/>
          <p:nvPr/>
        </p:nvSpPr>
        <p:spPr>
          <a:xfrm>
            <a:off x="6165300" y="3478850"/>
            <a:ext cx="1247400" cy="47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지수 변화 추이 시각화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g32afbaa4e51_0_18"/>
          <p:cNvCxnSpPr>
            <a:stCxn id="371" idx="3"/>
            <a:endCxn id="374" idx="6"/>
          </p:cNvCxnSpPr>
          <p:nvPr/>
        </p:nvCxnSpPr>
        <p:spPr>
          <a:xfrm rot="10800000">
            <a:off x="8210268" y="2523943"/>
            <a:ext cx="235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5" name="Google Shape;375;g32afbaa4e51_0_18"/>
          <p:cNvCxnSpPr>
            <a:stCxn id="370" idx="3"/>
            <a:endCxn id="369" idx="1"/>
          </p:cNvCxnSpPr>
          <p:nvPr/>
        </p:nvCxnSpPr>
        <p:spPr>
          <a:xfrm>
            <a:off x="3601962" y="2523951"/>
            <a:ext cx="256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6" name="Google Shape;376;g32afbaa4e51_0_18"/>
          <p:cNvCxnSpPr>
            <a:stCxn id="369" idx="2"/>
            <a:endCxn id="372" idx="0"/>
          </p:cNvCxnSpPr>
          <p:nvPr/>
        </p:nvCxnSpPr>
        <p:spPr>
          <a:xfrm>
            <a:off x="6789000" y="2759150"/>
            <a:ext cx="0" cy="71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7" name="Google Shape;377;g32afbaa4e51_0_18"/>
          <p:cNvSpPr/>
          <p:nvPr/>
        </p:nvSpPr>
        <p:spPr>
          <a:xfrm>
            <a:off x="2304775" y="3478838"/>
            <a:ext cx="1247400" cy="47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실시간 국내 지수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g32afbaa4e51_0_18"/>
          <p:cNvCxnSpPr>
            <a:stCxn id="372" idx="1"/>
            <a:endCxn id="377" idx="3"/>
          </p:cNvCxnSpPr>
          <p:nvPr/>
        </p:nvCxnSpPr>
        <p:spPr>
          <a:xfrm rot="10800000">
            <a:off x="3552300" y="3714050"/>
            <a:ext cx="2613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9" name="Google Shape;379;g32afbaa4e51_0_18"/>
          <p:cNvCxnSpPr>
            <a:stCxn id="377" idx="2"/>
            <a:endCxn id="368" idx="0"/>
          </p:cNvCxnSpPr>
          <p:nvPr/>
        </p:nvCxnSpPr>
        <p:spPr>
          <a:xfrm>
            <a:off x="2928475" y="3949238"/>
            <a:ext cx="0" cy="60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4" name="Google Shape;374;g32afbaa4e51_0_18"/>
          <p:cNvSpPr/>
          <p:nvPr/>
        </p:nvSpPr>
        <p:spPr>
          <a:xfrm>
            <a:off x="7752985" y="2312004"/>
            <a:ext cx="457200" cy="423900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매일 오전 9시 30분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g32afbaa4e51_0_18"/>
          <p:cNvCxnSpPr>
            <a:stCxn id="374" idx="2"/>
            <a:endCxn id="369" idx="3"/>
          </p:cNvCxnSpPr>
          <p:nvPr/>
        </p:nvCxnSpPr>
        <p:spPr>
          <a:xfrm rot="10800000">
            <a:off x="7412785" y="2523954"/>
            <a:ext cx="34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" name="Google Shape;385;g32afbaa4e51_0_51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국내 지수 제공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6" name="Google Shape;386;g32afbaa4e51_0_51"/>
          <p:cNvGraphicFramePr/>
          <p:nvPr/>
        </p:nvGraphicFramePr>
        <p:xfrm>
          <a:off x="272481" y="1700808"/>
          <a:ext cx="9361025" cy="165787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실시간 KOSPI,KOSDAQ 지수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KRX에 실시간 국내 지수를 요청한다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국내 지수 요청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국내 지수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지수 변화 추이 시각화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KOSPI, KOSDAQ의 일일 변화 추이를 시간 단위로 시각화한다.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실시간 국내 지수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국내 지수 변화 추이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실시간 국내 지수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국내 지수 변화 추이 차트를 메인화면에 노출한다.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국내 지수 변화 추이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국내 지수 변화 추이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7" name="Google Shape;387;g32afbaa4e51_0_51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2" name="Google Shape;392;g32b500151c7_0_236"/>
          <p:cNvGraphicFramePr/>
          <p:nvPr>
            <p:extLst>
              <p:ext uri="{D42A27DB-BD31-4B8C-83A1-F6EECF244321}">
                <p14:modId xmlns:p14="http://schemas.microsoft.com/office/powerpoint/2010/main" val="3548161121"/>
              </p:ext>
            </p:extLst>
          </p:nvPr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상위 종목 제공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3" name="Google Shape;393;g32b500151c7_0_236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실시간 상승률, 거래량 변화가 큰 상위 5종목을 제공하는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전날 대비 실시간 종목의 상승률, 거래량의 변화를 계산한다.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처음에는 상위 5종목씩을 표기, 더보기를 통해 5종목 이상을 확인할 수 있게 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전일대비 실시간 지표 상위 종목 리스트 제공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4" name="Google Shape;394;g32b500151c7_0_23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" name="Google Shape;399;g32b500151c7_0_281"/>
          <p:cNvGraphicFramePr/>
          <p:nvPr/>
        </p:nvGraphicFramePr>
        <p:xfrm>
          <a:off x="273050" y="1699361"/>
          <a:ext cx="9359925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362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외부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0" name="Google Shape;400;g32b500151c7_0_281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1" name="Google Shape;401;g32b500151c7_0_281"/>
          <p:cNvGraphicFramePr/>
          <p:nvPr>
            <p:extLst>
              <p:ext uri="{D42A27DB-BD31-4B8C-83A1-F6EECF244321}">
                <p14:modId xmlns:p14="http://schemas.microsoft.com/office/powerpoint/2010/main" val="92271377"/>
              </p:ext>
            </p:extLst>
          </p:nvPr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상위 종목 제공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2" name="Google Shape;402;g32b500151c7_0_281"/>
          <p:cNvSpPr/>
          <p:nvPr/>
        </p:nvSpPr>
        <p:spPr>
          <a:xfrm>
            <a:off x="2304777" y="5702021"/>
            <a:ext cx="1174500" cy="40505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2b500151c7_0_281"/>
          <p:cNvSpPr/>
          <p:nvPr/>
        </p:nvSpPr>
        <p:spPr>
          <a:xfrm>
            <a:off x="6165300" y="2288750"/>
            <a:ext cx="1247400" cy="47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실시간 종목 데이터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2b500151c7_0_281"/>
          <p:cNvSpPr/>
          <p:nvPr/>
        </p:nvSpPr>
        <p:spPr>
          <a:xfrm>
            <a:off x="2254986" y="2303631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2b500151c7_0_281"/>
          <p:cNvSpPr/>
          <p:nvPr/>
        </p:nvSpPr>
        <p:spPr>
          <a:xfrm>
            <a:off x="8446068" y="2333443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2b500151c7_0_281"/>
          <p:cNvSpPr/>
          <p:nvPr/>
        </p:nvSpPr>
        <p:spPr>
          <a:xfrm>
            <a:off x="6165300" y="4874225"/>
            <a:ext cx="1247400" cy="47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지표별 상위 종목 정렬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g32b500151c7_0_281"/>
          <p:cNvCxnSpPr>
            <a:stCxn id="405" idx="3"/>
            <a:endCxn id="403" idx="3"/>
          </p:cNvCxnSpPr>
          <p:nvPr/>
        </p:nvCxnSpPr>
        <p:spPr>
          <a:xfrm rot="10800000">
            <a:off x="7412568" y="2523943"/>
            <a:ext cx="103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8" name="Google Shape;408;g32b500151c7_0_281"/>
          <p:cNvCxnSpPr>
            <a:stCxn id="404" idx="3"/>
            <a:endCxn id="403" idx="1"/>
          </p:cNvCxnSpPr>
          <p:nvPr/>
        </p:nvCxnSpPr>
        <p:spPr>
          <a:xfrm>
            <a:off x="3601962" y="2523951"/>
            <a:ext cx="256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9" name="Google Shape;409;g32b500151c7_0_281"/>
          <p:cNvSpPr/>
          <p:nvPr/>
        </p:nvSpPr>
        <p:spPr>
          <a:xfrm>
            <a:off x="2268325" y="4874213"/>
            <a:ext cx="1247400" cy="47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실시간 상위 종목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g32b500151c7_0_281"/>
          <p:cNvCxnSpPr>
            <a:stCxn id="406" idx="1"/>
            <a:endCxn id="409" idx="3"/>
          </p:cNvCxnSpPr>
          <p:nvPr/>
        </p:nvCxnSpPr>
        <p:spPr>
          <a:xfrm rot="10800000">
            <a:off x="3515700" y="5109425"/>
            <a:ext cx="264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1" name="Google Shape;411;g32b500151c7_0_281"/>
          <p:cNvCxnSpPr>
            <a:stCxn id="409" idx="2"/>
            <a:endCxn id="402" idx="0"/>
          </p:cNvCxnSpPr>
          <p:nvPr/>
        </p:nvCxnSpPr>
        <p:spPr>
          <a:xfrm>
            <a:off x="2892025" y="5344613"/>
            <a:ext cx="0" cy="35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2" name="Google Shape;412;g32b500151c7_0_281"/>
          <p:cNvSpPr/>
          <p:nvPr/>
        </p:nvSpPr>
        <p:spPr>
          <a:xfrm>
            <a:off x="6165300" y="4024625"/>
            <a:ext cx="1247400" cy="47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실시간 상승률/거래량 변화 계산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b500151c7_0_281"/>
          <p:cNvSpPr/>
          <p:nvPr/>
        </p:nvSpPr>
        <p:spPr>
          <a:xfrm>
            <a:off x="6165300" y="3117600"/>
            <a:ext cx="1247400" cy="47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전날 종목 데이터와 병합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2b500151c7_0_281"/>
          <p:cNvSpPr/>
          <p:nvPr/>
        </p:nvSpPr>
        <p:spPr>
          <a:xfrm>
            <a:off x="4151144" y="3139099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g32b500151c7_0_281"/>
          <p:cNvCxnSpPr>
            <a:stCxn id="414" idx="4"/>
            <a:endCxn id="413" idx="1"/>
          </p:cNvCxnSpPr>
          <p:nvPr/>
        </p:nvCxnSpPr>
        <p:spPr>
          <a:xfrm>
            <a:off x="5351294" y="3352810"/>
            <a:ext cx="813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6" name="Google Shape;416;g32b500151c7_0_281"/>
          <p:cNvCxnSpPr>
            <a:stCxn id="403" idx="2"/>
            <a:endCxn id="413" idx="0"/>
          </p:cNvCxnSpPr>
          <p:nvPr/>
        </p:nvCxnSpPr>
        <p:spPr>
          <a:xfrm>
            <a:off x="6789000" y="2759150"/>
            <a:ext cx="0" cy="35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7" name="Google Shape;417;g32b500151c7_0_281"/>
          <p:cNvCxnSpPr>
            <a:stCxn id="413" idx="2"/>
            <a:endCxn id="412" idx="0"/>
          </p:cNvCxnSpPr>
          <p:nvPr/>
        </p:nvCxnSpPr>
        <p:spPr>
          <a:xfrm>
            <a:off x="6789000" y="3588000"/>
            <a:ext cx="0" cy="43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8" name="Google Shape;418;g32b500151c7_0_281"/>
          <p:cNvCxnSpPr>
            <a:stCxn id="412" idx="2"/>
            <a:endCxn id="406" idx="0"/>
          </p:cNvCxnSpPr>
          <p:nvPr/>
        </p:nvCxnSpPr>
        <p:spPr>
          <a:xfrm>
            <a:off x="6789000" y="4495025"/>
            <a:ext cx="0" cy="37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3" name="Google Shape;423;g32b500151c7_0_275"/>
          <p:cNvGraphicFramePr/>
          <p:nvPr>
            <p:extLst>
              <p:ext uri="{D42A27DB-BD31-4B8C-83A1-F6EECF244321}">
                <p14:modId xmlns:p14="http://schemas.microsoft.com/office/powerpoint/2010/main" val="4079926180"/>
              </p:ext>
            </p:extLst>
          </p:nvPr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상위 종목 제공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4" name="Google Shape;424;g32b500151c7_0_275"/>
          <p:cNvGraphicFramePr/>
          <p:nvPr/>
        </p:nvGraphicFramePr>
        <p:xfrm>
          <a:off x="272481" y="1700808"/>
          <a:ext cx="9361025" cy="346887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실시간 종목 데이터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KRX로 부터 실시간 종목 데이터를 받는다.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종목 데이터 요청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종목 데이터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전날 종목 데이터와 병합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하루전 종목데이터와 받아온 실시간 종목 데이터를 병합한다.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전날 종목 데이터, 실시간 종목 데이터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병합된 종목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실시간 상승률, 거래량 변화 계산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전일 대비 상승률, 거래량의 변화를 계산한다.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병합된 종목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상승률, 거래량 변화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지표별 상위 종목 정렬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상승률 상위 5종목, 거래량 변화를 내림차순으로 정렬한다.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종목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선별된 종목 데이터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실시간 상위 종목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실시간 지표별 상위 종목을 제공 받는다. 화면에는 상위 5종목씩 표기하고, 더보기를 통해 5종목 이상의 종목을 확인할 수 있다.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선별된 종목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선별된 종목 데이터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5" name="Google Shape;425;g32b500151c7_0_275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" name="Google Shape;430;g329880e8390_0_0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회원가입 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1" name="Google Shape;431;g329880e8390_0_0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회원가입을 하여 회원의 기능을 가능하게 하는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1) 약관 동의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약관 및 정보 제공 동의서를 제시하고, 가입 신청자의 동의를 받는다.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2) 아이디/비밀번호 규칙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아이디는 영문소문자와 숫자의 조합된 형태여야 하며, 영어로 시작, 총 자릿수가 15자리 이하여야 한다. 아이디 중복은 제한된다.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비밀번호는 영문, 숫자, 특수문자의 조합을 사용, 세 요소가가 하나 이상 반드시 포함되어야 하며 8글자이상~20글자 이하로 제한 된다.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3) 비밀번호 확인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받은 비밀번호를 한번 더 입력하여 일치여부를 확인한다.</a:t>
                      </a:r>
                      <a:endParaRPr sz="1400" u="none" strike="noStrike" cap="none"/>
                    </a:p>
                    <a:p>
                      <a:pPr marL="171450" marR="0" lvl="0" indent="-1079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고객이 회원 가입을 하여, 회원 기능의 권한을 획득하게 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2" name="Google Shape;432;g329880e8390_0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7" name="Google Shape;437;g329880e8390_0_6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1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8" name="Google Shape;438;g329880e8390_0_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9" name="Google Shape;439;g329880e8390_0_6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회원가입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0" name="Google Shape;440;g329880e8390_0_6"/>
          <p:cNvSpPr/>
          <p:nvPr/>
        </p:nvSpPr>
        <p:spPr>
          <a:xfrm>
            <a:off x="3063115" y="3812886"/>
            <a:ext cx="1174500" cy="40505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9880e8390_0_6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29880e8390_0_6"/>
          <p:cNvSpPr/>
          <p:nvPr/>
        </p:nvSpPr>
        <p:spPr>
          <a:xfrm>
            <a:off x="1315854" y="2179736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회원가입 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29880e8390_0_6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29880e8390_0_6"/>
          <p:cNvSpPr/>
          <p:nvPr/>
        </p:nvSpPr>
        <p:spPr>
          <a:xfrm>
            <a:off x="8201911" y="3007104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29880e8390_0_6"/>
          <p:cNvSpPr/>
          <p:nvPr/>
        </p:nvSpPr>
        <p:spPr>
          <a:xfrm>
            <a:off x="1346404" y="3760920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약관, 정보 제공 동의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29880e8390_0_6"/>
          <p:cNvSpPr/>
          <p:nvPr/>
        </p:nvSpPr>
        <p:spPr>
          <a:xfrm>
            <a:off x="1422341" y="5202064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필수 정보 입력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29880e8390_0_6"/>
          <p:cNvSpPr/>
          <p:nvPr/>
        </p:nvSpPr>
        <p:spPr>
          <a:xfrm>
            <a:off x="3149700" y="5158639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아이디 중복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g329880e8390_0_6"/>
          <p:cNvCxnSpPr>
            <a:stCxn id="442" idx="2"/>
            <a:endCxn id="445" idx="0"/>
          </p:cNvCxnSpPr>
          <p:nvPr/>
        </p:nvCxnSpPr>
        <p:spPr>
          <a:xfrm>
            <a:off x="1989342" y="2620376"/>
            <a:ext cx="0" cy="114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9" name="Google Shape;449;g329880e8390_0_6"/>
          <p:cNvCxnSpPr>
            <a:stCxn id="446" idx="3"/>
            <a:endCxn id="447" idx="1"/>
          </p:cNvCxnSpPr>
          <p:nvPr/>
        </p:nvCxnSpPr>
        <p:spPr>
          <a:xfrm>
            <a:off x="2556341" y="5415814"/>
            <a:ext cx="59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0" name="Google Shape;450;g329880e8390_0_6"/>
          <p:cNvCxnSpPr>
            <a:stCxn id="447" idx="2"/>
            <a:endCxn id="446" idx="2"/>
          </p:cNvCxnSpPr>
          <p:nvPr/>
        </p:nvCxnSpPr>
        <p:spPr>
          <a:xfrm rot="5400000" flipH="1">
            <a:off x="2869238" y="4749589"/>
            <a:ext cx="43500" cy="1803300"/>
          </a:xfrm>
          <a:prstGeom prst="bentConnector3">
            <a:avLst>
              <a:gd name="adj1" fmla="val -5255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1" name="Google Shape;451;g329880e8390_0_6"/>
          <p:cNvCxnSpPr>
            <a:stCxn id="445" idx="2"/>
            <a:endCxn id="446" idx="0"/>
          </p:cNvCxnSpPr>
          <p:nvPr/>
        </p:nvCxnSpPr>
        <p:spPr>
          <a:xfrm>
            <a:off x="1989342" y="4275270"/>
            <a:ext cx="0" cy="92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2" name="Google Shape;452;g329880e8390_0_6"/>
          <p:cNvCxnSpPr>
            <a:stCxn id="445" idx="3"/>
            <a:endCxn id="440" idx="1"/>
          </p:cNvCxnSpPr>
          <p:nvPr/>
        </p:nvCxnSpPr>
        <p:spPr>
          <a:xfrm rot="10800000" flipH="1">
            <a:off x="2632279" y="4015395"/>
            <a:ext cx="4308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3" name="Google Shape;453;g329880e8390_0_6"/>
          <p:cNvSpPr/>
          <p:nvPr/>
        </p:nvSpPr>
        <p:spPr>
          <a:xfrm>
            <a:off x="4952995" y="5158639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휴대폰 번호 중복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9880e8390_0_6"/>
          <p:cNvSpPr/>
          <p:nvPr/>
        </p:nvSpPr>
        <p:spPr>
          <a:xfrm>
            <a:off x="8214725" y="2215997"/>
            <a:ext cx="1174500" cy="40505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회원가입 완료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g329880e8390_0_6"/>
          <p:cNvCxnSpPr>
            <a:stCxn id="447" idx="3"/>
            <a:endCxn id="453" idx="1"/>
          </p:cNvCxnSpPr>
          <p:nvPr/>
        </p:nvCxnSpPr>
        <p:spPr>
          <a:xfrm>
            <a:off x="4435575" y="5415814"/>
            <a:ext cx="5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6" name="Google Shape;456;g329880e8390_0_6"/>
          <p:cNvCxnSpPr>
            <a:stCxn id="453" idx="2"/>
            <a:endCxn id="446" idx="2"/>
          </p:cNvCxnSpPr>
          <p:nvPr/>
        </p:nvCxnSpPr>
        <p:spPr>
          <a:xfrm rot="5400000" flipH="1">
            <a:off x="3770883" y="3847939"/>
            <a:ext cx="43500" cy="3606600"/>
          </a:xfrm>
          <a:prstGeom prst="bentConnector3">
            <a:avLst>
              <a:gd name="adj1" fmla="val -52551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7" name="Google Shape;457;g329880e8390_0_6"/>
          <p:cNvCxnSpPr>
            <a:stCxn id="453" idx="0"/>
          </p:cNvCxnSpPr>
          <p:nvPr/>
        </p:nvCxnSpPr>
        <p:spPr>
          <a:xfrm rot="10800000">
            <a:off x="5595933" y="4794739"/>
            <a:ext cx="0" cy="3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8" name="Google Shape;458;g329880e8390_0_6"/>
          <p:cNvSpPr txBox="1"/>
          <p:nvPr/>
        </p:nvSpPr>
        <p:spPr>
          <a:xfrm>
            <a:off x="3744050" y="5672989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29880e8390_0_6"/>
          <p:cNvSpPr txBox="1"/>
          <p:nvPr/>
        </p:nvSpPr>
        <p:spPr>
          <a:xfrm>
            <a:off x="5562572" y="5672989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29880e8390_0_6"/>
          <p:cNvSpPr txBox="1"/>
          <p:nvPr/>
        </p:nvSpPr>
        <p:spPr>
          <a:xfrm>
            <a:off x="4368853" y="5224293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29880e8390_0_6"/>
          <p:cNvSpPr txBox="1"/>
          <p:nvPr/>
        </p:nvSpPr>
        <p:spPr>
          <a:xfrm>
            <a:off x="5546354" y="4969069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29880e8390_0_6"/>
          <p:cNvSpPr/>
          <p:nvPr/>
        </p:nvSpPr>
        <p:spPr>
          <a:xfrm>
            <a:off x="5028932" y="4367089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이메일 인증 코드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29880e8390_0_6"/>
          <p:cNvSpPr/>
          <p:nvPr/>
        </p:nvSpPr>
        <p:spPr>
          <a:xfrm>
            <a:off x="5028932" y="3434537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인증 코드 입력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29880e8390_0_6"/>
          <p:cNvSpPr/>
          <p:nvPr/>
        </p:nvSpPr>
        <p:spPr>
          <a:xfrm>
            <a:off x="6753200" y="4367089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이메일 인증 코드 전송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29880e8390_0_6"/>
          <p:cNvSpPr/>
          <p:nvPr/>
        </p:nvSpPr>
        <p:spPr>
          <a:xfrm>
            <a:off x="8465834" y="4390339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이메일 인증 API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g329880e8390_0_6"/>
          <p:cNvCxnSpPr>
            <a:endCxn id="464" idx="1"/>
          </p:cNvCxnSpPr>
          <p:nvPr/>
        </p:nvCxnSpPr>
        <p:spPr>
          <a:xfrm>
            <a:off x="6174500" y="4580839"/>
            <a:ext cx="5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7" name="Google Shape;467;g329880e8390_0_6"/>
          <p:cNvCxnSpPr>
            <a:stCxn id="464" idx="0"/>
            <a:endCxn id="463" idx="3"/>
          </p:cNvCxnSpPr>
          <p:nvPr/>
        </p:nvCxnSpPr>
        <p:spPr>
          <a:xfrm rot="5400000" flipH="1">
            <a:off x="6382100" y="3428989"/>
            <a:ext cx="718800" cy="1157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8" name="Google Shape;468;g329880e8390_0_6"/>
          <p:cNvCxnSpPr>
            <a:stCxn id="465" idx="3"/>
            <a:endCxn id="464" idx="3"/>
          </p:cNvCxnSpPr>
          <p:nvPr/>
        </p:nvCxnSpPr>
        <p:spPr>
          <a:xfrm rot="10800000">
            <a:off x="7887134" y="4580839"/>
            <a:ext cx="5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9" name="Google Shape;469;g329880e8390_0_6"/>
          <p:cNvSpPr txBox="1"/>
          <p:nvPr/>
        </p:nvSpPr>
        <p:spPr>
          <a:xfrm>
            <a:off x="1989322" y="4275264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29880e8390_0_6"/>
          <p:cNvSpPr txBox="1"/>
          <p:nvPr/>
        </p:nvSpPr>
        <p:spPr>
          <a:xfrm>
            <a:off x="2632279" y="3787394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29880e8390_0_6"/>
          <p:cNvSpPr/>
          <p:nvPr/>
        </p:nvSpPr>
        <p:spPr>
          <a:xfrm>
            <a:off x="6601238" y="2161359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인증 코드 일치 여부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g329880e8390_0_6"/>
          <p:cNvCxnSpPr>
            <a:stCxn id="471" idx="1"/>
            <a:endCxn id="463" idx="1"/>
          </p:cNvCxnSpPr>
          <p:nvPr/>
        </p:nvCxnSpPr>
        <p:spPr>
          <a:xfrm flipH="1">
            <a:off x="5028938" y="2418534"/>
            <a:ext cx="1572300" cy="1229700"/>
          </a:xfrm>
          <a:prstGeom prst="bentConnector3">
            <a:avLst>
              <a:gd name="adj1" fmla="val 11514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3" name="Google Shape;473;g329880e8390_0_6"/>
          <p:cNvSpPr txBox="1"/>
          <p:nvPr/>
        </p:nvSpPr>
        <p:spPr>
          <a:xfrm>
            <a:off x="7839197" y="2197514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29880e8390_0_6"/>
          <p:cNvSpPr txBox="1"/>
          <p:nvPr/>
        </p:nvSpPr>
        <p:spPr>
          <a:xfrm>
            <a:off x="6418917" y="2187744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g329880e8390_0_6"/>
          <p:cNvCxnSpPr>
            <a:stCxn id="463" idx="0"/>
            <a:endCxn id="471" idx="2"/>
          </p:cNvCxnSpPr>
          <p:nvPr/>
        </p:nvCxnSpPr>
        <p:spPr>
          <a:xfrm rot="-5400000">
            <a:off x="6040682" y="2231087"/>
            <a:ext cx="758700" cy="16482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6" name="Google Shape;476;g329880e8390_0_6"/>
          <p:cNvCxnSpPr>
            <a:stCxn id="471" idx="3"/>
            <a:endCxn id="454" idx="1"/>
          </p:cNvCxnSpPr>
          <p:nvPr/>
        </p:nvCxnSpPr>
        <p:spPr>
          <a:xfrm>
            <a:off x="7887113" y="2418534"/>
            <a:ext cx="32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7" name="Google Shape;477;g329880e8390_0_6"/>
          <p:cNvCxnSpPr>
            <a:stCxn id="454" idx="2"/>
            <a:endCxn id="444" idx="1"/>
          </p:cNvCxnSpPr>
          <p:nvPr/>
        </p:nvCxnSpPr>
        <p:spPr>
          <a:xfrm>
            <a:off x="8801975" y="2621051"/>
            <a:ext cx="0" cy="3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2" name="Google Shape;482;g329880e8390_0_43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회원가입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3" name="Google Shape;483;g329880e8390_0_43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  <p:graphicFrame>
        <p:nvGraphicFramePr>
          <p:cNvPr id="484" name="Google Shape;484;g329880e8390_0_43"/>
          <p:cNvGraphicFramePr/>
          <p:nvPr/>
        </p:nvGraphicFramePr>
        <p:xfrm>
          <a:off x="272481" y="1700808"/>
          <a:ext cx="9361025" cy="4283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회원 가입 시작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시스템에 회원 가입을 요청 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회원가입 요청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회원가입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약관, 정보 제공 동의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가입을 위해 약관 동의 및 정보 제공 동의 여부를 확인한다.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약관, 정보제공 내용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약관, 정보제공 동의 여부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필수 정보 입력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필수 정보를 입력한다. 아이디, 비밀번호, 휴대폰번호, 이메일이 해당된다.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가입 양식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가입 정보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아이디 중복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아이디 중복 체크를 하여, 이미 사용중인 아이디 인지 체크한다.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ID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ID 존재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휴대폰 번호 중복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휴대폰 번호 중복 체크를 하여, 이미 사용중인 번호 인지 체크한다.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휴대폰 번호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휴대폰 번호 존재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이메일 인증 요청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코드가 담긴 이메일을 요청한다.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이메일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이메일 요청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이메일 인증 번호 전송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코드가 담긴 이메일을 입력된 이메일로 전송한다.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이메일 요청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 이메일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/>
                        <a:t>8</a:t>
                      </a: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인증 코드 입력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이메일로 받은 인증 코드 6자리를 입력한다.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인증 코드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인증 </a:t>
                      </a: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코드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/>
                        <a:t>9</a:t>
                      </a: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인증 코드 일치 여부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받은 인증코드가 일치하는지 검증한다.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인증 코드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인증 코드 일치 여부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" name="Google Shape;489;g329e16ad932_1_0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0" name="Google Shape;490;g329e16ad932_1_0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회원이 회원의 기능을 이용할 수 있게 로그인을 하는 프로세스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입력된 아이디와 비밀번호가 회원 정보와 일치하면 로그인이 완료 된다.</a:t>
                      </a:r>
                      <a:endParaRPr sz="1400" u="none" strike="noStrike" cap="none"/>
                    </a:p>
                    <a:p>
                      <a:pPr marL="171450" marR="0" lvl="0" indent="-1079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회원이 회원의 기능을 이용할 수 있게 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1" name="Google Shape;491;g329e16ad932_1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6" name="Google Shape;496;g329e16ad932_1_6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468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7" name="Google Shape;497;g329e16ad932_1_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8" name="Google Shape;498;g329e16ad932_1_6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9" name="Google Shape;499;g329e16ad932_1_6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29e16ad932_1_6"/>
          <p:cNvSpPr/>
          <p:nvPr/>
        </p:nvSpPr>
        <p:spPr>
          <a:xfrm>
            <a:off x="1315854" y="2179736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29e16ad932_1_6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9e16ad932_1_6"/>
          <p:cNvSpPr/>
          <p:nvPr/>
        </p:nvSpPr>
        <p:spPr>
          <a:xfrm>
            <a:off x="7961144" y="3801287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9e16ad932_1_6"/>
          <p:cNvSpPr/>
          <p:nvPr/>
        </p:nvSpPr>
        <p:spPr>
          <a:xfrm>
            <a:off x="5467325" y="3748509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일치 여부 판단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4" name="Google Shape;504;g329e16ad932_1_6"/>
          <p:cNvCxnSpPr>
            <a:stCxn id="500" idx="2"/>
            <a:endCxn id="505" idx="0"/>
          </p:cNvCxnSpPr>
          <p:nvPr/>
        </p:nvCxnSpPr>
        <p:spPr>
          <a:xfrm>
            <a:off x="1989342" y="2620376"/>
            <a:ext cx="0" cy="117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6" name="Google Shape;506;g329e16ad932_1_6"/>
          <p:cNvSpPr txBox="1"/>
          <p:nvPr/>
        </p:nvSpPr>
        <p:spPr>
          <a:xfrm>
            <a:off x="6110262" y="4233487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29e16ad932_1_6"/>
          <p:cNvSpPr txBox="1"/>
          <p:nvPr/>
        </p:nvSpPr>
        <p:spPr>
          <a:xfrm>
            <a:off x="6110262" y="3480738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9e16ad932_1_6"/>
          <p:cNvSpPr/>
          <p:nvPr/>
        </p:nvSpPr>
        <p:spPr>
          <a:xfrm>
            <a:off x="1422340" y="3791934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ID, 비밀번호 입력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" name="Google Shape;508;g329e16ad932_1_6"/>
          <p:cNvCxnSpPr>
            <a:stCxn id="502" idx="2"/>
            <a:endCxn id="503" idx="3"/>
          </p:cNvCxnSpPr>
          <p:nvPr/>
        </p:nvCxnSpPr>
        <p:spPr>
          <a:xfrm rot="10800000">
            <a:off x="6753344" y="4005698"/>
            <a:ext cx="1207800" cy="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9" name="Google Shape;509;g329e16ad932_1_6"/>
          <p:cNvCxnSpPr>
            <a:stCxn id="503" idx="0"/>
            <a:endCxn id="505" idx="0"/>
          </p:cNvCxnSpPr>
          <p:nvPr/>
        </p:nvCxnSpPr>
        <p:spPr>
          <a:xfrm rot="5400000">
            <a:off x="4028113" y="1709859"/>
            <a:ext cx="43500" cy="4120800"/>
          </a:xfrm>
          <a:prstGeom prst="bentConnector3">
            <a:avLst>
              <a:gd name="adj1" fmla="val -5255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0" name="Google Shape;510;g329e16ad932_1_6"/>
          <p:cNvSpPr/>
          <p:nvPr/>
        </p:nvSpPr>
        <p:spPr>
          <a:xfrm>
            <a:off x="1335062" y="5339689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로그인 완료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g329e16ad932_1_6"/>
          <p:cNvCxnSpPr>
            <a:stCxn id="503" idx="2"/>
            <a:endCxn id="510" idx="3"/>
          </p:cNvCxnSpPr>
          <p:nvPr/>
        </p:nvCxnSpPr>
        <p:spPr>
          <a:xfrm rot="5400000">
            <a:off x="3747613" y="3197409"/>
            <a:ext cx="1297200" cy="34281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2" name="Google Shape;512;g329e16ad932_1_6"/>
          <p:cNvSpPr/>
          <p:nvPr/>
        </p:nvSpPr>
        <p:spPr>
          <a:xfrm>
            <a:off x="3304676" y="3801287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로그인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g329e16ad932_1_6"/>
          <p:cNvCxnSpPr>
            <a:stCxn id="505" idx="3"/>
            <a:endCxn id="512" idx="1"/>
          </p:cNvCxnSpPr>
          <p:nvPr/>
        </p:nvCxnSpPr>
        <p:spPr>
          <a:xfrm>
            <a:off x="2556340" y="4005684"/>
            <a:ext cx="748200" cy="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4" name="Google Shape;514;g329e16ad932_1_6"/>
          <p:cNvCxnSpPr>
            <a:stCxn id="512" idx="3"/>
            <a:endCxn id="503" idx="1"/>
          </p:cNvCxnSpPr>
          <p:nvPr/>
        </p:nvCxnSpPr>
        <p:spPr>
          <a:xfrm rot="10800000" flipH="1">
            <a:off x="4438676" y="4005737"/>
            <a:ext cx="1028700" cy="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9" name="Google Shape;519;g329e16ad932_1_28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0" name="Google Shape;520;g329e16ad932_1_28"/>
          <p:cNvGraphicFramePr/>
          <p:nvPr/>
        </p:nvGraphicFramePr>
        <p:xfrm>
          <a:off x="272481" y="1700808"/>
          <a:ext cx="9361025" cy="433157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ID,비밀번호 입력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회원ID, 비밀번호를 입력한다.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ID, 비밀번호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ID, 비밀번호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로그인 요청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시스템에 입력된 회원ID, 비밀번호로 로그인을 요청한다.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ID, 비밀번호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로그인 요청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일치 여부 판단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회원 DB내 ID, 비밀번호와 일치 여부를 판단한다.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로그인 요청, ID, 비밀번호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일치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1" name="Google Shape;521;g329e16ad932_1_28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6" name="Google Shape;526;g329e16ad932_1_34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로그아웃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7" name="Google Shape;527;g329e16ad932_1_34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로그인된 회원이 로그인 세션을 종료하는 프로세스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상태에서 가능하고 로그아웃이 실행되면 회원 기능들을 로그인 전까지 이용할 수 없다.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된 회원의 로그인 상태가 종료 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8" name="Google Shape;528;g329e16ad932_1_34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3" name="Google Shape;533;g329e16ad932_1_40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468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4" name="Google Shape;534;g329e16ad932_1_4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5" name="Google Shape;535;g329e16ad932_1_40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로그아웃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6" name="Google Shape;536;g329e16ad932_1_40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29e16ad932_1_40"/>
          <p:cNvSpPr/>
          <p:nvPr/>
        </p:nvSpPr>
        <p:spPr>
          <a:xfrm>
            <a:off x="1315854" y="2179736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29e16ad932_1_40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g329e16ad932_1_40"/>
          <p:cNvCxnSpPr>
            <a:stCxn id="537" idx="2"/>
            <a:endCxn id="540" idx="0"/>
          </p:cNvCxnSpPr>
          <p:nvPr/>
        </p:nvCxnSpPr>
        <p:spPr>
          <a:xfrm>
            <a:off x="1989342" y="2620376"/>
            <a:ext cx="0" cy="119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1" name="Google Shape;541;g329e16ad932_1_40"/>
          <p:cNvSpPr/>
          <p:nvPr/>
        </p:nvSpPr>
        <p:spPr>
          <a:xfrm>
            <a:off x="1335062" y="5339689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로그아웃 완료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g329e16ad932_1_40"/>
          <p:cNvCxnSpPr>
            <a:stCxn id="543" idx="2"/>
            <a:endCxn id="541" idx="3"/>
          </p:cNvCxnSpPr>
          <p:nvPr/>
        </p:nvCxnSpPr>
        <p:spPr>
          <a:xfrm rot="5400000">
            <a:off x="3692675" y="3218237"/>
            <a:ext cx="1331100" cy="33522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4" name="Google Shape;544;g329e16ad932_1_40"/>
          <p:cNvSpPr/>
          <p:nvPr/>
        </p:nvSpPr>
        <p:spPr>
          <a:xfrm>
            <a:off x="3304676" y="3801287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로그아웃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g329e16ad932_1_40"/>
          <p:cNvCxnSpPr>
            <a:endCxn id="544" idx="1"/>
          </p:cNvCxnSpPr>
          <p:nvPr/>
        </p:nvCxnSpPr>
        <p:spPr>
          <a:xfrm>
            <a:off x="2556476" y="4005737"/>
            <a:ext cx="748200" cy="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6" name="Google Shape;546;g329e16ad932_1_40"/>
          <p:cNvCxnSpPr>
            <a:stCxn id="544" idx="3"/>
          </p:cNvCxnSpPr>
          <p:nvPr/>
        </p:nvCxnSpPr>
        <p:spPr>
          <a:xfrm rot="10800000" flipH="1">
            <a:off x="4438676" y="4005737"/>
            <a:ext cx="1028700" cy="9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0" name="Google Shape;540;g329e16ad932_1_40"/>
          <p:cNvSpPr/>
          <p:nvPr/>
        </p:nvSpPr>
        <p:spPr>
          <a:xfrm>
            <a:off x="1397140" y="3815719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29e16ad932_1_40"/>
          <p:cNvSpPr/>
          <p:nvPr/>
        </p:nvSpPr>
        <p:spPr>
          <a:xfrm>
            <a:off x="5467325" y="3801287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세션 삭제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1" name="Google Shape;551;g329e16ad932_1_57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로그아웃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2" name="Google Shape;552;g329e16ad932_1_57"/>
          <p:cNvGraphicFramePr/>
          <p:nvPr/>
        </p:nvGraphicFramePr>
        <p:xfrm>
          <a:off x="272481" y="1700808"/>
          <a:ext cx="9361025" cy="433157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로그아웃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시스템에 로그아웃을 요청한다.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로그아웃 요청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세션 정보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세션 삭제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 내 세션을 삭제한다.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세션 정보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세션 삭제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53" name="Google Shape;553;g329e16ad932_1_57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8" name="Google Shape;558;g32b500151c7_0_42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조회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9" name="Google Shape;559;g32b500151c7_0_42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회원이 개인 정보를 조회 하기 위한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조회 시 비밀번호 재입력을 요구한다.</a:t>
                      </a:r>
                      <a:endParaRPr sz="1400" u="none" strike="noStrike" cap="none"/>
                    </a:p>
                    <a:p>
                      <a:pPr marL="171450" marR="0" lvl="0" indent="-1079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회원이 본인의 개인 정보를 조회할 수 있게 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0" name="Google Shape;560;g32b500151c7_0_42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5" name="Google Shape;565;g32b500151c7_0_48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468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g32b500151c7_0_48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7" name="Google Shape;567;g32b500151c7_0_48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조회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8" name="Google Shape;568;g32b500151c7_0_48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2b500151c7_0_48"/>
          <p:cNvSpPr/>
          <p:nvPr/>
        </p:nvSpPr>
        <p:spPr>
          <a:xfrm>
            <a:off x="2849379" y="2189304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2b500151c7_0_48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1" name="Google Shape;571;g32b500151c7_0_48"/>
          <p:cNvCxnSpPr>
            <a:stCxn id="569" idx="2"/>
            <a:endCxn id="572" idx="0"/>
          </p:cNvCxnSpPr>
          <p:nvPr/>
        </p:nvCxnSpPr>
        <p:spPr>
          <a:xfrm>
            <a:off x="3522867" y="2629944"/>
            <a:ext cx="0" cy="37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3" name="Google Shape;573;g32b500151c7_0_48"/>
          <p:cNvSpPr/>
          <p:nvPr/>
        </p:nvSpPr>
        <p:spPr>
          <a:xfrm>
            <a:off x="2892923" y="3690818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1.비밀번호 재확인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2b500151c7_0_48"/>
          <p:cNvSpPr/>
          <p:nvPr/>
        </p:nvSpPr>
        <p:spPr>
          <a:xfrm>
            <a:off x="5641856" y="4557886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2b500151c7_0_48"/>
          <p:cNvSpPr/>
          <p:nvPr/>
        </p:nvSpPr>
        <p:spPr>
          <a:xfrm>
            <a:off x="2968853" y="4557861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회원 정보 확인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g32b500151c7_0_48"/>
          <p:cNvCxnSpPr>
            <a:stCxn id="572" idx="2"/>
            <a:endCxn id="573" idx="0"/>
          </p:cNvCxnSpPr>
          <p:nvPr/>
        </p:nvCxnSpPr>
        <p:spPr>
          <a:xfrm>
            <a:off x="3522857" y="3388502"/>
            <a:ext cx="12900" cy="30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2" name="Google Shape;572;g32b500151c7_0_48"/>
          <p:cNvSpPr/>
          <p:nvPr/>
        </p:nvSpPr>
        <p:spPr>
          <a:xfrm>
            <a:off x="2930657" y="3008573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2.1.2 로그인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g32b500151c7_0_48"/>
          <p:cNvCxnSpPr>
            <a:stCxn id="573" idx="2"/>
            <a:endCxn id="575" idx="0"/>
          </p:cNvCxnSpPr>
          <p:nvPr/>
        </p:nvCxnSpPr>
        <p:spPr>
          <a:xfrm>
            <a:off x="3535861" y="4205168"/>
            <a:ext cx="0" cy="35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8" name="Google Shape;578;g32b500151c7_0_48"/>
          <p:cNvCxnSpPr>
            <a:stCxn id="574" idx="2"/>
            <a:endCxn id="575" idx="3"/>
          </p:cNvCxnSpPr>
          <p:nvPr/>
        </p:nvCxnSpPr>
        <p:spPr>
          <a:xfrm rot="10800000">
            <a:off x="4102856" y="4771597"/>
            <a:ext cx="1539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9" name="Google Shape;579;g32b500151c7_0_48"/>
          <p:cNvSpPr txBox="1"/>
          <p:nvPr/>
        </p:nvSpPr>
        <p:spPr>
          <a:xfrm>
            <a:off x="3535844" y="4205175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2b500151c7_0_48"/>
          <p:cNvSpPr/>
          <p:nvPr/>
        </p:nvSpPr>
        <p:spPr>
          <a:xfrm>
            <a:off x="713454" y="3727679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1" name="Google Shape;581;g32b500151c7_0_48"/>
          <p:cNvCxnSpPr>
            <a:stCxn id="573" idx="1"/>
            <a:endCxn id="580" idx="3"/>
          </p:cNvCxnSpPr>
          <p:nvPr/>
        </p:nvCxnSpPr>
        <p:spPr>
          <a:xfrm rot="10800000">
            <a:off x="2060423" y="3947993"/>
            <a:ext cx="83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2" name="Google Shape;582;g32b500151c7_0_48"/>
          <p:cNvSpPr txBox="1"/>
          <p:nvPr/>
        </p:nvSpPr>
        <p:spPr>
          <a:xfrm>
            <a:off x="2652732" y="3690825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g32b500151c7_0_48"/>
          <p:cNvCxnSpPr>
            <a:stCxn id="575" idx="2"/>
            <a:endCxn id="580" idx="2"/>
          </p:cNvCxnSpPr>
          <p:nvPr/>
        </p:nvCxnSpPr>
        <p:spPr>
          <a:xfrm rot="5400000" flipH="1">
            <a:off x="2052953" y="3502461"/>
            <a:ext cx="816900" cy="2148900"/>
          </a:xfrm>
          <a:prstGeom prst="bentConnector3">
            <a:avLst>
              <a:gd name="adj1" fmla="val -2915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4" name="Google Shape;584;g32b500151c7_0_48"/>
          <p:cNvSpPr/>
          <p:nvPr/>
        </p:nvSpPr>
        <p:spPr>
          <a:xfrm>
            <a:off x="794745" y="5647498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</a:t>
            </a:r>
            <a:r>
              <a:rPr lang="en-US" sz="1100"/>
              <a:t>5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/>
              <a:t>회원 정보 수정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g32b500151c7_0_48"/>
          <p:cNvCxnSpPr>
            <a:stCxn id="575" idx="2"/>
            <a:endCxn id="584" idx="0"/>
          </p:cNvCxnSpPr>
          <p:nvPr/>
        </p:nvCxnSpPr>
        <p:spPr>
          <a:xfrm rot="5400000">
            <a:off x="2130353" y="4241961"/>
            <a:ext cx="662100" cy="2148900"/>
          </a:xfrm>
          <a:prstGeom prst="bentConnector3">
            <a:avLst>
              <a:gd name="adj1" fmla="val 369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0" name="Google Shape;590;g32b500151c7_0_70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조회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1" name="Google Shape;591;g32b500151c7_0_70"/>
          <p:cNvGraphicFramePr/>
          <p:nvPr/>
        </p:nvGraphicFramePr>
        <p:xfrm>
          <a:off x="272481" y="1700808"/>
          <a:ext cx="9361025" cy="433157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비밀번호 재확인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로그인 시 입력했던 비밀번호를 다시 한번 입력한다.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확인 여부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정보 확인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현재 로그인 된 회원의 정보를 확인 할 수 있다.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정보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정보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92" name="Google Shape;592;g32b500151c7_0_7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7" name="Google Shape;597;g32b500151c7_0_76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수정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8" name="Google Shape;598;g32b500151c7_0_76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이전에 가입을 완료한 회원이 아이디/비밀번호를 분실 했을때 찾기 위한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가입시에 사용한 이메일을 사용해 아이디와 비밀번호를 찾을 수 있다.</a:t>
                      </a:r>
                      <a:endParaRPr sz="1400" u="none" strike="noStrike" cap="none"/>
                    </a:p>
                    <a:p>
                      <a:pPr marL="171450" marR="0" lvl="0" indent="-1079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아이디/비밀번호를 분실한 회원이 아이디와 비밀번호를 찾을 수 있게 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9" name="Google Shape;599;g32b500151c7_0_7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" name="Google Shape;604;g32b500151c7_0_82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468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5" name="Google Shape;605;g32b500151c7_0_82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6" name="Google Shape;606;g32b500151c7_0_82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수정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7" name="Google Shape;607;g32b500151c7_0_82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2b500151c7_0_82"/>
          <p:cNvSpPr/>
          <p:nvPr/>
        </p:nvSpPr>
        <p:spPr>
          <a:xfrm>
            <a:off x="437229" y="2191479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2b500151c7_0_82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2b500151c7_0_82"/>
          <p:cNvSpPr/>
          <p:nvPr/>
        </p:nvSpPr>
        <p:spPr>
          <a:xfrm>
            <a:off x="8227706" y="5815273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2b500151c7_0_82"/>
          <p:cNvSpPr/>
          <p:nvPr/>
        </p:nvSpPr>
        <p:spPr>
          <a:xfrm>
            <a:off x="2089382" y="2221835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2.1.2 로그인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2b500151c7_0_82"/>
          <p:cNvSpPr/>
          <p:nvPr/>
        </p:nvSpPr>
        <p:spPr>
          <a:xfrm>
            <a:off x="3713715" y="4906911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회원 정보 수정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2b500151c7_0_82"/>
          <p:cNvSpPr/>
          <p:nvPr/>
        </p:nvSpPr>
        <p:spPr>
          <a:xfrm>
            <a:off x="6572165" y="581628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회원 정보 저장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g32b500151c7_0_82"/>
          <p:cNvCxnSpPr>
            <a:stCxn id="608" idx="3"/>
            <a:endCxn id="611" idx="1"/>
          </p:cNvCxnSpPr>
          <p:nvPr/>
        </p:nvCxnSpPr>
        <p:spPr>
          <a:xfrm>
            <a:off x="1784205" y="2411799"/>
            <a:ext cx="305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5" name="Google Shape;615;g32b500151c7_0_82"/>
          <p:cNvSpPr/>
          <p:nvPr/>
        </p:nvSpPr>
        <p:spPr>
          <a:xfrm>
            <a:off x="3685207" y="2221835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2.1.4 회원 정보 조회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g32b500151c7_0_82"/>
          <p:cNvCxnSpPr>
            <a:stCxn id="615" idx="2"/>
          </p:cNvCxnSpPr>
          <p:nvPr/>
        </p:nvCxnSpPr>
        <p:spPr>
          <a:xfrm>
            <a:off x="4277407" y="2601764"/>
            <a:ext cx="6600" cy="41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7" name="Google Shape;617;g32b500151c7_0_82"/>
          <p:cNvSpPr/>
          <p:nvPr/>
        </p:nvSpPr>
        <p:spPr>
          <a:xfrm>
            <a:off x="5448332" y="3026602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이메일 인증 코드 전송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2b500151c7_0_82"/>
          <p:cNvSpPr/>
          <p:nvPr/>
        </p:nvSpPr>
        <p:spPr>
          <a:xfrm>
            <a:off x="3710395" y="3966750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인증 코드 입력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2b500151c7_0_82"/>
          <p:cNvSpPr/>
          <p:nvPr/>
        </p:nvSpPr>
        <p:spPr>
          <a:xfrm>
            <a:off x="8294384" y="3049839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이메일 인증 API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2b500151c7_0_82"/>
          <p:cNvSpPr/>
          <p:nvPr/>
        </p:nvSpPr>
        <p:spPr>
          <a:xfrm>
            <a:off x="3710407" y="3026602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회원 정보 수정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1" name="Google Shape;621;g32b500151c7_0_82"/>
          <p:cNvCxnSpPr>
            <a:stCxn id="620" idx="3"/>
            <a:endCxn id="617" idx="1"/>
          </p:cNvCxnSpPr>
          <p:nvPr/>
        </p:nvCxnSpPr>
        <p:spPr>
          <a:xfrm>
            <a:off x="4844407" y="3240352"/>
            <a:ext cx="603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2" name="Google Shape;622;g32b500151c7_0_82"/>
          <p:cNvCxnSpPr>
            <a:stCxn id="619" idx="3"/>
            <a:endCxn id="617" idx="3"/>
          </p:cNvCxnSpPr>
          <p:nvPr/>
        </p:nvCxnSpPr>
        <p:spPr>
          <a:xfrm rot="10800000">
            <a:off x="6582284" y="3240339"/>
            <a:ext cx="171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3" name="Google Shape;623;g32b500151c7_0_82"/>
          <p:cNvCxnSpPr>
            <a:stCxn id="617" idx="2"/>
            <a:endCxn id="618" idx="0"/>
          </p:cNvCxnSpPr>
          <p:nvPr/>
        </p:nvCxnSpPr>
        <p:spPr>
          <a:xfrm rot="5400000">
            <a:off x="4890032" y="2841502"/>
            <a:ext cx="512700" cy="17379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4" name="Google Shape;624;g32b500151c7_0_82"/>
          <p:cNvSpPr/>
          <p:nvPr/>
        </p:nvSpPr>
        <p:spPr>
          <a:xfrm>
            <a:off x="5441869" y="4912200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회원 정보 수정 양식 제공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2b500151c7_0_82"/>
          <p:cNvSpPr/>
          <p:nvPr/>
        </p:nvSpPr>
        <p:spPr>
          <a:xfrm>
            <a:off x="5372375" y="3921284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일치 여부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g32b500151c7_0_82"/>
          <p:cNvCxnSpPr>
            <a:stCxn id="618" idx="3"/>
            <a:endCxn id="625" idx="1"/>
          </p:cNvCxnSpPr>
          <p:nvPr/>
        </p:nvCxnSpPr>
        <p:spPr>
          <a:xfrm rot="10800000" flipH="1">
            <a:off x="4844395" y="4178400"/>
            <a:ext cx="5280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7" name="Google Shape;627;g32b500151c7_0_82"/>
          <p:cNvCxnSpPr>
            <a:stCxn id="625" idx="2"/>
            <a:endCxn id="624" idx="0"/>
          </p:cNvCxnSpPr>
          <p:nvPr/>
        </p:nvCxnSpPr>
        <p:spPr>
          <a:xfrm flipH="1">
            <a:off x="6009013" y="4435634"/>
            <a:ext cx="6300" cy="47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8" name="Google Shape;628;g32b500151c7_0_82"/>
          <p:cNvCxnSpPr>
            <a:stCxn id="624" idx="1"/>
            <a:endCxn id="612" idx="3"/>
          </p:cNvCxnSpPr>
          <p:nvPr/>
        </p:nvCxnSpPr>
        <p:spPr>
          <a:xfrm rot="10800000">
            <a:off x="4847569" y="5120550"/>
            <a:ext cx="594300" cy="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9" name="Google Shape;629;g32b500151c7_0_82"/>
          <p:cNvCxnSpPr>
            <a:stCxn id="612" idx="2"/>
            <a:endCxn id="613" idx="1"/>
          </p:cNvCxnSpPr>
          <p:nvPr/>
        </p:nvCxnSpPr>
        <p:spPr>
          <a:xfrm rot="-5400000" flipH="1">
            <a:off x="5078565" y="4536561"/>
            <a:ext cx="695700" cy="2291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0" name="Google Shape;630;g32b500151c7_0_82"/>
          <p:cNvSpPr/>
          <p:nvPr/>
        </p:nvSpPr>
        <p:spPr>
          <a:xfrm>
            <a:off x="7024854" y="3958129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g32b500151c7_0_82"/>
          <p:cNvCxnSpPr>
            <a:stCxn id="611" idx="3"/>
            <a:endCxn id="615" idx="1"/>
          </p:cNvCxnSpPr>
          <p:nvPr/>
        </p:nvCxnSpPr>
        <p:spPr>
          <a:xfrm>
            <a:off x="3273782" y="2411800"/>
            <a:ext cx="411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2" name="Google Shape;632;g32b500151c7_0_82"/>
          <p:cNvCxnSpPr>
            <a:stCxn id="625" idx="3"/>
            <a:endCxn id="630" idx="1"/>
          </p:cNvCxnSpPr>
          <p:nvPr/>
        </p:nvCxnSpPr>
        <p:spPr>
          <a:xfrm>
            <a:off x="6658250" y="4178459"/>
            <a:ext cx="366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3" name="Google Shape;633;g32b500151c7_0_82"/>
          <p:cNvSpPr txBox="1"/>
          <p:nvPr/>
        </p:nvSpPr>
        <p:spPr>
          <a:xfrm>
            <a:off x="6009037" y="4435637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2b500151c7_0_82"/>
          <p:cNvSpPr txBox="1"/>
          <p:nvPr/>
        </p:nvSpPr>
        <p:spPr>
          <a:xfrm>
            <a:off x="6575887" y="3947762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g32b500151c7_0_82"/>
          <p:cNvCxnSpPr>
            <a:stCxn id="613" idx="3"/>
            <a:endCxn id="610" idx="2"/>
          </p:cNvCxnSpPr>
          <p:nvPr/>
        </p:nvCxnSpPr>
        <p:spPr>
          <a:xfrm rot="10800000" flipH="1">
            <a:off x="7706165" y="6028836"/>
            <a:ext cx="5214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6" name="Google Shape;636;g32b500151c7_0_82"/>
          <p:cNvCxnSpPr>
            <a:endCxn id="630" idx="2"/>
          </p:cNvCxnSpPr>
          <p:nvPr/>
        </p:nvCxnSpPr>
        <p:spPr>
          <a:xfrm rot="-5400000">
            <a:off x="6705042" y="4832869"/>
            <a:ext cx="1427400" cy="559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1" name="Google Shape;641;g32b500151c7_0_108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수정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2" name="Google Shape;642;g32b500151c7_0_108"/>
          <p:cNvGraphicFramePr/>
          <p:nvPr/>
        </p:nvGraphicFramePr>
        <p:xfrm>
          <a:off x="272481" y="1700808"/>
          <a:ext cx="9361025" cy="44554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회원 정보 수정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회원 정보 조회 화면에서 회원 정보 수정을 요청한다.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수정 요청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수정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이메일 인증 코드 전송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가입시 입력했던 이메일로 인증코드를 발송한다.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정보 수정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 이메일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 입력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발송받은 인증코드를 입력하여 이메일 인증을 요청한다.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 일치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받은 인증코드가 일치하는지 검증한다.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 일치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정보 수정 양식 제공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이메일 인증에 성공했다면 회원 정보 수정 양식을 사용자에게 제공한다.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인증 코드 일치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정보 수정 양식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6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정보 수정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사용자가 수정하고 싶은 회원 정보 값을 수정한뒤 제출한다.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수정한 회원 정보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수정된 회원 정보 양식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strike="noStrike" cap="none"/>
                        <a:t>7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회원 정보 저장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수정한 회원 정보를 저장한다.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수정된 회원 정보 양식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수정된 회원 정보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43" name="Google Shape;643;g32b500151c7_0_108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8" name="Google Shape;648;g329eb54e5bd_0_0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아이디/비밀번호 찾기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9" name="Google Shape;649;g329eb54e5bd_0_0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이전에 가입을 완료한 회원이 아이디/비밀번호를 분실 했을때 찾기 위한 프로세스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가입시에 사용한 이메일을 사용해 아이디와 비밀번호를 찾을 수 있다.</a:t>
                      </a:r>
                      <a:endParaRPr sz="1400" u="none" strike="noStrike" cap="none"/>
                    </a:p>
                    <a:p>
                      <a:pPr marL="171450" marR="0" lvl="0" indent="-1079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아이디/비밀번호를 분실한 회원이 아이디와 비밀번호를 찾을 수 있게 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50" name="Google Shape;650;g329eb54e5bd_0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" name="Google Shape;655;g329eb54e5bd_0_6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468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56" name="Google Shape;656;g329eb54e5bd_0_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7" name="Google Shape;657;g329eb54e5bd_0_6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아이디/비밀번호 찾기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8" name="Google Shape;658;g329eb54e5bd_0_6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9eb54e5bd_0_6"/>
          <p:cNvSpPr/>
          <p:nvPr/>
        </p:nvSpPr>
        <p:spPr>
          <a:xfrm>
            <a:off x="1782579" y="2189304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29eb54e5bd_0_6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1" name="Google Shape;661;g329eb54e5bd_0_6"/>
          <p:cNvCxnSpPr>
            <a:stCxn id="659" idx="2"/>
          </p:cNvCxnSpPr>
          <p:nvPr/>
        </p:nvCxnSpPr>
        <p:spPr>
          <a:xfrm>
            <a:off x="2456067" y="2629944"/>
            <a:ext cx="12900" cy="371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62" name="Google Shape;662;g329eb54e5bd_0_6"/>
          <p:cNvSpPr/>
          <p:nvPr/>
        </p:nvSpPr>
        <p:spPr>
          <a:xfrm>
            <a:off x="1810931" y="5852300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9eb54e5bd_0_6"/>
          <p:cNvSpPr/>
          <p:nvPr/>
        </p:nvSpPr>
        <p:spPr>
          <a:xfrm>
            <a:off x="1902062" y="3001500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1.아이디/비밀번호 찾기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29eb54e5bd_0_6"/>
          <p:cNvSpPr/>
          <p:nvPr/>
        </p:nvSpPr>
        <p:spPr>
          <a:xfrm>
            <a:off x="1902062" y="3690813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가입 이메일 입력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29eb54e5bd_0_6"/>
          <p:cNvSpPr/>
          <p:nvPr/>
        </p:nvSpPr>
        <p:spPr>
          <a:xfrm>
            <a:off x="5293760" y="3636843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회원 여부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6" name="Google Shape;666;g329eb54e5bd_0_6"/>
          <p:cNvCxnSpPr>
            <a:stCxn id="664" idx="3"/>
            <a:endCxn id="665" idx="1"/>
          </p:cNvCxnSpPr>
          <p:nvPr/>
        </p:nvCxnSpPr>
        <p:spPr>
          <a:xfrm rot="10800000" flipH="1">
            <a:off x="3036062" y="3894063"/>
            <a:ext cx="2257800" cy="10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67" name="Google Shape;667;g329eb54e5bd_0_6"/>
          <p:cNvSpPr/>
          <p:nvPr/>
        </p:nvSpPr>
        <p:spPr>
          <a:xfrm>
            <a:off x="8221481" y="4162598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29eb54e5bd_0_6"/>
          <p:cNvSpPr/>
          <p:nvPr/>
        </p:nvSpPr>
        <p:spPr>
          <a:xfrm>
            <a:off x="1920411" y="434603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아이디 확인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29eb54e5bd_0_6"/>
          <p:cNvSpPr/>
          <p:nvPr/>
        </p:nvSpPr>
        <p:spPr>
          <a:xfrm>
            <a:off x="1841482" y="5062361"/>
            <a:ext cx="1285875" cy="51435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5.비밀번호 찾기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0" name="Google Shape;670;g329eb54e5bd_0_6"/>
          <p:cNvCxnSpPr>
            <a:stCxn id="665" idx="2"/>
            <a:endCxn id="668" idx="3"/>
          </p:cNvCxnSpPr>
          <p:nvPr/>
        </p:nvCxnSpPr>
        <p:spPr>
          <a:xfrm rot="5400000">
            <a:off x="4291198" y="2914293"/>
            <a:ext cx="408600" cy="2882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1" name="Google Shape;671;g329eb54e5bd_0_6"/>
          <p:cNvCxnSpPr>
            <a:stCxn id="668" idx="2"/>
            <a:endCxn id="669" idx="0"/>
          </p:cNvCxnSpPr>
          <p:nvPr/>
        </p:nvCxnSpPr>
        <p:spPr>
          <a:xfrm flipH="1">
            <a:off x="2484411" y="4773536"/>
            <a:ext cx="3000" cy="28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2" name="Google Shape;672;g329eb54e5bd_0_6"/>
          <p:cNvCxnSpPr>
            <a:stCxn id="669" idx="2"/>
            <a:endCxn id="662" idx="0"/>
          </p:cNvCxnSpPr>
          <p:nvPr/>
        </p:nvCxnSpPr>
        <p:spPr>
          <a:xfrm>
            <a:off x="2484420" y="5576711"/>
            <a:ext cx="0" cy="27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73" name="Google Shape;673;g329eb54e5bd_0_6"/>
          <p:cNvSpPr/>
          <p:nvPr/>
        </p:nvSpPr>
        <p:spPr>
          <a:xfrm>
            <a:off x="7447815" y="510578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비밀번호 전송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4" name="Google Shape;674;g329eb54e5bd_0_6"/>
          <p:cNvCxnSpPr>
            <a:stCxn id="669" idx="3"/>
            <a:endCxn id="673" idx="1"/>
          </p:cNvCxnSpPr>
          <p:nvPr/>
        </p:nvCxnSpPr>
        <p:spPr>
          <a:xfrm>
            <a:off x="3127357" y="5319536"/>
            <a:ext cx="432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5" name="Google Shape;675;g329eb54e5bd_0_6"/>
          <p:cNvCxnSpPr>
            <a:stCxn id="673" idx="2"/>
            <a:endCxn id="662" idx="3"/>
          </p:cNvCxnSpPr>
          <p:nvPr/>
        </p:nvCxnSpPr>
        <p:spPr>
          <a:xfrm rot="5400000">
            <a:off x="5316615" y="3374486"/>
            <a:ext cx="539400" cy="48570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6" name="Google Shape;676;g329eb54e5bd_0_6"/>
          <p:cNvCxnSpPr>
            <a:stCxn id="667" idx="1"/>
            <a:endCxn id="665" idx="0"/>
          </p:cNvCxnSpPr>
          <p:nvPr/>
        </p:nvCxnSpPr>
        <p:spPr>
          <a:xfrm rot="5400000" flipH="1">
            <a:off x="7116206" y="2457248"/>
            <a:ext cx="525900" cy="2884800"/>
          </a:xfrm>
          <a:prstGeom prst="bentConnector3">
            <a:avLst>
              <a:gd name="adj1" fmla="val 14344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7" name="Google Shape;677;g329eb54e5bd_0_6"/>
          <p:cNvCxnSpPr>
            <a:stCxn id="667" idx="2"/>
            <a:endCxn id="673" idx="0"/>
          </p:cNvCxnSpPr>
          <p:nvPr/>
        </p:nvCxnSpPr>
        <p:spPr>
          <a:xfrm flipH="1">
            <a:off x="8014781" y="4376309"/>
            <a:ext cx="206700" cy="729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8" name="Google Shape;678;g329eb54e5bd_0_6"/>
          <p:cNvCxnSpPr>
            <a:endCxn id="664" idx="0"/>
          </p:cNvCxnSpPr>
          <p:nvPr/>
        </p:nvCxnSpPr>
        <p:spPr>
          <a:xfrm>
            <a:off x="2469062" y="3423213"/>
            <a:ext cx="0" cy="267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9" name="Google Shape;679;g329eb54e5bd_0_6"/>
          <p:cNvCxnSpPr>
            <a:stCxn id="665" idx="3"/>
            <a:endCxn id="662" idx="3"/>
          </p:cNvCxnSpPr>
          <p:nvPr/>
        </p:nvCxnSpPr>
        <p:spPr>
          <a:xfrm flipH="1">
            <a:off x="3157835" y="3894018"/>
            <a:ext cx="3421800" cy="2178600"/>
          </a:xfrm>
          <a:prstGeom prst="bentConnector3">
            <a:avLst>
              <a:gd name="adj1" fmla="val -668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80" name="Google Shape;680;g329eb54e5bd_0_6"/>
          <p:cNvSpPr txBox="1"/>
          <p:nvPr/>
        </p:nvSpPr>
        <p:spPr>
          <a:xfrm>
            <a:off x="5901294" y="4136950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29eb54e5bd_0_6"/>
          <p:cNvSpPr txBox="1"/>
          <p:nvPr/>
        </p:nvSpPr>
        <p:spPr>
          <a:xfrm>
            <a:off x="6484019" y="3671747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329eb54e5bd_0_6"/>
          <p:cNvSpPr txBox="1"/>
          <p:nvPr/>
        </p:nvSpPr>
        <p:spPr>
          <a:xfrm>
            <a:off x="2428627" y="5529498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9eb54e5bd_0_6"/>
          <p:cNvSpPr txBox="1"/>
          <p:nvPr/>
        </p:nvSpPr>
        <p:spPr>
          <a:xfrm>
            <a:off x="3019007" y="5110379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8" name="Google Shape;688;g329eb54e5bd_0_38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아이디/비밀번호 찾기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89" name="Google Shape;689;g329eb54e5bd_0_38"/>
          <p:cNvGraphicFramePr/>
          <p:nvPr/>
        </p:nvGraphicFramePr>
        <p:xfrm>
          <a:off x="272481" y="1700808"/>
          <a:ext cx="9361025" cy="433330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아이디/비밀번호 찾기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아이디/비밀번호 찾기를 요청한다.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아이디/비밀번호 찾기 요청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 입력 양식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가입 이메일 입력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회원가입시 사용했던 이메일을 입력한다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이메일 주소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이메일 주소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입력받은 이메일을 회원DB와 대조해 일치하는 회원이 있는지 확인한다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이메일 주소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여부, 아이디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/>
                        <a:t>아이디 확인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입력했던 이메일 주소와 일치하는 회원의 아이디를 보여준다.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아이디, 이메일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비밀번호 찾기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반환받은 아이디의 비밀번호를 추가로 찾을건지 여부를 요청한다.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아이디, 이메일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비밀번호 찾기 여부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비밀번호 전송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가입시 입력했던 이메일로 비밀번호를 전송한다.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아이디, 이메일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비밀번호 이메일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90" name="Google Shape;690;g329eb54e5bd_0_38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5" name="Google Shape;695;g32b500151c7_0_149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조회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96" name="Google Shape;696;g32b500151c7_0_149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회원의 투자 성향 검사 결과를 다시 확인 하는 프로 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 성향 검사를 실시한 회원만 접근할 수 있다.</a:t>
                      </a:r>
                      <a:endParaRPr sz="1400" u="none" strike="noStrike" cap="none"/>
                    </a:p>
                    <a:p>
                      <a:pPr marL="171450" marR="0" lvl="0" indent="-1079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회원이 본인의 투자 성향 검사 결과를 조회할 수 있게 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7" name="Google Shape;697;g32b500151c7_0_149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2" name="Google Shape;702;g32b500151c7_0_155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05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03" name="Google Shape;703;g32b500151c7_0_155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4" name="Google Shape;704;g32b500151c7_0_155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조회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5" name="Google Shape;705;g32b500151c7_0_155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2b500151c7_0_155"/>
          <p:cNvSpPr/>
          <p:nvPr/>
        </p:nvSpPr>
        <p:spPr>
          <a:xfrm>
            <a:off x="601479" y="2189304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32b500151c7_0_155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2b500151c7_0_155"/>
          <p:cNvSpPr/>
          <p:nvPr/>
        </p:nvSpPr>
        <p:spPr>
          <a:xfrm>
            <a:off x="8215706" y="2195923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정보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2b500151c7_0_155"/>
          <p:cNvSpPr/>
          <p:nvPr/>
        </p:nvSpPr>
        <p:spPr>
          <a:xfrm>
            <a:off x="4221703" y="336723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성향 정보 확인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2b500151c7_0_155"/>
          <p:cNvSpPr/>
          <p:nvPr/>
        </p:nvSpPr>
        <p:spPr>
          <a:xfrm>
            <a:off x="2492881" y="2219660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2.1.2 로그인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2b500151c7_0_155"/>
          <p:cNvSpPr/>
          <p:nvPr/>
        </p:nvSpPr>
        <p:spPr>
          <a:xfrm>
            <a:off x="4115204" y="4435879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g32b500151c7_0_155"/>
          <p:cNvCxnSpPr>
            <a:stCxn id="706" idx="3"/>
            <a:endCxn id="710" idx="1"/>
          </p:cNvCxnSpPr>
          <p:nvPr/>
        </p:nvCxnSpPr>
        <p:spPr>
          <a:xfrm>
            <a:off x="1948455" y="2409624"/>
            <a:ext cx="54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3" name="Google Shape;713;g32b500151c7_0_155"/>
          <p:cNvSpPr/>
          <p:nvPr/>
        </p:nvSpPr>
        <p:spPr>
          <a:xfrm>
            <a:off x="4221703" y="2195886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성향 검사 결과 조회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g32b500151c7_0_155"/>
          <p:cNvCxnSpPr>
            <a:stCxn id="710" idx="3"/>
            <a:endCxn id="713" idx="1"/>
          </p:cNvCxnSpPr>
          <p:nvPr/>
        </p:nvCxnSpPr>
        <p:spPr>
          <a:xfrm>
            <a:off x="3677281" y="2409625"/>
            <a:ext cx="54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5" name="Google Shape;715;g32b500151c7_0_155"/>
          <p:cNvSpPr/>
          <p:nvPr/>
        </p:nvSpPr>
        <p:spPr>
          <a:xfrm>
            <a:off x="6646802" y="2195899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성향 정보 조회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6" name="Google Shape;716;g32b500151c7_0_155"/>
          <p:cNvCxnSpPr>
            <a:stCxn id="708" idx="2"/>
            <a:endCxn id="715" idx="3"/>
          </p:cNvCxnSpPr>
          <p:nvPr/>
        </p:nvCxnSpPr>
        <p:spPr>
          <a:xfrm rot="10800000">
            <a:off x="7780706" y="2409634"/>
            <a:ext cx="435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7" name="Google Shape;717;g32b500151c7_0_155"/>
          <p:cNvCxnSpPr>
            <a:stCxn id="713" idx="3"/>
            <a:endCxn id="715" idx="1"/>
          </p:cNvCxnSpPr>
          <p:nvPr/>
        </p:nvCxnSpPr>
        <p:spPr>
          <a:xfrm>
            <a:off x="5355703" y="2409636"/>
            <a:ext cx="1291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8" name="Google Shape;718;g32b500151c7_0_155"/>
          <p:cNvCxnSpPr>
            <a:stCxn id="715" idx="2"/>
            <a:endCxn id="709" idx="0"/>
          </p:cNvCxnSpPr>
          <p:nvPr/>
        </p:nvCxnSpPr>
        <p:spPr>
          <a:xfrm rot="5400000">
            <a:off x="5629352" y="1782649"/>
            <a:ext cx="743700" cy="24252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9" name="Google Shape;719;g32b500151c7_0_155"/>
          <p:cNvCxnSpPr>
            <a:stCxn id="709" idx="2"/>
            <a:endCxn id="711" idx="0"/>
          </p:cNvCxnSpPr>
          <p:nvPr/>
        </p:nvCxnSpPr>
        <p:spPr>
          <a:xfrm>
            <a:off x="4788703" y="3794736"/>
            <a:ext cx="0" cy="64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20" name="Google Shape;720;g32b500151c7_0_155"/>
          <p:cNvSpPr/>
          <p:nvPr/>
        </p:nvSpPr>
        <p:spPr>
          <a:xfrm>
            <a:off x="2492881" y="4466235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100"/>
              <a:t>3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/>
              <a:t>4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/>
              <a:t>성향 검사 결과 수정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g32b500151c7_0_155"/>
          <p:cNvCxnSpPr>
            <a:stCxn id="709" idx="2"/>
            <a:endCxn id="720" idx="0"/>
          </p:cNvCxnSpPr>
          <p:nvPr/>
        </p:nvCxnSpPr>
        <p:spPr>
          <a:xfrm rot="5400000">
            <a:off x="3601153" y="3278586"/>
            <a:ext cx="671400" cy="17037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6" name="Google Shape;726;g32b500151c7_0_177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조회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27" name="Google Shape;727;g32b500151c7_0_177"/>
          <p:cNvGraphicFramePr/>
          <p:nvPr/>
        </p:nvGraphicFramePr>
        <p:xfrm>
          <a:off x="272481" y="1700808"/>
          <a:ext cx="9361025" cy="44554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성향 검사 결과 조회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시스템에 성향 검사 결과 조회를 요청한다.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세션 정보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조회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정보 조회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고객 DB로 부터 성향 정보를 가져온다.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검사 결과 조회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정보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/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정보 확인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회원의 성향 정보를 확인한다.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정보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정보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28" name="Google Shape;728;g32b500151c7_0_177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3" name="Google Shape;733;g32b500151c7_0_191"/>
          <p:cNvGraphicFramePr/>
          <p:nvPr/>
        </p:nvGraphicFramePr>
        <p:xfrm>
          <a:off x="273050" y="764704"/>
          <a:ext cx="9359875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수정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34" name="Google Shape;734;g32b500151c7_0_191"/>
          <p:cNvGraphicFramePr/>
          <p:nvPr/>
        </p:nvGraphicFramePr>
        <p:xfrm>
          <a:off x="273050" y="1679104"/>
          <a:ext cx="9359900" cy="46255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0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설명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1.개요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   회원의 투자 성향 검사 결과를 수정 하는 프로 세스</a:t>
                      </a:r>
                      <a:endParaRPr sz="9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Belleza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</a:rPr>
                        <a:t>2. 주요사항 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 성향 검사 조회를 통해서 접근할 수 있다.</a:t>
                      </a:r>
                      <a:endParaRPr sz="1400" u="none" strike="noStrike" cap="none"/>
                    </a:p>
                    <a:p>
                      <a:pPr marL="171450" marR="0" lvl="0" indent="-107950" algn="l" rtl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주요변화 사항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현행(As-Is)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sng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목표(To-Be)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4137" marR="0" lvl="0" indent="-84137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회원이 본인의 투자 성향 검사 결과를 수정할 수 있게 한다.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5" name="Google Shape;735;g32b500151c7_0_191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개요서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0" name="Google Shape;740;g32b500151c7_0_197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05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시스템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1" name="Google Shape;741;g32b500151c7_0_197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To-Be Process Flow Chart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2" name="Google Shape;742;g32b500151c7_0_197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수정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3" name="Google Shape;743;g32b500151c7_0_197"/>
          <p:cNvSpPr txBox="1"/>
          <p:nvPr/>
        </p:nvSpPr>
        <p:spPr>
          <a:xfrm>
            <a:off x="7170015" y="533968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2b500151c7_0_197"/>
          <p:cNvSpPr/>
          <p:nvPr/>
        </p:nvSpPr>
        <p:spPr>
          <a:xfrm>
            <a:off x="538554" y="2208304"/>
            <a:ext cx="1346976" cy="440640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2b500151c7_0_197"/>
          <p:cNvSpPr txBox="1"/>
          <p:nvPr/>
        </p:nvSpPr>
        <p:spPr>
          <a:xfrm>
            <a:off x="6646807" y="232431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2b500151c7_0_197"/>
          <p:cNvSpPr/>
          <p:nvPr/>
        </p:nvSpPr>
        <p:spPr>
          <a:xfrm>
            <a:off x="8337381" y="4195936"/>
            <a:ext cx="1200150" cy="427421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정보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2b500151c7_0_197"/>
          <p:cNvSpPr/>
          <p:nvPr/>
        </p:nvSpPr>
        <p:spPr>
          <a:xfrm>
            <a:off x="4306128" y="4195911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성향 검사 결과 수정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2b500151c7_0_197"/>
          <p:cNvSpPr/>
          <p:nvPr/>
        </p:nvSpPr>
        <p:spPr>
          <a:xfrm>
            <a:off x="2492882" y="2219660"/>
            <a:ext cx="1302840" cy="417922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2.1.2 로그인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g32b500151c7_0_197"/>
          <p:cNvCxnSpPr>
            <a:stCxn id="744" idx="3"/>
            <a:endCxn id="748" idx="1"/>
          </p:cNvCxnSpPr>
          <p:nvPr/>
        </p:nvCxnSpPr>
        <p:spPr>
          <a:xfrm>
            <a:off x="1885530" y="2428624"/>
            <a:ext cx="60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0" name="Google Shape;750;g32b500151c7_0_197"/>
          <p:cNvCxnSpPr>
            <a:stCxn id="748" idx="3"/>
          </p:cNvCxnSpPr>
          <p:nvPr/>
        </p:nvCxnSpPr>
        <p:spPr>
          <a:xfrm>
            <a:off x="3795722" y="2428621"/>
            <a:ext cx="54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51" name="Google Shape;751;g32b500151c7_0_197"/>
          <p:cNvSpPr/>
          <p:nvPr/>
        </p:nvSpPr>
        <p:spPr>
          <a:xfrm>
            <a:off x="6646802" y="2995749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성향 검사 결과 수정 양식 제공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32b500151c7_0_197"/>
          <p:cNvSpPr/>
          <p:nvPr/>
        </p:nvSpPr>
        <p:spPr>
          <a:xfrm>
            <a:off x="4221707" y="2219660"/>
            <a:ext cx="1302840" cy="417922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2.3.3 성향 검사 결과 조회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2b500151c7_0_197"/>
          <p:cNvSpPr/>
          <p:nvPr/>
        </p:nvSpPr>
        <p:spPr>
          <a:xfrm>
            <a:off x="4306128" y="2995761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성향 검사 결과 수정 요청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2b500151c7_0_197"/>
          <p:cNvSpPr/>
          <p:nvPr/>
        </p:nvSpPr>
        <p:spPr>
          <a:xfrm>
            <a:off x="6646802" y="4195911"/>
            <a:ext cx="1134000" cy="427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성향 검사 결과 저장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g32b500151c7_0_197"/>
          <p:cNvCxnSpPr>
            <a:stCxn id="752" idx="2"/>
            <a:endCxn id="753" idx="0"/>
          </p:cNvCxnSpPr>
          <p:nvPr/>
        </p:nvCxnSpPr>
        <p:spPr>
          <a:xfrm>
            <a:off x="4873127" y="2637582"/>
            <a:ext cx="0" cy="35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6" name="Google Shape;756;g32b500151c7_0_197"/>
          <p:cNvCxnSpPr>
            <a:stCxn id="753" idx="3"/>
            <a:endCxn id="751" idx="1"/>
          </p:cNvCxnSpPr>
          <p:nvPr/>
        </p:nvCxnSpPr>
        <p:spPr>
          <a:xfrm>
            <a:off x="5440128" y="3209511"/>
            <a:ext cx="1206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7" name="Google Shape;757;g32b500151c7_0_197"/>
          <p:cNvCxnSpPr>
            <a:stCxn id="751" idx="2"/>
            <a:endCxn id="747" idx="0"/>
          </p:cNvCxnSpPr>
          <p:nvPr/>
        </p:nvCxnSpPr>
        <p:spPr>
          <a:xfrm rot="5400000">
            <a:off x="5657102" y="2639349"/>
            <a:ext cx="772800" cy="2340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8" name="Google Shape;758;g32b500151c7_0_197"/>
          <p:cNvCxnSpPr>
            <a:stCxn id="747" idx="3"/>
            <a:endCxn id="754" idx="1"/>
          </p:cNvCxnSpPr>
          <p:nvPr/>
        </p:nvCxnSpPr>
        <p:spPr>
          <a:xfrm>
            <a:off x="5440128" y="4409661"/>
            <a:ext cx="1206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9" name="Google Shape;759;g32b500151c7_0_197"/>
          <p:cNvCxnSpPr>
            <a:stCxn id="754" idx="3"/>
            <a:endCxn id="746" idx="2"/>
          </p:cNvCxnSpPr>
          <p:nvPr/>
        </p:nvCxnSpPr>
        <p:spPr>
          <a:xfrm>
            <a:off x="7780802" y="4409661"/>
            <a:ext cx="556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0" name="Google Shape;760;g32b500151c7_0_197"/>
          <p:cNvCxnSpPr>
            <a:stCxn id="754" idx="2"/>
            <a:endCxn id="761" idx="3"/>
          </p:cNvCxnSpPr>
          <p:nvPr/>
        </p:nvCxnSpPr>
        <p:spPr>
          <a:xfrm rot="5400000">
            <a:off x="5425052" y="3917661"/>
            <a:ext cx="1083000" cy="2494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1" name="Google Shape;761;g32b500151c7_0_197"/>
          <p:cNvSpPr/>
          <p:nvPr/>
        </p:nvSpPr>
        <p:spPr>
          <a:xfrm>
            <a:off x="3416557" y="5497510"/>
            <a:ext cx="1302840" cy="417922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100"/>
              <a:t>3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/>
              <a:t>3 성향 검사 결과 조회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6" name="Google Shape;766;g32b500151c7_0_218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(L.2)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(L.3)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수정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67" name="Google Shape;767;g32b500151c7_0_218"/>
          <p:cNvGraphicFramePr/>
          <p:nvPr/>
        </p:nvGraphicFramePr>
        <p:xfrm>
          <a:off x="272481" y="1700808"/>
          <a:ext cx="9361025" cy="4455425"/>
        </p:xfrm>
        <a:graphic>
          <a:graphicData uri="http://schemas.openxmlformats.org/drawingml/2006/table">
            <a:tbl>
              <a:tblPr>
                <a:noFill/>
                <a:tableStyleId>{4AB3EBDF-DF07-436B-B3B1-3076790EFC67}</a:tableStyleId>
              </a:tblPr>
              <a:tblGrid>
                <a:gridCol w="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Number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Step 설명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수행주체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Output Data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성향 검사 결과 수정 요청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</a:rPr>
                        <a:t>시스템에 성향 검사 결과 수정을 요청한다.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8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수정 요청</a:t>
                      </a:r>
                      <a:endParaRPr sz="10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0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수정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검사 결과 수정 양식 제공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검사 결과 수정 양식을 제공한다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검사 결과 수정 요청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검사 결과 수정 양식</a:t>
                      </a:r>
                      <a:endParaRPr sz="14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/>
                        <a:t>3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검사 결과 수정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회원의 성향 정보를 수정한다.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사용자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수정할 성향 정보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수정된 성향 검사 결과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900" u="none" strike="noStrike" cap="none"/>
                        <a:t>4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/>
                        <a:t>성향 검사 결과 저장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수정된 성향 정보를 고객 정보 DB에 저장한다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시스템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수정된 성향 검사 결과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수정된 성향 검사 결과</a:t>
                      </a: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/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endParaRPr sz="900" u="none" strike="noStrike" cap="none"/>
                    </a:p>
                  </a:txBody>
                  <a:tcPr marL="54000" marR="54000" marT="36000" marB="3600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68" name="Google Shape;768;g32b500151c7_0_218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설명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5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392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(산출물) Flow Chart 작성 범례 </a:t>
            </a:r>
            <a:endParaRPr/>
          </a:p>
        </p:txBody>
      </p:sp>
      <p:graphicFrame>
        <p:nvGraphicFramePr>
          <p:cNvPr id="774" name="Google Shape;774;p75"/>
          <p:cNvGraphicFramePr/>
          <p:nvPr/>
        </p:nvGraphicFramePr>
        <p:xfrm>
          <a:off x="560512" y="764704"/>
          <a:ext cx="8712950" cy="5616725"/>
        </p:xfrm>
        <a:graphic>
          <a:graphicData uri="http://schemas.openxmlformats.org/drawingml/2006/table">
            <a:tbl>
              <a:tblPr firstRow="1" bandRow="1">
                <a:noFill/>
                <a:tableStyleId>{67E0325D-62F2-44B3-AD58-C6639B92C282}</a:tableStyleId>
              </a:tblPr>
              <a:tblGrid>
                <a:gridCol w="43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범례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예시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프로세스시작 및 종료</a:t>
                      </a:r>
                      <a:endParaRPr sz="1400" u="none" strike="noStrike" cap="none"/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Event(시간,주기)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수작업 Step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전산 Step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판단 Step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외부 Task(연관프로세스)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출력되는 장표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정보저장소(장부 또는 시스템</a:t>
                      </a:r>
                      <a:endParaRPr sz="1400" u="none" strike="noStrike" cap="none"/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외부기관</a:t>
                      </a:r>
                      <a:endParaRPr sz="1400" u="none" strike="noStrike" cap="none"/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75" name="Google Shape;775;p75"/>
          <p:cNvSpPr/>
          <p:nvPr/>
        </p:nvSpPr>
        <p:spPr>
          <a:xfrm>
            <a:off x="1077144" y="5319419"/>
            <a:ext cx="1066800" cy="379929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장부명 또는</a:t>
            </a: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전산시스템 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75"/>
          <p:cNvSpPr/>
          <p:nvPr/>
        </p:nvSpPr>
        <p:spPr>
          <a:xfrm>
            <a:off x="1077144" y="3573016"/>
            <a:ext cx="1143000" cy="379929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Number.Step명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75"/>
          <p:cNvSpPr/>
          <p:nvPr/>
        </p:nvSpPr>
        <p:spPr>
          <a:xfrm>
            <a:off x="1077144" y="2989763"/>
            <a:ext cx="1008000" cy="37992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Number.Step명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75"/>
          <p:cNvSpPr/>
          <p:nvPr/>
        </p:nvSpPr>
        <p:spPr>
          <a:xfrm>
            <a:off x="1077144" y="4725144"/>
            <a:ext cx="1066800" cy="379929"/>
          </a:xfrm>
          <a:prstGeom prst="flowChartDocumen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출력 장표명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75"/>
          <p:cNvSpPr/>
          <p:nvPr/>
        </p:nvSpPr>
        <p:spPr>
          <a:xfrm>
            <a:off x="1077144" y="4163099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외부TaskID외부Task명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75"/>
          <p:cNvSpPr/>
          <p:nvPr/>
        </p:nvSpPr>
        <p:spPr>
          <a:xfrm>
            <a:off x="1077144" y="5890220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 엔터티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75"/>
          <p:cNvSpPr/>
          <p:nvPr/>
        </p:nvSpPr>
        <p:spPr>
          <a:xfrm>
            <a:off x="5344344" y="5890220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관세청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5"/>
          <p:cNvSpPr/>
          <p:nvPr/>
        </p:nvSpPr>
        <p:spPr>
          <a:xfrm>
            <a:off x="5344344" y="5319419"/>
            <a:ext cx="1066800" cy="379929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통합고객DB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75"/>
          <p:cNvSpPr/>
          <p:nvPr/>
        </p:nvSpPr>
        <p:spPr>
          <a:xfrm>
            <a:off x="6715944" y="5319419"/>
            <a:ext cx="1066800" cy="379929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5"/>
          <p:cNvSpPr/>
          <p:nvPr/>
        </p:nvSpPr>
        <p:spPr>
          <a:xfrm>
            <a:off x="8087544" y="5319419"/>
            <a:ext cx="1066800" cy="379929"/>
          </a:xfrm>
          <a:prstGeom prst="flowChartMagneticDisk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증빙보관철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5"/>
          <p:cNvSpPr/>
          <p:nvPr/>
        </p:nvSpPr>
        <p:spPr>
          <a:xfrm>
            <a:off x="8087544" y="4725144"/>
            <a:ext cx="1066800" cy="379929"/>
          </a:xfrm>
          <a:prstGeom prst="flowChartDocumen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납품서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5"/>
          <p:cNvSpPr/>
          <p:nvPr/>
        </p:nvSpPr>
        <p:spPr>
          <a:xfrm>
            <a:off x="5344344" y="4725144"/>
            <a:ext cx="1066800" cy="379929"/>
          </a:xfrm>
          <a:prstGeom prst="flowChartDocumen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거래명세서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5"/>
          <p:cNvSpPr/>
          <p:nvPr/>
        </p:nvSpPr>
        <p:spPr>
          <a:xfrm>
            <a:off x="6715944" y="4725144"/>
            <a:ext cx="1066800" cy="379929"/>
          </a:xfrm>
          <a:prstGeom prst="flowChartDocumen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세금계산서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5"/>
          <p:cNvSpPr/>
          <p:nvPr/>
        </p:nvSpPr>
        <p:spPr>
          <a:xfrm>
            <a:off x="5344344" y="3495745"/>
            <a:ext cx="1143000" cy="45720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3.주문유형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선택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75"/>
          <p:cNvSpPr/>
          <p:nvPr/>
        </p:nvSpPr>
        <p:spPr>
          <a:xfrm>
            <a:off x="6715944" y="3495745"/>
            <a:ext cx="1143000" cy="45720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4.담보가액초과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75"/>
          <p:cNvSpPr/>
          <p:nvPr/>
        </p:nvSpPr>
        <p:spPr>
          <a:xfrm>
            <a:off x="5361298" y="2989763"/>
            <a:ext cx="1008000" cy="37992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1.정상주문등록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5"/>
          <p:cNvSpPr/>
          <p:nvPr/>
        </p:nvSpPr>
        <p:spPr>
          <a:xfrm>
            <a:off x="6729562" y="2989763"/>
            <a:ext cx="1008000" cy="37992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5.출하의뢰지시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75"/>
          <p:cNvSpPr/>
          <p:nvPr/>
        </p:nvSpPr>
        <p:spPr>
          <a:xfrm>
            <a:off x="1074726" y="2420888"/>
            <a:ext cx="1008112" cy="360040"/>
          </a:xfrm>
          <a:prstGeom prst="flowChartManualInpu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Number.Step명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75"/>
          <p:cNvSpPr/>
          <p:nvPr/>
        </p:nvSpPr>
        <p:spPr>
          <a:xfrm>
            <a:off x="5328010" y="4183028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1.1.1.4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여신한도확인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75"/>
          <p:cNvSpPr/>
          <p:nvPr/>
        </p:nvSpPr>
        <p:spPr>
          <a:xfrm>
            <a:off x="6716750" y="4183028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1.1.1.4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MRP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5"/>
          <p:cNvSpPr/>
          <p:nvPr/>
        </p:nvSpPr>
        <p:spPr>
          <a:xfrm>
            <a:off x="5361298" y="2420888"/>
            <a:ext cx="1008112" cy="360040"/>
          </a:xfrm>
          <a:prstGeom prst="flowChartManualInpu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1.고객주문접수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5"/>
          <p:cNvSpPr/>
          <p:nvPr/>
        </p:nvSpPr>
        <p:spPr>
          <a:xfrm>
            <a:off x="1352600" y="1772816"/>
            <a:ext cx="457200" cy="423863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5"/>
          <p:cNvSpPr/>
          <p:nvPr/>
        </p:nvSpPr>
        <p:spPr>
          <a:xfrm>
            <a:off x="1136576" y="1234852"/>
            <a:ext cx="1044000" cy="360040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 및 종료 step명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75"/>
          <p:cNvSpPr/>
          <p:nvPr/>
        </p:nvSpPr>
        <p:spPr>
          <a:xfrm>
            <a:off x="5385048" y="1234852"/>
            <a:ext cx="1044000" cy="360040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고객주문의뢰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5"/>
          <p:cNvSpPr/>
          <p:nvPr/>
        </p:nvSpPr>
        <p:spPr>
          <a:xfrm>
            <a:off x="5601072" y="1772816"/>
            <a:ext cx="457200" cy="423863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매주 금,18시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6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392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(산출물) Flow Chart 작성 범례 </a:t>
            </a:r>
            <a:endParaRPr/>
          </a:p>
        </p:txBody>
      </p:sp>
      <p:graphicFrame>
        <p:nvGraphicFramePr>
          <p:cNvPr id="805" name="Google Shape;805;p76"/>
          <p:cNvGraphicFramePr/>
          <p:nvPr/>
        </p:nvGraphicFramePr>
        <p:xfrm>
          <a:off x="560512" y="764704"/>
          <a:ext cx="8712950" cy="1420000"/>
        </p:xfrm>
        <a:graphic>
          <a:graphicData uri="http://schemas.openxmlformats.org/drawingml/2006/table">
            <a:tbl>
              <a:tblPr firstRow="1" bandRow="1">
                <a:noFill/>
                <a:tableStyleId>{67E0325D-62F2-44B3-AD58-C6639B92C282}</a:tableStyleId>
              </a:tblPr>
              <a:tblGrid>
                <a:gridCol w="43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범례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예시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프로세스 연결자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Flow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6" name="Google Shape;806;p76"/>
          <p:cNvSpPr/>
          <p:nvPr/>
        </p:nvSpPr>
        <p:spPr>
          <a:xfrm>
            <a:off x="1424608" y="1218000"/>
            <a:ext cx="360000" cy="360000"/>
          </a:xfrm>
          <a:prstGeom prst="flowChartConnec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079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6"/>
          <p:cNvSpPr/>
          <p:nvPr/>
        </p:nvSpPr>
        <p:spPr>
          <a:xfrm>
            <a:off x="5601072" y="1218000"/>
            <a:ext cx="360000" cy="360000"/>
          </a:xfrm>
          <a:prstGeom prst="flowChartConnec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Google Shape;808;p76"/>
          <p:cNvCxnSpPr/>
          <p:nvPr/>
        </p:nvCxnSpPr>
        <p:spPr>
          <a:xfrm>
            <a:off x="1077144" y="1937916"/>
            <a:ext cx="99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9" name="Google Shape;809;p76"/>
          <p:cNvCxnSpPr/>
          <p:nvPr/>
        </p:nvCxnSpPr>
        <p:spPr>
          <a:xfrm>
            <a:off x="5399112" y="1937916"/>
            <a:ext cx="99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10" name="Google Shape;810;p76"/>
          <p:cNvSpPr/>
          <p:nvPr/>
        </p:nvSpPr>
        <p:spPr>
          <a:xfrm>
            <a:off x="6770712" y="1709316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624" h="96" extrusionOk="0">
                <a:moveTo>
                  <a:pt x="0" y="96"/>
                </a:moveTo>
                <a:lnTo>
                  <a:pt x="624" y="96"/>
                </a:lnTo>
                <a:lnTo>
                  <a:pt x="624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회색조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5594</Words>
  <Application>Microsoft Office PowerPoint</Application>
  <PresentationFormat>A4 용지(210x297mm)</PresentationFormat>
  <Paragraphs>1717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5" baseType="lpstr">
      <vt:lpstr>Belleza</vt:lpstr>
      <vt:lpstr>Noto Sans Symbols</vt:lpstr>
      <vt:lpstr>Gulim</vt:lpstr>
      <vt:lpstr>Malgun Gothic</vt:lpstr>
      <vt:lpstr>Arial</vt:lpstr>
      <vt:lpstr>Office 테마</vt:lpstr>
      <vt:lpstr>프로세스 설계서</vt:lpstr>
      <vt:lpstr>프로세스 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(산출물) Flow Chart 작성 범례 </vt:lpstr>
      <vt:lpstr>(산출물) Flow Chart 작성 범례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프로세스 설계서</dc:title>
  <dc:creator>Yoon Sung Han</dc:creator>
  <cp:lastModifiedBy>June K</cp:lastModifiedBy>
  <cp:revision>1</cp:revision>
  <dcterms:created xsi:type="dcterms:W3CDTF">2007-10-15T08:30:37Z</dcterms:created>
  <dcterms:modified xsi:type="dcterms:W3CDTF">2025-03-04T01:21:40Z</dcterms:modified>
</cp:coreProperties>
</file>