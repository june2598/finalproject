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906000" cy="6858000" type="A4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1071">
          <p15:clr>
            <a:srgbClr val="A4A3A4"/>
          </p15:clr>
        </p15:guide>
        <p15:guide id="3" orient="horz" pos="4020">
          <p15:clr>
            <a:srgbClr val="A4A3A4"/>
          </p15:clr>
        </p15:guide>
        <p15:guide id="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mqZh6qr9cE2SIculBOnILBnNz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820F2D-DE65-4273-A966-DE7CB9D1FB02}">
  <a:tblStyle styleId="{4F820F2D-DE65-4273-A966-DE7CB9D1FB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6D60D92-3EAD-4737-B63C-04A7B17D3956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9F9F9"/>
          </a:solidFill>
        </a:fill>
      </a:tcStyle>
    </a:wholeTbl>
    <a:band1H>
      <a:tcTxStyle b="off" i="off"/>
      <a:tcStyle>
        <a:tcBdr/>
        <a:fill>
          <a:solidFill>
            <a:srgbClr val="F2F2F2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2F2F2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5" y="54"/>
      </p:cViewPr>
      <p:guideLst>
        <p:guide orient="horz"/>
        <p:guide orient="horz" pos="1071"/>
        <p:guide orient="horz" pos="4020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6"/>
            <a:ext cx="2946400" cy="49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96" y="6"/>
            <a:ext cx="2946400" cy="49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75" cy="446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428171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96" y="9428171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2b50cdc761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00" cy="3722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8" name="Google Shape;48;g32b50cdc761_0_359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b50cdc761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" name="Google Shape;82;g32b50cdc761_0_227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93d00de7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2" name="Google Shape;132;g3293d00de71_0_1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93d00de7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0" name="Google Shape;160;g3293d00de71_0_28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b60bf1576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9" name="Google Shape;179;g32b60bf1576_1_36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b60bf1576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6" name="Google Shape;196;g32b60bf1576_1_54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0" name="Google Shape;230;p5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75" cy="446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2" name="Google Shape;252;p4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75" cy="446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293d00de7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1" name="Google Shape;271;g3293d00de71_0_46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b60bf1576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7" name="Google Shape;287;g32b60bf1576_1_83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b60bf157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2" name="Google Shape;302;g32b60bf1576_1_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29887eff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21" name="Google Shape;321;g329887eff20_0_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a4ac35e13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48" name="Google Shape;348;g32a4ac35e13_0_24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2a4ac35e13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0" name="Google Shape;370;g32a4ac35e13_0_261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2b50cdc76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89" name="Google Shape;389;g32b50cdc761_1_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2afd12d14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09" name="Google Shape;409;g32afd12d14c_1_0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2a4ac35e13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32" name="Google Shape;432;g32a4ac35e13_0_279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00" cy="44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9613" y="744538"/>
            <a:ext cx="53784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2" name="Google Shape;462;p19:notes"/>
          <p:cNvSpPr txBox="1">
            <a:spLocks noGrp="1"/>
          </p:cNvSpPr>
          <p:nvPr>
            <p:ph type="body" idx="1"/>
          </p:nvPr>
        </p:nvSpPr>
        <p:spPr>
          <a:xfrm>
            <a:off x="679466" y="4714885"/>
            <a:ext cx="5438775" cy="4467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21"/>
          <p:cNvCxnSpPr/>
          <p:nvPr/>
        </p:nvCxnSpPr>
        <p:spPr>
          <a:xfrm>
            <a:off x="742952" y="2133600"/>
            <a:ext cx="8423275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1"/>
          <p:cNvCxnSpPr/>
          <p:nvPr/>
        </p:nvCxnSpPr>
        <p:spPr>
          <a:xfrm>
            <a:off x="742952" y="3886200"/>
            <a:ext cx="8423275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1"/>
          <p:cNvSpPr txBox="1">
            <a:spLocks noGrp="1"/>
          </p:cNvSpPr>
          <p:nvPr>
            <p:ph type="subTitle" idx="1"/>
          </p:nvPr>
        </p:nvSpPr>
        <p:spPr>
          <a:xfrm>
            <a:off x="715644" y="4511675"/>
            <a:ext cx="8485832" cy="106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None/>
              <a:defRPr sz="216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/>
          <p:nvPr/>
        </p:nvSpPr>
        <p:spPr>
          <a:xfrm rot="10800000" flipH="1">
            <a:off x="0" y="6237294"/>
            <a:ext cx="9906000" cy="1936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7"/>
              <a:buFont typeface="Gulim"/>
              <a:buNone/>
            </a:pPr>
            <a:endParaRPr sz="1517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1"/>
          <p:cNvSpPr txBox="1">
            <a:spLocks noGrp="1"/>
          </p:cNvSpPr>
          <p:nvPr>
            <p:ph type="ctrTitle"/>
          </p:nvPr>
        </p:nvSpPr>
        <p:spPr>
          <a:xfrm>
            <a:off x="1463714" y="2317754"/>
            <a:ext cx="6894740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sz="3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ontent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>
            <a:spLocks noGrp="1"/>
          </p:cNvSpPr>
          <p:nvPr>
            <p:ph type="body" idx="1"/>
          </p:nvPr>
        </p:nvSpPr>
        <p:spPr>
          <a:xfrm>
            <a:off x="351284" y="1618042"/>
            <a:ext cx="9180000" cy="461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8" name="Google Shape;18;p23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23"/>
          <p:cNvSpPr txBox="1">
            <a:spLocks noGrp="1"/>
          </p:cNvSpPr>
          <p:nvPr>
            <p:ph type="body" idx="2"/>
          </p:nvPr>
        </p:nvSpPr>
        <p:spPr>
          <a:xfrm>
            <a:off x="351284" y="714212"/>
            <a:ext cx="9180000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213" cy="36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23"/>
          <p:cNvSpPr txBox="1"/>
          <p:nvPr/>
        </p:nvSpPr>
        <p:spPr>
          <a:xfrm>
            <a:off x="357935" y="116632"/>
            <a:ext cx="18133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태스크 플로우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3"/>
          <p:cNvSpPr/>
          <p:nvPr/>
        </p:nvSpPr>
        <p:spPr>
          <a:xfrm>
            <a:off x="4800600" y="65532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">
  <p:cSld name="1_Conten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body" idx="1"/>
          </p:nvPr>
        </p:nvSpPr>
        <p:spPr>
          <a:xfrm>
            <a:off x="351284" y="1618042"/>
            <a:ext cx="9180000" cy="461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5" name="Google Shape;25;p24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4"/>
          <p:cNvSpPr txBox="1">
            <a:spLocks noGrp="1"/>
          </p:cNvSpPr>
          <p:nvPr>
            <p:ph type="title"/>
          </p:nvPr>
        </p:nvSpPr>
        <p:spPr>
          <a:xfrm>
            <a:off x="351284" y="0"/>
            <a:ext cx="647392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2"/>
          </p:nvPr>
        </p:nvSpPr>
        <p:spPr>
          <a:xfrm>
            <a:off x="351284" y="714212"/>
            <a:ext cx="9180000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4"/>
          <p:cNvSpPr txBox="1"/>
          <p:nvPr/>
        </p:nvSpPr>
        <p:spPr>
          <a:xfrm>
            <a:off x="4330174" y="6453188"/>
            <a:ext cx="1224136" cy="40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25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3296816" y="1628800"/>
            <a:ext cx="4320480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25"/>
          <p:cNvSpPr txBox="1"/>
          <p:nvPr/>
        </p:nvSpPr>
        <p:spPr>
          <a:xfrm>
            <a:off x="351284" y="0"/>
            <a:ext cx="165618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s">
  <p:cSld name="3_Conten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2a4ac35e13_0_72"/>
          <p:cNvSpPr txBox="1">
            <a:spLocks noGrp="1"/>
          </p:cNvSpPr>
          <p:nvPr>
            <p:ph type="body" idx="1"/>
          </p:nvPr>
        </p:nvSpPr>
        <p:spPr>
          <a:xfrm>
            <a:off x="351284" y="1618042"/>
            <a:ext cx="9180000" cy="4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5" name="Google Shape;35;g32a4ac35e13_0_72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g32a4ac35e13_0_72"/>
          <p:cNvSpPr txBox="1">
            <a:spLocks noGrp="1"/>
          </p:cNvSpPr>
          <p:nvPr>
            <p:ph type="title"/>
          </p:nvPr>
        </p:nvSpPr>
        <p:spPr>
          <a:xfrm>
            <a:off x="351284" y="0"/>
            <a:ext cx="64740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7" name="Google Shape;37;g32a4ac35e13_0_72"/>
          <p:cNvSpPr txBox="1">
            <a:spLocks noGrp="1"/>
          </p:cNvSpPr>
          <p:nvPr>
            <p:ph type="body" idx="2"/>
          </p:nvPr>
        </p:nvSpPr>
        <p:spPr>
          <a:xfrm>
            <a:off x="351284" y="714212"/>
            <a:ext cx="91800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g32a4ac35e13_0_72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ctrTitle"/>
          </p:nvPr>
        </p:nvSpPr>
        <p:spPr>
          <a:xfrm>
            <a:off x="1284390" y="2189344"/>
            <a:ext cx="6974589" cy="79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33"/>
              <a:buFont typeface="Arial"/>
              <a:buNone/>
            </a:pPr>
            <a:r>
              <a:rPr lang="en-US" sz="4333">
                <a:solidFill>
                  <a:schemeClr val="dk1"/>
                </a:solidFill>
              </a:rPr>
              <a:t>태스크 플로우</a:t>
            </a:r>
            <a:endParaRPr/>
          </a:p>
        </p:txBody>
      </p:sp>
      <p:sp>
        <p:nvSpPr>
          <p:cNvPr id="44" name="Google Shape;44;p1"/>
          <p:cNvSpPr txBox="1">
            <a:spLocks noGrp="1"/>
          </p:cNvSpPr>
          <p:nvPr>
            <p:ph type="subTitle" idx="1"/>
          </p:nvPr>
        </p:nvSpPr>
        <p:spPr>
          <a:xfrm>
            <a:off x="6177136" y="4653136"/>
            <a:ext cx="3102003" cy="114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247646" lvl="0" indent="-24764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/>
              <a:t>1팀</a:t>
            </a:r>
            <a:endParaRPr sz="1800"/>
          </a:p>
          <a:p>
            <a:pPr marL="247646" lvl="0" indent="-24764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1800"/>
              <a:t>김준우 김유진 박이담</a:t>
            </a:r>
            <a:endParaRPr/>
          </a:p>
        </p:txBody>
      </p:sp>
      <p:sp>
        <p:nvSpPr>
          <p:cNvPr id="45" name="Google Shape;45;p1"/>
          <p:cNvSpPr txBox="1"/>
          <p:nvPr/>
        </p:nvSpPr>
        <p:spPr>
          <a:xfrm>
            <a:off x="4431729" y="3472780"/>
            <a:ext cx="47355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None/>
            </a:pPr>
            <a:r>
              <a:rPr lang="en-US" sz="1733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시스템명 : </a:t>
            </a:r>
            <a:r>
              <a:rPr lang="en-US" sz="17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스마트투자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2b50cdc761_0_359"/>
          <p:cNvSpPr txBox="1">
            <a:spLocks noGrp="1"/>
          </p:cNvSpPr>
          <p:nvPr>
            <p:ph type="title"/>
          </p:nvPr>
        </p:nvSpPr>
        <p:spPr>
          <a:xfrm>
            <a:off x="351284" y="0"/>
            <a:ext cx="64740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구조도(사이트 맵)</a:t>
            </a:r>
            <a:endParaRPr/>
          </a:p>
        </p:txBody>
      </p:sp>
      <p:sp>
        <p:nvSpPr>
          <p:cNvPr id="51" name="Google Shape;51;g32b50cdc761_0_359"/>
          <p:cNvSpPr/>
          <p:nvPr/>
        </p:nvSpPr>
        <p:spPr>
          <a:xfrm>
            <a:off x="4317956" y="1257399"/>
            <a:ext cx="1184400" cy="3603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27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1. </a:t>
            </a:r>
            <a:r>
              <a:rPr lang="en-US" sz="1000" b="1">
                <a:latin typeface="Malgun Gothic"/>
                <a:ea typeface="Malgun Gothic"/>
                <a:cs typeface="Malgun Gothic"/>
                <a:sym typeface="Malgun Gothic"/>
              </a:rPr>
              <a:t>스마트투자  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2" name="Google Shape;52;g32b50cdc761_0_359"/>
          <p:cNvCxnSpPr>
            <a:stCxn id="53" idx="2"/>
            <a:endCxn id="54" idx="1"/>
          </p:cNvCxnSpPr>
          <p:nvPr/>
        </p:nvCxnSpPr>
        <p:spPr>
          <a:xfrm rot="-5400000" flipH="1">
            <a:off x="371200" y="3928038"/>
            <a:ext cx="867600" cy="864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5" name="Google Shape;55;g32b50cdc761_0_359"/>
          <p:cNvCxnSpPr>
            <a:stCxn id="53" idx="2"/>
            <a:endCxn id="56" idx="1"/>
          </p:cNvCxnSpPr>
          <p:nvPr/>
        </p:nvCxnSpPr>
        <p:spPr>
          <a:xfrm rot="-5400000" flipH="1">
            <a:off x="616279" y="3683017"/>
            <a:ext cx="377400" cy="864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g32b50cdc761_0_359"/>
          <p:cNvSpPr txBox="1"/>
          <p:nvPr/>
        </p:nvSpPr>
        <p:spPr>
          <a:xfrm>
            <a:off x="3100413" y="3823388"/>
            <a:ext cx="14400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2.2.1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종목 리스트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2b50cdc761_0_359"/>
          <p:cNvCxnSpPr>
            <a:stCxn id="59" idx="2"/>
            <a:endCxn id="57" idx="1"/>
          </p:cNvCxnSpPr>
          <p:nvPr/>
        </p:nvCxnSpPr>
        <p:spPr>
          <a:xfrm rot="-5400000" flipH="1">
            <a:off x="2825014" y="3655988"/>
            <a:ext cx="410100" cy="1407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g32b50cdc761_0_359"/>
          <p:cNvSpPr/>
          <p:nvPr/>
        </p:nvSpPr>
        <p:spPr>
          <a:xfrm>
            <a:off x="2792785" y="3260076"/>
            <a:ext cx="1440000" cy="27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</a:t>
            </a:r>
            <a:r>
              <a:rPr lang="en-US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주식 정보 서비스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2b50cdc761_0_359"/>
          <p:cNvSpPr/>
          <p:nvPr/>
        </p:nvSpPr>
        <p:spPr>
          <a:xfrm>
            <a:off x="4984025" y="3263413"/>
            <a:ext cx="1440000" cy="27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en-US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한눈에 보는 시장 트렌드</a:t>
            </a:r>
            <a:endParaRPr sz="9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g32b50cdc761_0_359"/>
          <p:cNvSpPr txBox="1"/>
          <p:nvPr/>
        </p:nvSpPr>
        <p:spPr>
          <a:xfrm>
            <a:off x="5293163" y="3814701"/>
            <a:ext cx="12960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.1 </a:t>
            </a:r>
            <a:r>
              <a:rPr lang="en-US" sz="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이슈 정보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2b50cdc761_0_359"/>
          <p:cNvSpPr txBox="1"/>
          <p:nvPr/>
        </p:nvSpPr>
        <p:spPr>
          <a:xfrm>
            <a:off x="848179" y="3806917"/>
            <a:ext cx="13566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2.3.1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투자 성향 검사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2b50cdc761_0_359"/>
          <p:cNvSpPr txBox="1"/>
          <p:nvPr/>
        </p:nvSpPr>
        <p:spPr>
          <a:xfrm>
            <a:off x="848200" y="4216338"/>
            <a:ext cx="1440000" cy="37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2.3.2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투자 성향별 종목 추천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2b50cdc761_0_359"/>
          <p:cNvSpPr/>
          <p:nvPr/>
        </p:nvSpPr>
        <p:spPr>
          <a:xfrm>
            <a:off x="601526" y="3260073"/>
            <a:ext cx="1440000" cy="27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en-US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종목 추천 서비스</a:t>
            </a:r>
            <a:endParaRPr sz="9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" name="Google Shape;64;g32b50cdc761_0_359"/>
          <p:cNvSpPr txBox="1"/>
          <p:nvPr/>
        </p:nvSpPr>
        <p:spPr>
          <a:xfrm>
            <a:off x="3091488" y="4208868"/>
            <a:ext cx="1374000" cy="37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2.2.2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종목 상세 지표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g32b50cdc761_0_359"/>
          <p:cNvCxnSpPr>
            <a:stCxn id="59" idx="2"/>
            <a:endCxn id="64" idx="1"/>
          </p:cNvCxnSpPr>
          <p:nvPr/>
        </p:nvCxnSpPr>
        <p:spPr>
          <a:xfrm rot="-5400000" flipH="1">
            <a:off x="2587488" y="3893568"/>
            <a:ext cx="876300" cy="1317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" name="Google Shape;66;g32b50cdc761_0_359"/>
          <p:cNvCxnSpPr>
            <a:endCxn id="62" idx="1"/>
          </p:cNvCxnSpPr>
          <p:nvPr/>
        </p:nvCxnSpPr>
        <p:spPr>
          <a:xfrm rot="-5400000" flipH="1">
            <a:off x="5012213" y="3713901"/>
            <a:ext cx="457800" cy="104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g32b50cdc761_0_359"/>
          <p:cNvSpPr txBox="1"/>
          <p:nvPr/>
        </p:nvSpPr>
        <p:spPr>
          <a:xfrm>
            <a:off x="848175" y="4787160"/>
            <a:ext cx="13566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성향 검사 결과 조회/수정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g32b50cdc761_0_359"/>
          <p:cNvCxnSpPr>
            <a:stCxn id="67" idx="1"/>
          </p:cNvCxnSpPr>
          <p:nvPr/>
        </p:nvCxnSpPr>
        <p:spPr>
          <a:xfrm rot="10800000">
            <a:off x="761775" y="3534510"/>
            <a:ext cx="86400" cy="1432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g32b50cdc761_0_359"/>
          <p:cNvSpPr/>
          <p:nvPr/>
        </p:nvSpPr>
        <p:spPr>
          <a:xfrm>
            <a:off x="4317956" y="2054374"/>
            <a:ext cx="1184400" cy="3603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27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sz="1000" b="1">
                <a:latin typeface="Malgun Gothic"/>
                <a:ea typeface="Malgun Gothic"/>
                <a:cs typeface="Malgun Gothic"/>
                <a:sym typeface="Malgun Gothic"/>
              </a:rPr>
              <a:t>메인 화면  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Google Shape;70;g32b50cdc761_0_359"/>
          <p:cNvSpPr txBox="1"/>
          <p:nvPr/>
        </p:nvSpPr>
        <p:spPr>
          <a:xfrm>
            <a:off x="7381825" y="3806925"/>
            <a:ext cx="1374000" cy="31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2.4.1 </a:t>
            </a:r>
            <a:r>
              <a:rPr lang="en-US" sz="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회원정보 조회/</a:t>
            </a:r>
            <a:r>
              <a:rPr lang="en-US"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1" name="Google Shape;71;g32b50cdc761_0_359"/>
          <p:cNvGrpSpPr/>
          <p:nvPr/>
        </p:nvGrpSpPr>
        <p:grpSpPr>
          <a:xfrm>
            <a:off x="6629297" y="3263414"/>
            <a:ext cx="1897864" cy="1533053"/>
            <a:chOff x="4791506" y="2004153"/>
            <a:chExt cx="1897864" cy="1533053"/>
          </a:xfrm>
        </p:grpSpPr>
        <p:sp>
          <p:nvSpPr>
            <p:cNvPr id="72" name="Google Shape;72;g32b50cdc761_0_359"/>
            <p:cNvSpPr/>
            <p:nvPr/>
          </p:nvSpPr>
          <p:spPr>
            <a:xfrm>
              <a:off x="5289570" y="2004153"/>
              <a:ext cx="1399800" cy="2700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2.4 마이페이지</a:t>
              </a:r>
              <a:endParaRPr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" name="Google Shape;73;g32b50cdc761_0_359"/>
            <p:cNvSpPr/>
            <p:nvPr/>
          </p:nvSpPr>
          <p:spPr>
            <a:xfrm>
              <a:off x="4791506" y="3321506"/>
              <a:ext cx="216000" cy="215700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77800" marR="0" lvl="0" indent="-1016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4" name="Google Shape;74;g32b50cdc761_0_359"/>
          <p:cNvCxnSpPr>
            <a:stCxn id="51" idx="2"/>
            <a:endCxn id="69" idx="0"/>
          </p:cNvCxnSpPr>
          <p:nvPr/>
        </p:nvCxnSpPr>
        <p:spPr>
          <a:xfrm>
            <a:off x="4910156" y="1617699"/>
            <a:ext cx="0" cy="43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g32b50cdc761_0_359"/>
          <p:cNvCxnSpPr>
            <a:stCxn id="69" idx="2"/>
            <a:endCxn id="63" idx="0"/>
          </p:cNvCxnSpPr>
          <p:nvPr/>
        </p:nvCxnSpPr>
        <p:spPr>
          <a:xfrm rot="5400000">
            <a:off x="2693156" y="1043074"/>
            <a:ext cx="845400" cy="3588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g32b50cdc761_0_359"/>
          <p:cNvCxnSpPr>
            <a:stCxn id="69" idx="2"/>
            <a:endCxn id="60" idx="0"/>
          </p:cNvCxnSpPr>
          <p:nvPr/>
        </p:nvCxnSpPr>
        <p:spPr>
          <a:xfrm rot="5400000">
            <a:off x="3788756" y="2138674"/>
            <a:ext cx="845400" cy="1397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77;g32b50cdc761_0_359"/>
          <p:cNvCxnSpPr>
            <a:stCxn id="69" idx="2"/>
            <a:endCxn id="61" idx="0"/>
          </p:cNvCxnSpPr>
          <p:nvPr/>
        </p:nvCxnSpPr>
        <p:spPr>
          <a:xfrm rot="-5400000" flipH="1">
            <a:off x="4882706" y="2442124"/>
            <a:ext cx="848700" cy="7938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78;g32b50cdc761_0_359"/>
          <p:cNvCxnSpPr>
            <a:stCxn id="69" idx="2"/>
            <a:endCxn id="72" idx="0"/>
          </p:cNvCxnSpPr>
          <p:nvPr/>
        </p:nvCxnSpPr>
        <p:spPr>
          <a:xfrm rot="-5400000" flipH="1">
            <a:off x="5944406" y="1380424"/>
            <a:ext cx="848700" cy="29172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g32b50cdc761_0_359"/>
          <p:cNvCxnSpPr>
            <a:stCxn id="70" idx="1"/>
          </p:cNvCxnSpPr>
          <p:nvPr/>
        </p:nvCxnSpPr>
        <p:spPr>
          <a:xfrm rot="10800000">
            <a:off x="7286725" y="3524325"/>
            <a:ext cx="95100" cy="441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2b50cdc761_0_227"/>
          <p:cNvSpPr txBox="1">
            <a:spLocks noGrp="1"/>
          </p:cNvSpPr>
          <p:nvPr>
            <p:ph type="title"/>
          </p:nvPr>
        </p:nvSpPr>
        <p:spPr>
          <a:xfrm>
            <a:off x="351284" y="0"/>
            <a:ext cx="64740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태스크 플로우</a:t>
            </a:r>
            <a:endParaRPr/>
          </a:p>
        </p:txBody>
      </p:sp>
      <p:sp>
        <p:nvSpPr>
          <p:cNvPr id="85" name="Google Shape;85;g32b50cdc761_0_227"/>
          <p:cNvSpPr/>
          <p:nvPr/>
        </p:nvSpPr>
        <p:spPr>
          <a:xfrm>
            <a:off x="4317956" y="1257399"/>
            <a:ext cx="1184400" cy="3603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27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1. </a:t>
            </a:r>
            <a:r>
              <a:rPr lang="en-US" sz="1000" b="1">
                <a:latin typeface="Malgun Gothic"/>
                <a:ea typeface="Malgun Gothic"/>
                <a:cs typeface="Malgun Gothic"/>
                <a:sym typeface="Malgun Gothic"/>
              </a:rPr>
              <a:t>스마트투자  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86" name="Google Shape;86;g32b50cdc761_0_227"/>
          <p:cNvCxnSpPr>
            <a:stCxn id="87" idx="2"/>
            <a:endCxn id="88" idx="1"/>
          </p:cNvCxnSpPr>
          <p:nvPr/>
        </p:nvCxnSpPr>
        <p:spPr>
          <a:xfrm rot="-5400000" flipH="1">
            <a:off x="18775" y="3939450"/>
            <a:ext cx="867600" cy="864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" name="Google Shape;89;g32b50cdc761_0_227"/>
          <p:cNvCxnSpPr>
            <a:stCxn id="87" idx="2"/>
            <a:endCxn id="90" idx="1"/>
          </p:cNvCxnSpPr>
          <p:nvPr/>
        </p:nvCxnSpPr>
        <p:spPr>
          <a:xfrm rot="-5400000" flipH="1">
            <a:off x="263854" y="3694429"/>
            <a:ext cx="377400" cy="864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" name="Google Shape;91;g32b50cdc761_0_227"/>
          <p:cNvCxnSpPr>
            <a:stCxn id="92" idx="2"/>
            <a:endCxn id="93" idx="1"/>
          </p:cNvCxnSpPr>
          <p:nvPr/>
        </p:nvCxnSpPr>
        <p:spPr>
          <a:xfrm rot="-5400000" flipH="1">
            <a:off x="7900492" y="3660330"/>
            <a:ext cx="401700" cy="1629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4" name="Google Shape;94;g32b50cdc761_0_227"/>
          <p:cNvGrpSpPr/>
          <p:nvPr/>
        </p:nvGrpSpPr>
        <p:grpSpPr>
          <a:xfrm>
            <a:off x="7857506" y="3279627"/>
            <a:ext cx="1399800" cy="270000"/>
            <a:chOff x="4737120" y="3275903"/>
            <a:chExt cx="1399800" cy="270000"/>
          </a:xfrm>
        </p:grpSpPr>
        <p:sp>
          <p:nvSpPr>
            <p:cNvPr id="95" name="Google Shape;95;g32b50cdc761_0_227"/>
            <p:cNvSpPr/>
            <p:nvPr/>
          </p:nvSpPr>
          <p:spPr>
            <a:xfrm>
              <a:off x="4737120" y="3275903"/>
              <a:ext cx="1399800" cy="27000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2.4 계정 관리</a:t>
              </a:r>
              <a:endParaRPr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" name="Google Shape;92;g32b50cdc761_0_227"/>
            <p:cNvSpPr/>
            <p:nvPr/>
          </p:nvSpPr>
          <p:spPr>
            <a:xfrm>
              <a:off x="4791506" y="3321506"/>
              <a:ext cx="216000" cy="215700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000000">
                  <a:alpha val="3686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77800" marR="0" lvl="0" indent="-10160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g32b50cdc761_0_227"/>
          <p:cNvSpPr txBox="1"/>
          <p:nvPr/>
        </p:nvSpPr>
        <p:spPr>
          <a:xfrm>
            <a:off x="3014688" y="3834725"/>
            <a:ext cx="14400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2.2.1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종목 리스트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g32b50cdc761_0_227"/>
          <p:cNvCxnSpPr>
            <a:stCxn id="98" idx="2"/>
            <a:endCxn id="96" idx="1"/>
          </p:cNvCxnSpPr>
          <p:nvPr/>
        </p:nvCxnSpPr>
        <p:spPr>
          <a:xfrm rot="-5400000" flipH="1">
            <a:off x="2739289" y="3667325"/>
            <a:ext cx="410100" cy="1407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9" name="Google Shape;99;g32b50cdc761_0_227"/>
          <p:cNvSpPr/>
          <p:nvPr/>
        </p:nvSpPr>
        <p:spPr>
          <a:xfrm>
            <a:off x="2707060" y="3271413"/>
            <a:ext cx="1440000" cy="27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 </a:t>
            </a:r>
            <a:r>
              <a:rPr lang="en-US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주식 정보 서비스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2b50cdc761_0_227"/>
          <p:cNvSpPr/>
          <p:nvPr/>
        </p:nvSpPr>
        <p:spPr>
          <a:xfrm>
            <a:off x="5277812" y="3269125"/>
            <a:ext cx="1440000" cy="27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en-US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한눈에 보는 시장 트렌드</a:t>
            </a:r>
            <a:endParaRPr sz="9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g32b50cdc761_0_227"/>
          <p:cNvSpPr txBox="1"/>
          <p:nvPr/>
        </p:nvSpPr>
        <p:spPr>
          <a:xfrm>
            <a:off x="5586950" y="3820414"/>
            <a:ext cx="12960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2.3.1 </a:t>
            </a:r>
            <a:r>
              <a:rPr lang="en-US" sz="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이슈 정보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2b50cdc761_0_227"/>
          <p:cNvSpPr txBox="1"/>
          <p:nvPr/>
        </p:nvSpPr>
        <p:spPr>
          <a:xfrm>
            <a:off x="495754" y="3818329"/>
            <a:ext cx="13566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.1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투자 성향 검사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2b50cdc761_0_227"/>
          <p:cNvSpPr txBox="1"/>
          <p:nvPr/>
        </p:nvSpPr>
        <p:spPr>
          <a:xfrm>
            <a:off x="495775" y="4227750"/>
            <a:ext cx="1440000" cy="37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.2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투자 성향별 종목 추천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2b50cdc761_0_227"/>
          <p:cNvSpPr/>
          <p:nvPr/>
        </p:nvSpPr>
        <p:spPr>
          <a:xfrm>
            <a:off x="249101" y="3271485"/>
            <a:ext cx="1440000" cy="27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en-US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종목 추천 서비스</a:t>
            </a:r>
            <a:endParaRPr sz="9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g32b50cdc761_0_227"/>
          <p:cNvSpPr txBox="1"/>
          <p:nvPr/>
        </p:nvSpPr>
        <p:spPr>
          <a:xfrm>
            <a:off x="3005763" y="4220205"/>
            <a:ext cx="1374000" cy="37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2.2.2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종목 상세 지표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g32b50cdc761_0_227"/>
          <p:cNvCxnSpPr>
            <a:stCxn id="98" idx="2"/>
            <a:endCxn id="103" idx="1"/>
          </p:cNvCxnSpPr>
          <p:nvPr/>
        </p:nvCxnSpPr>
        <p:spPr>
          <a:xfrm rot="-5400000" flipH="1">
            <a:off x="2501763" y="3904905"/>
            <a:ext cx="876300" cy="1317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g32b50cdc761_0_227"/>
          <p:cNvSpPr txBox="1"/>
          <p:nvPr/>
        </p:nvSpPr>
        <p:spPr>
          <a:xfrm>
            <a:off x="8182925" y="3834638"/>
            <a:ext cx="13998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2.4.1 회원가입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32b50cdc761_0_227"/>
          <p:cNvSpPr txBox="1"/>
          <p:nvPr/>
        </p:nvSpPr>
        <p:spPr>
          <a:xfrm>
            <a:off x="8182925" y="4216138"/>
            <a:ext cx="13998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2.4.2 로그인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g32b50cdc761_0_227"/>
          <p:cNvSpPr txBox="1"/>
          <p:nvPr/>
        </p:nvSpPr>
        <p:spPr>
          <a:xfrm>
            <a:off x="8182925" y="5376513"/>
            <a:ext cx="13998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정보 수정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7" name="Google Shape;107;g32b50cdc761_0_227"/>
          <p:cNvCxnSpPr>
            <a:stCxn id="92" idx="2"/>
            <a:endCxn id="106" idx="1"/>
          </p:cNvCxnSpPr>
          <p:nvPr/>
        </p:nvCxnSpPr>
        <p:spPr>
          <a:xfrm rot="-5400000" flipH="1">
            <a:off x="7129492" y="4431330"/>
            <a:ext cx="1943700" cy="1629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8" name="Google Shape;108;g32b50cdc761_0_227"/>
          <p:cNvSpPr txBox="1"/>
          <p:nvPr/>
        </p:nvSpPr>
        <p:spPr>
          <a:xfrm>
            <a:off x="8181900" y="4991263"/>
            <a:ext cx="13998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정보 조회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9" name="Google Shape;109;g32b50cdc761_0_227"/>
          <p:cNvCxnSpPr>
            <a:stCxn id="92" idx="2"/>
          </p:cNvCxnSpPr>
          <p:nvPr/>
        </p:nvCxnSpPr>
        <p:spPr>
          <a:xfrm rot="-5400000" flipH="1">
            <a:off x="7523242" y="4037580"/>
            <a:ext cx="1148100" cy="154800"/>
          </a:xfrm>
          <a:prstGeom prst="bentConnector3">
            <a:avLst>
              <a:gd name="adj1" fmla="val 102056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" name="Google Shape;110;g32b50cdc761_0_227"/>
          <p:cNvSpPr txBox="1"/>
          <p:nvPr/>
        </p:nvSpPr>
        <p:spPr>
          <a:xfrm>
            <a:off x="8174700" y="5761763"/>
            <a:ext cx="15741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아이디/비밀번호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찾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1" name="Google Shape;111;g32b50cdc761_0_227"/>
          <p:cNvCxnSpPr>
            <a:stCxn id="92" idx="2"/>
            <a:endCxn id="110" idx="1"/>
          </p:cNvCxnSpPr>
          <p:nvPr/>
        </p:nvCxnSpPr>
        <p:spPr>
          <a:xfrm rot="-5400000" flipH="1">
            <a:off x="6932842" y="4627980"/>
            <a:ext cx="2328900" cy="1548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2" name="Google Shape;112;g32b50cdc761_0_227"/>
          <p:cNvCxnSpPr>
            <a:endCxn id="101" idx="1"/>
          </p:cNvCxnSpPr>
          <p:nvPr/>
        </p:nvCxnSpPr>
        <p:spPr>
          <a:xfrm rot="-5400000" flipH="1">
            <a:off x="5306000" y="3719614"/>
            <a:ext cx="457800" cy="1041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" name="Google Shape;113;g32b50cdc761_0_227"/>
          <p:cNvSpPr txBox="1"/>
          <p:nvPr/>
        </p:nvSpPr>
        <p:spPr>
          <a:xfrm>
            <a:off x="495750" y="4798573"/>
            <a:ext cx="13566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성향 검사 결과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g32b50cdc761_0_227"/>
          <p:cNvCxnSpPr>
            <a:stCxn id="113" idx="1"/>
          </p:cNvCxnSpPr>
          <p:nvPr/>
        </p:nvCxnSpPr>
        <p:spPr>
          <a:xfrm rot="10800000">
            <a:off x="409350" y="3545923"/>
            <a:ext cx="86400" cy="1432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" name="Google Shape;115;g32b50cdc761_0_227"/>
          <p:cNvSpPr txBox="1"/>
          <p:nvPr/>
        </p:nvSpPr>
        <p:spPr>
          <a:xfrm>
            <a:off x="495750" y="5352298"/>
            <a:ext cx="13566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성향 검사 결과 수정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g32b50cdc761_0_227"/>
          <p:cNvCxnSpPr>
            <a:stCxn id="115" idx="1"/>
          </p:cNvCxnSpPr>
          <p:nvPr/>
        </p:nvCxnSpPr>
        <p:spPr>
          <a:xfrm rot="10800000">
            <a:off x="409350" y="3555748"/>
            <a:ext cx="86400" cy="19767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Google Shape;117;g32b50cdc761_0_227"/>
          <p:cNvSpPr txBox="1"/>
          <p:nvPr/>
        </p:nvSpPr>
        <p:spPr>
          <a:xfrm>
            <a:off x="5586950" y="4357814"/>
            <a:ext cx="12960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2 실시간 국내 지수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2b50cdc761_0_227"/>
          <p:cNvSpPr txBox="1"/>
          <p:nvPr/>
        </p:nvSpPr>
        <p:spPr>
          <a:xfrm>
            <a:off x="5586950" y="4895214"/>
            <a:ext cx="1296000" cy="360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2.3.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3 실시간 상위 종목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g32b50cdc761_0_227"/>
          <p:cNvCxnSpPr>
            <a:stCxn id="117" idx="1"/>
          </p:cNvCxnSpPr>
          <p:nvPr/>
        </p:nvCxnSpPr>
        <p:spPr>
          <a:xfrm rot="10800000">
            <a:off x="5478950" y="3549464"/>
            <a:ext cx="108000" cy="98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g32b50cdc761_0_227"/>
          <p:cNvCxnSpPr>
            <a:stCxn id="118" idx="1"/>
          </p:cNvCxnSpPr>
          <p:nvPr/>
        </p:nvCxnSpPr>
        <p:spPr>
          <a:xfrm rot="10800000">
            <a:off x="5478950" y="3549564"/>
            <a:ext cx="108000" cy="1525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" name="Google Shape;121;g32b50cdc761_0_227"/>
          <p:cNvSpPr txBox="1"/>
          <p:nvPr/>
        </p:nvSpPr>
        <p:spPr>
          <a:xfrm>
            <a:off x="8181900" y="4603700"/>
            <a:ext cx="1399800" cy="216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2.4.</a:t>
            </a:r>
            <a:r>
              <a:rPr lang="en-US" sz="8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로그아웃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2" name="Google Shape;122;g32b50cdc761_0_227"/>
          <p:cNvCxnSpPr>
            <a:stCxn id="105" idx="1"/>
            <a:endCxn id="92" idx="2"/>
          </p:cNvCxnSpPr>
          <p:nvPr/>
        </p:nvCxnSpPr>
        <p:spPr>
          <a:xfrm rot="10800000">
            <a:off x="8020025" y="3540838"/>
            <a:ext cx="162900" cy="7833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g32b50cdc761_0_227"/>
          <p:cNvCxnSpPr>
            <a:stCxn id="108" idx="1"/>
            <a:endCxn id="92" idx="2"/>
          </p:cNvCxnSpPr>
          <p:nvPr/>
        </p:nvCxnSpPr>
        <p:spPr>
          <a:xfrm rot="10800000">
            <a:off x="8019900" y="3541063"/>
            <a:ext cx="162000" cy="1558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" name="Google Shape;124;g32b50cdc761_0_227"/>
          <p:cNvSpPr/>
          <p:nvPr/>
        </p:nvSpPr>
        <p:spPr>
          <a:xfrm>
            <a:off x="4317956" y="2054374"/>
            <a:ext cx="1184400" cy="3603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27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sz="1000" b="1">
                <a:latin typeface="Malgun Gothic"/>
                <a:ea typeface="Malgun Gothic"/>
                <a:cs typeface="Malgun Gothic"/>
                <a:sym typeface="Malgun Gothic"/>
              </a:rPr>
              <a:t>메인 화면  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5" name="Google Shape;125;g32b50cdc761_0_227"/>
          <p:cNvCxnSpPr>
            <a:stCxn id="85" idx="2"/>
            <a:endCxn id="124" idx="0"/>
          </p:cNvCxnSpPr>
          <p:nvPr/>
        </p:nvCxnSpPr>
        <p:spPr>
          <a:xfrm>
            <a:off x="4910156" y="1617699"/>
            <a:ext cx="0" cy="43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" name="Google Shape;126;g32b50cdc761_0_227"/>
          <p:cNvCxnSpPr>
            <a:stCxn id="124" idx="2"/>
            <a:endCxn id="102" idx="0"/>
          </p:cNvCxnSpPr>
          <p:nvPr/>
        </p:nvCxnSpPr>
        <p:spPr>
          <a:xfrm rot="5400000">
            <a:off x="2511206" y="872524"/>
            <a:ext cx="856800" cy="39411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" name="Google Shape;127;g32b50cdc761_0_227"/>
          <p:cNvCxnSpPr>
            <a:stCxn id="100" idx="0"/>
            <a:endCxn id="124" idx="2"/>
          </p:cNvCxnSpPr>
          <p:nvPr/>
        </p:nvCxnSpPr>
        <p:spPr>
          <a:xfrm rot="5400000" flipH="1">
            <a:off x="5026712" y="2298025"/>
            <a:ext cx="854400" cy="10878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" name="Google Shape;128;g32b50cdc761_0_227"/>
          <p:cNvCxnSpPr>
            <a:stCxn id="95" idx="0"/>
            <a:endCxn id="124" idx="2"/>
          </p:cNvCxnSpPr>
          <p:nvPr/>
        </p:nvCxnSpPr>
        <p:spPr>
          <a:xfrm rot="5400000" flipH="1">
            <a:off x="6301256" y="1023477"/>
            <a:ext cx="864900" cy="36474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g32b50cdc761_0_227"/>
          <p:cNvCxnSpPr>
            <a:stCxn id="99" idx="0"/>
            <a:endCxn id="124" idx="2"/>
          </p:cNvCxnSpPr>
          <p:nvPr/>
        </p:nvCxnSpPr>
        <p:spPr>
          <a:xfrm rot="-5400000">
            <a:off x="3740260" y="2101413"/>
            <a:ext cx="856800" cy="14832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g3293d00de71_0_1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5" name="Google Shape;135;g3293d00de71_0_1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성향 검사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6" name="Google Shape;136;g3293d00de71_0_1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g3293d00de71_0_1"/>
          <p:cNvCxnSpPr/>
          <p:nvPr/>
        </p:nvCxnSpPr>
        <p:spPr>
          <a:xfrm>
            <a:off x="1326423" y="2682149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8" name="Google Shape;138;g3293d00de71_0_1"/>
          <p:cNvSpPr/>
          <p:nvPr/>
        </p:nvSpPr>
        <p:spPr>
          <a:xfrm>
            <a:off x="804423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293d00de71_0_1"/>
          <p:cNvSpPr/>
          <p:nvPr/>
        </p:nvSpPr>
        <p:spPr>
          <a:xfrm>
            <a:off x="804423" y="2977394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1.메인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293d00de71_0_1"/>
          <p:cNvSpPr/>
          <p:nvPr/>
        </p:nvSpPr>
        <p:spPr>
          <a:xfrm>
            <a:off x="804423" y="386121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고객 성향 검사 소개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g3293d00de71_0_1"/>
          <p:cNvCxnSpPr>
            <a:stCxn id="139" idx="2"/>
            <a:endCxn id="140" idx="0"/>
          </p:cNvCxnSpPr>
          <p:nvPr/>
        </p:nvCxnSpPr>
        <p:spPr>
          <a:xfrm>
            <a:off x="1308423" y="3357194"/>
            <a:ext cx="0" cy="50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2" name="Google Shape;142;g3293d00de71_0_1"/>
          <p:cNvSpPr txBox="1"/>
          <p:nvPr/>
        </p:nvSpPr>
        <p:spPr>
          <a:xfrm>
            <a:off x="1326423" y="3497583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성향 검사 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293d00de71_0_1"/>
          <p:cNvSpPr txBox="1"/>
          <p:nvPr/>
        </p:nvSpPr>
        <p:spPr>
          <a:xfrm>
            <a:off x="1263169" y="4225768"/>
            <a:ext cx="482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g3293d00de71_0_1"/>
          <p:cNvCxnSpPr/>
          <p:nvPr/>
        </p:nvCxnSpPr>
        <p:spPr>
          <a:xfrm flipH="1">
            <a:off x="1308421" y="4241746"/>
            <a:ext cx="1200" cy="53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5" name="Google Shape;145;g3293d00de71_0_1"/>
          <p:cNvSpPr/>
          <p:nvPr/>
        </p:nvSpPr>
        <p:spPr>
          <a:xfrm>
            <a:off x="7873047" y="4793440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g3293d00de71_0_1"/>
          <p:cNvCxnSpPr/>
          <p:nvPr/>
        </p:nvCxnSpPr>
        <p:spPr>
          <a:xfrm rot="10800000" flipH="1">
            <a:off x="1807534" y="4965346"/>
            <a:ext cx="875400" cy="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7" name="Google Shape;147;g3293d00de71_0_1"/>
          <p:cNvSpPr txBox="1"/>
          <p:nvPr/>
        </p:nvSpPr>
        <p:spPr>
          <a:xfrm>
            <a:off x="1831273" y="4737691"/>
            <a:ext cx="482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293d00de71_0_1"/>
          <p:cNvSpPr/>
          <p:nvPr/>
        </p:nvSpPr>
        <p:spPr>
          <a:xfrm>
            <a:off x="804423" y="4794091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위험단계 설정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293d00de71_0_1"/>
          <p:cNvSpPr/>
          <p:nvPr/>
        </p:nvSpPr>
        <p:spPr>
          <a:xfrm>
            <a:off x="2701741" y="478354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관심 업종 설정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293d00de71_0_1"/>
          <p:cNvSpPr/>
          <p:nvPr/>
        </p:nvSpPr>
        <p:spPr>
          <a:xfrm>
            <a:off x="4436511" y="4775446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희망 수익률 설정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g3293d00de71_0_1"/>
          <p:cNvCxnSpPr>
            <a:stCxn id="149" idx="3"/>
            <a:endCxn id="150" idx="1"/>
          </p:cNvCxnSpPr>
          <p:nvPr/>
        </p:nvCxnSpPr>
        <p:spPr>
          <a:xfrm rot="10800000" flipH="1">
            <a:off x="3709741" y="4965349"/>
            <a:ext cx="726900" cy="8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2" name="Google Shape;152;g3293d00de71_0_1"/>
          <p:cNvSpPr/>
          <p:nvPr/>
        </p:nvSpPr>
        <p:spPr>
          <a:xfrm>
            <a:off x="6016497" y="4775317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고객 성향 검사 완료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293d00de71_0_1"/>
          <p:cNvSpPr txBox="1"/>
          <p:nvPr/>
        </p:nvSpPr>
        <p:spPr>
          <a:xfrm>
            <a:off x="3671726" y="4737691"/>
            <a:ext cx="482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293d00de71_0_1"/>
          <p:cNvSpPr txBox="1"/>
          <p:nvPr/>
        </p:nvSpPr>
        <p:spPr>
          <a:xfrm>
            <a:off x="5406500" y="4737691"/>
            <a:ext cx="482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g3293d00de71_0_1"/>
          <p:cNvCxnSpPr>
            <a:endCxn id="152" idx="1"/>
          </p:cNvCxnSpPr>
          <p:nvPr/>
        </p:nvCxnSpPr>
        <p:spPr>
          <a:xfrm>
            <a:off x="5444397" y="4965217"/>
            <a:ext cx="572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" name="Google Shape;156;g3293d00de71_0_1"/>
          <p:cNvCxnSpPr>
            <a:stCxn id="152" idx="3"/>
            <a:endCxn id="145" idx="1"/>
          </p:cNvCxnSpPr>
          <p:nvPr/>
        </p:nvCxnSpPr>
        <p:spPr>
          <a:xfrm>
            <a:off x="7024497" y="4965217"/>
            <a:ext cx="848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" name="Google Shape;157;g3293d00de71_0_1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oogle Shape;162;g3293d00de71_0_28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3" name="Google Shape;163;g3293d00de71_0_28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100" b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ID</a:t>
                      </a:r>
                      <a:endParaRPr sz="1100" b="1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 성향별 종목 추천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4" name="Google Shape;164;g3293d00de71_0_28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g3293d00de71_0_28"/>
          <p:cNvCxnSpPr/>
          <p:nvPr/>
        </p:nvCxnSpPr>
        <p:spPr>
          <a:xfrm>
            <a:off x="5019762" y="2682149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6" name="Google Shape;166;g3293d00de71_0_28"/>
          <p:cNvSpPr/>
          <p:nvPr/>
        </p:nvSpPr>
        <p:spPr>
          <a:xfrm>
            <a:off x="4497762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293d00de71_0_28"/>
          <p:cNvSpPr/>
          <p:nvPr/>
        </p:nvSpPr>
        <p:spPr>
          <a:xfrm>
            <a:off x="4497762" y="2977394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1.메인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293d00de71_0_28"/>
          <p:cNvSpPr/>
          <p:nvPr/>
        </p:nvSpPr>
        <p:spPr>
          <a:xfrm>
            <a:off x="4497762" y="386121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2.지표 산출 기간 입력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g3293d00de71_0_28"/>
          <p:cNvCxnSpPr>
            <a:stCxn id="167" idx="2"/>
            <a:endCxn id="168" idx="0"/>
          </p:cNvCxnSpPr>
          <p:nvPr/>
        </p:nvCxnSpPr>
        <p:spPr>
          <a:xfrm>
            <a:off x="5001762" y="3357194"/>
            <a:ext cx="0" cy="50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0" name="Google Shape;170;g3293d00de71_0_28"/>
          <p:cNvSpPr txBox="1"/>
          <p:nvPr/>
        </p:nvSpPr>
        <p:spPr>
          <a:xfrm>
            <a:off x="5001762" y="3486171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성향별 종목 추천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93d00de71_0_28"/>
          <p:cNvSpPr/>
          <p:nvPr/>
        </p:nvSpPr>
        <p:spPr>
          <a:xfrm>
            <a:off x="4508577" y="4604784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 종목 추천 리스트 갱신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g3293d00de71_0_28"/>
          <p:cNvCxnSpPr>
            <a:stCxn id="168" idx="2"/>
            <a:endCxn id="171" idx="0"/>
          </p:cNvCxnSpPr>
          <p:nvPr/>
        </p:nvCxnSpPr>
        <p:spPr>
          <a:xfrm>
            <a:off x="5001762" y="4241019"/>
            <a:ext cx="10800" cy="3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3" name="Google Shape;173;g3293d00de71_0_28"/>
          <p:cNvSpPr/>
          <p:nvPr/>
        </p:nvSpPr>
        <p:spPr>
          <a:xfrm>
            <a:off x="4488308" y="5291002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293d00de71_0_28"/>
          <p:cNvSpPr txBox="1"/>
          <p:nvPr/>
        </p:nvSpPr>
        <p:spPr>
          <a:xfrm>
            <a:off x="5019763" y="4299855"/>
            <a:ext cx="482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g3293d00de71_0_28"/>
          <p:cNvCxnSpPr>
            <a:stCxn id="171" idx="2"/>
            <a:endCxn id="173" idx="0"/>
          </p:cNvCxnSpPr>
          <p:nvPr/>
        </p:nvCxnSpPr>
        <p:spPr>
          <a:xfrm flipH="1">
            <a:off x="5010177" y="4984584"/>
            <a:ext cx="24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6" name="Google Shape;176;g3293d00de71_0_28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g32b60bf1576_1_36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2" name="Google Shape;182;g32b60bf1576_1_36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3" name="Google Shape;183;g32b60bf1576_1_36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g32b60bf1576_1_36"/>
          <p:cNvCxnSpPr/>
          <p:nvPr/>
        </p:nvCxnSpPr>
        <p:spPr>
          <a:xfrm>
            <a:off x="5019762" y="2682149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5" name="Google Shape;185;g32b60bf1576_1_36"/>
          <p:cNvSpPr/>
          <p:nvPr/>
        </p:nvSpPr>
        <p:spPr>
          <a:xfrm>
            <a:off x="4497762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2b60bf1576_1_36"/>
          <p:cNvSpPr/>
          <p:nvPr/>
        </p:nvSpPr>
        <p:spPr>
          <a:xfrm>
            <a:off x="4497762" y="2977394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1.메인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2b60bf1576_1_36"/>
          <p:cNvSpPr/>
          <p:nvPr/>
        </p:nvSpPr>
        <p:spPr>
          <a:xfrm>
            <a:off x="4497762" y="386121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100"/>
              <a:t>성향 검사 결과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g32b60bf1576_1_36"/>
          <p:cNvCxnSpPr>
            <a:stCxn id="186" idx="2"/>
            <a:endCxn id="187" idx="0"/>
          </p:cNvCxnSpPr>
          <p:nvPr/>
        </p:nvCxnSpPr>
        <p:spPr>
          <a:xfrm>
            <a:off x="5001762" y="3357194"/>
            <a:ext cx="0" cy="50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9" name="Google Shape;189;g32b60bf1576_1_36"/>
          <p:cNvSpPr txBox="1"/>
          <p:nvPr/>
        </p:nvSpPr>
        <p:spPr>
          <a:xfrm>
            <a:off x="5001762" y="3486171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성향 검사 결과 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g32b60bf1576_1_36"/>
          <p:cNvCxnSpPr>
            <a:stCxn id="187" idx="2"/>
            <a:endCxn id="191" idx="0"/>
          </p:cNvCxnSpPr>
          <p:nvPr/>
        </p:nvCxnSpPr>
        <p:spPr>
          <a:xfrm>
            <a:off x="5001762" y="4241019"/>
            <a:ext cx="10800" cy="3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2" name="Google Shape;192;g32b60bf1576_1_36"/>
          <p:cNvSpPr/>
          <p:nvPr/>
        </p:nvSpPr>
        <p:spPr>
          <a:xfrm>
            <a:off x="4479758" y="4604927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2b60bf1576_1_36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g32b60bf1576_1_54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9" name="Google Shape;199;g32b60bf1576_1_54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추천 서비스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성향 검사 결과 수정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0" name="Google Shape;200;g32b60bf1576_1_54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2b60bf1576_1_54"/>
          <p:cNvSpPr/>
          <p:nvPr/>
        </p:nvSpPr>
        <p:spPr>
          <a:xfrm>
            <a:off x="1059237" y="2348247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2b60bf1576_1_54"/>
          <p:cNvSpPr/>
          <p:nvPr/>
        </p:nvSpPr>
        <p:spPr>
          <a:xfrm>
            <a:off x="2783262" y="2338357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1.메인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b60bf1576_1_54"/>
          <p:cNvSpPr/>
          <p:nvPr/>
        </p:nvSpPr>
        <p:spPr>
          <a:xfrm>
            <a:off x="4497762" y="330026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100"/>
              <a:t>성향 검사 결과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/>
              <a:t>수정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2b60bf1576_1_54"/>
          <p:cNvSpPr txBox="1"/>
          <p:nvPr/>
        </p:nvSpPr>
        <p:spPr>
          <a:xfrm>
            <a:off x="5012550" y="2886100"/>
            <a:ext cx="1665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성향 검사 결과 수정 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b60bf1576_1_54"/>
          <p:cNvSpPr/>
          <p:nvPr/>
        </p:nvSpPr>
        <p:spPr>
          <a:xfrm>
            <a:off x="4491733" y="5841827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2b60bf1576_1_54"/>
          <p:cNvSpPr/>
          <p:nvPr/>
        </p:nvSpPr>
        <p:spPr>
          <a:xfrm>
            <a:off x="4409543" y="2338284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2.1.3 성향 검사 결과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g32b60bf1576_1_54"/>
          <p:cNvCxnSpPr>
            <a:stCxn id="201" idx="3"/>
            <a:endCxn id="202" idx="1"/>
          </p:cNvCxnSpPr>
          <p:nvPr/>
        </p:nvCxnSpPr>
        <p:spPr>
          <a:xfrm>
            <a:off x="2103219" y="2528256"/>
            <a:ext cx="680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g32b60bf1576_1_54"/>
          <p:cNvCxnSpPr>
            <a:stCxn id="202" idx="3"/>
            <a:endCxn id="206" idx="1"/>
          </p:cNvCxnSpPr>
          <p:nvPr/>
        </p:nvCxnSpPr>
        <p:spPr>
          <a:xfrm>
            <a:off x="3791262" y="2528257"/>
            <a:ext cx="618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209;g32b60bf1576_1_54"/>
          <p:cNvCxnSpPr>
            <a:stCxn id="206" idx="2"/>
            <a:endCxn id="203" idx="0"/>
          </p:cNvCxnSpPr>
          <p:nvPr/>
        </p:nvCxnSpPr>
        <p:spPr>
          <a:xfrm>
            <a:off x="5001743" y="2718213"/>
            <a:ext cx="0" cy="58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g32b60bf1576_1_54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2b60bf1576_1_54"/>
          <p:cNvSpPr/>
          <p:nvPr/>
        </p:nvSpPr>
        <p:spPr>
          <a:xfrm>
            <a:off x="2871437" y="404396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2-1</a:t>
            </a:r>
            <a:r>
              <a:rPr lang="en-US" sz="1100"/>
              <a:t>. 위험 단계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/>
              <a:t>수정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2b60bf1576_1_54"/>
          <p:cNvSpPr/>
          <p:nvPr/>
        </p:nvSpPr>
        <p:spPr>
          <a:xfrm>
            <a:off x="4509737" y="404396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r>
              <a:rPr lang="en-US" sz="1100"/>
              <a:t>2. 관심 업종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/>
              <a:t>수정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b60bf1576_1_54"/>
          <p:cNvSpPr/>
          <p:nvPr/>
        </p:nvSpPr>
        <p:spPr>
          <a:xfrm>
            <a:off x="6148037" y="404396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r>
              <a:rPr lang="en-US" sz="1100"/>
              <a:t>3. 희망 수익률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/>
              <a:t>수정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g32b60bf1576_1_54"/>
          <p:cNvCxnSpPr>
            <a:stCxn id="203" idx="2"/>
            <a:endCxn id="211" idx="0"/>
          </p:cNvCxnSpPr>
          <p:nvPr/>
        </p:nvCxnSpPr>
        <p:spPr>
          <a:xfrm rot="5400000">
            <a:off x="4006662" y="3048869"/>
            <a:ext cx="363900" cy="1626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g32b60bf1576_1_54"/>
          <p:cNvCxnSpPr>
            <a:stCxn id="203" idx="2"/>
            <a:endCxn id="212" idx="0"/>
          </p:cNvCxnSpPr>
          <p:nvPr/>
        </p:nvCxnSpPr>
        <p:spPr>
          <a:xfrm>
            <a:off x="5001762" y="3680069"/>
            <a:ext cx="12000" cy="3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g32b60bf1576_1_54"/>
          <p:cNvCxnSpPr>
            <a:stCxn id="203" idx="2"/>
            <a:endCxn id="213" idx="0"/>
          </p:cNvCxnSpPr>
          <p:nvPr/>
        </p:nvCxnSpPr>
        <p:spPr>
          <a:xfrm rot="-5400000" flipH="1">
            <a:off x="5644962" y="3036869"/>
            <a:ext cx="363900" cy="1650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" name="Google Shape;217;g32b60bf1576_1_54"/>
          <p:cNvSpPr/>
          <p:nvPr/>
        </p:nvSpPr>
        <p:spPr>
          <a:xfrm>
            <a:off x="4400502" y="4903701"/>
            <a:ext cx="1226448" cy="493393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수정 완료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g32b60bf1576_1_54"/>
          <p:cNvCxnSpPr>
            <a:stCxn id="211" idx="2"/>
            <a:endCxn id="217" idx="0"/>
          </p:cNvCxnSpPr>
          <p:nvPr/>
        </p:nvCxnSpPr>
        <p:spPr>
          <a:xfrm rot="-5400000" flipH="1">
            <a:off x="3954587" y="3844619"/>
            <a:ext cx="480000" cy="16383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g32b60bf1576_1_54"/>
          <p:cNvCxnSpPr>
            <a:stCxn id="213" idx="2"/>
            <a:endCxn id="217" idx="0"/>
          </p:cNvCxnSpPr>
          <p:nvPr/>
        </p:nvCxnSpPr>
        <p:spPr>
          <a:xfrm rot="5400000">
            <a:off x="5592887" y="3844619"/>
            <a:ext cx="480000" cy="16383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g32b60bf1576_1_54"/>
          <p:cNvCxnSpPr>
            <a:stCxn id="212" idx="2"/>
            <a:endCxn id="217" idx="0"/>
          </p:cNvCxnSpPr>
          <p:nvPr/>
        </p:nvCxnSpPr>
        <p:spPr>
          <a:xfrm>
            <a:off x="5013737" y="4423769"/>
            <a:ext cx="0" cy="48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1" name="Google Shape;221;g32b60bf1576_1_54"/>
          <p:cNvSpPr txBox="1"/>
          <p:nvPr/>
        </p:nvSpPr>
        <p:spPr>
          <a:xfrm>
            <a:off x="3382325" y="4423775"/>
            <a:ext cx="497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제출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2b60bf1576_1_54"/>
          <p:cNvSpPr txBox="1"/>
          <p:nvPr/>
        </p:nvSpPr>
        <p:spPr>
          <a:xfrm>
            <a:off x="5001750" y="4447875"/>
            <a:ext cx="497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제출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2b60bf1576_1_54"/>
          <p:cNvSpPr txBox="1"/>
          <p:nvPr/>
        </p:nvSpPr>
        <p:spPr>
          <a:xfrm>
            <a:off x="6677550" y="4435875"/>
            <a:ext cx="497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제출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g32b60bf1576_1_54"/>
          <p:cNvCxnSpPr>
            <a:stCxn id="217" idx="1"/>
            <a:endCxn id="203" idx="1"/>
          </p:cNvCxnSpPr>
          <p:nvPr/>
        </p:nvCxnSpPr>
        <p:spPr>
          <a:xfrm rot="10800000" flipH="1">
            <a:off x="4400502" y="3490198"/>
            <a:ext cx="97200" cy="1660200"/>
          </a:xfrm>
          <a:prstGeom prst="bentConnector3">
            <a:avLst>
              <a:gd name="adj1" fmla="val -292096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5" name="Google Shape;225;g32b60bf1576_1_54"/>
          <p:cNvCxnSpPr>
            <a:stCxn id="217" idx="2"/>
            <a:endCxn id="205" idx="0"/>
          </p:cNvCxnSpPr>
          <p:nvPr/>
        </p:nvCxnSpPr>
        <p:spPr>
          <a:xfrm>
            <a:off x="5013726" y="5397094"/>
            <a:ext cx="0" cy="44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6" name="Google Shape;226;g32b60bf1576_1_54"/>
          <p:cNvSpPr txBox="1"/>
          <p:nvPr/>
        </p:nvSpPr>
        <p:spPr>
          <a:xfrm>
            <a:off x="5001750" y="5397100"/>
            <a:ext cx="497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b60bf1576_1_54"/>
          <p:cNvSpPr txBox="1"/>
          <p:nvPr/>
        </p:nvSpPr>
        <p:spPr>
          <a:xfrm>
            <a:off x="3851850" y="4903700"/>
            <a:ext cx="497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2" name="Google Shape;232;p5"/>
          <p:cNvGraphicFramePr/>
          <p:nvPr/>
        </p:nvGraphicFramePr>
        <p:xfrm>
          <a:off x="273050" y="1700808"/>
          <a:ext cx="9359900" cy="4684825"/>
        </p:xfrm>
        <a:graphic>
          <a:graphicData uri="http://schemas.openxmlformats.org/drawingml/2006/table">
            <a:tbl>
              <a:tblPr firstRow="1">
                <a:noFill/>
                <a:tableStyleId>{D6D60D92-3EAD-4737-B63C-04A7B17D3956}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3" name="Google Shape;233;p5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정보 서비스</a:t>
                      </a:r>
                      <a:endParaRPr sz="11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</a:t>
                      </a: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</a:t>
                      </a: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ow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리스트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4" name="Google Shape;234;p5"/>
          <p:cNvSpPr/>
          <p:nvPr/>
        </p:nvSpPr>
        <p:spPr>
          <a:xfrm>
            <a:off x="3162293" y="2285911"/>
            <a:ext cx="1226448" cy="296244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5"/>
          <p:cNvCxnSpPr>
            <a:stCxn id="234" idx="2"/>
            <a:endCxn id="236" idx="0"/>
          </p:cNvCxnSpPr>
          <p:nvPr/>
        </p:nvCxnSpPr>
        <p:spPr>
          <a:xfrm rot="-5400000" flipH="1">
            <a:off x="3560567" y="2797105"/>
            <a:ext cx="432000" cy="2100"/>
          </a:xfrm>
          <a:prstGeom prst="bentConnector3">
            <a:avLst>
              <a:gd name="adj1" fmla="val 50004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6" name="Google Shape;236;p5"/>
          <p:cNvSpPr/>
          <p:nvPr/>
        </p:nvSpPr>
        <p:spPr>
          <a:xfrm>
            <a:off x="3166364" y="3014189"/>
            <a:ext cx="1222378" cy="254979"/>
          </a:xfrm>
          <a:prstGeom prst="flowChartProcess">
            <a:avLst/>
          </a:prstGeom>
          <a:solidFill>
            <a:srgbClr val="FFFFFF"/>
          </a:solidFill>
          <a:ln w="9525" cap="flat" cmpd="sng">
            <a:solidFill>
              <a:srgbClr val="5C5C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메인화면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5271771" y="5072522"/>
            <a:ext cx="1226448" cy="296244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5"/>
          <p:cNvCxnSpPr>
            <a:stCxn id="236" idx="2"/>
            <a:endCxn id="239" idx="0"/>
          </p:cNvCxnSpPr>
          <p:nvPr/>
        </p:nvCxnSpPr>
        <p:spPr>
          <a:xfrm>
            <a:off x="3777553" y="3269168"/>
            <a:ext cx="7500" cy="342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0" name="Google Shape;240;p5"/>
          <p:cNvSpPr/>
          <p:nvPr/>
        </p:nvSpPr>
        <p:spPr>
          <a:xfrm>
            <a:off x="3177274" y="4276529"/>
            <a:ext cx="1226448" cy="493393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필터링 여부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3512699" y="4769914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5212683" y="4392446"/>
            <a:ext cx="1344616" cy="280477"/>
          </a:xfrm>
          <a:prstGeom prst="flowChartProcess">
            <a:avLst/>
          </a:prstGeom>
          <a:solidFill>
            <a:srgbClr val="FFFFFF"/>
          </a:solidFill>
          <a:ln w="9525" cap="flat" cmpd="sng">
            <a:solidFill>
              <a:srgbClr val="5C5C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 </a:t>
            </a:r>
            <a:r>
              <a:rPr lang="en-US" sz="1100"/>
              <a:t>필터링 된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종목 리스트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5"/>
          <p:cNvCxnSpPr>
            <a:stCxn id="240" idx="3"/>
            <a:endCxn id="242" idx="1"/>
          </p:cNvCxnSpPr>
          <p:nvPr/>
        </p:nvCxnSpPr>
        <p:spPr>
          <a:xfrm>
            <a:off x="4403722" y="4523226"/>
            <a:ext cx="809100" cy="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4" name="Google Shape;244;p5"/>
          <p:cNvCxnSpPr>
            <a:stCxn id="242" idx="2"/>
            <a:endCxn id="237" idx="0"/>
          </p:cNvCxnSpPr>
          <p:nvPr/>
        </p:nvCxnSpPr>
        <p:spPr>
          <a:xfrm>
            <a:off x="5884991" y="4672923"/>
            <a:ext cx="0" cy="39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5" name="Google Shape;245;p5"/>
          <p:cNvCxnSpPr>
            <a:stCxn id="240" idx="2"/>
            <a:endCxn id="237" idx="1"/>
          </p:cNvCxnSpPr>
          <p:nvPr/>
        </p:nvCxnSpPr>
        <p:spPr>
          <a:xfrm rot="-5400000" flipH="1">
            <a:off x="4305898" y="4254522"/>
            <a:ext cx="450600" cy="1481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9" name="Google Shape;239;p5"/>
          <p:cNvSpPr/>
          <p:nvPr/>
        </p:nvSpPr>
        <p:spPr>
          <a:xfrm>
            <a:off x="3173853" y="3611458"/>
            <a:ext cx="1222378" cy="254979"/>
          </a:xfrm>
          <a:prstGeom prst="flowChartProcess">
            <a:avLst/>
          </a:prstGeom>
          <a:solidFill>
            <a:srgbClr val="FFFFFF"/>
          </a:solidFill>
          <a:ln w="9525" cap="flat" cmpd="sng">
            <a:solidFill>
              <a:srgbClr val="5C5C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종목 리스트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5"/>
          <p:cNvCxnSpPr>
            <a:stCxn id="239" idx="2"/>
            <a:endCxn id="240" idx="0"/>
          </p:cNvCxnSpPr>
          <p:nvPr/>
        </p:nvCxnSpPr>
        <p:spPr>
          <a:xfrm>
            <a:off x="3785042" y="3866437"/>
            <a:ext cx="5400" cy="41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7" name="Google Shape;247;p5"/>
          <p:cNvSpPr txBox="1"/>
          <p:nvPr/>
        </p:nvSpPr>
        <p:spPr>
          <a:xfrm>
            <a:off x="3775525" y="3324963"/>
            <a:ext cx="1038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종목</a:t>
            </a:r>
            <a:r>
              <a:rPr lang="en-US" sz="900"/>
              <a:t>리스트 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4392299" y="4302114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/>
              <a:t>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4"/>
          <p:cNvGraphicFramePr/>
          <p:nvPr/>
        </p:nvGraphicFramePr>
        <p:xfrm>
          <a:off x="273050" y="1700808"/>
          <a:ext cx="9359900" cy="4684825"/>
        </p:xfrm>
        <a:graphic>
          <a:graphicData uri="http://schemas.openxmlformats.org/drawingml/2006/table">
            <a:tbl>
              <a:tblPr firstRow="1">
                <a:noFill/>
                <a:tableStyleId>{D6D60D92-3EAD-4737-B63C-04A7B17D3956}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5" name="Google Shape;255;p4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주식 정보 서비스</a:t>
                      </a:r>
                      <a:endParaRPr sz="11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</a:t>
                      </a: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ID</a:t>
                      </a:r>
                      <a:endParaRPr sz="14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상세 지표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6" name="Google Shape;256;p4"/>
          <p:cNvSpPr/>
          <p:nvPr/>
        </p:nvSpPr>
        <p:spPr>
          <a:xfrm>
            <a:off x="3824238" y="2254629"/>
            <a:ext cx="1226448" cy="296244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3826274" y="4829267"/>
            <a:ext cx="1226448" cy="296244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2645943" y="2896271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1.1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종목 리스트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3765155" y="3897070"/>
            <a:ext cx="1344616" cy="254979"/>
          </a:xfrm>
          <a:prstGeom prst="flowChartProcess">
            <a:avLst/>
          </a:prstGeom>
          <a:solidFill>
            <a:srgbClr val="FFFFFF"/>
          </a:solidFill>
          <a:ln w="9525" cap="flat" cmpd="sng">
            <a:solidFill>
              <a:srgbClr val="5C5C5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종목 상세 </a:t>
            </a:r>
            <a:r>
              <a:rPr lang="en-US" sz="1100"/>
              <a:t>지표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4"/>
          <p:cNvCxnSpPr>
            <a:stCxn id="259" idx="2"/>
            <a:endCxn id="257" idx="0"/>
          </p:cNvCxnSpPr>
          <p:nvPr/>
        </p:nvCxnSpPr>
        <p:spPr>
          <a:xfrm>
            <a:off x="4437463" y="4152049"/>
            <a:ext cx="2100" cy="677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1" name="Google Shape;261;p4"/>
          <p:cNvSpPr txBox="1"/>
          <p:nvPr/>
        </p:nvSpPr>
        <p:spPr>
          <a:xfrm>
            <a:off x="3238150" y="3281275"/>
            <a:ext cx="828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종목명 클릭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5203097" y="2896263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1.2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종목 검색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4"/>
          <p:cNvCxnSpPr>
            <a:stCxn id="256" idx="2"/>
            <a:endCxn id="258" idx="0"/>
          </p:cNvCxnSpPr>
          <p:nvPr/>
        </p:nvCxnSpPr>
        <p:spPr>
          <a:xfrm rot="5400000">
            <a:off x="3665112" y="2123823"/>
            <a:ext cx="345300" cy="1199400"/>
          </a:xfrm>
          <a:prstGeom prst="bentConnector3">
            <a:avLst>
              <a:gd name="adj1" fmla="val 5001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4" name="Google Shape;264;p4"/>
          <p:cNvCxnSpPr>
            <a:stCxn id="256" idx="2"/>
            <a:endCxn id="262" idx="0"/>
          </p:cNvCxnSpPr>
          <p:nvPr/>
        </p:nvCxnSpPr>
        <p:spPr>
          <a:xfrm rot="-5400000" flipH="1">
            <a:off x="4943712" y="2044623"/>
            <a:ext cx="345300" cy="1357800"/>
          </a:xfrm>
          <a:prstGeom prst="bentConnector3">
            <a:avLst>
              <a:gd name="adj1" fmla="val 5001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5" name="Google Shape;265;p4"/>
          <p:cNvCxnSpPr>
            <a:stCxn id="258" idx="2"/>
            <a:endCxn id="259" idx="0"/>
          </p:cNvCxnSpPr>
          <p:nvPr/>
        </p:nvCxnSpPr>
        <p:spPr>
          <a:xfrm rot="-5400000" flipH="1">
            <a:off x="3527343" y="2987000"/>
            <a:ext cx="621000" cy="11994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4"/>
          <p:cNvCxnSpPr>
            <a:stCxn id="262" idx="2"/>
            <a:endCxn id="259" idx="0"/>
          </p:cNvCxnSpPr>
          <p:nvPr/>
        </p:nvCxnSpPr>
        <p:spPr>
          <a:xfrm rot="5400000">
            <a:off x="4805897" y="2907792"/>
            <a:ext cx="621000" cy="13578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4"/>
          <p:cNvSpPr txBox="1"/>
          <p:nvPr/>
        </p:nvSpPr>
        <p:spPr>
          <a:xfrm>
            <a:off x="5795300" y="3281275"/>
            <a:ext cx="14385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종목명, </a:t>
            </a:r>
            <a:r>
              <a:rPr lang="en-US" sz="900"/>
              <a:t>종목코드로 검색</a:t>
            </a: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g3293d00de71_0_46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4" name="Google Shape;274;g3293d00de71_0_46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이슈 정보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5" name="Google Shape;275;g3293d00de71_0_46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g3293d00de71_0_46"/>
          <p:cNvCxnSpPr/>
          <p:nvPr/>
        </p:nvCxnSpPr>
        <p:spPr>
          <a:xfrm>
            <a:off x="5019762" y="2682149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7" name="Google Shape;277;g3293d00de71_0_46"/>
          <p:cNvSpPr/>
          <p:nvPr/>
        </p:nvSpPr>
        <p:spPr>
          <a:xfrm>
            <a:off x="4497762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93d00de71_0_46"/>
          <p:cNvSpPr/>
          <p:nvPr/>
        </p:nvSpPr>
        <p:spPr>
          <a:xfrm>
            <a:off x="4497762" y="2977394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1.메인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293d00de71_0_46"/>
          <p:cNvSpPr/>
          <p:nvPr/>
        </p:nvSpPr>
        <p:spPr>
          <a:xfrm>
            <a:off x="4497762" y="386121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2.실시간 이슈 정보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g3293d00de71_0_46"/>
          <p:cNvCxnSpPr>
            <a:stCxn id="278" idx="2"/>
            <a:endCxn id="279" idx="0"/>
          </p:cNvCxnSpPr>
          <p:nvPr/>
        </p:nvCxnSpPr>
        <p:spPr>
          <a:xfrm>
            <a:off x="5001762" y="3357194"/>
            <a:ext cx="0" cy="50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1" name="Google Shape;281;g3293d00de71_0_46"/>
          <p:cNvSpPr txBox="1"/>
          <p:nvPr/>
        </p:nvSpPr>
        <p:spPr>
          <a:xfrm>
            <a:off x="5001762" y="3486171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 이슈 정보 </a:t>
            </a:r>
            <a:r>
              <a:rPr lang="en-US" sz="1000"/>
              <a:t>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g3293d00de71_0_46"/>
          <p:cNvCxnSpPr>
            <a:stCxn id="279" idx="2"/>
          </p:cNvCxnSpPr>
          <p:nvPr/>
        </p:nvCxnSpPr>
        <p:spPr>
          <a:xfrm>
            <a:off x="5001762" y="4241019"/>
            <a:ext cx="10800" cy="3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3" name="Google Shape;283;g3293d00de71_0_46"/>
          <p:cNvSpPr/>
          <p:nvPr/>
        </p:nvSpPr>
        <p:spPr>
          <a:xfrm>
            <a:off x="4479762" y="4624533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293d00de71_0_46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g32b60bf1576_1_83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0" name="Google Shape;290;g32b60bf1576_1_83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국내 지수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1" name="Google Shape;291;g32b60bf1576_1_83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g32b60bf1576_1_83"/>
          <p:cNvCxnSpPr/>
          <p:nvPr/>
        </p:nvCxnSpPr>
        <p:spPr>
          <a:xfrm>
            <a:off x="5019762" y="2682149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3" name="Google Shape;293;g32b60bf1576_1_83"/>
          <p:cNvSpPr/>
          <p:nvPr/>
        </p:nvSpPr>
        <p:spPr>
          <a:xfrm>
            <a:off x="4497762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2b60bf1576_1_83"/>
          <p:cNvSpPr/>
          <p:nvPr/>
        </p:nvSpPr>
        <p:spPr>
          <a:xfrm>
            <a:off x="4497762" y="2977394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1.메인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2b60bf1576_1_83"/>
          <p:cNvSpPr/>
          <p:nvPr/>
        </p:nvSpPr>
        <p:spPr>
          <a:xfrm>
            <a:off x="4497762" y="386121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2.실시간 </a:t>
            </a:r>
            <a:r>
              <a:rPr lang="en-US" sz="1100"/>
              <a:t>국내 지수 출력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g32b60bf1576_1_83"/>
          <p:cNvCxnSpPr>
            <a:stCxn id="294" idx="2"/>
            <a:endCxn id="295" idx="0"/>
          </p:cNvCxnSpPr>
          <p:nvPr/>
        </p:nvCxnSpPr>
        <p:spPr>
          <a:xfrm>
            <a:off x="5001762" y="3357194"/>
            <a:ext cx="0" cy="50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7" name="Google Shape;297;g32b60bf1576_1_83"/>
          <p:cNvCxnSpPr>
            <a:stCxn id="295" idx="2"/>
          </p:cNvCxnSpPr>
          <p:nvPr/>
        </p:nvCxnSpPr>
        <p:spPr>
          <a:xfrm>
            <a:off x="5001762" y="4241019"/>
            <a:ext cx="10800" cy="3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8" name="Google Shape;298;g32b60bf1576_1_83"/>
          <p:cNvSpPr/>
          <p:nvPr/>
        </p:nvSpPr>
        <p:spPr>
          <a:xfrm>
            <a:off x="4479762" y="4624533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2b60bf1576_1_83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Google Shape;304;g32b60bf1576_1_0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5" name="Google Shape;305;g32b60bf1576_1_0"/>
          <p:cNvGraphicFramePr/>
          <p:nvPr/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한눈에 보는 시장 트렌드</a:t>
                      </a:r>
                      <a:endParaRPr sz="11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실시간 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상위 종목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6" name="Google Shape;306;g32b60bf1576_1_0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g32b60bf1576_1_0"/>
          <p:cNvCxnSpPr/>
          <p:nvPr/>
        </p:nvCxnSpPr>
        <p:spPr>
          <a:xfrm>
            <a:off x="5019762" y="2682149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8" name="Google Shape;308;g32b60bf1576_1_0"/>
          <p:cNvSpPr/>
          <p:nvPr/>
        </p:nvSpPr>
        <p:spPr>
          <a:xfrm>
            <a:off x="4497762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2b60bf1576_1_0"/>
          <p:cNvSpPr/>
          <p:nvPr/>
        </p:nvSpPr>
        <p:spPr>
          <a:xfrm>
            <a:off x="4497762" y="2977394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1.메인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2b60bf1576_1_0"/>
          <p:cNvSpPr/>
          <p:nvPr/>
        </p:nvSpPr>
        <p:spPr>
          <a:xfrm>
            <a:off x="4497762" y="4233494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2.실시간 </a:t>
            </a:r>
            <a:r>
              <a:rPr lang="en-US" sz="1100"/>
              <a:t>상위 종목 리스트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g32b60bf1576_1_0"/>
          <p:cNvCxnSpPr>
            <a:stCxn id="309" idx="2"/>
            <a:endCxn id="310" idx="0"/>
          </p:cNvCxnSpPr>
          <p:nvPr/>
        </p:nvCxnSpPr>
        <p:spPr>
          <a:xfrm>
            <a:off x="5001762" y="3357194"/>
            <a:ext cx="0" cy="87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2" name="Google Shape;312;g32b60bf1576_1_0"/>
          <p:cNvSpPr txBox="1"/>
          <p:nvPr/>
        </p:nvSpPr>
        <p:spPr>
          <a:xfrm>
            <a:off x="5001762" y="3486171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 </a:t>
            </a:r>
            <a:r>
              <a:rPr lang="en-US" sz="1000"/>
              <a:t>상위 종목 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g32b60bf1576_1_0"/>
          <p:cNvCxnSpPr>
            <a:stCxn id="310" idx="2"/>
            <a:endCxn id="314" idx="0"/>
          </p:cNvCxnSpPr>
          <p:nvPr/>
        </p:nvCxnSpPr>
        <p:spPr>
          <a:xfrm>
            <a:off x="5001762" y="4613294"/>
            <a:ext cx="0" cy="87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4" name="Google Shape;314;g32b60bf1576_1_0"/>
          <p:cNvSpPr/>
          <p:nvPr/>
        </p:nvSpPr>
        <p:spPr>
          <a:xfrm>
            <a:off x="4479762" y="5489583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b60bf1576_1_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2b60bf1576_1_0"/>
          <p:cNvSpPr/>
          <p:nvPr/>
        </p:nvSpPr>
        <p:spPr>
          <a:xfrm>
            <a:off x="6666774" y="4243397"/>
            <a:ext cx="1185416" cy="360000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2.2.2 종목 상세 지표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2b60bf1576_1_0"/>
          <p:cNvSpPr txBox="1"/>
          <p:nvPr/>
        </p:nvSpPr>
        <p:spPr>
          <a:xfrm>
            <a:off x="5523755" y="4126338"/>
            <a:ext cx="882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종목명 클릭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g32b60bf1576_1_0"/>
          <p:cNvCxnSpPr>
            <a:endCxn id="316" idx="1"/>
          </p:cNvCxnSpPr>
          <p:nvPr/>
        </p:nvCxnSpPr>
        <p:spPr>
          <a:xfrm>
            <a:off x="5505774" y="4423397"/>
            <a:ext cx="1161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3" name="Google Shape;323;g329887eff20_0_0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4" name="Google Shape;324;g329887eff20_0_0"/>
          <p:cNvGraphicFramePr/>
          <p:nvPr>
            <p:extLst>
              <p:ext uri="{D42A27DB-BD31-4B8C-83A1-F6EECF244321}">
                <p14:modId xmlns:p14="http://schemas.microsoft.com/office/powerpoint/2010/main" val="2524930258"/>
              </p:ext>
            </p:extLst>
          </p:nvPr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회원가입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5" name="Google Shape;325;g329887eff20_0_0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29887eff20_0_0"/>
          <p:cNvSpPr/>
          <p:nvPr/>
        </p:nvSpPr>
        <p:spPr>
          <a:xfrm>
            <a:off x="858635" y="237434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29887eff20_0_0"/>
          <p:cNvSpPr/>
          <p:nvPr/>
        </p:nvSpPr>
        <p:spPr>
          <a:xfrm>
            <a:off x="2410344" y="237434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1.메인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29887eff20_0_0"/>
          <p:cNvSpPr txBox="1"/>
          <p:nvPr/>
        </p:nvSpPr>
        <p:spPr>
          <a:xfrm>
            <a:off x="3418338" y="2343215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 가입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29887eff20_0_0"/>
          <p:cNvSpPr/>
          <p:nvPr/>
        </p:nvSpPr>
        <p:spPr>
          <a:xfrm>
            <a:off x="4406538" y="3418281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2.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회원 가입 양식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29887eff20_0_0"/>
          <p:cNvSpPr/>
          <p:nvPr/>
        </p:nvSpPr>
        <p:spPr>
          <a:xfrm>
            <a:off x="4297314" y="4348751"/>
            <a:ext cx="1226448" cy="493393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유효성 검사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29887eff20_0_0"/>
          <p:cNvSpPr/>
          <p:nvPr/>
        </p:nvSpPr>
        <p:spPr>
          <a:xfrm>
            <a:off x="4388538" y="5448840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회원가입 완료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g329887eff20_0_0"/>
          <p:cNvCxnSpPr>
            <a:endCxn id="333" idx="0"/>
          </p:cNvCxnSpPr>
          <p:nvPr/>
        </p:nvCxnSpPr>
        <p:spPr>
          <a:xfrm>
            <a:off x="4910538" y="3798251"/>
            <a:ext cx="0" cy="550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7" name="Google Shape;337;g329887eff20_0_0"/>
          <p:cNvCxnSpPr>
            <a:stCxn id="333" idx="2"/>
            <a:endCxn id="334" idx="0"/>
          </p:cNvCxnSpPr>
          <p:nvPr/>
        </p:nvCxnSpPr>
        <p:spPr>
          <a:xfrm>
            <a:off x="4910538" y="4842144"/>
            <a:ext cx="0" cy="606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9" name="Google Shape;339;g329887eff20_0_0"/>
          <p:cNvCxnSpPr>
            <a:stCxn id="333" idx="1"/>
            <a:endCxn id="331" idx="1"/>
          </p:cNvCxnSpPr>
          <p:nvPr/>
        </p:nvCxnSpPr>
        <p:spPr>
          <a:xfrm rot="10800000" flipH="1">
            <a:off x="4297314" y="3608148"/>
            <a:ext cx="109200" cy="987300"/>
          </a:xfrm>
          <a:prstGeom prst="bentConnector3">
            <a:avLst>
              <a:gd name="adj1" fmla="val -20934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0" name="Google Shape;340;g329887eff20_0_0"/>
          <p:cNvSpPr txBox="1"/>
          <p:nvPr/>
        </p:nvSpPr>
        <p:spPr>
          <a:xfrm>
            <a:off x="4074125" y="4372746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9887eff20_0_0"/>
          <p:cNvSpPr txBox="1"/>
          <p:nvPr/>
        </p:nvSpPr>
        <p:spPr>
          <a:xfrm>
            <a:off x="4893738" y="4840051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g329887eff20_0_0"/>
          <p:cNvCxnSpPr>
            <a:stCxn id="326" idx="3"/>
            <a:endCxn id="327" idx="1"/>
          </p:cNvCxnSpPr>
          <p:nvPr/>
        </p:nvCxnSpPr>
        <p:spPr>
          <a:xfrm>
            <a:off x="1902617" y="2554358"/>
            <a:ext cx="507600" cy="9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5" name="Google Shape;345;g329887eff20_0_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82ACB31D-795F-5EE0-689F-F86987E061DF}"/>
              </a:ext>
            </a:extLst>
          </p:cNvPr>
          <p:cNvCxnSpPr>
            <a:stCxn id="327" idx="3"/>
            <a:endCxn id="331" idx="0"/>
          </p:cNvCxnSpPr>
          <p:nvPr/>
        </p:nvCxnSpPr>
        <p:spPr>
          <a:xfrm>
            <a:off x="3418344" y="2564249"/>
            <a:ext cx="1492194" cy="85403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" name="Google Shape;350;g32a4ac35e13_0_240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1" name="Google Shape;351;g32a4ac35e13_0_240"/>
          <p:cNvGraphicFramePr/>
          <p:nvPr>
            <p:extLst>
              <p:ext uri="{D42A27DB-BD31-4B8C-83A1-F6EECF244321}">
                <p14:modId xmlns:p14="http://schemas.microsoft.com/office/powerpoint/2010/main" val="2478729291"/>
              </p:ext>
            </p:extLst>
          </p:nvPr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2.4.</a:t>
                      </a: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2" name="Google Shape;352;g32a4ac35e13_0_240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g32a4ac35e13_0_240"/>
          <p:cNvCxnSpPr/>
          <p:nvPr/>
        </p:nvCxnSpPr>
        <p:spPr>
          <a:xfrm>
            <a:off x="5019762" y="2682149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4" name="Google Shape;354;g32a4ac35e13_0_240"/>
          <p:cNvSpPr/>
          <p:nvPr/>
        </p:nvSpPr>
        <p:spPr>
          <a:xfrm>
            <a:off x="4497762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2a4ac35e13_0_240"/>
          <p:cNvSpPr/>
          <p:nvPr/>
        </p:nvSpPr>
        <p:spPr>
          <a:xfrm>
            <a:off x="4497762" y="2977394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1.메인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2a4ac35e13_0_240"/>
          <p:cNvSpPr/>
          <p:nvPr/>
        </p:nvSpPr>
        <p:spPr>
          <a:xfrm>
            <a:off x="4497762" y="3861219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2.로그인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g32a4ac35e13_0_240"/>
          <p:cNvCxnSpPr>
            <a:stCxn id="355" idx="2"/>
            <a:endCxn id="356" idx="0"/>
          </p:cNvCxnSpPr>
          <p:nvPr/>
        </p:nvCxnSpPr>
        <p:spPr>
          <a:xfrm>
            <a:off x="5001762" y="3357194"/>
            <a:ext cx="0" cy="50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8" name="Google Shape;358;g32a4ac35e13_0_240"/>
          <p:cNvSpPr txBox="1"/>
          <p:nvPr/>
        </p:nvSpPr>
        <p:spPr>
          <a:xfrm>
            <a:off x="5001762" y="3486171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2a4ac35e13_0_240"/>
          <p:cNvSpPr/>
          <p:nvPr/>
        </p:nvSpPr>
        <p:spPr>
          <a:xfrm>
            <a:off x="6493962" y="462181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2a4ac35e13_0_240"/>
          <p:cNvSpPr/>
          <p:nvPr/>
        </p:nvSpPr>
        <p:spPr>
          <a:xfrm>
            <a:off x="4388538" y="4555143"/>
            <a:ext cx="1226448" cy="493393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유효성 검사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g32a4ac35e13_0_240"/>
          <p:cNvCxnSpPr>
            <a:stCxn id="356" idx="2"/>
            <a:endCxn id="360" idx="0"/>
          </p:cNvCxnSpPr>
          <p:nvPr/>
        </p:nvCxnSpPr>
        <p:spPr>
          <a:xfrm>
            <a:off x="5001762" y="4241019"/>
            <a:ext cx="0" cy="31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2" name="Google Shape;362;g32a4ac35e13_0_240"/>
          <p:cNvCxnSpPr>
            <a:stCxn id="360" idx="3"/>
            <a:endCxn id="359" idx="1"/>
          </p:cNvCxnSpPr>
          <p:nvPr/>
        </p:nvCxnSpPr>
        <p:spPr>
          <a:xfrm>
            <a:off x="5614986" y="4801840"/>
            <a:ext cx="879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3" name="Google Shape;363;g32a4ac35e13_0_240"/>
          <p:cNvCxnSpPr>
            <a:stCxn id="360" idx="2"/>
            <a:endCxn id="356" idx="1"/>
          </p:cNvCxnSpPr>
          <p:nvPr/>
        </p:nvCxnSpPr>
        <p:spPr>
          <a:xfrm rot="5400000" flipH="1">
            <a:off x="4251012" y="4297786"/>
            <a:ext cx="997500" cy="504000"/>
          </a:xfrm>
          <a:prstGeom prst="bentConnector4">
            <a:avLst>
              <a:gd name="adj1" fmla="val -22918"/>
              <a:gd name="adj2" fmla="val 16702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4" name="Google Shape;364;g32a4ac35e13_0_240"/>
          <p:cNvSpPr txBox="1"/>
          <p:nvPr/>
        </p:nvSpPr>
        <p:spPr>
          <a:xfrm>
            <a:off x="5541762" y="4621819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2a4ac35e13_0_240"/>
          <p:cNvSpPr txBox="1"/>
          <p:nvPr/>
        </p:nvSpPr>
        <p:spPr>
          <a:xfrm>
            <a:off x="4972086" y="5028783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2a4ac35e13_0_240"/>
          <p:cNvSpPr txBox="1"/>
          <p:nvPr/>
        </p:nvSpPr>
        <p:spPr>
          <a:xfrm>
            <a:off x="5001762" y="4306723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ID, 비밀번호 제출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2a4ac35e13_0_24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2" name="Google Shape;372;g32a4ac35e13_0_261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3" name="Google Shape;373;g32a4ac35e13_0_261"/>
          <p:cNvGraphicFramePr/>
          <p:nvPr>
            <p:extLst>
              <p:ext uri="{D42A27DB-BD31-4B8C-83A1-F6EECF244321}">
                <p14:modId xmlns:p14="http://schemas.microsoft.com/office/powerpoint/2010/main" val="1169214210"/>
              </p:ext>
            </p:extLst>
          </p:nvPr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로그아웃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4" name="Google Shape;374;g32a4ac35e13_0_261"/>
          <p:cNvSpPr txBox="1"/>
          <p:nvPr/>
        </p:nvSpPr>
        <p:spPr>
          <a:xfrm>
            <a:off x="6666768" y="2374349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g32a4ac35e13_0_261"/>
          <p:cNvCxnSpPr/>
          <p:nvPr/>
        </p:nvCxnSpPr>
        <p:spPr>
          <a:xfrm>
            <a:off x="5019762" y="2682149"/>
            <a:ext cx="0" cy="2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6" name="Google Shape;376;g32a4ac35e13_0_261"/>
          <p:cNvSpPr/>
          <p:nvPr/>
        </p:nvSpPr>
        <p:spPr>
          <a:xfrm>
            <a:off x="4497762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2a4ac35e13_0_261"/>
          <p:cNvSpPr/>
          <p:nvPr/>
        </p:nvSpPr>
        <p:spPr>
          <a:xfrm>
            <a:off x="4497762" y="2977394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1.메인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g32a4ac35e13_0_261"/>
          <p:cNvCxnSpPr>
            <a:stCxn id="377" idx="2"/>
            <a:endCxn id="379" idx="0"/>
          </p:cNvCxnSpPr>
          <p:nvPr/>
        </p:nvCxnSpPr>
        <p:spPr>
          <a:xfrm>
            <a:off x="5001762" y="3357194"/>
            <a:ext cx="0" cy="56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0" name="Google Shape;380;g32a4ac35e13_0_261"/>
          <p:cNvSpPr txBox="1"/>
          <p:nvPr/>
        </p:nvSpPr>
        <p:spPr>
          <a:xfrm>
            <a:off x="5001762" y="3486171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로그아웃</a:t>
            </a:r>
            <a:r>
              <a:rPr lang="en-US" sz="1000"/>
              <a:t> 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2a4ac35e13_0_261"/>
          <p:cNvSpPr/>
          <p:nvPr/>
        </p:nvSpPr>
        <p:spPr>
          <a:xfrm>
            <a:off x="6283668" y="3990957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2a4ac35e13_0_261"/>
          <p:cNvSpPr/>
          <p:nvPr/>
        </p:nvSpPr>
        <p:spPr>
          <a:xfrm>
            <a:off x="4388538" y="3924488"/>
            <a:ext cx="1226448" cy="493393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로그아웃 </a:t>
            </a:r>
            <a:r>
              <a:rPr lang="en-US" sz="1100"/>
              <a:t>모달창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g32a4ac35e13_0_261"/>
          <p:cNvCxnSpPr>
            <a:stCxn id="379" idx="2"/>
            <a:endCxn id="377" idx="1"/>
          </p:cNvCxnSpPr>
          <p:nvPr/>
        </p:nvCxnSpPr>
        <p:spPr>
          <a:xfrm rot="5400000" flipH="1">
            <a:off x="4124412" y="3540531"/>
            <a:ext cx="1250700" cy="504000"/>
          </a:xfrm>
          <a:prstGeom prst="bentConnector4">
            <a:avLst>
              <a:gd name="adj1" fmla="val -18282"/>
              <a:gd name="adj2" fmla="val 16702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3" name="Google Shape;383;g32a4ac35e13_0_261"/>
          <p:cNvCxnSpPr>
            <a:stCxn id="379" idx="3"/>
            <a:endCxn id="381" idx="1"/>
          </p:cNvCxnSpPr>
          <p:nvPr/>
        </p:nvCxnSpPr>
        <p:spPr>
          <a:xfrm rot="10800000" flipH="1">
            <a:off x="5614986" y="4170885"/>
            <a:ext cx="6687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4" name="Google Shape;384;g32a4ac35e13_0_261"/>
          <p:cNvSpPr txBox="1"/>
          <p:nvPr/>
        </p:nvSpPr>
        <p:spPr>
          <a:xfrm>
            <a:off x="5504898" y="3992137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2a4ac35e13_0_261"/>
          <p:cNvSpPr txBox="1"/>
          <p:nvPr/>
        </p:nvSpPr>
        <p:spPr>
          <a:xfrm>
            <a:off x="4953000" y="4417881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2a4ac35e13_0_261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1" name="Google Shape;391;g32b50cdc761_1_0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2" name="Google Shape;392;g32b50cdc761_1_0"/>
          <p:cNvGraphicFramePr/>
          <p:nvPr>
            <p:extLst>
              <p:ext uri="{D42A27DB-BD31-4B8C-83A1-F6EECF244321}">
                <p14:modId xmlns:p14="http://schemas.microsoft.com/office/powerpoint/2010/main" val="2034402892"/>
              </p:ext>
            </p:extLst>
          </p:nvPr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조회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3" name="Google Shape;393;g32b50cdc761_1_0"/>
          <p:cNvSpPr/>
          <p:nvPr/>
        </p:nvSpPr>
        <p:spPr>
          <a:xfrm>
            <a:off x="697287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2b50cdc761_1_0"/>
          <p:cNvSpPr/>
          <p:nvPr/>
        </p:nvSpPr>
        <p:spPr>
          <a:xfrm>
            <a:off x="4965207" y="4360974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2b50cdc761_1_0"/>
          <p:cNvSpPr/>
          <p:nvPr/>
        </p:nvSpPr>
        <p:spPr>
          <a:xfrm>
            <a:off x="2083683" y="3380659"/>
            <a:ext cx="1349093" cy="542732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1.비밀번호 재확인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b50cdc761_1_0"/>
          <p:cNvSpPr txBox="1"/>
          <p:nvPr/>
        </p:nvSpPr>
        <p:spPr>
          <a:xfrm>
            <a:off x="2758214" y="3924251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2b50cdc761_1_0"/>
          <p:cNvSpPr txBox="1"/>
          <p:nvPr/>
        </p:nvSpPr>
        <p:spPr>
          <a:xfrm>
            <a:off x="3432774" y="3380654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2b50cdc761_1_0"/>
          <p:cNvSpPr/>
          <p:nvPr/>
        </p:nvSpPr>
        <p:spPr>
          <a:xfrm>
            <a:off x="2165524" y="2322109"/>
            <a:ext cx="1185416" cy="360000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g32b50cdc761_1_0"/>
          <p:cNvCxnSpPr>
            <a:stCxn id="393" idx="3"/>
            <a:endCxn id="398" idx="1"/>
          </p:cNvCxnSpPr>
          <p:nvPr/>
        </p:nvCxnSpPr>
        <p:spPr>
          <a:xfrm>
            <a:off x="1741269" y="2502118"/>
            <a:ext cx="4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0" name="Google Shape;400;g32b50cdc761_1_0"/>
          <p:cNvCxnSpPr>
            <a:stCxn id="398" idx="2"/>
            <a:endCxn id="395" idx="0"/>
          </p:cNvCxnSpPr>
          <p:nvPr/>
        </p:nvCxnSpPr>
        <p:spPr>
          <a:xfrm>
            <a:off x="2758232" y="2682109"/>
            <a:ext cx="0" cy="69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1" name="Google Shape;401;g32b50cdc761_1_0"/>
          <p:cNvSpPr/>
          <p:nvPr/>
        </p:nvSpPr>
        <p:spPr>
          <a:xfrm>
            <a:off x="2254231" y="4351065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2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/>
              <a:t>회원 정보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g32b50cdc761_1_0"/>
          <p:cNvCxnSpPr>
            <a:endCxn id="401" idx="0"/>
          </p:cNvCxnSpPr>
          <p:nvPr/>
        </p:nvCxnSpPr>
        <p:spPr>
          <a:xfrm>
            <a:off x="2758231" y="3923265"/>
            <a:ext cx="0" cy="42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3" name="Google Shape;403;g32b50cdc761_1_0"/>
          <p:cNvCxnSpPr>
            <a:stCxn id="395" idx="3"/>
            <a:endCxn id="394" idx="0"/>
          </p:cNvCxnSpPr>
          <p:nvPr/>
        </p:nvCxnSpPr>
        <p:spPr>
          <a:xfrm>
            <a:off x="3432776" y="3652025"/>
            <a:ext cx="2054400" cy="708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4" name="Google Shape;404;g32b50cdc761_1_0"/>
          <p:cNvCxnSpPr>
            <a:stCxn id="401" idx="3"/>
            <a:endCxn id="394" idx="1"/>
          </p:cNvCxnSpPr>
          <p:nvPr/>
        </p:nvCxnSpPr>
        <p:spPr>
          <a:xfrm>
            <a:off x="3262231" y="4540965"/>
            <a:ext cx="170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5" name="Google Shape;405;g32b50cdc761_1_0"/>
          <p:cNvSpPr txBox="1"/>
          <p:nvPr/>
        </p:nvSpPr>
        <p:spPr>
          <a:xfrm>
            <a:off x="2758237" y="2706671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회원 정보 조회 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2b50cdc761_1_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" name="Google Shape;411;g32afd12d14c_1_0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2" name="Google Shape;412;g32afd12d14c_1_0"/>
          <p:cNvGraphicFramePr/>
          <p:nvPr>
            <p:extLst>
              <p:ext uri="{D42A27DB-BD31-4B8C-83A1-F6EECF244321}">
                <p14:modId xmlns:p14="http://schemas.microsoft.com/office/powerpoint/2010/main" val="1378485915"/>
              </p:ext>
            </p:extLst>
          </p:nvPr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정보 수정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3" name="Google Shape;413;g32afd12d14c_1_0"/>
          <p:cNvSpPr/>
          <p:nvPr/>
        </p:nvSpPr>
        <p:spPr>
          <a:xfrm>
            <a:off x="697287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2afd12d14c_1_0"/>
          <p:cNvSpPr/>
          <p:nvPr/>
        </p:nvSpPr>
        <p:spPr>
          <a:xfrm>
            <a:off x="6656732" y="4360974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2afd12d14c_1_0"/>
          <p:cNvSpPr/>
          <p:nvPr/>
        </p:nvSpPr>
        <p:spPr>
          <a:xfrm>
            <a:off x="3693371" y="3380709"/>
            <a:ext cx="1349093" cy="542732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1.이메일 인증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2afd12d14c_1_0"/>
          <p:cNvSpPr txBox="1"/>
          <p:nvPr/>
        </p:nvSpPr>
        <p:spPr>
          <a:xfrm>
            <a:off x="4434614" y="3924263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2afd12d14c_1_0"/>
          <p:cNvSpPr txBox="1"/>
          <p:nvPr/>
        </p:nvSpPr>
        <p:spPr>
          <a:xfrm>
            <a:off x="5098974" y="3313654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2afd12d14c_1_0"/>
          <p:cNvSpPr/>
          <p:nvPr/>
        </p:nvSpPr>
        <p:spPr>
          <a:xfrm>
            <a:off x="2165524" y="2322109"/>
            <a:ext cx="1185416" cy="360000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g32afd12d14c_1_0"/>
          <p:cNvCxnSpPr>
            <a:stCxn id="413" idx="3"/>
            <a:endCxn id="418" idx="1"/>
          </p:cNvCxnSpPr>
          <p:nvPr/>
        </p:nvCxnSpPr>
        <p:spPr>
          <a:xfrm>
            <a:off x="1741269" y="2502118"/>
            <a:ext cx="4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0" name="Google Shape;420;g32afd12d14c_1_0"/>
          <p:cNvSpPr/>
          <p:nvPr/>
        </p:nvSpPr>
        <p:spPr>
          <a:xfrm>
            <a:off x="3863931" y="4351065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2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100"/>
              <a:t>회원 정보 수정 양식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g32afd12d14c_1_0"/>
          <p:cNvCxnSpPr>
            <a:endCxn id="420" idx="0"/>
          </p:cNvCxnSpPr>
          <p:nvPr/>
        </p:nvCxnSpPr>
        <p:spPr>
          <a:xfrm>
            <a:off x="4367931" y="3923265"/>
            <a:ext cx="0" cy="42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2" name="Google Shape;422;g32afd12d14c_1_0"/>
          <p:cNvCxnSpPr>
            <a:stCxn id="415" idx="3"/>
            <a:endCxn id="414" idx="0"/>
          </p:cNvCxnSpPr>
          <p:nvPr/>
        </p:nvCxnSpPr>
        <p:spPr>
          <a:xfrm>
            <a:off x="5042463" y="3652075"/>
            <a:ext cx="2136300" cy="708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" name="Google Shape;423;g32afd12d14c_1_0"/>
          <p:cNvCxnSpPr>
            <a:stCxn id="420" idx="3"/>
            <a:endCxn id="414" idx="1"/>
          </p:cNvCxnSpPr>
          <p:nvPr/>
        </p:nvCxnSpPr>
        <p:spPr>
          <a:xfrm>
            <a:off x="4871931" y="4540965"/>
            <a:ext cx="1784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4" name="Google Shape;424;g32afd12d14c_1_0"/>
          <p:cNvSpPr txBox="1"/>
          <p:nvPr/>
        </p:nvSpPr>
        <p:spPr>
          <a:xfrm>
            <a:off x="4953749" y="4294675"/>
            <a:ext cx="1185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수정 양식 제출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2afd12d14c_1_0"/>
          <p:cNvSpPr txBox="1"/>
          <p:nvPr/>
        </p:nvSpPr>
        <p:spPr>
          <a:xfrm>
            <a:off x="4434637" y="2763171"/>
            <a:ext cx="1492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회원 정보 수정 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2afd12d14c_1_0"/>
          <p:cNvSpPr/>
          <p:nvPr/>
        </p:nvSpPr>
        <p:spPr>
          <a:xfrm>
            <a:off x="3775199" y="2322134"/>
            <a:ext cx="1185416" cy="360000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2.5.4 회원 정보 조회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" name="Google Shape;427;g32afd12d14c_1_0"/>
          <p:cNvCxnSpPr>
            <a:stCxn id="426" idx="2"/>
            <a:endCxn id="415" idx="0"/>
          </p:cNvCxnSpPr>
          <p:nvPr/>
        </p:nvCxnSpPr>
        <p:spPr>
          <a:xfrm>
            <a:off x="4367907" y="2682134"/>
            <a:ext cx="0" cy="69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8" name="Google Shape;428;g32afd12d14c_1_0"/>
          <p:cNvCxnSpPr>
            <a:stCxn id="418" idx="3"/>
            <a:endCxn id="426" idx="1"/>
          </p:cNvCxnSpPr>
          <p:nvPr/>
        </p:nvCxnSpPr>
        <p:spPr>
          <a:xfrm>
            <a:off x="3350940" y="2502109"/>
            <a:ext cx="424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9" name="Google Shape;429;g32afd12d14c_1_0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4" name="Google Shape;434;g32a4ac35e13_0_279"/>
          <p:cNvGraphicFramePr/>
          <p:nvPr/>
        </p:nvGraphicFramePr>
        <p:xfrm>
          <a:off x="273050" y="1699361"/>
          <a:ext cx="9359900" cy="4680525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</a:rPr>
                        <a:t>사용자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5" name="Google Shape;435;g32a4ac35e13_0_279"/>
          <p:cNvGraphicFramePr/>
          <p:nvPr>
            <p:extLst>
              <p:ext uri="{D42A27DB-BD31-4B8C-83A1-F6EECF244321}">
                <p14:modId xmlns:p14="http://schemas.microsoft.com/office/powerpoint/2010/main" val="521427603"/>
              </p:ext>
            </p:extLst>
          </p:nvPr>
        </p:nvGraphicFramePr>
        <p:xfrm>
          <a:off x="273050" y="764704"/>
          <a:ext cx="9359900" cy="858850"/>
        </p:xfrm>
        <a:graphic>
          <a:graphicData uri="http://schemas.openxmlformats.org/drawingml/2006/table">
            <a:tbl>
              <a:tblPr>
                <a:noFill/>
                <a:tableStyleId>{4F820F2D-DE65-4273-A966-DE7CB9D1FB02}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System (L.1)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스마트투자</a:t>
                      </a:r>
                      <a:endParaRPr sz="11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800" u="none" strike="noStrike" cap="none"/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1팀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(L.2)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계정 관리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Task Variant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Flow ID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2.4.</a:t>
                      </a:r>
                      <a:r>
                        <a:rPr lang="en-US" sz="11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SubFlow (L.3)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아이디/비밀번호 찾기</a:t>
                      </a:r>
                      <a:endParaRPr sz="1800" u="none" strike="noStrike" cap="none"/>
                    </a:p>
                  </a:txBody>
                  <a:tcPr marL="38100" marR="38100" marT="38100" marB="381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6" name="Google Shape;436;g32a4ac35e13_0_279"/>
          <p:cNvSpPr/>
          <p:nvPr/>
        </p:nvSpPr>
        <p:spPr>
          <a:xfrm>
            <a:off x="697287" y="232210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2a4ac35e13_0_279"/>
          <p:cNvSpPr/>
          <p:nvPr/>
        </p:nvSpPr>
        <p:spPr>
          <a:xfrm>
            <a:off x="2254232" y="3358565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1.아이디/비밀번호 찾기 화면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2a4ac35e13_0_279"/>
          <p:cNvSpPr/>
          <p:nvPr/>
        </p:nvSpPr>
        <p:spPr>
          <a:xfrm>
            <a:off x="5531544" y="5511099"/>
            <a:ext cx="1043982" cy="360018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2a4ac35e13_0_279"/>
          <p:cNvSpPr/>
          <p:nvPr/>
        </p:nvSpPr>
        <p:spPr>
          <a:xfrm>
            <a:off x="2145008" y="4286534"/>
            <a:ext cx="1226448" cy="493393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아이디 일치여부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2a4ac35e13_0_279"/>
          <p:cNvSpPr txBox="1"/>
          <p:nvPr/>
        </p:nvSpPr>
        <p:spPr>
          <a:xfrm>
            <a:off x="3274689" y="4310188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a4ac35e13_0_279"/>
          <p:cNvSpPr txBox="1"/>
          <p:nvPr/>
        </p:nvSpPr>
        <p:spPr>
          <a:xfrm>
            <a:off x="1887724" y="4302529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2a4ac35e13_0_279"/>
          <p:cNvSpPr/>
          <p:nvPr/>
        </p:nvSpPr>
        <p:spPr>
          <a:xfrm>
            <a:off x="2165524" y="2322109"/>
            <a:ext cx="1185416" cy="360000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화면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g32a4ac35e13_0_279"/>
          <p:cNvCxnSpPr>
            <a:stCxn id="436" idx="3"/>
            <a:endCxn id="442" idx="1"/>
          </p:cNvCxnSpPr>
          <p:nvPr/>
        </p:nvCxnSpPr>
        <p:spPr>
          <a:xfrm>
            <a:off x="1741269" y="2502118"/>
            <a:ext cx="42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4" name="Google Shape;444;g32a4ac35e13_0_279"/>
          <p:cNvCxnSpPr>
            <a:stCxn id="442" idx="2"/>
            <a:endCxn id="437" idx="0"/>
          </p:cNvCxnSpPr>
          <p:nvPr/>
        </p:nvCxnSpPr>
        <p:spPr>
          <a:xfrm>
            <a:off x="2758232" y="2682109"/>
            <a:ext cx="0" cy="676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5" name="Google Shape;445;g32a4ac35e13_0_279"/>
          <p:cNvSpPr txBox="1"/>
          <p:nvPr/>
        </p:nvSpPr>
        <p:spPr>
          <a:xfrm>
            <a:off x="2758232" y="2881684"/>
            <a:ext cx="1713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아이디/비밀번호 찾기 요청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g32a4ac35e13_0_279"/>
          <p:cNvCxnSpPr>
            <a:stCxn id="437" idx="2"/>
            <a:endCxn id="439" idx="0"/>
          </p:cNvCxnSpPr>
          <p:nvPr/>
        </p:nvCxnSpPr>
        <p:spPr>
          <a:xfrm>
            <a:off x="2758232" y="3738365"/>
            <a:ext cx="0" cy="548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7" name="Google Shape;447;g32a4ac35e13_0_279"/>
          <p:cNvSpPr txBox="1"/>
          <p:nvPr/>
        </p:nvSpPr>
        <p:spPr>
          <a:xfrm>
            <a:off x="2758231" y="3872242"/>
            <a:ext cx="1713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가입 이메일 입력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2a4ac35e13_0_279"/>
          <p:cNvSpPr/>
          <p:nvPr/>
        </p:nvSpPr>
        <p:spPr>
          <a:xfrm>
            <a:off x="3983556" y="4343265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아이디 출력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g32a4ac35e13_0_279"/>
          <p:cNvCxnSpPr>
            <a:stCxn id="439" idx="3"/>
            <a:endCxn id="448" idx="1"/>
          </p:cNvCxnSpPr>
          <p:nvPr/>
        </p:nvCxnSpPr>
        <p:spPr>
          <a:xfrm>
            <a:off x="3371456" y="4533231"/>
            <a:ext cx="61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0" name="Google Shape;450;g32a4ac35e13_0_279"/>
          <p:cNvSpPr/>
          <p:nvPr/>
        </p:nvSpPr>
        <p:spPr>
          <a:xfrm>
            <a:off x="5440320" y="4294283"/>
            <a:ext cx="1226448" cy="493393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비밀번호 찾기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g32a4ac35e13_0_279"/>
          <p:cNvCxnSpPr>
            <a:endCxn id="450" idx="1"/>
          </p:cNvCxnSpPr>
          <p:nvPr/>
        </p:nvCxnSpPr>
        <p:spPr>
          <a:xfrm>
            <a:off x="4991520" y="4533180"/>
            <a:ext cx="448800" cy="7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2" name="Google Shape;452;g32a4ac35e13_0_279"/>
          <p:cNvSpPr/>
          <p:nvPr/>
        </p:nvSpPr>
        <p:spPr>
          <a:xfrm>
            <a:off x="7256992" y="4352187"/>
            <a:ext cx="1008000" cy="379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ko-KR" alt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임시 </a:t>
            </a: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비밀번호 전송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g32a4ac35e13_0_279"/>
          <p:cNvCxnSpPr>
            <a:stCxn id="450" idx="3"/>
            <a:endCxn id="452" idx="1"/>
          </p:cNvCxnSpPr>
          <p:nvPr/>
        </p:nvCxnSpPr>
        <p:spPr>
          <a:xfrm>
            <a:off x="6666768" y="4540980"/>
            <a:ext cx="590100" cy="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4" name="Google Shape;454;g32a4ac35e13_0_279"/>
          <p:cNvCxnSpPr>
            <a:stCxn id="450" idx="2"/>
            <a:endCxn id="438" idx="0"/>
          </p:cNvCxnSpPr>
          <p:nvPr/>
        </p:nvCxnSpPr>
        <p:spPr>
          <a:xfrm>
            <a:off x="6053544" y="4787676"/>
            <a:ext cx="0" cy="72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5" name="Google Shape;455;g32a4ac35e13_0_279"/>
          <p:cNvSpPr txBox="1"/>
          <p:nvPr/>
        </p:nvSpPr>
        <p:spPr>
          <a:xfrm>
            <a:off x="6580676" y="4310188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2a4ac35e13_0_279"/>
          <p:cNvSpPr txBox="1"/>
          <p:nvPr/>
        </p:nvSpPr>
        <p:spPr>
          <a:xfrm>
            <a:off x="6053544" y="5237731"/>
            <a:ext cx="277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g32a4ac35e13_0_279"/>
          <p:cNvCxnSpPr>
            <a:stCxn id="452" idx="2"/>
            <a:endCxn id="438" idx="3"/>
          </p:cNvCxnSpPr>
          <p:nvPr/>
        </p:nvCxnSpPr>
        <p:spPr>
          <a:xfrm rot="5400000">
            <a:off x="6688642" y="4618737"/>
            <a:ext cx="959100" cy="11856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8" name="Google Shape;458;g32a4ac35e13_0_279"/>
          <p:cNvCxnSpPr>
            <a:stCxn id="439" idx="1"/>
            <a:endCxn id="437" idx="1"/>
          </p:cNvCxnSpPr>
          <p:nvPr/>
        </p:nvCxnSpPr>
        <p:spPr>
          <a:xfrm rot="10800000" flipH="1">
            <a:off x="2145008" y="3548331"/>
            <a:ext cx="109200" cy="984900"/>
          </a:xfrm>
          <a:prstGeom prst="bentConnector3">
            <a:avLst>
              <a:gd name="adj1" fmla="val -20934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9" name="Google Shape;459;g32a4ac35e13_0_279"/>
          <p:cNvSpPr txBox="1">
            <a:spLocks noGrp="1"/>
          </p:cNvSpPr>
          <p:nvPr>
            <p:ph type="body" idx="3"/>
          </p:nvPr>
        </p:nvSpPr>
        <p:spPr>
          <a:xfrm>
            <a:off x="6753200" y="260325"/>
            <a:ext cx="302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Flow Chart</a:t>
            </a:r>
            <a:endParaRPr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9"/>
          <p:cNvSpPr txBox="1">
            <a:spLocks noGrp="1"/>
          </p:cNvSpPr>
          <p:nvPr>
            <p:ph type="title"/>
          </p:nvPr>
        </p:nvSpPr>
        <p:spPr>
          <a:xfrm>
            <a:off x="351284" y="0"/>
            <a:ext cx="647392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(산출물) Flow Chart 작성 범례 </a:t>
            </a:r>
            <a:endParaRPr/>
          </a:p>
        </p:txBody>
      </p:sp>
      <p:graphicFrame>
        <p:nvGraphicFramePr>
          <p:cNvPr id="465" name="Google Shape;465;p19"/>
          <p:cNvGraphicFramePr/>
          <p:nvPr/>
        </p:nvGraphicFramePr>
        <p:xfrm>
          <a:off x="560512" y="764704"/>
          <a:ext cx="8712950" cy="5616725"/>
        </p:xfrm>
        <a:graphic>
          <a:graphicData uri="http://schemas.openxmlformats.org/drawingml/2006/table">
            <a:tbl>
              <a:tblPr firstRow="1" bandRow="1">
                <a:noFill/>
                <a:tableStyleId>{D6D60D92-3EAD-4737-B63C-04A7B17D3956}</a:tableStyleId>
              </a:tblPr>
              <a:tblGrid>
                <a:gridCol w="435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범례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예시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-76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프로세스시작 및 종료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-76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Event(시간,주기)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전산 Step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-76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판단 Step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-76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외부 Task(연관 타스크 플로우)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-76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외부기관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-76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프로세스 연결자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-762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Flow</a:t>
                      </a: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2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80000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66" name="Google Shape;466;p19"/>
          <p:cNvSpPr/>
          <p:nvPr/>
        </p:nvSpPr>
        <p:spPr>
          <a:xfrm>
            <a:off x="1077144" y="2966265"/>
            <a:ext cx="1143000" cy="379929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Number.Step명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1077144" y="2383012"/>
            <a:ext cx="1008000" cy="37992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Number.Step명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1077144" y="3556348"/>
            <a:ext cx="1184400" cy="379929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외부TaskID외부Task명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1094464" y="4130899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외부 엔터티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5313592" y="4130899"/>
            <a:ext cx="1066800" cy="381000"/>
          </a:xfrm>
          <a:prstGeom prst="hexagon">
            <a:avLst>
              <a:gd name="adj" fmla="val 45319"/>
              <a:gd name="vf" fmla="val 115470"/>
            </a:avLst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관세청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5344344" y="2888994"/>
            <a:ext cx="1143000" cy="45720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3.주문유형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선택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6715944" y="2888994"/>
            <a:ext cx="1143000" cy="457200"/>
          </a:xfrm>
          <a:prstGeom prst="flowChartDecis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4.담보가액초과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5361298" y="2383012"/>
            <a:ext cx="1008000" cy="37992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1.정상주문등록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6729562" y="2383012"/>
            <a:ext cx="1008000" cy="37992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5.출하의뢰지시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5328010" y="3576277"/>
            <a:ext cx="1185416" cy="360000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1.1.1.4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여신한도확인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6716750" y="3576277"/>
            <a:ext cx="1185416" cy="360000"/>
          </a:xfrm>
          <a:prstGeom prst="flowChartPredefinedProcess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1.1.1.4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MRP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1352600" y="1772816"/>
            <a:ext cx="457200" cy="423863"/>
          </a:xfrm>
          <a:prstGeom prst="flowChartSummingJunct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1136576" y="1234852"/>
            <a:ext cx="1044000" cy="360040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시작 및 종료 step명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5385048" y="1234852"/>
            <a:ext cx="1044000" cy="360040"/>
          </a:xfrm>
          <a:prstGeom prst="flowChartTermina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고객주문의뢰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5601072" y="1772816"/>
            <a:ext cx="457200" cy="423863"/>
          </a:xfrm>
          <a:prstGeom prst="flowChartSummingJunction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매주 금,18시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1384326" y="4754751"/>
            <a:ext cx="360000" cy="360000"/>
          </a:xfrm>
          <a:prstGeom prst="flowChartConnec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079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5560790" y="4754751"/>
            <a:ext cx="360000" cy="360000"/>
          </a:xfrm>
          <a:prstGeom prst="flowChartConnector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000" tIns="0" rIns="18000" bIns="0" anchor="ctr" anchorCtr="0">
            <a:noAutofit/>
          </a:bodyPr>
          <a:lstStyle/>
          <a:p>
            <a:pPr marL="177800" marR="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19"/>
          <p:cNvCxnSpPr/>
          <p:nvPr/>
        </p:nvCxnSpPr>
        <p:spPr>
          <a:xfrm>
            <a:off x="1036862" y="5474667"/>
            <a:ext cx="990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4" name="Google Shape;484;p19"/>
          <p:cNvCxnSpPr/>
          <p:nvPr/>
        </p:nvCxnSpPr>
        <p:spPr>
          <a:xfrm>
            <a:off x="5358830" y="5474667"/>
            <a:ext cx="990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5" name="Google Shape;485;p19"/>
          <p:cNvSpPr/>
          <p:nvPr/>
        </p:nvSpPr>
        <p:spPr>
          <a:xfrm>
            <a:off x="6730430" y="5246067"/>
            <a:ext cx="990600" cy="228600"/>
          </a:xfrm>
          <a:custGeom>
            <a:avLst/>
            <a:gdLst/>
            <a:ahLst/>
            <a:cxnLst/>
            <a:rect l="l" t="t" r="r" b="b"/>
            <a:pathLst>
              <a:path w="624" h="96" extrusionOk="0">
                <a:moveTo>
                  <a:pt x="0" y="96"/>
                </a:moveTo>
                <a:lnTo>
                  <a:pt x="624" y="96"/>
                </a:lnTo>
                <a:lnTo>
                  <a:pt x="624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테마">
  <a:themeElements>
    <a:clrScheme name="회색조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</Words>
  <Application>Microsoft Office PowerPoint</Application>
  <PresentationFormat>A4 용지(210x297mm)</PresentationFormat>
  <Paragraphs>453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Noto Sans Symbols</vt:lpstr>
      <vt:lpstr>Gulim</vt:lpstr>
      <vt:lpstr>Malgun Gothic</vt:lpstr>
      <vt:lpstr>Arial</vt:lpstr>
      <vt:lpstr>Office 테마</vt:lpstr>
      <vt:lpstr>태스크 플로우</vt:lpstr>
      <vt:lpstr>구조도(사이트 맵)</vt:lpstr>
      <vt:lpstr>태스크 플로우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(산출물) Flow Chart 작성 범례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태스크 플로우</dc:title>
  <dc:creator>Yoon Sung Han</dc:creator>
  <cp:lastModifiedBy>June K</cp:lastModifiedBy>
  <cp:revision>3</cp:revision>
  <dcterms:created xsi:type="dcterms:W3CDTF">2007-10-15T08:30:37Z</dcterms:created>
  <dcterms:modified xsi:type="dcterms:W3CDTF">2025-03-04T01:18:18Z</dcterms:modified>
</cp:coreProperties>
</file>